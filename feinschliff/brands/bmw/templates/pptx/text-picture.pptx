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762000" y="3429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THE NEXT GENERATION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Pleasure.</a:t>
            </a:r>
          </a:p>
        </p:txBody>
      </p:sp>
      <p:sp>
        <p:nvSpPr>
          <p:cNvPr id="15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A showcase of the BMW corporate design system.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Charged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the next chapter.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A title slide on the dark hero band — the alternative beat.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MODEL OVERVIEW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762000" y="2921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762000" y="304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MODELS · BMW IX3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5207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Engineered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in Munich.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762000" y="5016500"/>
            <a:ext cx="4953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The left half holds the headline stack; the right half holds the model render edge-to-edge — no shadow, no border. Depth comes from photo subject + light, never from a frame.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032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LEARN MORE ›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AGENDA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ONLY TITLE LAYOUT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What we'll cover.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7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Brand mark</a:t>
            </a:r>
          </a:p>
        </p:txBody>
      </p:sp>
      <p:sp>
        <p:nvSpPr>
          <p:cNvPr id="18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Wordmark, contrast, clear space.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1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Colour</a:t>
            </a:r>
          </a:p>
        </p:txBody>
      </p:sp>
      <p:sp>
        <p:nvSpPr>
          <p:cNvPr id="22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orange, seven neutrals.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5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Type</a:t>
            </a:r>
          </a:p>
        </p:txBody>
      </p:sp>
      <p:sp>
        <p:nvSpPr>
          <p:cNvPr id="26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Noto Sans, 28pt titles.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29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Layouts</a:t>
            </a:r>
          </a:p>
        </p:txBody>
      </p:sp>
      <p:sp>
        <p:nvSpPr>
          <p:cNvPr id="30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Chapter, content, picture, data.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3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Components</a:t>
            </a:r>
          </a:p>
        </p:txBody>
      </p:sp>
      <p:sp>
        <p:nvSpPr>
          <p:cNvPr id="34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Buttons, chips, KPIs, rules.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7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Voice</a:t>
            </a:r>
          </a:p>
        </p:txBody>
      </p:sp>
      <p:sp>
        <p:nvSpPr>
          <p:cNvPr id="38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CHAPTER 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TextBox 11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EBEBEB"/>
                </a:solidFill>
                <a:latin typeface="BMW Type Next Latin"/>
              </a:rPr>
              <a:t>01</a:t>
            </a:r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CHAPTER 01 · MODELS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3136900"/>
            <a:ext cx="1185333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47333" y="3136900"/>
            <a:ext cx="1185333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32667" y="3136900"/>
            <a:ext cx="1185333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Next Generation.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7620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The full lineup at a glance — combustion, plug-in hybrid, electric.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3C3C3C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CHAPTER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3" name="TextBox 12"/>
          <p:cNvSpPr txBox="1"/>
          <p:nvPr/>
        </p:nvSpPr>
        <p:spPr>
          <a:xfrm>
            <a:off x="508000" y="1524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4000"/>
                  </a:srgbClr>
                </a:solidFill>
                <a:latin typeface="BMW Type Next Latin"/>
              </a:rPr>
              <a:t>02</a:t>
            </a:r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29845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CHAPTER 02 ·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289300"/>
            <a:ext cx="889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51000" y="3289300"/>
            <a:ext cx="889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40000" y="3289300"/>
            <a:ext cx="889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tle"/>
          <p:cNvSpPr>
            <a:spLocks noGrp="1"/>
          </p:cNvSpPr>
          <p:nvPr>
            <p:ph type="title"/>
          </p:nvPr>
        </p:nvSpPr>
        <p:spPr>
          <a:xfrm>
            <a:off x="762000" y="3556000"/>
            <a:ext cx="5207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Form follows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function.</a:t>
            </a:r>
          </a:p>
        </p:txBody>
      </p:sp>
      <p:sp>
        <p:nvSpPr>
          <p:cNvPr id="19" name="Subtitle"/>
          <p:cNvSpPr>
            <a:spLocks noGrp="1"/>
          </p:cNvSpPr>
          <p:nvPr>
            <p:ph type="body" idx="11"/>
          </p:nvPr>
        </p:nvSpPr>
        <p:spPr>
          <a:xfrm>
            <a:off x="762000" y="5461000"/>
            <a:ext cx="5207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The new design language — sharper, calmer, more deliberate.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SPECIFICATIONS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AT A GLANCE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Performance figures.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429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2000" y="5461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462</a:t>
            </a:r>
          </a:p>
        </p:txBody>
      </p:sp>
      <p:sp>
        <p:nvSpPr>
          <p:cNvPr id="18" name="KPI 1 Unit"/>
          <p:cNvSpPr>
            <a:spLocks noGrp="1"/>
          </p:cNvSpPr>
          <p:nvPr>
            <p:ph type="body" idx="31"/>
          </p:nvPr>
        </p:nvSpPr>
        <p:spPr>
          <a:xfrm>
            <a:off x="2362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kW</a:t>
            </a:r>
          </a:p>
        </p:txBody>
      </p:sp>
      <p:sp>
        <p:nvSpPr>
          <p:cNvPr id="19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PEAK OUTPUT</a:t>
            </a:r>
          </a:p>
        </p:txBody>
      </p:sp>
      <p:sp>
        <p:nvSpPr>
          <p:cNvPr id="20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+19% 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2 Value"/>
          <p:cNvSpPr>
            <a:spLocks noGrp="1"/>
          </p:cNvSpPr>
          <p:nvPr>
            <p:ph type="body" idx="32"/>
          </p:nvPr>
        </p:nvSpPr>
        <p:spPr>
          <a:xfrm>
            <a:off x="3632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3.0</a:t>
            </a:r>
          </a:p>
        </p:txBody>
      </p:sp>
      <p:sp>
        <p:nvSpPr>
          <p:cNvPr id="23" name="KPI 2 Unit"/>
          <p:cNvSpPr>
            <a:spLocks noGrp="1"/>
          </p:cNvSpPr>
          <p:nvPr>
            <p:ph type="body" idx="33"/>
          </p:nvPr>
        </p:nvSpPr>
        <p:spPr>
          <a:xfrm>
            <a:off x="5029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s</a:t>
            </a:r>
          </a:p>
        </p:txBody>
      </p:sp>
      <p:sp>
        <p:nvSpPr>
          <p:cNvPr id="24" name="KPI 2 Key"/>
          <p:cNvSpPr>
            <a:spLocks noGrp="1"/>
          </p:cNvSpPr>
          <p:nvPr>
            <p:ph type="body" idx="22"/>
          </p:nvPr>
        </p:nvSpPr>
        <p:spPr>
          <a:xfrm>
            <a:off x="3632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0–100 KM/H</a:t>
            </a:r>
          </a:p>
        </p:txBody>
      </p:sp>
      <p:sp>
        <p:nvSpPr>
          <p:cNvPr id="25" name="KPI 2 Delta"/>
          <p:cNvSpPr>
            <a:spLocks noGrp="1"/>
          </p:cNvSpPr>
          <p:nvPr>
            <p:ph type="body" idx="23"/>
          </p:nvPr>
        </p:nvSpPr>
        <p:spPr>
          <a:xfrm>
            <a:off x="3632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Best in class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KPI 3 Value"/>
          <p:cNvSpPr>
            <a:spLocks noGrp="1"/>
          </p:cNvSpPr>
          <p:nvPr>
            <p:ph type="body" idx="34"/>
          </p:nvPr>
        </p:nvSpPr>
        <p:spPr>
          <a:xfrm>
            <a:off x="6299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750</a:t>
            </a:r>
          </a:p>
        </p:txBody>
      </p:sp>
      <p:sp>
        <p:nvSpPr>
          <p:cNvPr id="28" name="KPI 3 Unit"/>
          <p:cNvSpPr>
            <a:spLocks noGrp="1"/>
          </p:cNvSpPr>
          <p:nvPr>
            <p:ph type="body" idx="35"/>
          </p:nvPr>
        </p:nvSpPr>
        <p:spPr>
          <a:xfrm>
            <a:off x="7696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km</a:t>
            </a:r>
          </a:p>
        </p:txBody>
      </p:sp>
      <p:sp>
        <p:nvSpPr>
          <p:cNvPr id="29" name="KPI 3 Key"/>
          <p:cNvSpPr>
            <a:spLocks noGrp="1"/>
          </p:cNvSpPr>
          <p:nvPr>
            <p:ph type="body" idx="24"/>
          </p:nvPr>
        </p:nvSpPr>
        <p:spPr>
          <a:xfrm>
            <a:off x="6299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WLTP RANGE</a:t>
            </a:r>
          </a:p>
        </p:txBody>
      </p:sp>
      <p:sp>
        <p:nvSpPr>
          <p:cNvPr id="30" name="KPI 3 Delta"/>
          <p:cNvSpPr>
            <a:spLocks noGrp="1"/>
          </p:cNvSpPr>
          <p:nvPr>
            <p:ph type="body" idx="25"/>
          </p:nvPr>
        </p:nvSpPr>
        <p:spPr>
          <a:xfrm>
            <a:off x="6299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8 regions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63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KPI 4 Value"/>
          <p:cNvSpPr>
            <a:spLocks noGrp="1"/>
          </p:cNvSpPr>
          <p:nvPr>
            <p:ph type="body" idx="36"/>
          </p:nvPr>
        </p:nvSpPr>
        <p:spPr>
          <a:xfrm>
            <a:off x="8966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100</a:t>
            </a:r>
          </a:p>
        </p:txBody>
      </p:sp>
      <p:sp>
        <p:nvSpPr>
          <p:cNvPr id="33" name="KPI 4 Unit"/>
          <p:cNvSpPr>
            <a:spLocks noGrp="1"/>
          </p:cNvSpPr>
          <p:nvPr>
            <p:ph type="body" idx="37"/>
          </p:nvPr>
        </p:nvSpPr>
        <p:spPr>
          <a:xfrm>
            <a:off x="10363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%</a:t>
            </a:r>
          </a:p>
        </p:txBody>
      </p:sp>
      <p:sp>
        <p:nvSpPr>
          <p:cNvPr id="34" name="KPI 4 Key"/>
          <p:cNvSpPr>
            <a:spLocks noGrp="1"/>
          </p:cNvSpPr>
          <p:nvPr>
            <p:ph type="body" idx="26"/>
          </p:nvPr>
        </p:nvSpPr>
        <p:spPr>
          <a:xfrm>
            <a:off x="8966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GREEN ELECTRICITY</a:t>
            </a:r>
          </a:p>
        </p:txBody>
      </p:sp>
      <p:sp>
        <p:nvSpPr>
          <p:cNvPr id="35" name="KPI 4 Delta"/>
          <p:cNvSpPr>
            <a:spLocks noGrp="1"/>
          </p:cNvSpPr>
          <p:nvPr>
            <p:ph type="body" idx="27"/>
          </p:nvPr>
        </p:nvSpPr>
        <p:spPr>
          <a:xfrm>
            <a:off x="8966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since 2020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2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TWO COLUMNS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Two halves, one frame.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 · CONSUMER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Products designed around daily use, not corner-case specs.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 features users actually touch — fewer modes, sharper defaults, faster onboarding.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 · PLATFORM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A shared software backbone across every product we build.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3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THREE PILLARS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Consumer, commercial, platform.</a:t>
            </a:r>
          </a:p>
        </p:txBody>
      </p:sp>
      <p:sp>
        <p:nvSpPr>
          <p:cNvPr id="15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</a:t>
            </a:r>
          </a:p>
        </p:txBody>
      </p:sp>
      <p:sp>
        <p:nvSpPr>
          <p:cNvPr id="16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Consumer.</a:t>
            </a:r>
          </a:p>
        </p:txBody>
      </p:sp>
      <p:sp>
        <p:nvSpPr>
          <p:cNvPr id="17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Brand A, Brand B, Brand C, Brand D — placeholder column copy.</a:t>
            </a:r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Commercial.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Products engineered for the commercial sector — hotels, retail, services, multi-site.</a:t>
            </a:r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03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Platform.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ROADMAP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PLAN, BUILD, PILOT, SCALE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year, in four quarters.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Q1 · PLAN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Align the 2026 product roadmap across regions.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Finalise priorities, staff crews, lock budget.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Q2 · BUILD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Ship the platform foundations and first feature set.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New OS core, updated Platform SDK.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Q3 · PILOT</a:t>
            </a:r>
          </a:p>
        </p:txBody>
      </p:sp>
      <p:sp>
        <p:nvSpPr>
          <p:cNvPr id="25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Field-test with 2,000 customers across three regions.</a:t>
            </a:r>
          </a:p>
        </p:txBody>
      </p:sp>
      <p:sp>
        <p:nvSpPr>
          <p:cNvPr id="26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Instrument, measure, iterate weekly.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Q4 · SCALE</a:t>
            </a:r>
          </a:p>
        </p:txBody>
      </p:sp>
      <p:sp>
        <p:nvSpPr>
          <p:cNvPr id="29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Roll out globally with phased regional launches.</a:t>
            </a:r>
          </a:p>
        </p:txBody>
      </p:sp>
      <p:sp>
        <p:nvSpPr>
          <p:cNvPr id="30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PRODUCT HERO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TEXT + PICTURE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FLAGSHIP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A flagship that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learns the user.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635000" y="3556000"/>
            <a:ext cx="4572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5080000"/>
            <a:ext cx="1651000" cy="5080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Read the brief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13000" y="5080000"/>
            <a:ext cx="1333500" cy="5080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8" name="Eyebrow"/>
          <p:cNvSpPr>
            <a:spLocks noGrp="1"/>
          </p:cNvSpPr>
          <p:nvPr>
            <p:ph type="body" idx="10"/>
          </p:nvPr>
        </p:nvSpPr>
        <p:spPr>
          <a:xfrm>
            <a:off x="762000" y="3568700"/>
            <a:ext cx="762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9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698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Pleasure.</a:t>
            </a:r>
          </a:p>
        </p:txBody>
      </p:sp>
      <p:sp>
        <p:nvSpPr>
          <p:cNvPr id="20" name="Subtitle"/>
          <p:cNvSpPr>
            <a:spLocks noGrp="1"/>
          </p:cNvSpPr>
          <p:nvPr>
            <p:ph type="body" idx="11"/>
          </p:nvPr>
        </p:nvSpPr>
        <p:spPr>
          <a:xfrm>
            <a:off x="762000" y="5816600"/>
            <a:ext cx="571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Engineered in Munich. Charged for the next chapter.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6388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Q3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19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UI 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UI LIBRARY PREVIEW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Flat, sharp, quiet components.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BUTTONS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Primary 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FFFFFF"/>
                </a:solidFill>
                <a:latin typeface="BMW Type Next Latin Medium"/>
              </a:rPr>
              <a:t>Default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Ghost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TAGS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FFFFFF"/>
                </a:solidFill>
                <a:latin typeface="IBM Plex Mono"/>
              </a:rPr>
              <a:t>PRODUCTION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FEATURED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BETA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ARCHIVED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RULES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SECTION · 56 × 1 · INK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EMPHASIS · 80 × 4 · ORANGE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Quote"/>
          <p:cNvSpPr>
            <a:spLocks noGrp="1"/>
          </p:cNvSpPr>
          <p:nvPr>
            <p:ph type="title"/>
          </p:nvPr>
        </p:nvSpPr>
        <p:spPr>
          <a:xfrm>
            <a:off x="762000" y="2413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BMW Type Next Latin"/>
              </a:rPr>
              <a:t>“Form follows function. Engineer for clarity, not for spectacle.”</a:t>
            </a:r>
          </a:p>
        </p:txBody>
      </p:sp>
      <p:sp>
        <p:nvSpPr>
          <p:cNvPr id="15" name="Attribution"/>
          <p:cNvSpPr>
            <a:spLocks noGrp="1"/>
          </p:cNvSpPr>
          <p:nvPr>
            <p:ph type="body" idx="10"/>
          </p:nvPr>
        </p:nvSpPr>
        <p:spPr>
          <a:xfrm>
            <a:off x="762000" y="5588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BMW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THANK YOU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10668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Thank you.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0"/>
          </p:nvPr>
        </p:nvSpPr>
        <p:spPr>
          <a:xfrm>
            <a:off x="762000" y="58166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261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GRAPHICAL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24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25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6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7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8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9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30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MCK · ACTION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ACTION-TITLE LAYOUT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262626"/>
                </a:solidFill>
                <a:latin typeface="BMW Type Next Latin"/>
              </a:rPr>
              <a:t>Adopting the new platform will lift per-account active time by ~18% within two release cycles.</a:t>
            </a:r>
          </a:p>
        </p:txBody>
      </p:sp>
      <p:sp>
        <p:nvSpPr>
          <p:cNvPr id="14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5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+18</a:t>
            </a:r>
          </a:p>
        </p:txBody>
      </p:sp>
      <p:sp>
        <p:nvSpPr>
          <p:cNvPr id="16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17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/ WEEK</a:t>
            </a:r>
          </a:p>
        </p:txBody>
      </p:sp>
      <p:sp>
        <p:nvSpPr>
          <p:cNvPr id="18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vs. prior platform</a:t>
            </a:r>
          </a:p>
        </p:txBody>
      </p:sp>
      <p:sp>
        <p:nvSpPr>
          <p:cNvPr id="19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2.3</a:t>
            </a:r>
          </a:p>
        </p:txBody>
      </p:sp>
      <p:sp>
        <p:nvSpPr>
          <p:cNvPr id="20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×</a:t>
            </a:r>
          </a:p>
        </p:txBody>
      </p:sp>
      <p:sp>
        <p:nvSpPr>
          <p:cNvPr id="21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APP OPEN RATE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trailing 30 days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HORIZONTAL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CONTEXT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forces pull the 2026 roadmap: regulation, margin, and shared software.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 · REGULATION</a:t>
            </a:r>
          </a:p>
        </p:txBody>
      </p:sp>
      <p:sp>
        <p:nvSpPr>
          <p:cNvPr id="18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Energy and repair rules are tightening across EMEA.</a:t>
            </a:r>
          </a:p>
        </p:txBody>
      </p:sp>
      <p:sp>
        <p:nvSpPr>
          <p:cNvPr id="19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Refrigerant phase-down accelerates for commercial lines.</a:t>
            </a:r>
          </a:p>
        </p:txBody>
      </p:sp>
      <p:sp>
        <p:nvSpPr>
          <p:cNvPr id="20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 · MARGIN</a:t>
            </a:r>
          </a:p>
        </p:txBody>
      </p:sp>
      <p:sp>
        <p:nvSpPr>
          <p:cNvPr id="21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Component cost is stable but service cost is climbing.</a:t>
            </a:r>
          </a:p>
        </p:txBody>
      </p:sp>
      <p:sp>
        <p:nvSpPr>
          <p:cNvPr id="22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Remote-diagnosis deflection saves an average 38 EUR / visit.</a:t>
            </a:r>
          </a:p>
        </p:txBody>
      </p:sp>
      <p:sp>
        <p:nvSpPr>
          <p:cNvPr id="23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 · PLATFORM</a:t>
            </a:r>
          </a:p>
        </p:txBody>
      </p:sp>
      <p:sp>
        <p:nvSpPr>
          <p:cNvPr id="24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The platform is becoming the product, not an add-on.</a:t>
            </a:r>
          </a:p>
        </p:txBody>
      </p:sp>
      <p:sp>
        <p:nvSpPr>
          <p:cNvPr id="25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Shared telemetry unlocks usage-driven feature priority.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VERTICAL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 OF RECORD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moves define the first half: consolidate, instrument, retire, pilot, publish.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8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the firmware stack.</a:t>
            </a:r>
          </a:p>
        </p:txBody>
      </p:sp>
      <p:sp>
        <p:nvSpPr>
          <p:cNvPr id="19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Move the remaining three product lines onto the unified OS core by end of Q2.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2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Instrument every SKU.</a:t>
            </a:r>
          </a:p>
        </p:txBody>
      </p:sp>
      <p:sp>
        <p:nvSpPr>
          <p:cNvPr id="23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leaving the factory reports health and usage by default.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6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Retire the legacy app.</a:t>
            </a:r>
          </a:p>
        </p:txBody>
      </p:sp>
      <p:sp>
        <p:nvSpPr>
          <p:cNvPr id="27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Archive the legacy companion app once the new platform reaches 70% coverage.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30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Pilot guided sessions.</a:t>
            </a:r>
          </a:p>
        </p:txBody>
      </p:sp>
      <p:sp>
        <p:nvSpPr>
          <p:cNvPr id="31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Run a two-thousand-customer test of the adaptive programme across three regions.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4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Publish the API.</a:t>
            </a:r>
          </a:p>
        </p:txBody>
      </p:sp>
      <p:sp>
        <p:nvSpPr>
          <p:cNvPr id="35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Open the developer preview to partners at the end of H1.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8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Review monthly.</a:t>
            </a:r>
          </a:p>
        </p:txBody>
      </p:sp>
      <p:sp>
        <p:nvSpPr>
          <p:cNvPr id="39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Each move is owned by one VP and reviewed at the monthly operating meeting.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2×2 MATRIX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PRIORITISATION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Invest in the top-right quadrant first: high impact, low lift.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Triangle 20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Q1 · HIGH IMPACT · LOW LIFT</a:t>
            </a:r>
          </a:p>
        </p:txBody>
      </p:sp>
      <p:sp>
        <p:nvSpPr>
          <p:cNvPr id="27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Guided sessions on the flagship line.</a:t>
            </a:r>
          </a:p>
        </p:txBody>
      </p:sp>
      <p:sp>
        <p:nvSpPr>
          <p:cNvPr id="28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"/>
              </a:rPr>
              <a:t>Ships on existing hardware; telemetry already collected; known user need.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Q2 · HIGH IMPACT · HIGH LIFT</a:t>
            </a:r>
          </a:p>
        </p:txBody>
      </p:sp>
      <p:sp>
        <p:nvSpPr>
          <p:cNvPr id="30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Full remote diagnosis across every product line.</a:t>
            </a:r>
          </a:p>
        </p:txBody>
      </p:sp>
      <p:sp>
        <p:nvSpPr>
          <p:cNvPr id="31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Large prize; requires firmware convergence and a new field-service workflow.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Q3 · LOW IMPACT · LOW LIFT</a:t>
            </a:r>
          </a:p>
        </p:txBody>
      </p:sp>
      <p:sp>
        <p:nvSpPr>
          <p:cNvPr id="33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Cosmetic refresh of onboarding.</a:t>
            </a:r>
          </a:p>
        </p:txBody>
      </p:sp>
      <p:sp>
        <p:nvSpPr>
          <p:cNvPr id="34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Cheap to do; metrics rarely move meaningfully.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Q4 · LOW IMPACT · HIGH LIFT</a:t>
            </a:r>
          </a:p>
        </p:txBody>
      </p:sp>
      <p:sp>
        <p:nvSpPr>
          <p:cNvPr id="36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Voice control expansion.</a:t>
            </a:r>
          </a:p>
        </p:txBody>
      </p:sp>
      <p:sp>
        <p:nvSpPr>
          <p:cNvPr id="37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Significant engineering and QA cost; adoption has plateaued.</a:t>
            </a:r>
          </a:p>
        </p:txBody>
      </p:sp>
      <p:sp>
        <p:nvSpPr>
          <p:cNvPr id="38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EFFORT TO SHIP</a:t>
            </a:r>
          </a:p>
        </p:txBody>
      </p:sp>
      <p:sp>
        <p:nvSpPr>
          <p:cNvPr id="39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WATERFALL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REVENUE BRIDGE · EUR BN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Revenue grows 5.1% YoY; platform and services offset a mild decline in legacy lines.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13.4</a:t>
            </a:r>
          </a:p>
        </p:txBody>
      </p:sp>
      <p:sp>
        <p:nvSpPr>
          <p:cNvPr id="42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FY24 BASE</a:t>
            </a:r>
          </a:p>
        </p:txBody>
      </p:sp>
      <p:sp>
        <p:nvSpPr>
          <p:cNvPr id="43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+0.6</a:t>
            </a:r>
          </a:p>
        </p:txBody>
      </p:sp>
      <p:sp>
        <p:nvSpPr>
          <p:cNvPr id="44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CONSUMER</a:t>
            </a:r>
          </a:p>
        </p:txBody>
      </p:sp>
      <p:sp>
        <p:nvSpPr>
          <p:cNvPr id="45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+0.4</a:t>
            </a:r>
          </a:p>
        </p:txBody>
      </p:sp>
      <p:sp>
        <p:nvSpPr>
          <p:cNvPr id="46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PLATFORM</a:t>
            </a:r>
          </a:p>
        </p:txBody>
      </p:sp>
      <p:sp>
        <p:nvSpPr>
          <p:cNvPr id="47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+0.3</a:t>
            </a:r>
          </a:p>
        </p:txBody>
      </p:sp>
      <p:sp>
        <p:nvSpPr>
          <p:cNvPr id="48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SERVICES</a:t>
            </a:r>
          </a:p>
        </p:txBody>
      </p:sp>
      <p:sp>
        <p:nvSpPr>
          <p:cNvPr id="49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−0.3</a:t>
            </a:r>
          </a:p>
        </p:txBody>
      </p:sp>
      <p:sp>
        <p:nvSpPr>
          <p:cNvPr id="50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LEGACY</a:t>
            </a:r>
          </a:p>
        </p:txBody>
      </p:sp>
      <p:sp>
        <p:nvSpPr>
          <p:cNvPr id="51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−0.2</a:t>
            </a:r>
          </a:p>
        </p:txBody>
      </p:sp>
      <p:sp>
        <p:nvSpPr>
          <p:cNvPr id="52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FX</a:t>
            </a:r>
          </a:p>
        </p:txBody>
      </p:sp>
      <p:sp>
        <p:nvSpPr>
          <p:cNvPr id="53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14.1</a:t>
            </a:r>
          </a:p>
        </p:txBody>
      </p:sp>
      <p:sp>
        <p:nvSpPr>
          <p:cNvPr id="54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FY25 TOTAL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PROCESS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DELIVERY SEQUENCE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stages · pilot highlights the current phase.</a:t>
            </a:r>
          </a:p>
        </p:txBody>
      </p:sp>
      <p:sp>
        <p:nvSpPr>
          <p:cNvPr id="15" name="Pentagon 14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01</a:t>
            </a:r>
          </a:p>
        </p:txBody>
      </p:sp>
      <p:sp>
        <p:nvSpPr>
          <p:cNvPr id="21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Frame</a:t>
            </a:r>
          </a:p>
        </p:txBody>
      </p:sp>
      <p:sp>
        <p:nvSpPr>
          <p:cNvPr id="22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Clarify the problem and the one outcome that matters.</a:t>
            </a:r>
          </a:p>
        </p:txBody>
      </p:sp>
      <p:sp>
        <p:nvSpPr>
          <p:cNvPr id="23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02</a:t>
            </a:r>
          </a:p>
        </p:txBody>
      </p:sp>
      <p:sp>
        <p:nvSpPr>
          <p:cNvPr id="24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Prototype</a:t>
            </a:r>
          </a:p>
        </p:txBody>
      </p:sp>
      <p:sp>
        <p:nvSpPr>
          <p:cNvPr id="25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Build the thin vertical slice end-to-end.</a:t>
            </a:r>
          </a:p>
        </p:txBody>
      </p:sp>
      <p:sp>
        <p:nvSpPr>
          <p:cNvPr id="26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03</a:t>
            </a:r>
          </a:p>
        </p:txBody>
      </p:sp>
      <p:sp>
        <p:nvSpPr>
          <p:cNvPr id="27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Pilot</a:t>
            </a:r>
          </a:p>
        </p:txBody>
      </p:sp>
      <p:sp>
        <p:nvSpPr>
          <p:cNvPr id="28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"/>
              </a:rPr>
              <a:t>Run it with real users on real data.</a:t>
            </a:r>
          </a:p>
        </p:txBody>
      </p:sp>
      <p:sp>
        <p:nvSpPr>
          <p:cNvPr id="29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04</a:t>
            </a:r>
          </a:p>
        </p:txBody>
      </p:sp>
      <p:sp>
        <p:nvSpPr>
          <p:cNvPr id="30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Harden</a:t>
            </a:r>
          </a:p>
        </p:txBody>
      </p:sp>
      <p:sp>
        <p:nvSpPr>
          <p:cNvPr id="31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Fix what the pilot surfaces; add observability.</a:t>
            </a:r>
          </a:p>
        </p:txBody>
      </p:sp>
      <p:sp>
        <p:nvSpPr>
          <p:cNvPr id="32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05</a:t>
            </a:r>
          </a:p>
        </p:txBody>
      </p:sp>
      <p:sp>
        <p:nvSpPr>
          <p:cNvPr id="33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Scale</a:t>
            </a:r>
          </a:p>
        </p:txBody>
      </p:sp>
      <p:sp>
        <p:nvSpPr>
          <p:cNvPr id="34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 out to remaining regions and SKUs.</a:t>
            </a:r>
          </a:p>
        </p:txBody>
      </p:sp>
      <p:sp>
        <p:nvSpPr>
          <p:cNvPr id="3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REVENUE MIX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MIX ·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Platform revenue is the fastest-growing share; legacy hardware is flat in absolute terms.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4.2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2.1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1.4</a:t>
            </a:r>
          </a:p>
        </p:txBody>
      </p:sp>
      <p:sp>
        <p:nvSpPr>
          <p:cNvPr id="53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11.9</a:t>
            </a:r>
          </a:p>
        </p:txBody>
      </p:sp>
      <p:sp>
        <p:nvSpPr>
          <p:cNvPr id="54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55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12.4</a:t>
            </a:r>
          </a:p>
        </p:txBody>
      </p:sp>
      <p:sp>
        <p:nvSpPr>
          <p:cNvPr id="56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57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12.9</a:t>
            </a:r>
          </a:p>
        </p:txBody>
      </p:sp>
      <p:sp>
        <p:nvSpPr>
          <p:cNvPr id="58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59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13.4</a:t>
            </a:r>
          </a:p>
        </p:txBody>
      </p:sp>
      <p:sp>
        <p:nvSpPr>
          <p:cNvPr id="60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61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14.1</a:t>
            </a:r>
          </a:p>
        </p:txBody>
      </p:sp>
      <p:sp>
        <p:nvSpPr>
          <p:cNvPr id="62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63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262626"/>
                </a:solidFill>
                <a:latin typeface="IBM Plex Mono"/>
              </a:rPr>
              <a:t>SEGMENT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Legacy hardware</a:t>
            </a:r>
          </a:p>
        </p:txBody>
      </p:sp>
      <p:sp>
        <p:nvSpPr>
          <p:cNvPr id="66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−6%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Consumer products</a:t>
            </a:r>
          </a:p>
        </p:txBody>
      </p:sp>
      <p:sp>
        <p:nvSpPr>
          <p:cNvPr id="69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Commercial</a:t>
            </a:r>
          </a:p>
        </p:txBody>
      </p:sp>
      <p:sp>
        <p:nvSpPr>
          <p:cNvPr id="72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Platform &amp; services</a:t>
            </a:r>
          </a:p>
        </p:txBody>
      </p:sp>
      <p:sp>
        <p:nvSpPr>
          <p:cNvPr id="75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+367% · 5y</a:t>
            </a:r>
          </a:p>
        </p:txBody>
      </p:sp>
      <p:sp>
        <p:nvSpPr>
          <p:cNvPr id="7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FY25 PRELIMINARY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Across five product lines, only the two flagship lines beat both revenue and margin plan.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PRODUCT LINE</a:t>
            </a:r>
          </a:p>
        </p:txBody>
      </p:sp>
      <p:sp>
        <p:nvSpPr>
          <p:cNvPr id="22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REVENUE · €M</a:t>
            </a:r>
          </a:p>
        </p:txBody>
      </p:sp>
      <p:sp>
        <p:nvSpPr>
          <p:cNvPr id="23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4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MARGIN</a:t>
            </a:r>
          </a:p>
        </p:txBody>
      </p:sp>
      <p:sp>
        <p:nvSpPr>
          <p:cNvPr id="25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6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Flagship A</a:t>
            </a:r>
          </a:p>
        </p:txBody>
      </p:sp>
      <p:sp>
        <p:nvSpPr>
          <p:cNvPr id="27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Pro line</a:t>
            </a:r>
          </a:p>
        </p:txBody>
      </p:sp>
      <p:sp>
        <p:nvSpPr>
          <p:cNvPr id="28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Standard line</a:t>
            </a:r>
          </a:p>
        </p:txBody>
      </p:sp>
      <p:sp>
        <p:nvSpPr>
          <p:cNvPr id="29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Compact line</a:t>
            </a:r>
          </a:p>
        </p:txBody>
      </p:sp>
      <p:sp>
        <p:nvSpPr>
          <p:cNvPr id="30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Accessories</a:t>
            </a:r>
          </a:p>
        </p:txBody>
      </p:sp>
      <p:sp>
        <p:nvSpPr>
          <p:cNvPr id="31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3,240</a:t>
            </a:r>
          </a:p>
        </p:txBody>
      </p:sp>
      <p:sp>
        <p:nvSpPr>
          <p:cNvPr id="32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+3.8%</a:t>
            </a:r>
          </a:p>
        </p:txBody>
      </p:sp>
      <p:sp>
        <p:nvSpPr>
          <p:cNvPr id="33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14.2%</a:t>
            </a:r>
          </a:p>
        </p:txBody>
      </p:sp>
      <p:sp>
        <p:nvSpPr>
          <p:cNvPr id="34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+0.6 pt</a:t>
            </a:r>
          </a:p>
        </p:txBody>
      </p:sp>
      <p:sp>
        <p:nvSpPr>
          <p:cNvPr id="35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2,910</a:t>
            </a:r>
          </a:p>
        </p:txBody>
      </p:sp>
      <p:sp>
        <p:nvSpPr>
          <p:cNvPr id="36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+2.2%</a:t>
            </a:r>
          </a:p>
        </p:txBody>
      </p:sp>
      <p:sp>
        <p:nvSpPr>
          <p:cNvPr id="37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13.5%</a:t>
            </a:r>
          </a:p>
        </p:txBody>
      </p:sp>
      <p:sp>
        <p:nvSpPr>
          <p:cNvPr id="38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+0.4 pt</a:t>
            </a:r>
          </a:p>
        </p:txBody>
      </p:sp>
      <p:sp>
        <p:nvSpPr>
          <p:cNvPr id="39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3,480</a:t>
            </a:r>
          </a:p>
        </p:txBody>
      </p:sp>
      <p:sp>
        <p:nvSpPr>
          <p:cNvPr id="40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+0.3%</a:t>
            </a:r>
          </a:p>
        </p:txBody>
      </p:sp>
      <p:sp>
        <p:nvSpPr>
          <p:cNvPr id="41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11.1%</a:t>
            </a:r>
          </a:p>
        </p:txBody>
      </p:sp>
      <p:sp>
        <p:nvSpPr>
          <p:cNvPr id="42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−0.2 pt</a:t>
            </a:r>
          </a:p>
        </p:txBody>
      </p:sp>
      <p:sp>
        <p:nvSpPr>
          <p:cNvPr id="43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2,610</a:t>
            </a:r>
          </a:p>
        </p:txBody>
      </p:sp>
      <p:sp>
        <p:nvSpPr>
          <p:cNvPr id="44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−0.9%</a:t>
            </a:r>
          </a:p>
        </p:txBody>
      </p:sp>
      <p:sp>
        <p:nvSpPr>
          <p:cNvPr id="45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10.4%</a:t>
            </a:r>
          </a:p>
        </p:txBody>
      </p:sp>
      <p:sp>
        <p:nvSpPr>
          <p:cNvPr id="46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−0.3 pt</a:t>
            </a:r>
          </a:p>
        </p:txBody>
      </p:sp>
      <p:sp>
        <p:nvSpPr>
          <p:cNvPr id="47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1,860</a:t>
            </a:r>
          </a:p>
        </p:txBody>
      </p:sp>
      <p:sp>
        <p:nvSpPr>
          <p:cNvPr id="48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−1.4%</a:t>
            </a:r>
          </a:p>
        </p:txBody>
      </p:sp>
      <p:sp>
        <p:nvSpPr>
          <p:cNvPr id="49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9.2%</a:t>
            </a:r>
          </a:p>
        </p:txBody>
      </p:sp>
      <p:sp>
        <p:nvSpPr>
          <p:cNvPr id="50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−0.7 pt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PYRAMID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CUSTOMER VALUE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tiers of value: a solid product, an honest relationship, a measured experience.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A measured experience.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03 · MEANING</a:t>
            </a:r>
          </a:p>
        </p:txBody>
      </p:sp>
      <p:sp>
        <p:nvSpPr>
          <p:cNvPr id="21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Time given back; one less thing to think about.</a:t>
            </a:r>
          </a:p>
        </p:txBody>
      </p:sp>
      <p:sp>
        <p:nvSpPr>
          <p:cNvPr id="22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An honest relationship.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02 · TRUST</a:t>
            </a:r>
          </a:p>
        </p:txBody>
      </p:sp>
      <p:sp>
        <p:nvSpPr>
          <p:cNvPr id="25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The product tells you the truth about itself — status, usage, when to act.</a:t>
            </a:r>
          </a:p>
        </p:txBody>
      </p:sp>
      <p:sp>
        <p:nvSpPr>
          <p:cNvPr id="26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 solid product.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01 · FOUNDATION</a:t>
            </a:r>
          </a:p>
        </p:txBody>
      </p:sp>
      <p:sp>
        <p:nvSpPr>
          <p:cNvPr id="29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Three things to remember: platform first, measure the experience, write plainly.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</a:t>
            </a:r>
          </a:p>
        </p:txBody>
      </p:sp>
      <p:sp>
        <p:nvSpPr>
          <p:cNvPr id="16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Platform first.</a:t>
            </a:r>
          </a:p>
        </p:txBody>
      </p:sp>
      <p:sp>
        <p:nvSpPr>
          <p:cNvPr id="17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8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PLATFORM VP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</a:t>
            </a:r>
          </a:p>
        </p:txBody>
      </p:sp>
      <p:sp>
        <p:nvSpPr>
          <p:cNvPr id="21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Measure the experience.</a:t>
            </a:r>
          </a:p>
        </p:txBody>
      </p:sp>
      <p:sp>
        <p:nvSpPr>
          <p:cNvPr id="22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3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DATA LEAD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</a:t>
            </a:r>
          </a:p>
        </p:txBody>
      </p:sp>
      <p:sp>
        <p:nvSpPr>
          <p:cNvPr id="26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Write plainly.</a:t>
            </a:r>
          </a:p>
        </p:txBody>
      </p:sp>
      <p:sp>
        <p:nvSpPr>
          <p:cNvPr id="27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8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CONTENT LEAD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04</a:t>
            </a:r>
          </a:p>
        </p:txBody>
      </p:sp>
      <p:sp>
        <p:nvSpPr>
          <p:cNvPr id="31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Ship weekly.</a:t>
            </a:r>
          </a:p>
        </p:txBody>
      </p:sp>
      <p:sp>
        <p:nvSpPr>
          <p:cNvPr id="32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3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EXECUTIVE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EXECUTIVE SUMMARY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insights, three next steps — the 2026 plan on one page.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6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INSIGHTS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Platform share is compounding.</a:t>
            </a:r>
          </a:p>
        </p:txBody>
      </p:sp>
      <p:sp>
        <p:nvSpPr>
          <p:cNvPr id="20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First-run pairing is the biggest leak.</a:t>
            </a:r>
          </a:p>
        </p:txBody>
      </p:sp>
      <p:sp>
        <p:nvSpPr>
          <p:cNvPr id="23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Telemetry is now default-on.</a:t>
            </a:r>
          </a:p>
        </p:txBody>
      </p:sp>
      <p:sp>
        <p:nvSpPr>
          <p:cNvPr id="26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Hybrid platform beats build-vs-buy.</a:t>
            </a:r>
          </a:p>
        </p:txBody>
      </p:sp>
      <p:sp>
        <p:nvSpPr>
          <p:cNvPr id="29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30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NEXT STEPS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firmware across SKUs.</a:t>
            </a:r>
          </a:p>
        </p:txBody>
      </p:sp>
      <p:sp>
        <p:nvSpPr>
          <p:cNvPr id="34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Retire the last two forks; every line onto the shared OS core by end of Q2.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Ship the pairing-flow fix.</a:t>
            </a:r>
          </a:p>
        </p:txBody>
      </p:sp>
      <p:sp>
        <p:nvSpPr>
          <p:cNvPr id="37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Open the developer API preview.</a:t>
            </a:r>
          </a:p>
        </p:txBody>
      </p:sp>
      <p:sp>
        <p:nvSpPr>
          <p:cNvPr id="40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Partner preview end of H1, GA at year-end — 30 design partners already signed.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Lock the hybrid platform deal.</a:t>
            </a:r>
          </a:p>
        </p:txBody>
      </p:sp>
      <p:sp>
        <p:nvSpPr>
          <p:cNvPr id="43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Finalise cloud and ML vendor terms; platform group staffed and chartered for a Q2 kick-off.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+43</a:t>
            </a:r>
          </a:p>
        </p:txBody>
      </p:sp>
      <p:sp>
        <p:nvSpPr>
          <p:cNvPr id="47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48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· 5Y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14</a:t>
            </a:r>
          </a:p>
        </p:txBody>
      </p:sp>
      <p:sp>
        <p:nvSpPr>
          <p:cNvPr id="51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 bn</a:t>
            </a:r>
          </a:p>
        </p:txBody>
      </p:sp>
      <p:sp>
        <p:nvSpPr>
          <p:cNvPr id="52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REVENUE · EUR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95</a:t>
            </a:r>
          </a:p>
        </p:txBody>
      </p:sp>
      <p:sp>
        <p:nvSpPr>
          <p:cNvPr id="55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56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TELEMETRY OPT-IN</a:t>
            </a:r>
          </a:p>
        </p:txBody>
      </p:sp>
      <p:sp>
        <p:nvSpPr>
          <p:cNvPr id="57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LINE CHART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PER-ACCOUNT METRICS,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200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38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39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40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41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Active time per account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Cloud cost per account</a:t>
            </a:r>
          </a:p>
        </p:txBody>
      </p:sp>
      <p:sp>
        <p:nvSpPr>
          <p:cNvPr id="46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SCORECARD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PORTFOLIO HEALTH · FY25 Q3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Q1 FY25</a:t>
            </a:r>
          </a:p>
        </p:txBody>
      </p:sp>
      <p:sp>
        <p:nvSpPr>
          <p:cNvPr id="40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Q2 FY25</a:t>
            </a:r>
          </a:p>
        </p:txBody>
      </p:sp>
      <p:sp>
        <p:nvSpPr>
          <p:cNvPr id="41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Q3 FY25</a:t>
            </a:r>
          </a:p>
        </p:txBody>
      </p:sp>
      <p:sp>
        <p:nvSpPr>
          <p:cNvPr id="42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Q4 FY25</a:t>
            </a:r>
          </a:p>
        </p:txBody>
      </p:sp>
      <p:sp>
        <p:nvSpPr>
          <p:cNvPr id="43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Firmware consolidation</a:t>
            </a:r>
          </a:p>
        </p:txBody>
      </p:sp>
      <p:sp>
        <p:nvSpPr>
          <p:cNvPr id="44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Default-on telemetry</a:t>
            </a:r>
          </a:p>
        </p:txBody>
      </p:sp>
      <p:sp>
        <p:nvSpPr>
          <p:cNvPr id="45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Developer API</a:t>
            </a:r>
          </a:p>
        </p:txBody>
      </p:sp>
      <p:sp>
        <p:nvSpPr>
          <p:cNvPr id="46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Data-platform integration</a:t>
            </a:r>
          </a:p>
        </p:txBody>
      </p:sp>
      <p:sp>
        <p:nvSpPr>
          <p:cNvPr id="47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62%</a:t>
            </a:r>
          </a:p>
        </p:txBody>
      </p:sp>
      <p:sp>
        <p:nvSpPr>
          <p:cNvPr id="48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100%</a:t>
            </a:r>
          </a:p>
        </p:txBody>
      </p:sp>
      <p:sp>
        <p:nvSpPr>
          <p:cNvPr id="49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Shipped</a:t>
            </a:r>
          </a:p>
        </p:txBody>
      </p:sp>
      <p:sp>
        <p:nvSpPr>
          <p:cNvPr id="50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Stable</a:t>
            </a:r>
          </a:p>
        </p:txBody>
      </p:sp>
      <p:sp>
        <p:nvSpPr>
          <p:cNvPr id="51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Pilot factories</a:t>
            </a:r>
          </a:p>
        </p:txBody>
      </p:sp>
      <p:sp>
        <p:nvSpPr>
          <p:cNvPr id="52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40%</a:t>
            </a:r>
          </a:p>
        </p:txBody>
      </p:sp>
      <p:sp>
        <p:nvSpPr>
          <p:cNvPr id="53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85%</a:t>
            </a:r>
          </a:p>
        </p:txBody>
      </p:sp>
      <p:sp>
        <p:nvSpPr>
          <p:cNvPr id="54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Default-on</a:t>
            </a:r>
          </a:p>
        </p:txBody>
      </p:sp>
      <p:sp>
        <p:nvSpPr>
          <p:cNvPr id="55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Design only</a:t>
            </a:r>
          </a:p>
        </p:txBody>
      </p:sp>
      <p:sp>
        <p:nvSpPr>
          <p:cNvPr id="56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private</a:t>
            </a:r>
          </a:p>
        </p:txBody>
      </p:sp>
      <p:sp>
        <p:nvSpPr>
          <p:cNvPr id="57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public</a:t>
            </a:r>
          </a:p>
        </p:txBody>
      </p:sp>
      <p:sp>
        <p:nvSpPr>
          <p:cNvPr id="58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GA → Q4 slip</a:t>
            </a:r>
          </a:p>
        </p:txBody>
      </p:sp>
      <p:sp>
        <p:nvSpPr>
          <p:cNvPr id="59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Scope locked</a:t>
            </a:r>
          </a:p>
        </p:txBody>
      </p:sp>
      <p:sp>
        <p:nvSpPr>
          <p:cNvPr id="60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Vendor delay</a:t>
            </a:r>
          </a:p>
        </p:txBody>
      </p:sp>
      <p:sp>
        <p:nvSpPr>
          <p:cNvPr id="61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Off plan</a:t>
            </a:r>
          </a:p>
        </p:txBody>
      </p:sp>
      <p:sp>
        <p:nvSpPr>
          <p:cNvPr id="62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Re-baseline</a:t>
            </a:r>
          </a:p>
        </p:txBody>
      </p:sp>
      <p:sp>
        <p:nvSpPr>
          <p:cNvPr id="63" name="Oval 62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ON TRACK</a:t>
            </a:r>
          </a:p>
        </p:txBody>
      </p:sp>
      <p:sp>
        <p:nvSpPr>
          <p:cNvPr id="65" name="Oval 64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AT RISK</a:t>
            </a:r>
          </a:p>
        </p:txBody>
      </p:sp>
      <p:sp>
        <p:nvSpPr>
          <p:cNvPr id="67" name="Oval 66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OFF TRACK</a:t>
            </a:r>
          </a:p>
        </p:txBody>
      </p:sp>
      <p:sp>
        <p:nvSpPr>
          <p:cNvPr id="69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GANTT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WORKSTREAMS — FY25 DELIVERY PLAN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Firmware consolidation lands in Q2; the developer API goes GA in Q4, dependent on telemetry rollout.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iamond 89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Q1 · PLAN</a:t>
            </a:r>
          </a:p>
        </p:txBody>
      </p:sp>
      <p:sp>
        <p:nvSpPr>
          <p:cNvPr id="93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Q2 · BUILD</a:t>
            </a:r>
          </a:p>
        </p:txBody>
      </p:sp>
      <p:sp>
        <p:nvSpPr>
          <p:cNvPr id="94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Q3 · PILOT</a:t>
            </a:r>
          </a:p>
        </p:txBody>
      </p:sp>
      <p:sp>
        <p:nvSpPr>
          <p:cNvPr id="95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Q4 · SCALE</a:t>
            </a:r>
          </a:p>
        </p:txBody>
      </p:sp>
      <p:sp>
        <p:nvSpPr>
          <p:cNvPr id="96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97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DATA</a:t>
            </a:r>
          </a:p>
        </p:txBody>
      </p:sp>
      <p:sp>
        <p:nvSpPr>
          <p:cNvPr id="98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CONSUMER</a:t>
            </a:r>
          </a:p>
        </p:txBody>
      </p:sp>
      <p:sp>
        <p:nvSpPr>
          <p:cNvPr id="99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100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CUTOVER · ALL SKUS</a:t>
            </a:r>
          </a:p>
        </p:txBody>
      </p:sp>
      <p:sp>
        <p:nvSpPr>
          <p:cNvPr id="101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FACTORY ROLLOUT</a:t>
            </a:r>
          </a:p>
        </p:txBody>
      </p:sp>
      <p:sp>
        <p:nvSpPr>
          <p:cNvPr id="102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INSTRUMENTED STUDY</a:t>
            </a:r>
          </a:p>
        </p:txBody>
      </p:sp>
      <p:sp>
        <p:nvSpPr>
          <p:cNvPr id="103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PREVIEW</a:t>
            </a:r>
          </a:p>
        </p:txBody>
      </p:sp>
      <p:sp>
        <p:nvSpPr>
          <p:cNvPr id="104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GA</a:t>
            </a:r>
          </a:p>
        </p:txBody>
      </p:sp>
      <p:sp>
        <p:nvSpPr>
          <p:cNvPr id="105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FUNNEL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APP ACTIVATION FUNNEL · Q4 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5" name="Freeform 14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sold</a:t>
            </a:r>
          </a:p>
        </p:txBody>
      </p:sp>
      <p:sp>
        <p:nvSpPr>
          <p:cNvPr id="21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Shipment, any SKU</a:t>
            </a:r>
          </a:p>
        </p:txBody>
      </p:sp>
      <p:sp>
        <p:nvSpPr>
          <p:cNvPr id="22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2.4 M</a:t>
            </a:r>
          </a:p>
        </p:txBody>
      </p:sp>
      <p:sp>
        <p:nvSpPr>
          <p:cNvPr id="23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100%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App installed</a:t>
            </a:r>
          </a:p>
        </p:txBody>
      </p:sp>
      <p:sp>
        <p:nvSpPr>
          <p:cNvPr id="26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Within 30 days of purchase</a:t>
            </a:r>
          </a:p>
        </p:txBody>
      </p:sp>
      <p:sp>
        <p:nvSpPr>
          <p:cNvPr id="27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2.0 M</a:t>
            </a:r>
          </a:p>
        </p:txBody>
      </p:sp>
      <p:sp>
        <p:nvSpPr>
          <p:cNvPr id="28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84%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paired</a:t>
            </a:r>
          </a:p>
        </p:txBody>
      </p:sp>
      <p:sp>
        <p:nvSpPr>
          <p:cNvPr id="31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First-run setup completed</a:t>
            </a:r>
          </a:p>
        </p:txBody>
      </p:sp>
      <p:sp>
        <p:nvSpPr>
          <p:cNvPr id="32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1.5 M</a:t>
            </a:r>
          </a:p>
        </p:txBody>
      </p:sp>
      <p:sp>
        <p:nvSpPr>
          <p:cNvPr id="33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62%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Active at 90 days</a:t>
            </a:r>
          </a:p>
        </p:txBody>
      </p:sp>
      <p:sp>
        <p:nvSpPr>
          <p:cNvPr id="36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≥4 cycles in last month</a:t>
            </a:r>
          </a:p>
        </p:txBody>
      </p:sp>
      <p:sp>
        <p:nvSpPr>
          <p:cNvPr id="37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870 K</a:t>
            </a:r>
          </a:p>
        </p:txBody>
      </p:sp>
      <p:sp>
        <p:nvSpPr>
          <p:cNvPr id="38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36%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−22 pt</a:t>
            </a:r>
          </a:p>
        </p:txBody>
      </p:sp>
      <p:sp>
        <p:nvSpPr>
          <p:cNvPr id="41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TRIAL → ACTIVATE</a:t>
            </a:r>
          </a:p>
        </p:txBody>
      </p:sp>
      <p:sp>
        <p:nvSpPr>
          <p:cNvPr id="42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Activation fails on mixed-SSID routers and Wi-Fi 6 backward compatibility. Fix is scoped for Q1.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−14 pt</a:t>
            </a:r>
          </a:p>
        </p:txBody>
      </p:sp>
      <p:sp>
        <p:nvSpPr>
          <p:cNvPr id="45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FEATURE → 90D ACTIVE</a:t>
            </a:r>
          </a:p>
        </p:txBody>
      </p:sp>
      <p:sp>
        <p:nvSpPr>
          <p:cNvPr id="46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Users try one session then default to the panel. Cadence nudges in-app are live in Q2.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9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50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VENN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WHERE THE THREE BUSINESSES MEET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5" name="Oval 14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C69D4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262626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CONSUMER</a:t>
            </a:r>
          </a:p>
        </p:txBody>
      </p:sp>
      <p:sp>
        <p:nvSpPr>
          <p:cNvPr id="20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Product + brand</a:t>
            </a:r>
          </a:p>
        </p:txBody>
      </p:sp>
      <p:sp>
        <p:nvSpPr>
          <p:cNvPr id="21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PLATFORM</a:t>
            </a:r>
          </a:p>
        </p:txBody>
      </p:sp>
      <p:sp>
        <p:nvSpPr>
          <p:cNvPr id="22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Firmware + API</a:t>
            </a:r>
          </a:p>
        </p:txBody>
      </p:sp>
      <p:sp>
        <p:nvSpPr>
          <p:cNvPr id="23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SERVICES</a:t>
            </a:r>
          </a:p>
        </p:txBody>
      </p:sp>
      <p:sp>
        <p:nvSpPr>
          <p:cNvPr id="24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Install · repair</a:t>
            </a:r>
          </a:p>
        </p:txBody>
      </p:sp>
      <p:sp>
        <p:nvSpPr>
          <p:cNvPr id="25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26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27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28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262626"/>
                </a:solidFill>
                <a:latin typeface="BMW Type Next Latin"/>
              </a:rPr>
              <a:t>Connected platform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01 · CONSUMER × PLATFORM</a:t>
            </a:r>
          </a:p>
        </p:txBody>
      </p:sp>
      <p:sp>
        <p:nvSpPr>
          <p:cNvPr id="31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32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Firmware turns the object into an addressable node — the basis for every service we layer on top.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02 · PLATFORM × SERVICES</a:t>
            </a:r>
          </a:p>
        </p:txBody>
      </p:sp>
      <p:sp>
        <p:nvSpPr>
          <p:cNvPr id="35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36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Telemetry lets service pre-triage a call; first-time-fix rate rises, truck rolls fall.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03 · CONSUMER × SERVICES</a:t>
            </a:r>
          </a:p>
        </p:txBody>
      </p:sp>
      <p:sp>
        <p:nvSpPr>
          <p:cNvPr id="39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40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Existing service relationship carries trust; we extend it into the subscription tier.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CENTER</a:t>
            </a:r>
          </a:p>
        </p:txBody>
      </p:sp>
      <p:sp>
        <p:nvSpPr>
          <p:cNvPr id="43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Connected platform</a:t>
            </a:r>
          </a:p>
        </p:txBody>
      </p:sp>
      <p:sp>
        <p:nvSpPr>
          <p:cNvPr id="44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E6E6"/>
          </a:solidFill>
          <a:ln w="635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96">
                <a:solidFill>
                  <a:srgbClr val="1A1A1A"/>
                </a:solidFill>
                <a:latin typeface="IBM Plex Mono"/>
              </a:rPr>
              <a:t>DIAGRAM · FILL VIA /DECK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DIAGRAM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DIAGRAM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64">
                <a:solidFill>
                  <a:srgbClr val="262626"/>
                </a:solidFill>
                <a:latin typeface="BMW Type Next Latin Light"/>
              </a:rPr>
              <a:t>Architectural overview goes here.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V-MODEL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VERIFICATION · VALIDATION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262626"/>
                </a:solidFill>
                <a:latin typeface="BMW Type Next Latin"/>
              </a:rPr>
              <a:t>Every design step on the left has a matching test on the right — the V-model pairs them.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01</a:t>
            </a:r>
          </a:p>
        </p:txBody>
      </p:sp>
      <p:sp>
        <p:nvSpPr>
          <p:cNvPr id="255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Requirement gathering</a:t>
            </a:r>
          </a:p>
        </p:txBody>
      </p:sp>
      <p:sp>
        <p:nvSpPr>
          <p:cNvPr id="256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01</a:t>
            </a:r>
          </a:p>
        </p:txBody>
      </p:sp>
      <p:sp>
        <p:nvSpPr>
          <p:cNvPr id="257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Acceptance testing</a:t>
            </a:r>
          </a:p>
        </p:txBody>
      </p:sp>
      <p:sp>
        <p:nvSpPr>
          <p:cNvPr id="258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ACCEPTANCE PLAN</a:t>
            </a:r>
          </a:p>
        </p:txBody>
      </p:sp>
      <p:sp>
        <p:nvSpPr>
          <p:cNvPr id="259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02</a:t>
            </a:r>
          </a:p>
        </p:txBody>
      </p:sp>
      <p:sp>
        <p:nvSpPr>
          <p:cNvPr id="260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analysis</a:t>
            </a:r>
          </a:p>
        </p:txBody>
      </p:sp>
      <p:sp>
        <p:nvSpPr>
          <p:cNvPr id="261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02</a:t>
            </a:r>
          </a:p>
        </p:txBody>
      </p:sp>
      <p:sp>
        <p:nvSpPr>
          <p:cNvPr id="262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testing</a:t>
            </a:r>
          </a:p>
        </p:txBody>
      </p:sp>
      <p:sp>
        <p:nvSpPr>
          <p:cNvPr id="263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SYSTEM TEST PLAN</a:t>
            </a:r>
          </a:p>
        </p:txBody>
      </p:sp>
      <p:sp>
        <p:nvSpPr>
          <p:cNvPr id="264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03</a:t>
            </a:r>
          </a:p>
        </p:txBody>
      </p:sp>
      <p:sp>
        <p:nvSpPr>
          <p:cNvPr id="265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Software design</a:t>
            </a:r>
          </a:p>
        </p:txBody>
      </p:sp>
      <p:sp>
        <p:nvSpPr>
          <p:cNvPr id="266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03</a:t>
            </a:r>
          </a:p>
        </p:txBody>
      </p:sp>
      <p:sp>
        <p:nvSpPr>
          <p:cNvPr id="267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Integration testing</a:t>
            </a:r>
          </a:p>
        </p:txBody>
      </p:sp>
      <p:sp>
        <p:nvSpPr>
          <p:cNvPr id="268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INTEGRATION</a:t>
            </a:r>
          </a:p>
        </p:txBody>
      </p:sp>
      <p:sp>
        <p:nvSpPr>
          <p:cNvPr id="269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04</a:t>
            </a:r>
          </a:p>
        </p:txBody>
      </p:sp>
      <p:sp>
        <p:nvSpPr>
          <p:cNvPr id="270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Module design</a:t>
            </a:r>
          </a:p>
        </p:txBody>
      </p:sp>
      <p:sp>
        <p:nvSpPr>
          <p:cNvPr id="271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04</a:t>
            </a:r>
          </a:p>
        </p:txBody>
      </p:sp>
      <p:sp>
        <p:nvSpPr>
          <p:cNvPr id="272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Unit testing</a:t>
            </a:r>
          </a:p>
        </p:txBody>
      </p:sp>
      <p:sp>
        <p:nvSpPr>
          <p:cNvPr id="273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UNIT TESTS</a:t>
            </a:r>
          </a:p>
        </p:txBody>
      </p:sp>
      <p:sp>
        <p:nvSpPr>
          <p:cNvPr id="274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9" cap="all">
                <a:solidFill>
                  <a:srgbClr val="1C69D4"/>
                </a:solidFill>
                <a:latin typeface="BMW Type Next Latin"/>
              </a:rPr>
              <a:t>PIVOT</a:t>
            </a:r>
          </a:p>
        </p:txBody>
      </p:sp>
      <p:sp>
        <p:nvSpPr>
          <p:cNvPr id="275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MW Type Next Latin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Layout · text + picture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Text paired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with a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picture.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Body copy on one side, image frame on the other. Replace via /deck.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MW">
      <a:dk1>
        <a:sysClr val="windowText" lastClr="262626"/>
      </a:dk1>
      <a:lt1>
        <a:sysClr val="window" lastClr="FFFFFF"/>
      </a:lt1>
      <a:dk2>
        <a:srgbClr val="262626"/>
      </a:dk2>
      <a:lt2>
        <a:srgbClr val="FFFFFF"/>
      </a:lt2>
      <a:accent1>
        <a:srgbClr val="1C69D4"/>
      </a:accent1>
      <a:accent2>
        <a:srgbClr val="0066B1"/>
      </a:accent2>
      <a:accent3>
        <a:srgbClr val="1A1A1A"/>
      </a:accent3>
      <a:accent4>
        <a:srgbClr val="3C3C3C"/>
      </a:accent4>
      <a:accent5>
        <a:srgbClr val="6B6B6B"/>
      </a:accent5>
      <a:accent6>
        <a:srgbClr val="E6E6E6"/>
      </a:accent6>
      <a:hlink>
        <a:srgbClr val="0653B6"/>
      </a:hlink>
      <a:folHlink>
        <a:srgbClr val="1C69D4"/>
      </a:folHlink>
    </a:clrScheme>
    <a:fontScheme name="BMW">
      <a:majorFont>
        <a:latin typeface="BMW Type Next Latin" panose="020B0604020202020204"/>
        <a:ea typeface=""/>
        <a:cs typeface=""/>
      </a:majorFont>
      <a:minorFont>
        <a:latin typeface="BMW Type Next Latin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