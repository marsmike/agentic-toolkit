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2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82" r:id="rId3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33" Type="http://schemas.openxmlformats.org/officeDocument/2006/relationships/slide" Target="slides/slide2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Feinschliff · Title · Accent">
    <p:bg>
      <p:bgPr>
        <a:solidFill>
          <a:srgbClr val="C9A2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75640" y="426720"/>
            <a:ext cx="121920" cy="162560"/>
          </a:xfrm>
          <a:custGeom>
            <a:avLst/>
            <a:gdLst/>
            <a:ahLst/>
            <a:cxnLst/>
            <a:rect l="l" t="t" r="r" b="b"/>
            <a:pathLst>
              <a:path w="121920" h="162560">
                <a:moveTo>
                  <a:pt x="60960" y="0"/>
                </a:moveTo>
                <a:lnTo>
                  <a:pt x="20320" y="66040"/>
                </a:lnTo>
                <a:lnTo>
                  <a:pt x="0" y="86360"/>
                </a:lnTo>
                <a:lnTo>
                  <a:pt x="60960" y="162560"/>
                </a:lnTo>
                <a:lnTo>
                  <a:pt x="121920" y="86360"/>
                </a:lnTo>
                <a:lnTo>
                  <a:pt x="101600" y="66040"/>
                </a:lnTo>
                <a:close/>
              </a:path>
            </a:pathLst>
          </a:custGeom>
          <a:solidFill>
            <a:srgbClr val="0B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01700" y="4318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62" b="0">
                <a:solidFill>
                  <a:srgbClr val="0B1A33"/>
                </a:solidFill>
                <a:latin typeface="Noto Sans Medium"/>
              </a:rPr>
              <a:t>FEINSCHLIFF.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90">
                <a:solidFill>
                  <a:srgbClr val="0B1A33"/>
                </a:solidFill>
                <a:latin typeface="Noto Sans Mono"/>
              </a:rPr>
              <a:t>FEINSCHLIFF. DESIGN SYSTEM ·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0B1A33"/>
                </a:solidFill>
                <a:latin typeface="Noto Sa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0B1A33"/>
                </a:solidFill>
                <a:latin typeface="Noto Sa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0B1A33"/>
                </a:solidFill>
                <a:latin typeface="Noto Sa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3162300"/>
            <a:ext cx="508000" cy="254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34417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0B1A33"/>
                </a:solidFill>
                <a:latin typeface="Noto Sans Mono"/>
              </a:rPr>
              <a:t>A SHOWCASE OF THE FEINSCHLIFF 2026 SYSTEM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3784600"/>
            <a:ext cx="10922000" cy="2032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8000" spc="-280">
                <a:solidFill>
                  <a:srgbClr val="0B1A33"/>
                </a:solidFill>
                <a:latin typeface="Noto Sans Light"/>
              </a:rPr>
              <a:t>Feinschliff</a:t>
            </a:r>
          </a:p>
          <a:p>
            <a:pPr marL="0" indent="0" algn="l">
              <a:lnSpc>
                <a:spcPct val="95000"/>
              </a:lnSpc>
              <a:buNone/>
            </a:pPr>
            <a:r>
              <a:rPr lang="en-US" sz="8000" spc="-280">
                <a:solidFill>
                  <a:srgbClr val="0B1A33"/>
                </a:solidFill>
                <a:latin typeface="Noto Sans Light"/>
              </a:rPr>
              <a:t>showcase deck.</a:t>
            </a:r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Feinschliff · Title · Ink">
    <p:bg>
      <p:bgPr>
        <a:solidFill>
          <a:srgbClr val="0B1A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75640" y="426720"/>
            <a:ext cx="121920" cy="162560"/>
          </a:xfrm>
          <a:custGeom>
            <a:avLst/>
            <a:gdLst/>
            <a:ahLst/>
            <a:cxnLst/>
            <a:rect l="l" t="t" r="r" b="b"/>
            <a:pathLst>
              <a:path w="121920" h="162560">
                <a:moveTo>
                  <a:pt x="60960" y="0"/>
                </a:moveTo>
                <a:lnTo>
                  <a:pt x="20320" y="66040"/>
                </a:lnTo>
                <a:lnTo>
                  <a:pt x="0" y="86360"/>
                </a:lnTo>
                <a:lnTo>
                  <a:pt x="60960" y="162560"/>
                </a:lnTo>
                <a:lnTo>
                  <a:pt x="121920" y="86360"/>
                </a:lnTo>
                <a:lnTo>
                  <a:pt x="101600" y="6604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01700" y="4318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62" b="0">
                <a:solidFill>
                  <a:srgbClr val="FFFFFF"/>
                </a:solidFill>
                <a:latin typeface="Noto Sans Medium"/>
              </a:rPr>
              <a:t>FEINSCHLIFF.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90">
                <a:solidFill>
                  <a:srgbClr val="FFFFFF"/>
                </a:solidFill>
                <a:latin typeface="Noto Sans Mono"/>
              </a:rPr>
              <a:t>FEINSCHLIFF. DESIGN SYSTEM ·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FFFFFF"/>
                </a:solidFill>
                <a:latin typeface="Noto Sa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FFFFFF"/>
                </a:solidFill>
                <a:latin typeface="Noto Sa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FFFFFF"/>
                </a:solidFill>
                <a:latin typeface="Noto Sa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3162300"/>
            <a:ext cx="508000" cy="254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34417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C9A24A"/>
                </a:solidFill>
                <a:latin typeface="Noto Sans Mono"/>
              </a:rPr>
              <a:t>TITLE SLIDE · INK VARIANT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3784600"/>
            <a:ext cx="10922000" cy="2032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8000" spc="-280">
                <a:solidFill>
                  <a:srgbClr val="FFFFFF"/>
                </a:solidFill>
                <a:latin typeface="Noto Sans Light"/>
              </a:rPr>
              <a:t>The same wordmark</a:t>
            </a:r>
          </a:p>
          <a:p>
            <a:pPr marL="0" indent="0" algn="l">
              <a:lnSpc>
                <a:spcPct val="95000"/>
              </a:lnSpc>
              <a:buNone/>
            </a:pPr>
            <a:r>
              <a:rPr lang="en-US" sz="8000" spc="-280">
                <a:solidFill>
                  <a:srgbClr val="FFFFFF"/>
                </a:solidFill>
                <a:latin typeface="Noto Sans Light"/>
              </a:rPr>
              <a:t>in a darker room.</a:t>
            </a:r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Feinschliff · Title + Pictur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096000" y="0"/>
            <a:ext cx="6096000" cy="6858000"/>
          </a:xfrm>
          <a:prstGeom prst="rect">
            <a:avLst/>
          </a:prstGeom>
          <a:pattFill prst="wdDnDiag">
            <a:fgClr>
              <a:srgbClr val="D6D1C2"/>
            </a:fgClr>
            <a:bgClr>
              <a:srgbClr val="FAF8F3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96000" y="0"/>
            <a:ext cx="6096000" cy="685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spc="90">
                <a:solidFill>
                  <a:srgbClr val="2D3A52"/>
                </a:solidFill>
                <a:latin typeface="Noto Sans Mono"/>
              </a:rPr>
              <a:t>PRODUCT SHOT · 16:9</a:t>
            </a:r>
          </a:p>
        </p:txBody>
      </p:sp>
      <p:sp>
        <p:nvSpPr>
          <p:cNvPr id="4" name="Freeform 3"/>
          <p:cNvSpPr/>
          <p:nvPr/>
        </p:nvSpPr>
        <p:spPr>
          <a:xfrm>
            <a:off x="675640" y="426720"/>
            <a:ext cx="121920" cy="162560"/>
          </a:xfrm>
          <a:custGeom>
            <a:avLst/>
            <a:gdLst/>
            <a:ahLst/>
            <a:cxnLst/>
            <a:rect l="l" t="t" r="r" b="b"/>
            <a:pathLst>
              <a:path w="121920" h="162560">
                <a:moveTo>
                  <a:pt x="60960" y="0"/>
                </a:moveTo>
                <a:lnTo>
                  <a:pt x="20320" y="66040"/>
                </a:lnTo>
                <a:lnTo>
                  <a:pt x="0" y="86360"/>
                </a:lnTo>
                <a:lnTo>
                  <a:pt x="60960" y="162560"/>
                </a:lnTo>
                <a:lnTo>
                  <a:pt x="121920" y="86360"/>
                </a:lnTo>
                <a:lnTo>
                  <a:pt x="101600" y="66040"/>
                </a:lnTo>
                <a:close/>
              </a:path>
            </a:pathLst>
          </a:custGeom>
          <a:solidFill>
            <a:srgbClr val="0B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1700" y="4318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62" b="0">
                <a:solidFill>
                  <a:srgbClr val="0B1A33"/>
                </a:solidFill>
                <a:latin typeface="Noto Sans Medium"/>
              </a:rPr>
              <a:t>FEINSCHLIFF.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90">
                <a:solidFill>
                  <a:srgbClr val="0B1A33"/>
                </a:solidFill>
                <a:latin typeface="Noto Sans Mono"/>
              </a:rPr>
              <a:t>TITLE + PICTURE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0B1A33"/>
                </a:solidFill>
                <a:latin typeface="Noto Sans Mono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0B1A33"/>
                </a:solidFill>
                <a:latin typeface="Noto Sa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0B1A33"/>
                </a:solidFill>
                <a:latin typeface="Noto Sans Mono"/>
              </a:rPr>
              <a:t>1</a:t>
            </a:fld>
          </a:p>
        </p:txBody>
      </p:sp>
      <p:sp>
        <p:nvSpPr>
          <p:cNvPr id="9" name="Rectangle 8"/>
          <p:cNvSpPr/>
          <p:nvPr/>
        </p:nvSpPr>
        <p:spPr>
          <a:xfrm>
            <a:off x="635000" y="2857500"/>
            <a:ext cx="508000" cy="254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Eyebrow"/>
          <p:cNvSpPr>
            <a:spLocks noGrp="1"/>
          </p:cNvSpPr>
          <p:nvPr>
            <p:ph type="body" idx="10"/>
          </p:nvPr>
        </p:nvSpPr>
        <p:spPr>
          <a:xfrm>
            <a:off x="635000" y="3136900"/>
            <a:ext cx="5207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0B1A33"/>
                </a:solidFill>
                <a:latin typeface="Noto Sans Mono"/>
              </a:rPr>
              <a:t>LAYOUT 03 · TITLE + PICTURE</a:t>
            </a:r>
          </a:p>
        </p:txBody>
      </p:sp>
      <p:sp>
        <p:nvSpPr>
          <p:cNvPr id="11" name="Title"/>
          <p:cNvSpPr>
            <a:spLocks noGrp="1"/>
          </p:cNvSpPr>
          <p:nvPr>
            <p:ph type="title"/>
          </p:nvPr>
        </p:nvSpPr>
        <p:spPr>
          <a:xfrm>
            <a:off x="635000" y="3454400"/>
            <a:ext cx="5207000" cy="1651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0" spc="-180">
                <a:solidFill>
                  <a:srgbClr val="0B1A33"/>
                </a:solidFill>
                <a:latin typeface="Noto Sans Light"/>
              </a:rPr>
              <a:t>Pair a title</a:t>
            </a:r>
          </a:p>
          <a:p>
            <a:pPr marL="0" indent="0" algn="l">
              <a:buNone/>
            </a:pPr>
            <a:r>
              <a:rPr lang="en-US" sz="6000" spc="-180">
                <a:solidFill>
                  <a:srgbClr val="0B1A33"/>
                </a:solidFill>
                <a:latin typeface="Noto Sans Light"/>
              </a:rPr>
              <a:t>with a product.</a:t>
            </a:r>
          </a:p>
        </p:txBody>
      </p:sp>
      <p:sp>
        <p:nvSpPr>
          <p:cNvPr id="12" name="Body"/>
          <p:cNvSpPr>
            <a:spLocks noGrp="1"/>
          </p:cNvSpPr>
          <p:nvPr>
            <p:ph type="body" idx="11"/>
          </p:nvPr>
        </p:nvSpPr>
        <p:spPr>
          <a:xfrm>
            <a:off x="635000" y="5207000"/>
            <a:ext cx="4953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300">
                <a:solidFill>
                  <a:srgbClr val="2D3A52"/>
                </a:solidFill>
                <a:latin typeface="Noto Sans"/>
              </a:rPr>
              <a:t>Full-bleed image on the right half, title stacked on the left. The logo and page meta sit on top, unchanged.</a:t>
            </a:r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Feinschliff · Agenda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75640" y="426720"/>
            <a:ext cx="121920" cy="162560"/>
          </a:xfrm>
          <a:custGeom>
            <a:avLst/>
            <a:gdLst/>
            <a:ahLst/>
            <a:cxnLst/>
            <a:rect l="l" t="t" r="r" b="b"/>
            <a:pathLst>
              <a:path w="121920" h="162560">
                <a:moveTo>
                  <a:pt x="60960" y="0"/>
                </a:moveTo>
                <a:lnTo>
                  <a:pt x="20320" y="66040"/>
                </a:lnTo>
                <a:lnTo>
                  <a:pt x="0" y="86360"/>
                </a:lnTo>
                <a:lnTo>
                  <a:pt x="60960" y="162560"/>
                </a:lnTo>
                <a:lnTo>
                  <a:pt x="121920" y="86360"/>
                </a:lnTo>
                <a:lnTo>
                  <a:pt x="101600" y="66040"/>
                </a:lnTo>
                <a:close/>
              </a:path>
            </a:pathLst>
          </a:custGeom>
          <a:solidFill>
            <a:srgbClr val="0B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01700" y="4318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62" b="0">
                <a:solidFill>
                  <a:srgbClr val="0B1A33"/>
                </a:solidFill>
                <a:latin typeface="Noto Sans Medium"/>
              </a:rPr>
              <a:t>FEINSCHLIFF.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90">
                <a:solidFill>
                  <a:srgbClr val="0B1A33"/>
                </a:solidFill>
                <a:latin typeface="Noto Sans Mono"/>
              </a:rPr>
              <a:t>AGENDA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0B1A33"/>
                </a:solidFill>
                <a:latin typeface="Noto Sa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0B1A33"/>
                </a:solidFill>
                <a:latin typeface="Noto Sa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0B1A33"/>
                </a:solidFill>
                <a:latin typeface="Noto Sa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143000"/>
            <a:ext cx="508000" cy="254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397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0B1A33"/>
                </a:solidFill>
                <a:latin typeface="Noto Sans Mono"/>
              </a:rPr>
              <a:t>ONLY TITLE LAYOUT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1651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2800" spc="-56">
                <a:solidFill>
                  <a:srgbClr val="0B1A33"/>
                </a:solidFill>
                <a:latin typeface="Noto Sans Light"/>
              </a:rPr>
              <a:t>What we'll cover.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5000" y="2667000"/>
            <a:ext cx="5461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w 1 Num"/>
          <p:cNvSpPr>
            <a:spLocks noGrp="1"/>
          </p:cNvSpPr>
          <p:nvPr>
            <p:ph type="body" idx="20"/>
          </p:nvPr>
        </p:nvSpPr>
        <p:spPr>
          <a:xfrm>
            <a:off x="635000" y="2755900"/>
            <a:ext cx="698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72">
                <a:solidFill>
                  <a:srgbClr val="C9A24A"/>
                </a:solidFill>
                <a:latin typeface="Noto Sans Mono"/>
              </a:rPr>
              <a:t>01 / 06</a:t>
            </a:r>
          </a:p>
        </p:txBody>
      </p:sp>
      <p:sp>
        <p:nvSpPr>
          <p:cNvPr id="12" name="Row 1 Title"/>
          <p:cNvSpPr>
            <a:spLocks noGrp="1"/>
          </p:cNvSpPr>
          <p:nvPr>
            <p:ph type="body" idx="21"/>
          </p:nvPr>
        </p:nvSpPr>
        <p:spPr>
          <a:xfrm>
            <a:off x="1397000" y="2730500"/>
            <a:ext cx="4699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400" spc="-14">
                <a:solidFill>
                  <a:srgbClr val="0B1A33"/>
                </a:solidFill>
                <a:latin typeface="Noto Sans Medium"/>
              </a:rPr>
              <a:t>Brand mark</a:t>
            </a:r>
          </a:p>
        </p:txBody>
      </p:sp>
      <p:sp>
        <p:nvSpPr>
          <p:cNvPr id="13" name="Row 1 Desc"/>
          <p:cNvSpPr>
            <a:spLocks noGrp="1"/>
          </p:cNvSpPr>
          <p:nvPr>
            <p:ph type="body" idx="22"/>
          </p:nvPr>
        </p:nvSpPr>
        <p:spPr>
          <a:xfrm>
            <a:off x="1397000" y="2997200"/>
            <a:ext cx="4699000" cy="2032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000">
                <a:solidFill>
                  <a:srgbClr val="2D3A52"/>
                </a:solidFill>
                <a:latin typeface="Noto Sans"/>
              </a:rPr>
              <a:t>Wordmark, contrast, clear space.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350000" y="2667000"/>
            <a:ext cx="5461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w 2 Num"/>
          <p:cNvSpPr>
            <a:spLocks noGrp="1"/>
          </p:cNvSpPr>
          <p:nvPr>
            <p:ph type="body" idx="23"/>
          </p:nvPr>
        </p:nvSpPr>
        <p:spPr>
          <a:xfrm>
            <a:off x="6350000" y="2755900"/>
            <a:ext cx="698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72">
                <a:solidFill>
                  <a:srgbClr val="C9A24A"/>
                </a:solidFill>
                <a:latin typeface="Noto Sans Mono"/>
              </a:rPr>
              <a:t>02 / 06</a:t>
            </a:r>
          </a:p>
        </p:txBody>
      </p:sp>
      <p:sp>
        <p:nvSpPr>
          <p:cNvPr id="16" name="Row 2 Title"/>
          <p:cNvSpPr>
            <a:spLocks noGrp="1"/>
          </p:cNvSpPr>
          <p:nvPr>
            <p:ph type="body" idx="24"/>
          </p:nvPr>
        </p:nvSpPr>
        <p:spPr>
          <a:xfrm>
            <a:off x="7112000" y="2730500"/>
            <a:ext cx="4699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400" spc="-14">
                <a:solidFill>
                  <a:srgbClr val="0B1A33"/>
                </a:solidFill>
                <a:latin typeface="Noto Sans Medium"/>
              </a:rPr>
              <a:t>Colour</a:t>
            </a:r>
          </a:p>
        </p:txBody>
      </p:sp>
      <p:sp>
        <p:nvSpPr>
          <p:cNvPr id="17" name="Row 2 Desc"/>
          <p:cNvSpPr>
            <a:spLocks noGrp="1"/>
          </p:cNvSpPr>
          <p:nvPr>
            <p:ph type="body" idx="25"/>
          </p:nvPr>
        </p:nvSpPr>
        <p:spPr>
          <a:xfrm>
            <a:off x="7112000" y="2997200"/>
            <a:ext cx="4699000" cy="2032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000">
                <a:solidFill>
                  <a:srgbClr val="2D3A52"/>
                </a:solidFill>
                <a:latin typeface="Noto Sans"/>
              </a:rPr>
              <a:t>One orange, seven neutrals.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5000" y="3378200"/>
            <a:ext cx="5461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w 3 Num"/>
          <p:cNvSpPr>
            <a:spLocks noGrp="1"/>
          </p:cNvSpPr>
          <p:nvPr>
            <p:ph type="body" idx="26"/>
          </p:nvPr>
        </p:nvSpPr>
        <p:spPr>
          <a:xfrm>
            <a:off x="635000" y="3467100"/>
            <a:ext cx="698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72">
                <a:solidFill>
                  <a:srgbClr val="C9A24A"/>
                </a:solidFill>
                <a:latin typeface="Noto Sans Mono"/>
              </a:rPr>
              <a:t>03 / 06</a:t>
            </a:r>
          </a:p>
        </p:txBody>
      </p:sp>
      <p:sp>
        <p:nvSpPr>
          <p:cNvPr id="20" name="Row 3 Title"/>
          <p:cNvSpPr>
            <a:spLocks noGrp="1"/>
          </p:cNvSpPr>
          <p:nvPr>
            <p:ph type="body" idx="27"/>
          </p:nvPr>
        </p:nvSpPr>
        <p:spPr>
          <a:xfrm>
            <a:off x="1397000" y="3441700"/>
            <a:ext cx="4699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400" spc="-14">
                <a:solidFill>
                  <a:srgbClr val="0B1A33"/>
                </a:solidFill>
                <a:latin typeface="Noto Sans Medium"/>
              </a:rPr>
              <a:t>Type</a:t>
            </a:r>
          </a:p>
        </p:txBody>
      </p:sp>
      <p:sp>
        <p:nvSpPr>
          <p:cNvPr id="21" name="Row 3 Desc"/>
          <p:cNvSpPr>
            <a:spLocks noGrp="1"/>
          </p:cNvSpPr>
          <p:nvPr>
            <p:ph type="body" idx="28"/>
          </p:nvPr>
        </p:nvSpPr>
        <p:spPr>
          <a:xfrm>
            <a:off x="1397000" y="3708400"/>
            <a:ext cx="4699000" cy="2032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000">
                <a:solidFill>
                  <a:srgbClr val="2D3A52"/>
                </a:solidFill>
                <a:latin typeface="Noto Sans"/>
              </a:rPr>
              <a:t>Noto Sans, 28pt titles.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350000" y="3378200"/>
            <a:ext cx="5461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w 4 Num"/>
          <p:cNvSpPr>
            <a:spLocks noGrp="1"/>
          </p:cNvSpPr>
          <p:nvPr>
            <p:ph type="body" idx="29"/>
          </p:nvPr>
        </p:nvSpPr>
        <p:spPr>
          <a:xfrm>
            <a:off x="6350000" y="3467100"/>
            <a:ext cx="698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72">
                <a:solidFill>
                  <a:srgbClr val="C9A24A"/>
                </a:solidFill>
                <a:latin typeface="Noto Sans Mono"/>
              </a:rPr>
              <a:t>04 / 06</a:t>
            </a:r>
          </a:p>
        </p:txBody>
      </p:sp>
      <p:sp>
        <p:nvSpPr>
          <p:cNvPr id="24" name="Row 4 Title"/>
          <p:cNvSpPr>
            <a:spLocks noGrp="1"/>
          </p:cNvSpPr>
          <p:nvPr>
            <p:ph type="body" idx="30"/>
          </p:nvPr>
        </p:nvSpPr>
        <p:spPr>
          <a:xfrm>
            <a:off x="7112000" y="3441700"/>
            <a:ext cx="4699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400" spc="-14">
                <a:solidFill>
                  <a:srgbClr val="0B1A33"/>
                </a:solidFill>
                <a:latin typeface="Noto Sans Medium"/>
              </a:rPr>
              <a:t>Layouts</a:t>
            </a:r>
          </a:p>
        </p:txBody>
      </p:sp>
      <p:sp>
        <p:nvSpPr>
          <p:cNvPr id="25" name="Row 4 Desc"/>
          <p:cNvSpPr>
            <a:spLocks noGrp="1"/>
          </p:cNvSpPr>
          <p:nvPr>
            <p:ph type="body" idx="31"/>
          </p:nvPr>
        </p:nvSpPr>
        <p:spPr>
          <a:xfrm>
            <a:off x="7112000" y="3708400"/>
            <a:ext cx="4699000" cy="2032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000">
                <a:solidFill>
                  <a:srgbClr val="2D3A52"/>
                </a:solidFill>
                <a:latin typeface="Noto Sans"/>
              </a:rPr>
              <a:t>Chapter, content, picture, data.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35000" y="4089400"/>
            <a:ext cx="5461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w 5 Num"/>
          <p:cNvSpPr>
            <a:spLocks noGrp="1"/>
          </p:cNvSpPr>
          <p:nvPr>
            <p:ph type="body" idx="32"/>
          </p:nvPr>
        </p:nvSpPr>
        <p:spPr>
          <a:xfrm>
            <a:off x="635000" y="4178300"/>
            <a:ext cx="698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72">
                <a:solidFill>
                  <a:srgbClr val="C9A24A"/>
                </a:solidFill>
                <a:latin typeface="Noto Sans Mono"/>
              </a:rPr>
              <a:t>05 / 06</a:t>
            </a:r>
          </a:p>
        </p:txBody>
      </p:sp>
      <p:sp>
        <p:nvSpPr>
          <p:cNvPr id="28" name="Row 5 Title"/>
          <p:cNvSpPr>
            <a:spLocks noGrp="1"/>
          </p:cNvSpPr>
          <p:nvPr>
            <p:ph type="body" idx="33"/>
          </p:nvPr>
        </p:nvSpPr>
        <p:spPr>
          <a:xfrm>
            <a:off x="1397000" y="4152900"/>
            <a:ext cx="4699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400" spc="-14">
                <a:solidFill>
                  <a:srgbClr val="0B1A33"/>
                </a:solidFill>
                <a:latin typeface="Noto Sans Medium"/>
              </a:rPr>
              <a:t>Components</a:t>
            </a:r>
          </a:p>
        </p:txBody>
      </p:sp>
      <p:sp>
        <p:nvSpPr>
          <p:cNvPr id="29" name="Row 5 Desc"/>
          <p:cNvSpPr>
            <a:spLocks noGrp="1"/>
          </p:cNvSpPr>
          <p:nvPr>
            <p:ph type="body" idx="34"/>
          </p:nvPr>
        </p:nvSpPr>
        <p:spPr>
          <a:xfrm>
            <a:off x="1397000" y="4419600"/>
            <a:ext cx="4699000" cy="2032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000">
                <a:solidFill>
                  <a:srgbClr val="2D3A52"/>
                </a:solidFill>
                <a:latin typeface="Noto Sans"/>
              </a:rPr>
              <a:t>Buttons, chips, KPIs, rules.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350000" y="4089400"/>
            <a:ext cx="5461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w 6 Num"/>
          <p:cNvSpPr>
            <a:spLocks noGrp="1"/>
          </p:cNvSpPr>
          <p:nvPr>
            <p:ph type="body" idx="35"/>
          </p:nvPr>
        </p:nvSpPr>
        <p:spPr>
          <a:xfrm>
            <a:off x="6350000" y="4178300"/>
            <a:ext cx="698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72">
                <a:solidFill>
                  <a:srgbClr val="C9A24A"/>
                </a:solidFill>
                <a:latin typeface="Noto Sans Mono"/>
              </a:rPr>
              <a:t>06 / 06</a:t>
            </a:r>
          </a:p>
        </p:txBody>
      </p:sp>
      <p:sp>
        <p:nvSpPr>
          <p:cNvPr id="32" name="Row 6 Title"/>
          <p:cNvSpPr>
            <a:spLocks noGrp="1"/>
          </p:cNvSpPr>
          <p:nvPr>
            <p:ph type="body" idx="36"/>
          </p:nvPr>
        </p:nvSpPr>
        <p:spPr>
          <a:xfrm>
            <a:off x="7112000" y="4152900"/>
            <a:ext cx="4699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400" spc="-14">
                <a:solidFill>
                  <a:srgbClr val="0B1A33"/>
                </a:solidFill>
                <a:latin typeface="Noto Sans Medium"/>
              </a:rPr>
              <a:t>Voice</a:t>
            </a:r>
          </a:p>
        </p:txBody>
      </p:sp>
      <p:sp>
        <p:nvSpPr>
          <p:cNvPr id="33" name="Row 6 Desc"/>
          <p:cNvSpPr>
            <a:spLocks noGrp="1"/>
          </p:cNvSpPr>
          <p:nvPr>
            <p:ph type="body" idx="37"/>
          </p:nvPr>
        </p:nvSpPr>
        <p:spPr>
          <a:xfrm>
            <a:off x="7112000" y="4419600"/>
            <a:ext cx="4699000" cy="2032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000">
                <a:solidFill>
                  <a:srgbClr val="2D3A52"/>
                </a:solidFill>
                <a:latin typeface="Noto Sans"/>
              </a:rPr>
              <a:t>Quiet confidence.</a:t>
            </a:r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Feinschliff · Chapter · Accent">
    <p:bg>
      <p:bgPr>
        <a:solidFill>
          <a:srgbClr val="C9A2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75640" y="426720"/>
            <a:ext cx="121920" cy="162560"/>
          </a:xfrm>
          <a:custGeom>
            <a:avLst/>
            <a:gdLst/>
            <a:ahLst/>
            <a:cxnLst/>
            <a:rect l="l" t="t" r="r" b="b"/>
            <a:pathLst>
              <a:path w="121920" h="162560">
                <a:moveTo>
                  <a:pt x="60960" y="0"/>
                </a:moveTo>
                <a:lnTo>
                  <a:pt x="20320" y="66040"/>
                </a:lnTo>
                <a:lnTo>
                  <a:pt x="0" y="86360"/>
                </a:lnTo>
                <a:lnTo>
                  <a:pt x="60960" y="162560"/>
                </a:lnTo>
                <a:lnTo>
                  <a:pt x="121920" y="86360"/>
                </a:lnTo>
                <a:lnTo>
                  <a:pt x="101600" y="66040"/>
                </a:lnTo>
                <a:close/>
              </a:path>
            </a:pathLst>
          </a:custGeom>
          <a:solidFill>
            <a:srgbClr val="0B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01700" y="4318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62" b="0">
                <a:solidFill>
                  <a:srgbClr val="0B1A33"/>
                </a:solidFill>
                <a:latin typeface="Noto Sans Medium"/>
              </a:rPr>
              <a:t>FEINSCHLIFF.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90">
                <a:solidFill>
                  <a:srgbClr val="0B1A33"/>
                </a:solidFill>
                <a:latin typeface="Noto Sans Mono"/>
              </a:rPr>
              <a:t>CHAPTER 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0B1A33"/>
                </a:solidFill>
                <a:latin typeface="Noto Sa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0B1A33"/>
                </a:solidFill>
                <a:latin typeface="Noto Sa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0B1A33"/>
                </a:solidFill>
                <a:latin typeface="Noto Sans Mono"/>
              </a:rPr>
              <a:t>1</a:t>
            </a:fld>
          </a:p>
        </p:txBody>
      </p:sp>
      <p:sp>
        <p:nvSpPr>
          <p:cNvPr id="7" name="TextBox 6"/>
          <p:cNvSpPr txBox="1"/>
          <p:nvPr/>
        </p:nvSpPr>
        <p:spPr>
          <a:xfrm>
            <a:off x="6985000" y="4953000"/>
            <a:ext cx="5080000" cy="1397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85000"/>
              </a:lnSpc>
            </a:pPr>
            <a:r>
              <a:rPr sz="11000" spc="-440" b="0">
                <a:solidFill>
                  <a:srgbClr val="0B1A33">
                    <a:alpha val="22000"/>
                  </a:srgbClr>
                </a:solidFill>
                <a:latin typeface="Noto Sans Light"/>
              </a:rPr>
              <a:t>01 / 06</a:t>
            </a:r>
          </a:p>
        </p:txBody>
      </p:sp>
      <p:sp>
        <p:nvSpPr>
          <p:cNvPr id="8" name="Rectangle 7"/>
          <p:cNvSpPr/>
          <p:nvPr/>
        </p:nvSpPr>
        <p:spPr>
          <a:xfrm>
            <a:off x="635000" y="3162300"/>
            <a:ext cx="508000" cy="254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Eyebrow"/>
          <p:cNvSpPr>
            <a:spLocks noGrp="1"/>
          </p:cNvSpPr>
          <p:nvPr>
            <p:ph type="body" idx="10"/>
          </p:nvPr>
        </p:nvSpPr>
        <p:spPr>
          <a:xfrm>
            <a:off x="635000" y="34417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0B1A33"/>
                </a:solidFill>
                <a:latin typeface="Noto Sans Mono"/>
              </a:rPr>
              <a:t>CHAPTER OPENER · ORANGE</a:t>
            </a:r>
          </a:p>
        </p:txBody>
      </p:sp>
      <p:sp>
        <p:nvSpPr>
          <p:cNvPr id="10" name="Title"/>
          <p:cNvSpPr>
            <a:spLocks noGrp="1"/>
          </p:cNvSpPr>
          <p:nvPr>
            <p:ph type="title"/>
          </p:nvPr>
        </p:nvSpPr>
        <p:spPr>
          <a:xfrm>
            <a:off x="635000" y="3784600"/>
            <a:ext cx="8255000" cy="2032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8000" spc="-280">
                <a:solidFill>
                  <a:srgbClr val="0B1A33"/>
                </a:solidFill>
                <a:latin typeface="Noto Sans Light"/>
              </a:rPr>
              <a:t>01</a:t>
            </a:r>
          </a:p>
          <a:p>
            <a:pPr marL="0" indent="0" algn="l">
              <a:lnSpc>
                <a:spcPct val="95000"/>
              </a:lnSpc>
              <a:buNone/>
            </a:pPr>
            <a:r>
              <a:rPr lang="en-US" sz="8000" spc="-280">
                <a:solidFill>
                  <a:srgbClr val="0B1A33"/>
                </a:solidFill>
                <a:latin typeface="Noto Sans Light"/>
              </a:rPr>
              <a:t>Brand.</a:t>
            </a:r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Feinschliff · Chapter · Ink + Picture">
    <p:bg>
      <p:bgPr>
        <a:solidFill>
          <a:srgbClr val="0B1A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096000" y="0"/>
            <a:ext cx="6096000" cy="6858000"/>
          </a:xfrm>
          <a:prstGeom prst="rect">
            <a:avLst/>
          </a:prstGeom>
          <a:pattFill prst="wdDnDiag">
            <a:fgClr>
              <a:srgbClr val="1A1A1A"/>
            </a:fgClr>
            <a:bgClr>
              <a:srgbClr val="222222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96000" y="0"/>
            <a:ext cx="6096000" cy="685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spc="90">
                <a:solidFill>
                  <a:srgbClr val="5A6478"/>
                </a:solidFill>
                <a:latin typeface="Noto Sans Mono"/>
              </a:rPr>
              <a:t>EDITORIAL IMAGE · 16:9</a:t>
            </a:r>
          </a:p>
        </p:txBody>
      </p:sp>
      <p:sp>
        <p:nvSpPr>
          <p:cNvPr id="4" name="Freeform 3"/>
          <p:cNvSpPr/>
          <p:nvPr/>
        </p:nvSpPr>
        <p:spPr>
          <a:xfrm>
            <a:off x="675640" y="426720"/>
            <a:ext cx="121920" cy="162560"/>
          </a:xfrm>
          <a:custGeom>
            <a:avLst/>
            <a:gdLst/>
            <a:ahLst/>
            <a:cxnLst/>
            <a:rect l="l" t="t" r="r" b="b"/>
            <a:pathLst>
              <a:path w="121920" h="162560">
                <a:moveTo>
                  <a:pt x="60960" y="0"/>
                </a:moveTo>
                <a:lnTo>
                  <a:pt x="20320" y="66040"/>
                </a:lnTo>
                <a:lnTo>
                  <a:pt x="0" y="86360"/>
                </a:lnTo>
                <a:lnTo>
                  <a:pt x="60960" y="162560"/>
                </a:lnTo>
                <a:lnTo>
                  <a:pt x="121920" y="86360"/>
                </a:lnTo>
                <a:lnTo>
                  <a:pt x="101600" y="6604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1700" y="4318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62" b="0">
                <a:solidFill>
                  <a:srgbClr val="FFFFFF"/>
                </a:solidFill>
                <a:latin typeface="Noto Sans Medium"/>
              </a:rPr>
              <a:t>FEINSCHLIFF.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90">
                <a:solidFill>
                  <a:srgbClr val="FFFFFF"/>
                </a:solidFill>
                <a:latin typeface="Noto Sans Mono"/>
              </a:rPr>
              <a:t>CHAPTER 02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FFFFFF"/>
                </a:solidFill>
                <a:latin typeface="Noto Sans Mono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FFFFFF"/>
                </a:solidFill>
                <a:latin typeface="Noto Sa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FFFFFF"/>
                </a:solidFill>
                <a:latin typeface="Noto Sans Mono"/>
              </a:rPr>
              <a:t>1</a:t>
            </a:fld>
          </a:p>
        </p:txBody>
      </p:sp>
      <p:sp>
        <p:nvSpPr>
          <p:cNvPr id="9" name="Rectangle 8"/>
          <p:cNvSpPr/>
          <p:nvPr/>
        </p:nvSpPr>
        <p:spPr>
          <a:xfrm>
            <a:off x="635000" y="2794000"/>
            <a:ext cx="508000" cy="254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Eyebrow"/>
          <p:cNvSpPr>
            <a:spLocks noGrp="1"/>
          </p:cNvSpPr>
          <p:nvPr>
            <p:ph type="body" idx="10"/>
          </p:nvPr>
        </p:nvSpPr>
        <p:spPr>
          <a:xfrm>
            <a:off x="635000" y="3073400"/>
            <a:ext cx="5207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C9A24A"/>
                </a:solidFill>
                <a:latin typeface="Noto Sans Mono"/>
              </a:rPr>
              <a:t>CHAPTER OPENER · INK</a:t>
            </a:r>
          </a:p>
        </p:txBody>
      </p:sp>
      <p:sp>
        <p:nvSpPr>
          <p:cNvPr id="11" name="Title"/>
          <p:cNvSpPr>
            <a:spLocks noGrp="1"/>
          </p:cNvSpPr>
          <p:nvPr>
            <p:ph type="title"/>
          </p:nvPr>
        </p:nvSpPr>
        <p:spPr>
          <a:xfrm>
            <a:off x="635000" y="3429000"/>
            <a:ext cx="5207000" cy="2286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0" spc="-180">
                <a:solidFill>
                  <a:srgbClr val="FFFFFF"/>
                </a:solidFill>
                <a:latin typeface="Noto Sans Light"/>
              </a:rPr>
              <a:t>02</a:t>
            </a:r>
          </a:p>
          <a:p>
            <a:pPr marL="0" indent="0" algn="l">
              <a:buNone/>
            </a:pPr>
            <a:r>
              <a:rPr lang="en-US" sz="6000" spc="-180">
                <a:solidFill>
                  <a:srgbClr val="FFFFFF"/>
                </a:solidFill>
                <a:latin typeface="Noto Sans Light"/>
              </a:rPr>
              <a:t>Colour</a:t>
            </a:r>
          </a:p>
          <a:p>
            <a:pPr marL="0" indent="0" algn="l">
              <a:buNone/>
            </a:pPr>
            <a:r>
              <a:rPr lang="en-US" sz="6000" spc="-180">
                <a:solidFill>
                  <a:srgbClr val="FFFFFF"/>
                </a:solidFill>
                <a:latin typeface="Noto Sans Light"/>
              </a:rPr>
              <a:t>&amp; Type.</a:t>
            </a:r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KPI Grid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75640" y="426720"/>
            <a:ext cx="121920" cy="162560"/>
          </a:xfrm>
          <a:custGeom>
            <a:avLst/>
            <a:gdLst/>
            <a:ahLst/>
            <a:cxnLst/>
            <a:rect l="l" t="t" r="r" b="b"/>
            <a:pathLst>
              <a:path w="121920" h="162560">
                <a:moveTo>
                  <a:pt x="60960" y="0"/>
                </a:moveTo>
                <a:lnTo>
                  <a:pt x="20320" y="66040"/>
                </a:lnTo>
                <a:lnTo>
                  <a:pt x="0" y="86360"/>
                </a:lnTo>
                <a:lnTo>
                  <a:pt x="60960" y="162560"/>
                </a:lnTo>
                <a:lnTo>
                  <a:pt x="121920" y="86360"/>
                </a:lnTo>
                <a:lnTo>
                  <a:pt x="101600" y="66040"/>
                </a:lnTo>
                <a:close/>
              </a:path>
            </a:pathLst>
          </a:custGeom>
          <a:solidFill>
            <a:srgbClr val="0B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01700" y="4318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62" b="0">
                <a:solidFill>
                  <a:srgbClr val="0B1A33"/>
                </a:solidFill>
                <a:latin typeface="Noto Sans Medium"/>
              </a:rPr>
              <a:t>FEINSCHLIFF.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90">
                <a:solidFill>
                  <a:srgbClr val="0B1A33"/>
                </a:solidFill>
                <a:latin typeface="Noto Sans Mono"/>
              </a:rPr>
              <a:t>COMPANY · 2025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0B1A33"/>
                </a:solidFill>
                <a:latin typeface="Noto Sa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0B1A33"/>
                </a:solidFill>
                <a:latin typeface="Noto Sa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0B1A33"/>
                </a:solidFill>
                <a:latin typeface="Noto Sa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0B1A33"/>
                </a:solidFill>
                <a:latin typeface="Noto Sans Mono"/>
              </a:rPr>
              <a:t>FIGURES AT A GLANCE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0B1A33"/>
                </a:solidFill>
                <a:latin typeface="Noto Sans"/>
              </a:rPr>
              <a:t>Feinschliff in numbers.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5000" y="3429000"/>
            <a:ext cx="6350" cy="165100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35000" y="3429000"/>
            <a:ext cx="27305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35000" y="5073650"/>
            <a:ext cx="27305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365500" y="3429000"/>
            <a:ext cx="6350" cy="165100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KPI 1 Key"/>
          <p:cNvSpPr>
            <a:spLocks noGrp="1"/>
          </p:cNvSpPr>
          <p:nvPr>
            <p:ph type="body" idx="20"/>
          </p:nvPr>
        </p:nvSpPr>
        <p:spPr>
          <a:xfrm>
            <a:off x="889000" y="4635500"/>
            <a:ext cx="2222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2D3A52"/>
                </a:solidFill>
                <a:latin typeface="Noto Sans Mono"/>
              </a:rPr>
              <a:t>EMPLOYEES</a:t>
            </a:r>
          </a:p>
        </p:txBody>
      </p:sp>
      <p:sp>
        <p:nvSpPr>
          <p:cNvPr id="15" name="KPI 1 Delta"/>
          <p:cNvSpPr>
            <a:spLocks noGrp="1"/>
          </p:cNvSpPr>
          <p:nvPr>
            <p:ph type="body" idx="21"/>
          </p:nvPr>
        </p:nvSpPr>
        <p:spPr>
          <a:xfrm>
            <a:off x="889000" y="4826000"/>
            <a:ext cx="2222500" cy="1651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8A6F2E"/>
                </a:solidFill>
                <a:latin typeface="Noto Sans Mono"/>
              </a:rPr>
              <a:t>+3% YoY</a:t>
            </a:r>
          </a:p>
        </p:txBody>
      </p:sp>
      <p:sp>
        <p:nvSpPr>
          <p:cNvPr id="16" name="KPI 1 Value"/>
          <p:cNvSpPr>
            <a:spLocks noGrp="1"/>
          </p:cNvSpPr>
          <p:nvPr>
            <p:ph type="body" idx="30"/>
          </p:nvPr>
        </p:nvSpPr>
        <p:spPr>
          <a:xfrm>
            <a:off x="889000" y="3657600"/>
            <a:ext cx="1206500" cy="889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6000" spc="-180">
                <a:solidFill>
                  <a:srgbClr val="0B1A33"/>
                </a:solidFill>
                <a:latin typeface="Noto Sans Light"/>
              </a:rPr>
              <a:t>62</a:t>
            </a:r>
          </a:p>
        </p:txBody>
      </p:sp>
      <p:sp>
        <p:nvSpPr>
          <p:cNvPr id="17" name="KPI 1 Unit"/>
          <p:cNvSpPr>
            <a:spLocks noGrp="1"/>
          </p:cNvSpPr>
          <p:nvPr>
            <p:ph type="body" idx="31"/>
          </p:nvPr>
        </p:nvSpPr>
        <p:spPr>
          <a:xfrm>
            <a:off x="2095500" y="3657600"/>
            <a:ext cx="1016000" cy="889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2000">
                <a:solidFill>
                  <a:srgbClr val="2D3A52"/>
                </a:solidFill>
                <a:latin typeface="Noto Sans"/>
              </a:rPr>
              <a:t>k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365500" y="3429000"/>
            <a:ext cx="27305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365500" y="5073650"/>
            <a:ext cx="27305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096000" y="3429000"/>
            <a:ext cx="6350" cy="165100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KPI 2 Key"/>
          <p:cNvSpPr>
            <a:spLocks noGrp="1"/>
          </p:cNvSpPr>
          <p:nvPr>
            <p:ph type="body" idx="22"/>
          </p:nvPr>
        </p:nvSpPr>
        <p:spPr>
          <a:xfrm>
            <a:off x="3619500" y="4635500"/>
            <a:ext cx="2222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2D3A52"/>
                </a:solidFill>
                <a:latin typeface="Noto Sans Mono"/>
              </a:rPr>
              <a:t>REVENUE · EUR</a:t>
            </a:r>
          </a:p>
        </p:txBody>
      </p:sp>
      <p:sp>
        <p:nvSpPr>
          <p:cNvPr id="22" name="KPI 2 Delta"/>
          <p:cNvSpPr>
            <a:spLocks noGrp="1"/>
          </p:cNvSpPr>
          <p:nvPr>
            <p:ph type="body" idx="23"/>
          </p:nvPr>
        </p:nvSpPr>
        <p:spPr>
          <a:xfrm>
            <a:off x="3619500" y="4826000"/>
            <a:ext cx="2222500" cy="1651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8A6F2E"/>
                </a:solidFill>
                <a:latin typeface="Noto Sans Mono"/>
              </a:rPr>
              <a:t>+5.1% YoY</a:t>
            </a:r>
          </a:p>
        </p:txBody>
      </p:sp>
      <p:sp>
        <p:nvSpPr>
          <p:cNvPr id="23" name="KPI 2 Value"/>
          <p:cNvSpPr>
            <a:spLocks noGrp="1"/>
          </p:cNvSpPr>
          <p:nvPr>
            <p:ph type="body" idx="32"/>
          </p:nvPr>
        </p:nvSpPr>
        <p:spPr>
          <a:xfrm>
            <a:off x="3619500" y="3657600"/>
            <a:ext cx="1206500" cy="889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6000" spc="-180">
                <a:solidFill>
                  <a:srgbClr val="0B1A33"/>
                </a:solidFill>
                <a:latin typeface="Noto Sans Light"/>
              </a:rPr>
              <a:t>14</a:t>
            </a:r>
          </a:p>
        </p:txBody>
      </p:sp>
      <p:sp>
        <p:nvSpPr>
          <p:cNvPr id="24" name="KPI 2 Unit"/>
          <p:cNvSpPr>
            <a:spLocks noGrp="1"/>
          </p:cNvSpPr>
          <p:nvPr>
            <p:ph type="body" idx="33"/>
          </p:nvPr>
        </p:nvSpPr>
        <p:spPr>
          <a:xfrm>
            <a:off x="4826000" y="3657600"/>
            <a:ext cx="1016000" cy="889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2000">
                <a:solidFill>
                  <a:srgbClr val="2D3A52"/>
                </a:solidFill>
                <a:latin typeface="Noto Sans"/>
              </a:rPr>
              <a:t> bn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096000" y="3429000"/>
            <a:ext cx="27305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096000" y="5073650"/>
            <a:ext cx="27305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826500" y="3429000"/>
            <a:ext cx="6350" cy="165100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KPI 3 Key"/>
          <p:cNvSpPr>
            <a:spLocks noGrp="1"/>
          </p:cNvSpPr>
          <p:nvPr>
            <p:ph type="body" idx="24"/>
          </p:nvPr>
        </p:nvSpPr>
        <p:spPr>
          <a:xfrm>
            <a:off x="6350000" y="4635500"/>
            <a:ext cx="2222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2D3A52"/>
                </a:solidFill>
                <a:latin typeface="Noto Sans Mono"/>
              </a:rPr>
              <a:t>FACTORIES WORLDWIDE</a:t>
            </a:r>
          </a:p>
        </p:txBody>
      </p:sp>
      <p:sp>
        <p:nvSpPr>
          <p:cNvPr id="29" name="KPI 3 Delta"/>
          <p:cNvSpPr>
            <a:spLocks noGrp="1"/>
          </p:cNvSpPr>
          <p:nvPr>
            <p:ph type="body" idx="25"/>
          </p:nvPr>
        </p:nvSpPr>
        <p:spPr>
          <a:xfrm>
            <a:off x="6350000" y="4826000"/>
            <a:ext cx="2222500" cy="1651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8A6F2E"/>
                </a:solidFill>
                <a:latin typeface="Noto Sans Mono"/>
              </a:rPr>
              <a:t>8 regions</a:t>
            </a:r>
          </a:p>
        </p:txBody>
      </p:sp>
      <p:sp>
        <p:nvSpPr>
          <p:cNvPr id="30" name="KPI 3 Value"/>
          <p:cNvSpPr>
            <a:spLocks noGrp="1"/>
          </p:cNvSpPr>
          <p:nvPr>
            <p:ph type="body" idx="34"/>
          </p:nvPr>
        </p:nvSpPr>
        <p:spPr>
          <a:xfrm>
            <a:off x="6350000" y="3657600"/>
            <a:ext cx="1206500" cy="889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6000" spc="-180">
                <a:solidFill>
                  <a:srgbClr val="0B1A33"/>
                </a:solidFill>
                <a:latin typeface="Noto Sans Light"/>
              </a:rPr>
              <a:t>40</a:t>
            </a:r>
          </a:p>
        </p:txBody>
      </p:sp>
      <p:sp>
        <p:nvSpPr>
          <p:cNvPr id="31" name="KPI 3 Unit"/>
          <p:cNvSpPr>
            <a:spLocks noGrp="1"/>
          </p:cNvSpPr>
          <p:nvPr>
            <p:ph type="body" idx="35"/>
          </p:nvPr>
        </p:nvSpPr>
        <p:spPr>
          <a:xfrm>
            <a:off x="7556500" y="3657600"/>
            <a:ext cx="1016000" cy="889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endParaRPr lang="en-US"/>
          </a:p>
        </p:txBody>
      </p:sp>
      <p:sp>
        <p:nvSpPr>
          <p:cNvPr id="32" name="Rectangle 31"/>
          <p:cNvSpPr/>
          <p:nvPr/>
        </p:nvSpPr>
        <p:spPr>
          <a:xfrm>
            <a:off x="8826500" y="3429000"/>
            <a:ext cx="27305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8826500" y="5073650"/>
            <a:ext cx="27305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11557000" y="3429000"/>
            <a:ext cx="6350" cy="165100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KPI 4 Key"/>
          <p:cNvSpPr>
            <a:spLocks noGrp="1"/>
          </p:cNvSpPr>
          <p:nvPr>
            <p:ph type="body" idx="26"/>
          </p:nvPr>
        </p:nvSpPr>
        <p:spPr>
          <a:xfrm>
            <a:off x="9080500" y="4635500"/>
            <a:ext cx="2222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2D3A52"/>
                </a:solidFill>
                <a:latin typeface="Noto Sans Mono"/>
              </a:rPr>
              <a:t>GREEN ELECTRICITY</a:t>
            </a:r>
          </a:p>
        </p:txBody>
      </p:sp>
      <p:sp>
        <p:nvSpPr>
          <p:cNvPr id="36" name="KPI 4 Delta"/>
          <p:cNvSpPr>
            <a:spLocks noGrp="1"/>
          </p:cNvSpPr>
          <p:nvPr>
            <p:ph type="body" idx="27"/>
          </p:nvPr>
        </p:nvSpPr>
        <p:spPr>
          <a:xfrm>
            <a:off x="9080500" y="4826000"/>
            <a:ext cx="2222500" cy="1651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8A6F2E"/>
                </a:solidFill>
                <a:latin typeface="Noto Sans Mono"/>
              </a:rPr>
              <a:t>since 2020</a:t>
            </a:r>
          </a:p>
        </p:txBody>
      </p:sp>
      <p:sp>
        <p:nvSpPr>
          <p:cNvPr id="37" name="KPI 4 Value"/>
          <p:cNvSpPr>
            <a:spLocks noGrp="1"/>
          </p:cNvSpPr>
          <p:nvPr>
            <p:ph type="body" idx="36"/>
          </p:nvPr>
        </p:nvSpPr>
        <p:spPr>
          <a:xfrm>
            <a:off x="9080500" y="3657600"/>
            <a:ext cx="1206500" cy="889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6000" spc="-180">
                <a:solidFill>
                  <a:srgbClr val="0B1A33"/>
                </a:solidFill>
                <a:latin typeface="Noto Sans Light"/>
              </a:rPr>
              <a:t>100</a:t>
            </a:r>
          </a:p>
        </p:txBody>
      </p:sp>
      <p:sp>
        <p:nvSpPr>
          <p:cNvPr id="38" name="KPI 4 Unit"/>
          <p:cNvSpPr>
            <a:spLocks noGrp="1"/>
          </p:cNvSpPr>
          <p:nvPr>
            <p:ph type="body" idx="37"/>
          </p:nvPr>
        </p:nvSpPr>
        <p:spPr>
          <a:xfrm>
            <a:off x="10287000" y="3657600"/>
            <a:ext cx="1016000" cy="889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2000">
                <a:solidFill>
                  <a:srgbClr val="2D3A52"/>
                </a:solidFill>
                <a:latin typeface="Noto Sans"/>
              </a:rPr>
              <a:t>%</a:t>
            </a:r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Feinschliff · 2-Column Cards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75640" y="426720"/>
            <a:ext cx="121920" cy="162560"/>
          </a:xfrm>
          <a:custGeom>
            <a:avLst/>
            <a:gdLst/>
            <a:ahLst/>
            <a:cxnLst/>
            <a:rect l="l" t="t" r="r" b="b"/>
            <a:pathLst>
              <a:path w="121920" h="162560">
                <a:moveTo>
                  <a:pt x="60960" y="0"/>
                </a:moveTo>
                <a:lnTo>
                  <a:pt x="20320" y="66040"/>
                </a:lnTo>
                <a:lnTo>
                  <a:pt x="0" y="86360"/>
                </a:lnTo>
                <a:lnTo>
                  <a:pt x="60960" y="162560"/>
                </a:lnTo>
                <a:lnTo>
                  <a:pt x="121920" y="86360"/>
                </a:lnTo>
                <a:lnTo>
                  <a:pt x="101600" y="66040"/>
                </a:lnTo>
                <a:close/>
              </a:path>
            </a:pathLst>
          </a:custGeom>
          <a:solidFill>
            <a:srgbClr val="0B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01700" y="4318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62" b="0">
                <a:solidFill>
                  <a:srgbClr val="0B1A33"/>
                </a:solidFill>
                <a:latin typeface="Noto Sans Medium"/>
              </a:rPr>
              <a:t>FEINSCHLIFF.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90">
                <a:solidFill>
                  <a:srgbClr val="0B1A33"/>
                </a:solidFill>
                <a:latin typeface="Noto Sans Mono"/>
              </a:rPr>
              <a:t>LAYOUT · 2 CONTENTS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0B1A33"/>
                </a:solidFill>
                <a:latin typeface="Noto Sa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0B1A33"/>
                </a:solidFill>
                <a:latin typeface="Noto Sa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0B1A33"/>
                </a:solidFill>
                <a:latin typeface="Noto Sa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0B1A33"/>
                </a:solidFill>
                <a:latin typeface="Noto Sans Mono"/>
              </a:rPr>
              <a:t>TWO COLUMNS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0B1A33"/>
                </a:solidFill>
                <a:latin typeface="Noto Sans"/>
              </a:rPr>
              <a:t>Two halves, one frame.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5000" y="3175000"/>
            <a:ext cx="5308600" cy="3175000"/>
          </a:xfrm>
          <a:prstGeom prst="rect">
            <a:avLst/>
          </a:prstGeom>
          <a:solidFill>
            <a:srgbClr val="FA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Col20 Number"/>
          <p:cNvSpPr>
            <a:spLocks noGrp="1"/>
          </p:cNvSpPr>
          <p:nvPr>
            <p:ph type="body" idx="20"/>
          </p:nvPr>
        </p:nvSpPr>
        <p:spPr>
          <a:xfrm>
            <a:off x="889000" y="3429000"/>
            <a:ext cx="48006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9A24A"/>
                </a:solidFill>
                <a:latin typeface="Noto Sans Mono"/>
              </a:rPr>
              <a:t>01 · CONSUMER</a:t>
            </a:r>
          </a:p>
        </p:txBody>
      </p:sp>
      <p:sp>
        <p:nvSpPr>
          <p:cNvPr id="12" name="Col20 Title"/>
          <p:cNvSpPr>
            <a:spLocks noGrp="1"/>
          </p:cNvSpPr>
          <p:nvPr>
            <p:ph type="body" idx="21"/>
          </p:nvPr>
        </p:nvSpPr>
        <p:spPr>
          <a:xfrm>
            <a:off x="889000" y="3708400"/>
            <a:ext cx="48006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00" spc="-22">
                <a:solidFill>
                  <a:srgbClr val="0B1A33"/>
                </a:solidFill>
                <a:latin typeface="Noto Sans Medium"/>
              </a:rPr>
              <a:t>Products designed around daily use, not corner-case specs.</a:t>
            </a:r>
          </a:p>
        </p:txBody>
      </p:sp>
      <p:sp>
        <p:nvSpPr>
          <p:cNvPr id="13" name="Col20 Body"/>
          <p:cNvSpPr>
            <a:spLocks noGrp="1"/>
          </p:cNvSpPr>
          <p:nvPr>
            <p:ph type="body" idx="22"/>
          </p:nvPr>
        </p:nvSpPr>
        <p:spPr>
          <a:xfrm>
            <a:off x="889000" y="4826000"/>
            <a:ext cx="48006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Ship features users actually touch — fewer modes, sharper defaults, faster onboarding.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48400" y="3175000"/>
            <a:ext cx="5308600" cy="3175000"/>
          </a:xfrm>
          <a:prstGeom prst="rect">
            <a:avLst/>
          </a:prstGeom>
          <a:solidFill>
            <a:srgbClr val="FA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Col23 Number"/>
          <p:cNvSpPr>
            <a:spLocks noGrp="1"/>
          </p:cNvSpPr>
          <p:nvPr>
            <p:ph type="body" idx="23"/>
          </p:nvPr>
        </p:nvSpPr>
        <p:spPr>
          <a:xfrm>
            <a:off x="6502400" y="3429000"/>
            <a:ext cx="48006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9A24A"/>
                </a:solidFill>
                <a:latin typeface="Noto Sans Mono"/>
              </a:rPr>
              <a:t>02 · PLATFORM</a:t>
            </a:r>
          </a:p>
        </p:txBody>
      </p:sp>
      <p:sp>
        <p:nvSpPr>
          <p:cNvPr id="16" name="Col23 Title"/>
          <p:cNvSpPr>
            <a:spLocks noGrp="1"/>
          </p:cNvSpPr>
          <p:nvPr>
            <p:ph type="body" idx="24"/>
          </p:nvPr>
        </p:nvSpPr>
        <p:spPr>
          <a:xfrm>
            <a:off x="6502400" y="3708400"/>
            <a:ext cx="48006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00" spc="-22">
                <a:solidFill>
                  <a:srgbClr val="0B1A33"/>
                </a:solidFill>
                <a:latin typeface="Noto Sans Medium"/>
              </a:rPr>
              <a:t>A shared software backbone across every product we build.</a:t>
            </a:r>
          </a:p>
        </p:txBody>
      </p:sp>
      <p:sp>
        <p:nvSpPr>
          <p:cNvPr id="17" name="Col23 Body"/>
          <p:cNvSpPr>
            <a:spLocks noGrp="1"/>
          </p:cNvSpPr>
          <p:nvPr>
            <p:ph type="body" idx="25"/>
          </p:nvPr>
        </p:nvSpPr>
        <p:spPr>
          <a:xfrm>
            <a:off x="6502400" y="4826000"/>
            <a:ext cx="48006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One OS means one update path, one data contract, and one place to measure real-world usage.</a:t>
            </a:r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Feinschliff · 3-Column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75640" y="426720"/>
            <a:ext cx="121920" cy="162560"/>
          </a:xfrm>
          <a:custGeom>
            <a:avLst/>
            <a:gdLst/>
            <a:ahLst/>
            <a:cxnLst/>
            <a:rect l="l" t="t" r="r" b="b"/>
            <a:pathLst>
              <a:path w="121920" h="162560">
                <a:moveTo>
                  <a:pt x="60960" y="0"/>
                </a:moveTo>
                <a:lnTo>
                  <a:pt x="20320" y="66040"/>
                </a:lnTo>
                <a:lnTo>
                  <a:pt x="0" y="86360"/>
                </a:lnTo>
                <a:lnTo>
                  <a:pt x="60960" y="162560"/>
                </a:lnTo>
                <a:lnTo>
                  <a:pt x="121920" y="86360"/>
                </a:lnTo>
                <a:lnTo>
                  <a:pt x="101600" y="66040"/>
                </a:lnTo>
                <a:close/>
              </a:path>
            </a:pathLst>
          </a:custGeom>
          <a:solidFill>
            <a:srgbClr val="0B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01700" y="4318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62" b="0">
                <a:solidFill>
                  <a:srgbClr val="0B1A33"/>
                </a:solidFill>
                <a:latin typeface="Noto Sans Medium"/>
              </a:rPr>
              <a:t>FEINSCHLIFF.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90">
                <a:solidFill>
                  <a:srgbClr val="0B1A33"/>
                </a:solidFill>
                <a:latin typeface="Noto Sans Mono"/>
              </a:rPr>
              <a:t>LAYOUT · 3 CONTENTS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0B1A33"/>
                </a:solidFill>
                <a:latin typeface="Noto Sa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0B1A33"/>
                </a:solidFill>
                <a:latin typeface="Noto Sa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0B1A33"/>
                </a:solidFill>
                <a:latin typeface="Noto Sa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0B1A33"/>
                </a:solidFill>
                <a:latin typeface="Noto Sans Mono"/>
              </a:rPr>
              <a:t>THREE PILLARS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0B1A33"/>
                </a:solidFill>
                <a:latin typeface="Noto Sans"/>
              </a:rPr>
              <a:t>Consumer, commercial, platform.</a:t>
            </a:r>
          </a:p>
        </p:txBody>
      </p:sp>
      <p:sp>
        <p:nvSpPr>
          <p:cNvPr id="10" name="Col20 Number"/>
          <p:cNvSpPr>
            <a:spLocks noGrp="1"/>
          </p:cNvSpPr>
          <p:nvPr>
            <p:ph type="body" idx="20"/>
          </p:nvPr>
        </p:nvSpPr>
        <p:spPr>
          <a:xfrm>
            <a:off x="635000" y="3175000"/>
            <a:ext cx="343535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9A24A"/>
                </a:solidFill>
                <a:latin typeface="Noto Sans Mono"/>
              </a:rPr>
              <a:t>01</a:t>
            </a:r>
          </a:p>
        </p:txBody>
      </p:sp>
      <p:sp>
        <p:nvSpPr>
          <p:cNvPr id="11" name="Col20 Title"/>
          <p:cNvSpPr>
            <a:spLocks noGrp="1"/>
          </p:cNvSpPr>
          <p:nvPr>
            <p:ph type="body" idx="21"/>
          </p:nvPr>
        </p:nvSpPr>
        <p:spPr>
          <a:xfrm>
            <a:off x="635000" y="3454400"/>
            <a:ext cx="343535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00" spc="-22">
                <a:solidFill>
                  <a:srgbClr val="0B1A33"/>
                </a:solidFill>
                <a:latin typeface="Noto Sans Medium"/>
              </a:rPr>
              <a:t>Consumer.</a:t>
            </a:r>
          </a:p>
        </p:txBody>
      </p:sp>
      <p:sp>
        <p:nvSpPr>
          <p:cNvPr id="12" name="Col20 Body"/>
          <p:cNvSpPr>
            <a:spLocks noGrp="1"/>
          </p:cNvSpPr>
          <p:nvPr>
            <p:ph type="body" idx="22"/>
          </p:nvPr>
        </p:nvSpPr>
        <p:spPr>
          <a:xfrm>
            <a:off x="635000" y="4572000"/>
            <a:ext cx="343535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Brand A, Brand B, Brand C, Brand D — placeholder column copy.</a:t>
            </a:r>
          </a:p>
        </p:txBody>
      </p:sp>
      <p:sp>
        <p:nvSpPr>
          <p:cNvPr id="13" name="Col23 Number"/>
          <p:cNvSpPr>
            <a:spLocks noGrp="1"/>
          </p:cNvSpPr>
          <p:nvPr>
            <p:ph type="body" idx="23"/>
          </p:nvPr>
        </p:nvSpPr>
        <p:spPr>
          <a:xfrm>
            <a:off x="4375150" y="3175000"/>
            <a:ext cx="343535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9A24A"/>
                </a:solidFill>
                <a:latin typeface="Noto Sans Mono"/>
              </a:rPr>
              <a:t>02</a:t>
            </a:r>
          </a:p>
        </p:txBody>
      </p:sp>
      <p:sp>
        <p:nvSpPr>
          <p:cNvPr id="14" name="Col23 Title"/>
          <p:cNvSpPr>
            <a:spLocks noGrp="1"/>
          </p:cNvSpPr>
          <p:nvPr>
            <p:ph type="body" idx="24"/>
          </p:nvPr>
        </p:nvSpPr>
        <p:spPr>
          <a:xfrm>
            <a:off x="4375150" y="3454400"/>
            <a:ext cx="343535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00" spc="-22">
                <a:solidFill>
                  <a:srgbClr val="0B1A33"/>
                </a:solidFill>
                <a:latin typeface="Noto Sans Medium"/>
              </a:rPr>
              <a:t>Commercial.</a:t>
            </a:r>
          </a:p>
        </p:txBody>
      </p:sp>
      <p:sp>
        <p:nvSpPr>
          <p:cNvPr id="15" name="Col23 Body"/>
          <p:cNvSpPr>
            <a:spLocks noGrp="1"/>
          </p:cNvSpPr>
          <p:nvPr>
            <p:ph type="body" idx="25"/>
          </p:nvPr>
        </p:nvSpPr>
        <p:spPr>
          <a:xfrm>
            <a:off x="4375150" y="4572000"/>
            <a:ext cx="343535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Products engineered for the commercial sector — hotels, retail, services, multi-site.</a:t>
            </a:r>
          </a:p>
        </p:txBody>
      </p:sp>
      <p:sp>
        <p:nvSpPr>
          <p:cNvPr id="16" name="Col26 Number"/>
          <p:cNvSpPr>
            <a:spLocks noGrp="1"/>
          </p:cNvSpPr>
          <p:nvPr>
            <p:ph type="body" idx="26"/>
          </p:nvPr>
        </p:nvSpPr>
        <p:spPr>
          <a:xfrm>
            <a:off x="8115300" y="3175000"/>
            <a:ext cx="343535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9A24A"/>
                </a:solidFill>
                <a:latin typeface="Noto Sans Mono"/>
              </a:rPr>
              <a:t>03</a:t>
            </a:r>
          </a:p>
        </p:txBody>
      </p:sp>
      <p:sp>
        <p:nvSpPr>
          <p:cNvPr id="17" name="Col26 Title"/>
          <p:cNvSpPr>
            <a:spLocks noGrp="1"/>
          </p:cNvSpPr>
          <p:nvPr>
            <p:ph type="body" idx="27"/>
          </p:nvPr>
        </p:nvSpPr>
        <p:spPr>
          <a:xfrm>
            <a:off x="8115300" y="3454400"/>
            <a:ext cx="343535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00" spc="-22">
                <a:solidFill>
                  <a:srgbClr val="0B1A33"/>
                </a:solidFill>
                <a:latin typeface="Noto Sans Medium"/>
              </a:rPr>
              <a:t>Platform.</a:t>
            </a:r>
          </a:p>
        </p:txBody>
      </p:sp>
      <p:sp>
        <p:nvSpPr>
          <p:cNvPr id="18" name="Col26 Body"/>
          <p:cNvSpPr>
            <a:spLocks noGrp="1"/>
          </p:cNvSpPr>
          <p:nvPr>
            <p:ph type="body" idx="28"/>
          </p:nvPr>
        </p:nvSpPr>
        <p:spPr>
          <a:xfrm>
            <a:off x="8115300" y="4572000"/>
            <a:ext cx="343535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Platform — the software layer shared across all of it.</a:t>
            </a:r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Feinschliff · 4-Column Cards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75640" y="426720"/>
            <a:ext cx="121920" cy="162560"/>
          </a:xfrm>
          <a:custGeom>
            <a:avLst/>
            <a:gdLst/>
            <a:ahLst/>
            <a:cxnLst/>
            <a:rect l="l" t="t" r="r" b="b"/>
            <a:pathLst>
              <a:path w="121920" h="162560">
                <a:moveTo>
                  <a:pt x="60960" y="0"/>
                </a:moveTo>
                <a:lnTo>
                  <a:pt x="20320" y="66040"/>
                </a:lnTo>
                <a:lnTo>
                  <a:pt x="0" y="86360"/>
                </a:lnTo>
                <a:lnTo>
                  <a:pt x="60960" y="162560"/>
                </a:lnTo>
                <a:lnTo>
                  <a:pt x="121920" y="86360"/>
                </a:lnTo>
                <a:lnTo>
                  <a:pt x="101600" y="66040"/>
                </a:lnTo>
                <a:close/>
              </a:path>
            </a:pathLst>
          </a:custGeom>
          <a:solidFill>
            <a:srgbClr val="0B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01700" y="4318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62" b="0">
                <a:solidFill>
                  <a:srgbClr val="0B1A33"/>
                </a:solidFill>
                <a:latin typeface="Noto Sans Medium"/>
              </a:rPr>
              <a:t>FEINSCHLIFF.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90">
                <a:solidFill>
                  <a:srgbClr val="0B1A33"/>
                </a:solidFill>
                <a:latin typeface="Noto Sans Mono"/>
              </a:rPr>
              <a:t>ROADMAP ·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0B1A33"/>
                </a:solidFill>
                <a:latin typeface="Noto Sa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0B1A33"/>
                </a:solidFill>
                <a:latin typeface="Noto Sa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0B1A33"/>
                </a:solidFill>
                <a:latin typeface="Noto Sa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0B1A33"/>
                </a:solidFill>
                <a:latin typeface="Noto Sans Mono"/>
              </a:rPr>
              <a:t>PLAN, BUILD, PILOT, SCALE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0B1A33"/>
                </a:solidFill>
                <a:latin typeface="Noto Sans"/>
              </a:rPr>
              <a:t>The year, in four quarters.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5000" y="3175000"/>
            <a:ext cx="2654300" cy="2794000"/>
          </a:xfrm>
          <a:prstGeom prst="rect">
            <a:avLst/>
          </a:prstGeom>
          <a:solidFill>
            <a:srgbClr val="FA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Col20 Number"/>
          <p:cNvSpPr>
            <a:spLocks noGrp="1"/>
          </p:cNvSpPr>
          <p:nvPr>
            <p:ph type="body" idx="20"/>
          </p:nvPr>
        </p:nvSpPr>
        <p:spPr>
          <a:xfrm>
            <a:off x="838200" y="3429000"/>
            <a:ext cx="22479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9A24A"/>
                </a:solidFill>
                <a:latin typeface="Noto Sans Mono"/>
              </a:rPr>
              <a:t>Q1 · PLAN</a:t>
            </a:r>
          </a:p>
        </p:txBody>
      </p:sp>
      <p:sp>
        <p:nvSpPr>
          <p:cNvPr id="12" name="Col20 Title"/>
          <p:cNvSpPr>
            <a:spLocks noGrp="1"/>
          </p:cNvSpPr>
          <p:nvPr>
            <p:ph type="body" idx="21"/>
          </p:nvPr>
        </p:nvSpPr>
        <p:spPr>
          <a:xfrm>
            <a:off x="838200" y="3708400"/>
            <a:ext cx="22479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7">
                <a:solidFill>
                  <a:srgbClr val="0B1A33"/>
                </a:solidFill>
                <a:latin typeface="Noto Sans Medium"/>
              </a:rPr>
              <a:t>Align the 2026 product roadmap across regions.</a:t>
            </a:r>
          </a:p>
        </p:txBody>
      </p:sp>
      <p:sp>
        <p:nvSpPr>
          <p:cNvPr id="13" name="Col20 Body"/>
          <p:cNvSpPr>
            <a:spLocks noGrp="1"/>
          </p:cNvSpPr>
          <p:nvPr>
            <p:ph type="body" idx="22"/>
          </p:nvPr>
        </p:nvSpPr>
        <p:spPr>
          <a:xfrm>
            <a:off x="838200" y="4826000"/>
            <a:ext cx="22479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Finalise priorities, staff crews, lock budget.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390900" y="3175000"/>
            <a:ext cx="2654300" cy="2794000"/>
          </a:xfrm>
          <a:prstGeom prst="rect">
            <a:avLst/>
          </a:prstGeom>
          <a:solidFill>
            <a:srgbClr val="FA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Col23 Number"/>
          <p:cNvSpPr>
            <a:spLocks noGrp="1"/>
          </p:cNvSpPr>
          <p:nvPr>
            <p:ph type="body" idx="23"/>
          </p:nvPr>
        </p:nvSpPr>
        <p:spPr>
          <a:xfrm>
            <a:off x="3594100" y="3429000"/>
            <a:ext cx="22479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9A24A"/>
                </a:solidFill>
                <a:latin typeface="Noto Sans Mono"/>
              </a:rPr>
              <a:t>Q2 · BUILD</a:t>
            </a:r>
          </a:p>
        </p:txBody>
      </p:sp>
      <p:sp>
        <p:nvSpPr>
          <p:cNvPr id="16" name="Col23 Title"/>
          <p:cNvSpPr>
            <a:spLocks noGrp="1"/>
          </p:cNvSpPr>
          <p:nvPr>
            <p:ph type="body" idx="24"/>
          </p:nvPr>
        </p:nvSpPr>
        <p:spPr>
          <a:xfrm>
            <a:off x="3594100" y="3708400"/>
            <a:ext cx="22479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7">
                <a:solidFill>
                  <a:srgbClr val="0B1A33"/>
                </a:solidFill>
                <a:latin typeface="Noto Sans Medium"/>
              </a:rPr>
              <a:t>Ship the platform foundations and first feature set.</a:t>
            </a:r>
          </a:p>
        </p:txBody>
      </p:sp>
      <p:sp>
        <p:nvSpPr>
          <p:cNvPr id="17" name="Col23 Body"/>
          <p:cNvSpPr>
            <a:spLocks noGrp="1"/>
          </p:cNvSpPr>
          <p:nvPr>
            <p:ph type="body" idx="25"/>
          </p:nvPr>
        </p:nvSpPr>
        <p:spPr>
          <a:xfrm>
            <a:off x="3594100" y="4826000"/>
            <a:ext cx="22479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New OS core, updated Platform SDK.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146800" y="3175000"/>
            <a:ext cx="2654300" cy="2794000"/>
          </a:xfrm>
          <a:prstGeom prst="rect">
            <a:avLst/>
          </a:prstGeom>
          <a:solidFill>
            <a:srgbClr val="FA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Col26 Number"/>
          <p:cNvSpPr>
            <a:spLocks noGrp="1"/>
          </p:cNvSpPr>
          <p:nvPr>
            <p:ph type="body" idx="26"/>
          </p:nvPr>
        </p:nvSpPr>
        <p:spPr>
          <a:xfrm>
            <a:off x="6350000" y="3429000"/>
            <a:ext cx="22479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9A24A"/>
                </a:solidFill>
                <a:latin typeface="Noto Sans Mono"/>
              </a:rPr>
              <a:t>Q3 · PILOT</a:t>
            </a:r>
          </a:p>
        </p:txBody>
      </p:sp>
      <p:sp>
        <p:nvSpPr>
          <p:cNvPr id="20" name="Col26 Title"/>
          <p:cNvSpPr>
            <a:spLocks noGrp="1"/>
          </p:cNvSpPr>
          <p:nvPr>
            <p:ph type="body" idx="27"/>
          </p:nvPr>
        </p:nvSpPr>
        <p:spPr>
          <a:xfrm>
            <a:off x="6350000" y="3708400"/>
            <a:ext cx="22479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7">
                <a:solidFill>
                  <a:srgbClr val="0B1A33"/>
                </a:solidFill>
                <a:latin typeface="Noto Sans Medium"/>
              </a:rPr>
              <a:t>Field-test with 2,000 customers across three regions.</a:t>
            </a:r>
          </a:p>
        </p:txBody>
      </p:sp>
      <p:sp>
        <p:nvSpPr>
          <p:cNvPr id="21" name="Col26 Body"/>
          <p:cNvSpPr>
            <a:spLocks noGrp="1"/>
          </p:cNvSpPr>
          <p:nvPr>
            <p:ph type="body" idx="28"/>
          </p:nvPr>
        </p:nvSpPr>
        <p:spPr>
          <a:xfrm>
            <a:off x="6350000" y="4826000"/>
            <a:ext cx="22479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Instrument, measure, iterate weekly.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902700" y="3175000"/>
            <a:ext cx="2654300" cy="2794000"/>
          </a:xfrm>
          <a:prstGeom prst="rect">
            <a:avLst/>
          </a:prstGeom>
          <a:solidFill>
            <a:srgbClr val="FA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Col29 Number"/>
          <p:cNvSpPr>
            <a:spLocks noGrp="1"/>
          </p:cNvSpPr>
          <p:nvPr>
            <p:ph type="body" idx="29"/>
          </p:nvPr>
        </p:nvSpPr>
        <p:spPr>
          <a:xfrm>
            <a:off x="9105900" y="3429000"/>
            <a:ext cx="22479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9A24A"/>
                </a:solidFill>
                <a:latin typeface="Noto Sans Mono"/>
              </a:rPr>
              <a:t>Q4 · SCALE</a:t>
            </a:r>
          </a:p>
        </p:txBody>
      </p:sp>
      <p:sp>
        <p:nvSpPr>
          <p:cNvPr id="24" name="Col29 Title"/>
          <p:cNvSpPr>
            <a:spLocks noGrp="1"/>
          </p:cNvSpPr>
          <p:nvPr>
            <p:ph type="body" idx="30"/>
          </p:nvPr>
        </p:nvSpPr>
        <p:spPr>
          <a:xfrm>
            <a:off x="9105900" y="3708400"/>
            <a:ext cx="22479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7">
                <a:solidFill>
                  <a:srgbClr val="0B1A33"/>
                </a:solidFill>
                <a:latin typeface="Noto Sans Medium"/>
              </a:rPr>
              <a:t>Roll out globally with phased regional launches.</a:t>
            </a:r>
          </a:p>
        </p:txBody>
      </p:sp>
      <p:sp>
        <p:nvSpPr>
          <p:cNvPr id="25" name="Col29 Body"/>
          <p:cNvSpPr>
            <a:spLocks noGrp="1"/>
          </p:cNvSpPr>
          <p:nvPr>
            <p:ph type="body" idx="31"/>
          </p:nvPr>
        </p:nvSpPr>
        <p:spPr>
          <a:xfrm>
            <a:off x="9105900" y="4826000"/>
            <a:ext cx="22479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EMEA, then NAM, then APAC.</a:t>
            </a:r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Feinschliff · Text + Pictur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604000" y="1270000"/>
            <a:ext cx="4953000" cy="4572000"/>
          </a:xfrm>
          <a:prstGeom prst="rect">
            <a:avLst/>
          </a:prstGeom>
          <a:pattFill prst="wdDnDiag">
            <a:fgClr>
              <a:srgbClr val="D6D1C2"/>
            </a:fgClr>
            <a:bgClr>
              <a:srgbClr val="FAF8F3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604000" y="1270000"/>
            <a:ext cx="4953000" cy="4572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spc="90">
                <a:solidFill>
                  <a:srgbClr val="2D3A52"/>
                </a:solidFill>
                <a:latin typeface="Noto Sans Mono"/>
              </a:rPr>
              <a:t>PRODUCT HERO</a:t>
            </a:r>
          </a:p>
        </p:txBody>
      </p:sp>
      <p:sp>
        <p:nvSpPr>
          <p:cNvPr id="4" name="Freeform 3"/>
          <p:cNvSpPr/>
          <p:nvPr/>
        </p:nvSpPr>
        <p:spPr>
          <a:xfrm>
            <a:off x="675640" y="426720"/>
            <a:ext cx="121920" cy="162560"/>
          </a:xfrm>
          <a:custGeom>
            <a:avLst/>
            <a:gdLst/>
            <a:ahLst/>
            <a:cxnLst/>
            <a:rect l="l" t="t" r="r" b="b"/>
            <a:pathLst>
              <a:path w="121920" h="162560">
                <a:moveTo>
                  <a:pt x="60960" y="0"/>
                </a:moveTo>
                <a:lnTo>
                  <a:pt x="20320" y="66040"/>
                </a:lnTo>
                <a:lnTo>
                  <a:pt x="0" y="86360"/>
                </a:lnTo>
                <a:lnTo>
                  <a:pt x="60960" y="162560"/>
                </a:lnTo>
                <a:lnTo>
                  <a:pt x="121920" y="86360"/>
                </a:lnTo>
                <a:lnTo>
                  <a:pt x="101600" y="66040"/>
                </a:lnTo>
                <a:close/>
              </a:path>
            </a:pathLst>
          </a:custGeom>
          <a:solidFill>
            <a:srgbClr val="0B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1700" y="4318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62" b="0">
                <a:solidFill>
                  <a:srgbClr val="0B1A33"/>
                </a:solidFill>
                <a:latin typeface="Noto Sans Medium"/>
              </a:rPr>
              <a:t>FEINSCHLIFF.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90">
                <a:solidFill>
                  <a:srgbClr val="0B1A33"/>
                </a:solidFill>
                <a:latin typeface="Noto Sans Mono"/>
              </a:rPr>
              <a:t>LAYOUT · TEXT + PICTURE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0B1A33"/>
                </a:solidFill>
                <a:latin typeface="Noto Sans Mono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0B1A33"/>
                </a:solidFill>
                <a:latin typeface="Noto Sa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0B1A33"/>
                </a:solidFill>
                <a:latin typeface="Noto Sans Mono"/>
              </a:rPr>
              <a:t>1</a:t>
            </a:fld>
          </a:p>
        </p:txBody>
      </p:sp>
      <p:sp>
        <p:nvSpPr>
          <p:cNvPr id="9" name="Rectangle 8"/>
          <p:cNvSpPr/>
          <p:nvPr/>
        </p:nvSpPr>
        <p:spPr>
          <a:xfrm>
            <a:off x="635000" y="1270000"/>
            <a:ext cx="508000" cy="254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Eyebrow"/>
          <p:cNvSpPr>
            <a:spLocks noGrp="1"/>
          </p:cNvSpPr>
          <p:nvPr>
            <p:ph type="body" idx="10"/>
          </p:nvPr>
        </p:nvSpPr>
        <p:spPr>
          <a:xfrm>
            <a:off x="635000" y="1524000"/>
            <a:ext cx="4826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0B1A33"/>
                </a:solidFill>
                <a:latin typeface="Noto Sans Mono"/>
              </a:rPr>
              <a:t>FLAGSHIP · 2026</a:t>
            </a:r>
          </a:p>
        </p:txBody>
      </p:sp>
      <p:sp>
        <p:nvSpPr>
          <p:cNvPr id="11" name="Title"/>
          <p:cNvSpPr>
            <a:spLocks noGrp="1"/>
          </p:cNvSpPr>
          <p:nvPr>
            <p:ph type="title"/>
          </p:nvPr>
        </p:nvSpPr>
        <p:spPr>
          <a:xfrm>
            <a:off x="635000" y="1778000"/>
            <a:ext cx="4826000" cy="2413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0" spc="-180">
                <a:solidFill>
                  <a:srgbClr val="0B1A33"/>
                </a:solidFill>
                <a:latin typeface="Noto Sans Light"/>
              </a:rPr>
              <a:t>A flagship that</a:t>
            </a:r>
          </a:p>
          <a:p>
            <a:pPr marL="0" indent="0" algn="l">
              <a:buNone/>
            </a:pPr>
            <a:r>
              <a:rPr lang="en-US" sz="6000" spc="-180">
                <a:solidFill>
                  <a:srgbClr val="0B1A33"/>
                </a:solidFill>
                <a:latin typeface="Noto Sans Light"/>
              </a:rPr>
              <a:t>learns the</a:t>
            </a:r>
          </a:p>
          <a:p>
            <a:pPr marL="0" indent="0" algn="l">
              <a:buNone/>
            </a:pPr>
            <a:r>
              <a:rPr lang="en-US" sz="6000" spc="-180">
                <a:solidFill>
                  <a:srgbClr val="0B1A33"/>
                </a:solidFill>
                <a:latin typeface="Noto Sans Light"/>
              </a:rPr>
              <a:t>user.</a:t>
            </a:r>
          </a:p>
        </p:txBody>
      </p:sp>
      <p:sp>
        <p:nvSpPr>
          <p:cNvPr id="12" name="Body"/>
          <p:cNvSpPr>
            <a:spLocks noGrp="1"/>
          </p:cNvSpPr>
          <p:nvPr>
            <p:ph type="body" idx="11"/>
          </p:nvPr>
        </p:nvSpPr>
        <p:spPr>
          <a:xfrm>
            <a:off x="635000" y="4445000"/>
            <a:ext cx="4572000" cy="889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300">
                <a:solidFill>
                  <a:srgbClr val="2D3A52"/>
                </a:solidFill>
                <a:latin typeface="Noto Sans"/>
              </a:rPr>
              <a:t>Adaptive heat zones that calibrate to each pan automatically and hold their target to within 2 °C, across the whole surface.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5000" y="5524500"/>
            <a:ext cx="1651000" cy="508000"/>
          </a:xfrm>
          <a:prstGeom prst="rect">
            <a:avLst/>
          </a:prstGeom>
          <a:solidFill>
            <a:srgbClr val="C9A24A"/>
          </a:solidFill>
          <a:ln w="12700">
            <a:solidFill>
              <a:srgbClr val="C9A2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/>
          <a:lstStyle/>
          <a:p>
            <a:pPr algn="l"/>
            <a:r>
              <a:rPr sz="1100">
                <a:solidFill>
                  <a:srgbClr val="0B1A33"/>
                </a:solidFill>
                <a:latin typeface="Noto Sans Medium"/>
              </a:rPr>
              <a:t>Read the brief  →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413000" y="5524500"/>
            <a:ext cx="1333500" cy="508000"/>
          </a:xfrm>
          <a:prstGeom prst="rect">
            <a:avLst/>
          </a:prstGeom>
          <a:noFill/>
          <a:ln w="12700">
            <a:solidFill>
              <a:srgbClr val="0B1A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/>
          <a:lstStyle/>
          <a:p>
            <a:pPr algn="l"/>
            <a:r>
              <a:rPr sz="1100">
                <a:solidFill>
                  <a:srgbClr val="0B1A33"/>
                </a:solidFill>
                <a:latin typeface="Noto Sans Medium"/>
              </a:rPr>
              <a:t>Spec sheet</a:t>
            </a:r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Full-bleed Cov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pattFill prst="wdDnDiag">
            <a:fgClr>
              <a:srgbClr val="D6D1C2"/>
            </a:fgClr>
            <a:bgClr>
              <a:srgbClr val="FAF8F3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0"/>
            <a:ext cx="12192000" cy="685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spc="90">
                <a:solidFill>
                  <a:srgbClr val="2D3A52"/>
                </a:solidFill>
                <a:latin typeface="Noto Sans Mono"/>
              </a:rPr>
              <a:t>DROP COVER IMAGE</a:t>
            </a:r>
          </a:p>
        </p:txBody>
      </p:sp>
      <p:sp>
        <p:nvSpPr>
          <p:cNvPr id="4" name="Freeform 3"/>
          <p:cNvSpPr/>
          <p:nvPr/>
        </p:nvSpPr>
        <p:spPr>
          <a:xfrm>
            <a:off x="675640" y="426720"/>
            <a:ext cx="121920" cy="162560"/>
          </a:xfrm>
          <a:custGeom>
            <a:avLst/>
            <a:gdLst/>
            <a:ahLst/>
            <a:cxnLst/>
            <a:rect l="l" t="t" r="r" b="b"/>
            <a:pathLst>
              <a:path w="121920" h="162560">
                <a:moveTo>
                  <a:pt x="60960" y="0"/>
                </a:moveTo>
                <a:lnTo>
                  <a:pt x="20320" y="66040"/>
                </a:lnTo>
                <a:lnTo>
                  <a:pt x="0" y="86360"/>
                </a:lnTo>
                <a:lnTo>
                  <a:pt x="60960" y="162560"/>
                </a:lnTo>
                <a:lnTo>
                  <a:pt x="121920" y="86360"/>
                </a:lnTo>
                <a:lnTo>
                  <a:pt x="101600" y="66040"/>
                </a:lnTo>
                <a:close/>
              </a:path>
            </a:pathLst>
          </a:custGeom>
          <a:solidFill>
            <a:srgbClr val="0B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1700" y="4318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62" b="0">
                <a:solidFill>
                  <a:srgbClr val="0B1A33"/>
                </a:solidFill>
                <a:latin typeface="Noto Sans Medium"/>
              </a:rPr>
              <a:t>FEINSCHLIFF.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90">
                <a:solidFill>
                  <a:srgbClr val="0B1A33"/>
                </a:solidFill>
                <a:latin typeface="Noto Sans Mono"/>
              </a:rPr>
              <a:t>COVER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0B1A33"/>
                </a:solidFill>
                <a:latin typeface="Noto Sans Mono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0B1A33"/>
                </a:solidFill>
                <a:latin typeface="Noto Sa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0B1A33"/>
                </a:solidFill>
                <a:latin typeface="Noto Sans Mono"/>
              </a:rPr>
              <a:t>1</a:t>
            </a:fld>
          </a:p>
        </p:txBody>
      </p:sp>
      <p:sp>
        <p:nvSpPr>
          <p:cNvPr id="9" name="Rectangle 8"/>
          <p:cNvSpPr/>
          <p:nvPr/>
        </p:nvSpPr>
        <p:spPr>
          <a:xfrm>
            <a:off x="635000" y="4318000"/>
            <a:ext cx="5207000" cy="17780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89000" y="4521200"/>
            <a:ext cx="508000" cy="254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Eyebrow"/>
          <p:cNvSpPr>
            <a:spLocks noGrp="1"/>
          </p:cNvSpPr>
          <p:nvPr>
            <p:ph type="body" idx="10"/>
          </p:nvPr>
        </p:nvSpPr>
        <p:spPr>
          <a:xfrm>
            <a:off x="889000" y="4749800"/>
            <a:ext cx="469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0B1A33"/>
                </a:solidFill>
                <a:latin typeface="Noto Sans Mono"/>
              </a:rPr>
              <a:t>LAYOUT · FULL-BLEED COVER</a:t>
            </a:r>
          </a:p>
        </p:txBody>
      </p:sp>
      <p:sp>
        <p:nvSpPr>
          <p:cNvPr id="12" name="Title"/>
          <p:cNvSpPr>
            <a:spLocks noGrp="1"/>
          </p:cNvSpPr>
          <p:nvPr>
            <p:ph type="title"/>
          </p:nvPr>
        </p:nvSpPr>
        <p:spPr>
          <a:xfrm>
            <a:off x="889000" y="5016500"/>
            <a:ext cx="4699000" cy="1016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3600" spc="-108">
                <a:solidFill>
                  <a:srgbClr val="0B1A33"/>
                </a:solidFill>
                <a:latin typeface="Noto Sans Light"/>
              </a:rPr>
              <a:t>An image does</a:t>
            </a:r>
          </a:p>
          <a:p>
            <a:pPr marL="0" indent="0" algn="l">
              <a:buNone/>
            </a:pPr>
            <a:r>
              <a:rPr lang="en-US" sz="3600" spc="-108">
                <a:solidFill>
                  <a:srgbClr val="0B1A33"/>
                </a:solidFill>
                <a:latin typeface="Noto Sans Light"/>
              </a:rPr>
              <a:t>the talking.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Bar Char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75640" y="426720"/>
            <a:ext cx="121920" cy="162560"/>
          </a:xfrm>
          <a:custGeom>
            <a:avLst/>
            <a:gdLst/>
            <a:ahLst/>
            <a:cxnLst/>
            <a:rect l="l" t="t" r="r" b="b"/>
            <a:pathLst>
              <a:path w="121920" h="162560">
                <a:moveTo>
                  <a:pt x="60960" y="0"/>
                </a:moveTo>
                <a:lnTo>
                  <a:pt x="20320" y="66040"/>
                </a:lnTo>
                <a:lnTo>
                  <a:pt x="0" y="86360"/>
                </a:lnTo>
                <a:lnTo>
                  <a:pt x="60960" y="162560"/>
                </a:lnTo>
                <a:lnTo>
                  <a:pt x="121920" y="86360"/>
                </a:lnTo>
                <a:lnTo>
                  <a:pt x="101600" y="66040"/>
                </a:lnTo>
                <a:close/>
              </a:path>
            </a:pathLst>
          </a:custGeom>
          <a:solidFill>
            <a:srgbClr val="0B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01700" y="4318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62" b="0">
                <a:solidFill>
                  <a:srgbClr val="0B1A33"/>
                </a:solidFill>
                <a:latin typeface="Noto Sans Medium"/>
              </a:rPr>
              <a:t>FEINSCHLIFF.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90">
                <a:solidFill>
                  <a:srgbClr val="0B1A33"/>
                </a:solidFill>
                <a:latin typeface="Noto Sans Mono"/>
              </a:rPr>
              <a:t>DATA · Q3 RESULTS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0B1A33"/>
                </a:solidFill>
                <a:latin typeface="Noto Sa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0B1A33"/>
                </a:solidFill>
                <a:latin typeface="Noto Sa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0B1A33"/>
                </a:solidFill>
                <a:latin typeface="Noto Sa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0B1A33"/>
                </a:solidFill>
                <a:latin typeface="Noto Sans Mono"/>
              </a:rPr>
              <a:t>SHARE OF REVENUE BY REGION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0B1A33"/>
                </a:solidFill>
                <a:latin typeface="Noto Sans"/>
              </a:rPr>
              <a:t>EMEA still leads; NAM closing the gap.</a:t>
            </a:r>
          </a:p>
        </p:txBody>
      </p:sp>
      <p:sp>
        <p:nvSpPr>
          <p:cNvPr id="10" name="Bar 1 Label"/>
          <p:cNvSpPr>
            <a:spLocks noGrp="1"/>
          </p:cNvSpPr>
          <p:nvPr>
            <p:ph type="body" idx="20"/>
          </p:nvPr>
        </p:nvSpPr>
        <p:spPr>
          <a:xfrm>
            <a:off x="635000" y="3429000"/>
            <a:ext cx="1524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400">
                <a:solidFill>
                  <a:srgbClr val="0B1A33"/>
                </a:solidFill>
                <a:latin typeface="Noto Sans Medium"/>
              </a:rPr>
              <a:t>EMEA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11400" y="3479800"/>
            <a:ext cx="8331200" cy="20320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311400" y="3479800"/>
            <a:ext cx="5162550" cy="2032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Bar 1 Value"/>
          <p:cNvSpPr>
            <a:spLocks noGrp="1"/>
          </p:cNvSpPr>
          <p:nvPr>
            <p:ph type="body" idx="21"/>
          </p:nvPr>
        </p:nvSpPr>
        <p:spPr>
          <a:xfrm>
            <a:off x="10795000" y="3467100"/>
            <a:ext cx="762000" cy="2032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100">
                <a:solidFill>
                  <a:srgbClr val="0B1A33"/>
                </a:solidFill>
                <a:latin typeface="Noto Sans Mono"/>
              </a:rPr>
              <a:t>62%</a:t>
            </a:r>
          </a:p>
        </p:txBody>
      </p:sp>
      <p:sp>
        <p:nvSpPr>
          <p:cNvPr id="14" name="Bar 2 Label"/>
          <p:cNvSpPr>
            <a:spLocks noGrp="1"/>
          </p:cNvSpPr>
          <p:nvPr>
            <p:ph type="body" idx="22"/>
          </p:nvPr>
        </p:nvSpPr>
        <p:spPr>
          <a:xfrm>
            <a:off x="635000" y="3937000"/>
            <a:ext cx="1524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400">
                <a:solidFill>
                  <a:srgbClr val="0B1A33"/>
                </a:solidFill>
                <a:latin typeface="Noto Sans Medium"/>
              </a:rPr>
              <a:t>NAM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311400" y="3987800"/>
            <a:ext cx="8331200" cy="20320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311400" y="3987800"/>
            <a:ext cx="2000250" cy="2032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Bar 2 Value"/>
          <p:cNvSpPr>
            <a:spLocks noGrp="1"/>
          </p:cNvSpPr>
          <p:nvPr>
            <p:ph type="body" idx="23"/>
          </p:nvPr>
        </p:nvSpPr>
        <p:spPr>
          <a:xfrm>
            <a:off x="10795000" y="3975100"/>
            <a:ext cx="762000" cy="2032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100">
                <a:solidFill>
                  <a:srgbClr val="0B1A33"/>
                </a:solidFill>
                <a:latin typeface="Noto Sans Mono"/>
              </a:rPr>
              <a:t>24%</a:t>
            </a:r>
          </a:p>
        </p:txBody>
      </p:sp>
      <p:sp>
        <p:nvSpPr>
          <p:cNvPr id="18" name="Bar 3 Label"/>
          <p:cNvSpPr>
            <a:spLocks noGrp="1"/>
          </p:cNvSpPr>
          <p:nvPr>
            <p:ph type="body" idx="24"/>
          </p:nvPr>
        </p:nvSpPr>
        <p:spPr>
          <a:xfrm>
            <a:off x="635000" y="4445000"/>
            <a:ext cx="1524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400">
                <a:solidFill>
                  <a:srgbClr val="0B1A33"/>
                </a:solidFill>
                <a:latin typeface="Noto Sans Medium"/>
              </a:rPr>
              <a:t>APAC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311400" y="4495800"/>
            <a:ext cx="8331200" cy="20320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311400" y="4495800"/>
            <a:ext cx="914400" cy="2032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Bar 3 Value"/>
          <p:cNvSpPr>
            <a:spLocks noGrp="1"/>
          </p:cNvSpPr>
          <p:nvPr>
            <p:ph type="body" idx="25"/>
          </p:nvPr>
        </p:nvSpPr>
        <p:spPr>
          <a:xfrm>
            <a:off x="10795000" y="4483100"/>
            <a:ext cx="762000" cy="2032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100">
                <a:solidFill>
                  <a:srgbClr val="0B1A33"/>
                </a:solidFill>
                <a:latin typeface="Noto Sans Mono"/>
              </a:rPr>
              <a:t>11%</a:t>
            </a:r>
          </a:p>
        </p:txBody>
      </p:sp>
      <p:sp>
        <p:nvSpPr>
          <p:cNvPr id="22" name="Bar 4 Label"/>
          <p:cNvSpPr>
            <a:spLocks noGrp="1"/>
          </p:cNvSpPr>
          <p:nvPr>
            <p:ph type="body" idx="26"/>
          </p:nvPr>
        </p:nvSpPr>
        <p:spPr>
          <a:xfrm>
            <a:off x="635000" y="4953000"/>
            <a:ext cx="1524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400">
                <a:solidFill>
                  <a:srgbClr val="0B1A33"/>
                </a:solidFill>
                <a:latin typeface="Noto Sans Medium"/>
              </a:rPr>
              <a:t>LATAM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311400" y="5003800"/>
            <a:ext cx="8331200" cy="20320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2311400" y="5003800"/>
            <a:ext cx="247650" cy="2032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Bar 4 Value"/>
          <p:cNvSpPr>
            <a:spLocks noGrp="1"/>
          </p:cNvSpPr>
          <p:nvPr>
            <p:ph type="body" idx="27"/>
          </p:nvPr>
        </p:nvSpPr>
        <p:spPr>
          <a:xfrm>
            <a:off x="10795000" y="4991100"/>
            <a:ext cx="762000" cy="2032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100">
                <a:solidFill>
                  <a:srgbClr val="0B1A33"/>
                </a:solidFill>
                <a:latin typeface="Noto Sans Mono"/>
              </a:rPr>
              <a:t>3%</a:t>
            </a:r>
          </a:p>
        </p:txBody>
      </p:sp>
      <p:sp>
        <p:nvSpPr>
          <p:cNvPr id="26" name="Figure caption"/>
          <p:cNvSpPr>
            <a:spLocks noGrp="1"/>
          </p:cNvSpPr>
          <p:nvPr>
            <p:ph type="body" idx="40"/>
          </p:nvPr>
        </p:nvSpPr>
        <p:spPr>
          <a:xfrm>
            <a:off x="635000" y="5842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2D3A52"/>
                </a:solidFill>
                <a:latin typeface="Noto Sans Mono"/>
              </a:rPr>
              <a:t>FIGURE 01 · SAMPLE DATA, Q3 FY25 · N = €14.1 BN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Components Showcas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75640" y="426720"/>
            <a:ext cx="121920" cy="162560"/>
          </a:xfrm>
          <a:custGeom>
            <a:avLst/>
            <a:gdLst/>
            <a:ahLst/>
            <a:cxnLst/>
            <a:rect l="l" t="t" r="r" b="b"/>
            <a:pathLst>
              <a:path w="121920" h="162560">
                <a:moveTo>
                  <a:pt x="60960" y="0"/>
                </a:moveTo>
                <a:lnTo>
                  <a:pt x="20320" y="66040"/>
                </a:lnTo>
                <a:lnTo>
                  <a:pt x="0" y="86360"/>
                </a:lnTo>
                <a:lnTo>
                  <a:pt x="60960" y="162560"/>
                </a:lnTo>
                <a:lnTo>
                  <a:pt x="121920" y="86360"/>
                </a:lnTo>
                <a:lnTo>
                  <a:pt x="101600" y="66040"/>
                </a:lnTo>
                <a:close/>
              </a:path>
            </a:pathLst>
          </a:custGeom>
          <a:solidFill>
            <a:srgbClr val="0B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01700" y="4318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62" b="0">
                <a:solidFill>
                  <a:srgbClr val="0B1A33"/>
                </a:solidFill>
                <a:latin typeface="Noto Sans Medium"/>
              </a:rPr>
              <a:t>FEINSCHLIFF.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90">
                <a:solidFill>
                  <a:srgbClr val="0B1A33"/>
                </a:solidFill>
                <a:latin typeface="Noto Sans Mono"/>
              </a:rPr>
              <a:t>UI KIT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0B1A33"/>
                </a:solidFill>
                <a:latin typeface="Noto Sa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0B1A33"/>
                </a:solidFill>
                <a:latin typeface="Noto Sa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0B1A33"/>
                </a:solidFill>
                <a:latin typeface="Noto Sa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0B1A33"/>
                </a:solidFill>
                <a:latin typeface="Noto Sans Mono"/>
              </a:rPr>
              <a:t>UI LIBRARY PREVIEW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0B1A33"/>
                </a:solidFill>
                <a:latin typeface="Noto Sans"/>
              </a:rPr>
              <a:t>Flat, sharp, quiet components.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5000" y="3175000"/>
            <a:ext cx="5308600" cy="3175000"/>
          </a:xfrm>
          <a:prstGeom prst="rect">
            <a:avLst/>
          </a:prstGeom>
          <a:solidFill>
            <a:srgbClr val="FA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39800" y="3479800"/>
            <a:ext cx="254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0B1A33"/>
                </a:solidFill>
                <a:latin typeface="Noto Sans Mono"/>
              </a:rPr>
              <a:t>BUTTONS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9800" y="3860800"/>
            <a:ext cx="1270000" cy="406400"/>
          </a:xfrm>
          <a:prstGeom prst="rect">
            <a:avLst/>
          </a:prstGeom>
          <a:solidFill>
            <a:srgbClr val="C9A24A"/>
          </a:solidFill>
          <a:ln w="12700">
            <a:solidFill>
              <a:srgbClr val="C9A2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/>
          <a:lstStyle/>
          <a:p>
            <a:pPr algn="l"/>
            <a:r>
              <a:rPr sz="1100">
                <a:solidFill>
                  <a:srgbClr val="0B1A33"/>
                </a:solidFill>
                <a:latin typeface="Noto Sans Medium"/>
              </a:rPr>
              <a:t>Primary  →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336800" y="3860800"/>
            <a:ext cx="1270000" cy="406400"/>
          </a:xfrm>
          <a:prstGeom prst="rect">
            <a:avLst/>
          </a:prstGeom>
          <a:solidFill>
            <a:srgbClr val="0B1A33"/>
          </a:solidFill>
          <a:ln w="12700">
            <a:solidFill>
              <a:srgbClr val="0B1A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/>
          <a:lstStyle/>
          <a:p>
            <a:pPr algn="l"/>
            <a:r>
              <a:rPr sz="1100">
                <a:solidFill>
                  <a:srgbClr val="FFFFFF"/>
                </a:solidFill>
                <a:latin typeface="Noto Sans Medium"/>
              </a:rPr>
              <a:t>Default  →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733800" y="3860800"/>
            <a:ext cx="1079500" cy="406400"/>
          </a:xfrm>
          <a:prstGeom prst="rect">
            <a:avLst/>
          </a:prstGeom>
          <a:noFill/>
          <a:ln w="12700">
            <a:solidFill>
              <a:srgbClr val="0B1A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/>
          <a:lstStyle/>
          <a:p>
            <a:pPr algn="l"/>
            <a:r>
              <a:rPr sz="1100">
                <a:solidFill>
                  <a:srgbClr val="0B1A33"/>
                </a:solidFill>
                <a:latin typeface="Noto Sans Medium"/>
              </a:rPr>
              <a:t>Ghost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9800" y="4622800"/>
            <a:ext cx="254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0B1A33"/>
                </a:solidFill>
                <a:latin typeface="Noto Sans Mono"/>
              </a:rPr>
              <a:t>TAGS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39800" y="4940300"/>
            <a:ext cx="1111250" cy="2794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14300" rIns="114300"/>
          <a:lstStyle/>
          <a:p>
            <a:pPr algn="l"/>
            <a:r>
              <a:rPr sz="800" spc="80">
                <a:solidFill>
                  <a:srgbClr val="FFFFFF"/>
                </a:solidFill>
                <a:latin typeface="Noto Sans Mono"/>
              </a:rPr>
              <a:t>PRODUCTION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146300" y="4940300"/>
            <a:ext cx="889000" cy="2794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14300" rIns="114300"/>
          <a:lstStyle/>
          <a:p>
            <a:pPr algn="l"/>
            <a:r>
              <a:rPr sz="800" spc="80">
                <a:solidFill>
                  <a:srgbClr val="0B1A33"/>
                </a:solidFill>
                <a:latin typeface="Noto Sans Mono"/>
              </a:rPr>
              <a:t>FEATURED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130550" y="4940300"/>
            <a:ext cx="571500" cy="279400"/>
          </a:xfrm>
          <a:prstGeom prst="rect">
            <a:avLst/>
          </a:prstGeom>
          <a:solidFill>
            <a:srgbClr val="E4C2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14300" rIns="114300"/>
          <a:lstStyle/>
          <a:p>
            <a:pPr algn="l"/>
            <a:r>
              <a:rPr sz="800" spc="80">
                <a:solidFill>
                  <a:srgbClr val="0B1A33"/>
                </a:solidFill>
                <a:latin typeface="Noto Sans Mono"/>
              </a:rPr>
              <a:t>BETA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797300" y="4940300"/>
            <a:ext cx="952500" cy="279400"/>
          </a:xfrm>
          <a:prstGeom prst="rect">
            <a:avLst/>
          </a:prstGeom>
          <a:noFill/>
          <a:ln w="6350">
            <a:solidFill>
              <a:srgbClr val="0B1A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14300" rIns="114300"/>
          <a:lstStyle/>
          <a:p>
            <a:pPr algn="l"/>
            <a:r>
              <a:rPr sz="800" spc="80">
                <a:solidFill>
                  <a:srgbClr val="0B1A33"/>
                </a:solidFill>
                <a:latin typeface="Noto Sans Mono"/>
              </a:rPr>
              <a:t>ARCHIVED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48400" y="3175000"/>
            <a:ext cx="5308600" cy="3175000"/>
          </a:xfrm>
          <a:prstGeom prst="rect">
            <a:avLst/>
          </a:prstGeom>
          <a:solidFill>
            <a:srgbClr val="FA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53200" y="3479800"/>
            <a:ext cx="254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0B1A33"/>
                </a:solidFill>
                <a:latin typeface="Noto Sans Mono"/>
              </a:rPr>
              <a:t>RULES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553200" y="3987800"/>
            <a:ext cx="355600" cy="635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53200" y="4076700"/>
            <a:ext cx="4699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70">
                <a:solidFill>
                  <a:srgbClr val="2D3A52"/>
                </a:solidFill>
                <a:latin typeface="Noto Sans Mono"/>
              </a:rPr>
              <a:t>SECTION · 56 × 1 · INK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553200" y="4622800"/>
            <a:ext cx="508000" cy="254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553200" y="4711700"/>
            <a:ext cx="4699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70">
                <a:solidFill>
                  <a:srgbClr val="2D3A52"/>
                </a:solidFill>
                <a:latin typeface="Noto Sans Mono"/>
              </a:rPr>
              <a:t>EMPHASIS · 80 × 4 · ORANGE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553200" y="5257800"/>
            <a:ext cx="4699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553200" y="5346700"/>
            <a:ext cx="4699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70">
                <a:solidFill>
                  <a:srgbClr val="2D3A52"/>
                </a:solidFill>
                <a:latin typeface="Noto Sans Mono"/>
              </a:rPr>
              <a:t>HAIRLINE · WIDTH × 1 · FOG</a:t>
            </a: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Quote">
    <p:bg>
      <p:bgPr>
        <a:solidFill>
          <a:srgbClr val="C9A2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75640" y="426720"/>
            <a:ext cx="121920" cy="162560"/>
          </a:xfrm>
          <a:custGeom>
            <a:avLst/>
            <a:gdLst/>
            <a:ahLst/>
            <a:cxnLst/>
            <a:rect l="l" t="t" r="r" b="b"/>
            <a:pathLst>
              <a:path w="121920" h="162560">
                <a:moveTo>
                  <a:pt x="60960" y="0"/>
                </a:moveTo>
                <a:lnTo>
                  <a:pt x="20320" y="66040"/>
                </a:lnTo>
                <a:lnTo>
                  <a:pt x="0" y="86360"/>
                </a:lnTo>
                <a:lnTo>
                  <a:pt x="60960" y="162560"/>
                </a:lnTo>
                <a:lnTo>
                  <a:pt x="121920" y="86360"/>
                </a:lnTo>
                <a:lnTo>
                  <a:pt x="101600" y="66040"/>
                </a:lnTo>
                <a:close/>
              </a:path>
            </a:pathLst>
          </a:custGeom>
          <a:solidFill>
            <a:srgbClr val="0B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01700" y="4318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62" b="0">
                <a:solidFill>
                  <a:srgbClr val="0B1A33"/>
                </a:solidFill>
                <a:latin typeface="Noto Sans Medium"/>
              </a:rPr>
              <a:t>FEINSCHLIFF.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90">
                <a:solidFill>
                  <a:srgbClr val="0B1A33"/>
                </a:solidFill>
                <a:latin typeface="Noto Sans Mono"/>
              </a:rPr>
              <a:t>VOICE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0B1A33"/>
                </a:solidFill>
                <a:latin typeface="Noto Sa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0B1A33"/>
                </a:solidFill>
                <a:latin typeface="Noto Sa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0B1A33"/>
                </a:solidFill>
                <a:latin typeface="Noto Sa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2667000"/>
            <a:ext cx="508000" cy="254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Quote"/>
          <p:cNvSpPr>
            <a:spLocks noGrp="1"/>
          </p:cNvSpPr>
          <p:nvPr>
            <p:ph type="title"/>
          </p:nvPr>
        </p:nvSpPr>
        <p:spPr>
          <a:xfrm>
            <a:off x="635000" y="2921000"/>
            <a:ext cx="8890000" cy="2667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200" spc="-105">
                <a:solidFill>
                  <a:srgbClr val="0B1A33"/>
                </a:solidFill>
                <a:latin typeface="Noto Sans Light"/>
              </a:rPr>
              <a:t>“Write like an engineer explaining their work to a colleague they respect. Short sentences. Concrete nouns. No superlatives.”</a:t>
            </a:r>
          </a:p>
        </p:txBody>
      </p:sp>
      <p:sp>
        <p:nvSpPr>
          <p:cNvPr id="9" name="Attribution"/>
          <p:cNvSpPr>
            <a:spLocks noGrp="1"/>
          </p:cNvSpPr>
          <p:nvPr>
            <p:ph type="body" idx="10"/>
          </p:nvPr>
        </p:nvSpPr>
        <p:spPr>
          <a:xfrm>
            <a:off x="635000" y="5715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000" spc="120" cap="all">
                <a:solidFill>
                  <a:srgbClr val="0B1A33"/>
                </a:solidFill>
                <a:latin typeface="Noto Sans Mono"/>
              </a:rPr>
              <a:t>FEINSCHLIFF. DESIGN SYSTEM · VOICE GUIDELINE</a:t>
            </a: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End">
    <p:bg>
      <p:bgPr>
        <a:solidFill>
          <a:srgbClr val="C9A2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75640" y="426720"/>
            <a:ext cx="121920" cy="162560"/>
          </a:xfrm>
          <a:custGeom>
            <a:avLst/>
            <a:gdLst/>
            <a:ahLst/>
            <a:cxnLst/>
            <a:rect l="l" t="t" r="r" b="b"/>
            <a:pathLst>
              <a:path w="121920" h="162560">
                <a:moveTo>
                  <a:pt x="60960" y="0"/>
                </a:moveTo>
                <a:lnTo>
                  <a:pt x="20320" y="66040"/>
                </a:lnTo>
                <a:lnTo>
                  <a:pt x="0" y="86360"/>
                </a:lnTo>
                <a:lnTo>
                  <a:pt x="60960" y="162560"/>
                </a:lnTo>
                <a:lnTo>
                  <a:pt x="121920" y="86360"/>
                </a:lnTo>
                <a:lnTo>
                  <a:pt x="101600" y="66040"/>
                </a:lnTo>
                <a:close/>
              </a:path>
            </a:pathLst>
          </a:custGeom>
          <a:solidFill>
            <a:srgbClr val="0B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01700" y="4318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62" b="0">
                <a:solidFill>
                  <a:srgbClr val="0B1A33"/>
                </a:solidFill>
                <a:latin typeface="Noto Sans Medium"/>
              </a:rPr>
              <a:t>FEINSCHLIFF.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90">
                <a:solidFill>
                  <a:srgbClr val="0B1A33"/>
                </a:solidFill>
                <a:latin typeface="Noto Sans Mono"/>
              </a:rPr>
              <a:t>END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0B1A33"/>
                </a:solidFill>
                <a:latin typeface="Noto Sa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0B1A33"/>
                </a:solidFill>
                <a:latin typeface="Noto Sa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0B1A33"/>
                </a:solidFill>
                <a:latin typeface="Noto Sa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5715000" y="2413000"/>
            <a:ext cx="762000" cy="254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itle"/>
          <p:cNvSpPr>
            <a:spLocks noGrp="1"/>
          </p:cNvSpPr>
          <p:nvPr>
            <p:ph type="title"/>
          </p:nvPr>
        </p:nvSpPr>
        <p:spPr>
          <a:xfrm>
            <a:off x="635000" y="2667000"/>
            <a:ext cx="10922000" cy="1778000"/>
          </a:xfrm>
        </p:spPr>
        <p:txBody>
          <a:bodyPr lIns="0" tIns="0" rIns="0" bIns="0" wrap="square" anchor="t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10000" spc="-350">
                <a:solidFill>
                  <a:srgbClr val="0B1A33"/>
                </a:solidFill>
                <a:latin typeface="Noto Sans Light"/>
              </a:rPr>
              <a:t>Thank you.</a:t>
            </a:r>
          </a:p>
        </p:txBody>
      </p:sp>
      <p:sp>
        <p:nvSpPr>
          <p:cNvPr id="9" name="Caption"/>
          <p:cNvSpPr>
            <a:spLocks noGrp="1"/>
          </p:cNvSpPr>
          <p:nvPr>
            <p:ph type="body" idx="10"/>
          </p:nvPr>
        </p:nvSpPr>
        <p:spPr>
          <a:xfrm>
            <a:off x="635000" y="4572000"/>
            <a:ext cx="10922000" cy="2540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900" spc="108" cap="all">
                <a:solidFill>
                  <a:srgbClr val="0B1A33"/>
                </a:solidFill>
                <a:latin typeface="Noto Sans Mono"/>
              </a:rPr>
              <a:t>FEINSCHLIFF. DESIGN SYSTEM · V1.0 · 2026</a:t>
            </a: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Graphical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75640" y="426720"/>
            <a:ext cx="121920" cy="162560"/>
          </a:xfrm>
          <a:custGeom>
            <a:avLst/>
            <a:gdLst/>
            <a:ahLst/>
            <a:cxnLst/>
            <a:rect l="l" t="t" r="r" b="b"/>
            <a:pathLst>
              <a:path w="121920" h="162560">
                <a:moveTo>
                  <a:pt x="60960" y="0"/>
                </a:moveTo>
                <a:lnTo>
                  <a:pt x="20320" y="66040"/>
                </a:lnTo>
                <a:lnTo>
                  <a:pt x="0" y="86360"/>
                </a:lnTo>
                <a:lnTo>
                  <a:pt x="60960" y="162560"/>
                </a:lnTo>
                <a:lnTo>
                  <a:pt x="121920" y="86360"/>
                </a:lnTo>
                <a:lnTo>
                  <a:pt x="101600" y="66040"/>
                </a:lnTo>
                <a:close/>
              </a:path>
            </a:pathLst>
          </a:custGeom>
          <a:solidFill>
            <a:srgbClr val="0B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01700" y="4318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62" b="0">
                <a:solidFill>
                  <a:srgbClr val="0B1A33"/>
                </a:solidFill>
                <a:latin typeface="Noto Sans Medium"/>
              </a:rPr>
              <a:t>FEINSCHLIFF.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90">
                <a:solidFill>
                  <a:srgbClr val="0B1A33"/>
                </a:solidFill>
                <a:latin typeface="Noto Sans Mono"/>
              </a:rPr>
              <a:t>GRAPHICAL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0B1A33"/>
                </a:solidFill>
                <a:latin typeface="Noto Sa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0B1A33"/>
                </a:solidFill>
                <a:latin typeface="Noto Sa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0B1A33"/>
                </a:solidFill>
                <a:latin typeface="Noto Sa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0B1A33"/>
                </a:solidFill>
                <a:latin typeface="Noto Sans Mono"/>
              </a:rPr>
              <a:t>SHARE OF REVENUE BY REGION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0B1A33"/>
                </a:solidFill>
                <a:latin typeface="Noto Sans"/>
              </a:rPr>
              <a:t>EMEA still leads; NAM closing the gap.</a:t>
            </a:r>
          </a:p>
        </p:txBody>
      </p:sp>
      <p:sp>
        <p:nvSpPr>
          <p:cNvPr id="10" name="Rectangle 9"/>
          <p:cNvSpPr/>
          <p:nvPr/>
        </p:nvSpPr>
        <p:spPr>
          <a:xfrm>
            <a:off x="1930400" y="3219450"/>
            <a:ext cx="5435600" cy="3175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35000" y="3676650"/>
            <a:ext cx="10922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930400" y="3727450"/>
            <a:ext cx="2101850" cy="3175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35000" y="4184650"/>
            <a:ext cx="10922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930400" y="4235450"/>
            <a:ext cx="965200" cy="3175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35000" y="4692650"/>
            <a:ext cx="10922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930400" y="4743450"/>
            <a:ext cx="260350" cy="3175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35000" y="5200650"/>
            <a:ext cx="10922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Bar 1 Label"/>
          <p:cNvSpPr>
            <a:spLocks noGrp="1"/>
          </p:cNvSpPr>
          <p:nvPr>
            <p:ph type="body" idx="20"/>
          </p:nvPr>
        </p:nvSpPr>
        <p:spPr>
          <a:xfrm>
            <a:off x="635000" y="3289300"/>
            <a:ext cx="1143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400">
                <a:solidFill>
                  <a:srgbClr val="0B1A33"/>
                </a:solidFill>
                <a:latin typeface="Noto Sans Medium"/>
              </a:rPr>
              <a:t>EMEA</a:t>
            </a:r>
          </a:p>
        </p:txBody>
      </p:sp>
      <p:sp>
        <p:nvSpPr>
          <p:cNvPr id="19" name="Bar 1 Value"/>
          <p:cNvSpPr>
            <a:spLocks noGrp="1"/>
          </p:cNvSpPr>
          <p:nvPr>
            <p:ph type="body" idx="21"/>
          </p:nvPr>
        </p:nvSpPr>
        <p:spPr>
          <a:xfrm>
            <a:off x="10795000" y="3289300"/>
            <a:ext cx="762000" cy="1778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100">
                <a:solidFill>
                  <a:srgbClr val="0B1A33"/>
                </a:solidFill>
                <a:latin typeface="Noto Sans Mono"/>
              </a:rPr>
              <a:t>62%</a:t>
            </a:r>
          </a:p>
        </p:txBody>
      </p:sp>
      <p:sp>
        <p:nvSpPr>
          <p:cNvPr id="20" name="Bar 2 Label"/>
          <p:cNvSpPr>
            <a:spLocks noGrp="1"/>
          </p:cNvSpPr>
          <p:nvPr>
            <p:ph type="body" idx="24"/>
          </p:nvPr>
        </p:nvSpPr>
        <p:spPr>
          <a:xfrm>
            <a:off x="635000" y="3797300"/>
            <a:ext cx="1143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400">
                <a:solidFill>
                  <a:srgbClr val="0B1A33"/>
                </a:solidFill>
                <a:latin typeface="Noto Sans Medium"/>
              </a:rPr>
              <a:t>NAM</a:t>
            </a:r>
          </a:p>
        </p:txBody>
      </p:sp>
      <p:sp>
        <p:nvSpPr>
          <p:cNvPr id="21" name="Bar 2 Value"/>
          <p:cNvSpPr>
            <a:spLocks noGrp="1"/>
          </p:cNvSpPr>
          <p:nvPr>
            <p:ph type="body" idx="25"/>
          </p:nvPr>
        </p:nvSpPr>
        <p:spPr>
          <a:xfrm>
            <a:off x="10795000" y="3797300"/>
            <a:ext cx="762000" cy="1778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100">
                <a:solidFill>
                  <a:srgbClr val="0B1A33"/>
                </a:solidFill>
                <a:latin typeface="Noto Sans Mono"/>
              </a:rPr>
              <a:t>24%</a:t>
            </a:r>
          </a:p>
        </p:txBody>
      </p:sp>
      <p:sp>
        <p:nvSpPr>
          <p:cNvPr id="22" name="Bar 3 Label"/>
          <p:cNvSpPr>
            <a:spLocks noGrp="1"/>
          </p:cNvSpPr>
          <p:nvPr>
            <p:ph type="body" idx="28"/>
          </p:nvPr>
        </p:nvSpPr>
        <p:spPr>
          <a:xfrm>
            <a:off x="635000" y="4305300"/>
            <a:ext cx="1143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400">
                <a:solidFill>
                  <a:srgbClr val="0B1A33"/>
                </a:solidFill>
                <a:latin typeface="Noto Sans Medium"/>
              </a:rPr>
              <a:t>APAC</a:t>
            </a:r>
          </a:p>
        </p:txBody>
      </p:sp>
      <p:sp>
        <p:nvSpPr>
          <p:cNvPr id="23" name="Bar 3 Value"/>
          <p:cNvSpPr>
            <a:spLocks noGrp="1"/>
          </p:cNvSpPr>
          <p:nvPr>
            <p:ph type="body" idx="29"/>
          </p:nvPr>
        </p:nvSpPr>
        <p:spPr>
          <a:xfrm>
            <a:off x="10795000" y="4305300"/>
            <a:ext cx="762000" cy="1778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100">
                <a:solidFill>
                  <a:srgbClr val="0B1A33"/>
                </a:solidFill>
                <a:latin typeface="Noto Sans Mono"/>
              </a:rPr>
              <a:t>11%</a:t>
            </a:r>
          </a:p>
        </p:txBody>
      </p:sp>
      <p:sp>
        <p:nvSpPr>
          <p:cNvPr id="24" name="Bar 4 Label"/>
          <p:cNvSpPr>
            <a:spLocks noGrp="1"/>
          </p:cNvSpPr>
          <p:nvPr>
            <p:ph type="body" idx="32"/>
          </p:nvPr>
        </p:nvSpPr>
        <p:spPr>
          <a:xfrm>
            <a:off x="635000" y="4813300"/>
            <a:ext cx="1143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400">
                <a:solidFill>
                  <a:srgbClr val="0B1A33"/>
                </a:solidFill>
                <a:latin typeface="Noto Sans Medium"/>
              </a:rPr>
              <a:t>LATAM</a:t>
            </a:r>
          </a:p>
        </p:txBody>
      </p:sp>
      <p:sp>
        <p:nvSpPr>
          <p:cNvPr id="25" name="Bar 4 Value"/>
          <p:cNvSpPr>
            <a:spLocks noGrp="1"/>
          </p:cNvSpPr>
          <p:nvPr>
            <p:ph type="body" idx="33"/>
          </p:nvPr>
        </p:nvSpPr>
        <p:spPr>
          <a:xfrm>
            <a:off x="10795000" y="4813300"/>
            <a:ext cx="762000" cy="1778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100">
                <a:solidFill>
                  <a:srgbClr val="0B1A33"/>
                </a:solidFill>
                <a:latin typeface="Noto Sans Mono"/>
              </a:rPr>
              <a:t>3%</a:t>
            </a:r>
          </a:p>
        </p:txBody>
      </p:sp>
      <p:sp>
        <p:nvSpPr>
          <p:cNvPr id="26" name="Source"/>
          <p:cNvSpPr>
            <a:spLocks noGrp="1"/>
          </p:cNvSpPr>
          <p:nvPr>
            <p:ph type="body" idx="60"/>
          </p:nvPr>
        </p:nvSpPr>
        <p:spPr>
          <a:xfrm>
            <a:off x="635000" y="62865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2D3A52"/>
                </a:solidFill>
                <a:latin typeface="Noto Sans Mono"/>
              </a:rPr>
              <a:t>FIGURE 01 · SAMPLE DATA, Q3 FY25 · N = €14.1 BN</a:t>
            </a: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Action Titl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75640" y="426720"/>
            <a:ext cx="121920" cy="162560"/>
          </a:xfrm>
          <a:custGeom>
            <a:avLst/>
            <a:gdLst/>
            <a:ahLst/>
            <a:cxnLst/>
            <a:rect l="l" t="t" r="r" b="b"/>
            <a:pathLst>
              <a:path w="121920" h="162560">
                <a:moveTo>
                  <a:pt x="60960" y="0"/>
                </a:moveTo>
                <a:lnTo>
                  <a:pt x="20320" y="66040"/>
                </a:lnTo>
                <a:lnTo>
                  <a:pt x="0" y="86360"/>
                </a:lnTo>
                <a:lnTo>
                  <a:pt x="60960" y="162560"/>
                </a:lnTo>
                <a:lnTo>
                  <a:pt x="121920" y="86360"/>
                </a:lnTo>
                <a:lnTo>
                  <a:pt x="101600" y="66040"/>
                </a:lnTo>
                <a:close/>
              </a:path>
            </a:pathLst>
          </a:custGeom>
          <a:solidFill>
            <a:srgbClr val="0B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01700" y="4318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62" b="0">
                <a:solidFill>
                  <a:srgbClr val="0B1A33"/>
                </a:solidFill>
                <a:latin typeface="Noto Sans Medium"/>
              </a:rPr>
              <a:t>FEINSCHLIFF.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90">
                <a:solidFill>
                  <a:srgbClr val="0B1A33"/>
                </a:solidFill>
                <a:latin typeface="Noto Sans Mono"/>
              </a:rPr>
              <a:t>MCK · ACTION TITLE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0B1A33"/>
                </a:solidFill>
                <a:latin typeface="Noto Sa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0B1A33"/>
                </a:solidFill>
                <a:latin typeface="Noto Sa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0B1A33"/>
                </a:solidFill>
                <a:latin typeface="Noto Sans Mono"/>
              </a:rPr>
              <a:t>1</a:t>
            </a:fld>
          </a:p>
        </p:txBody>
      </p:sp>
      <p:sp>
        <p:nvSpPr>
          <p:cNvPr id="7" name="Kicker"/>
          <p:cNvSpPr>
            <a:spLocks noGrp="1"/>
          </p:cNvSpPr>
          <p:nvPr>
            <p:ph type="body" idx="10"/>
          </p:nvPr>
        </p:nvSpPr>
        <p:spPr>
          <a:xfrm>
            <a:off x="635000" y="1397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C9A24A"/>
                </a:solidFill>
                <a:latin typeface="Noto Sans Mono"/>
              </a:rPr>
              <a:t>ACTION-TITLE LAYOUT</a:t>
            </a:r>
          </a:p>
        </p:txBody>
      </p:sp>
      <p:sp>
        <p:nvSpPr>
          <p:cNvPr id="8" name="Action Title"/>
          <p:cNvSpPr>
            <a:spLocks noGrp="1"/>
          </p:cNvSpPr>
          <p:nvPr>
            <p:ph type="title"/>
          </p:nvPr>
        </p:nvSpPr>
        <p:spPr>
          <a:xfrm>
            <a:off x="635000" y="1714500"/>
            <a:ext cx="109220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000" spc="-80">
                <a:solidFill>
                  <a:srgbClr val="0B1A33"/>
                </a:solidFill>
                <a:latin typeface="Noto Sans Medium"/>
              </a:rPr>
              <a:t>Adopting the new platform will lift per-account active time by ~18% within two release cycles.</a:t>
            </a:r>
          </a:p>
        </p:txBody>
      </p:sp>
      <p:sp>
        <p:nvSpPr>
          <p:cNvPr id="9" name="Supporting Body"/>
          <p:cNvSpPr>
            <a:spLocks noGrp="1"/>
          </p:cNvSpPr>
          <p:nvPr>
            <p:ph type="body" idx="11"/>
          </p:nvPr>
        </p:nvSpPr>
        <p:spPr>
          <a:xfrm>
            <a:off x="635000" y="3810000"/>
            <a:ext cx="5207000" cy="2159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300">
                <a:solidFill>
                  <a:srgbClr val="2D3A52"/>
                </a:solidFill>
                <a:latin typeface="Noto Sans"/>
              </a:rPr>
              <a:t>In the regional pilot, accounts on the updated platform opened the app 2.3× more often and ran guided sessions 41% more per week.</a:t>
            </a:r>
          </a:p>
        </p:txBody>
      </p:sp>
      <p:sp>
        <p:nvSpPr>
          <p:cNvPr id="10" name="KPI 1 Value"/>
          <p:cNvSpPr>
            <a:spLocks noGrp="1"/>
          </p:cNvSpPr>
          <p:nvPr>
            <p:ph type="body" idx="20"/>
          </p:nvPr>
        </p:nvSpPr>
        <p:spPr>
          <a:xfrm>
            <a:off x="6350000" y="3810000"/>
            <a:ext cx="1841500" cy="889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6000" spc="-180">
                <a:solidFill>
                  <a:srgbClr val="0B1A33"/>
                </a:solidFill>
                <a:latin typeface="Noto Sans Light"/>
              </a:rPr>
              <a:t>+18</a:t>
            </a:r>
          </a:p>
        </p:txBody>
      </p:sp>
      <p:sp>
        <p:nvSpPr>
          <p:cNvPr id="11" name="KPI 1 Unit"/>
          <p:cNvSpPr>
            <a:spLocks noGrp="1"/>
          </p:cNvSpPr>
          <p:nvPr>
            <p:ph type="body" idx="21"/>
          </p:nvPr>
        </p:nvSpPr>
        <p:spPr>
          <a:xfrm>
            <a:off x="8191500" y="3810000"/>
            <a:ext cx="635000" cy="889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2000">
                <a:solidFill>
                  <a:srgbClr val="2D3A52"/>
                </a:solidFill>
                <a:latin typeface="Noto Sans"/>
              </a:rPr>
              <a:t>%</a:t>
            </a:r>
          </a:p>
        </p:txBody>
      </p:sp>
      <p:sp>
        <p:nvSpPr>
          <p:cNvPr id="12" name="KPI 1 Key"/>
          <p:cNvSpPr>
            <a:spLocks noGrp="1"/>
          </p:cNvSpPr>
          <p:nvPr>
            <p:ph type="body" idx="22"/>
          </p:nvPr>
        </p:nvSpPr>
        <p:spPr>
          <a:xfrm>
            <a:off x="6350000" y="4800600"/>
            <a:ext cx="2476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2D3A52"/>
                </a:solidFill>
                <a:latin typeface="Noto Sans Mono"/>
              </a:rPr>
              <a:t>ACTIVE TIME / WEEK</a:t>
            </a:r>
          </a:p>
        </p:txBody>
      </p:sp>
      <p:sp>
        <p:nvSpPr>
          <p:cNvPr id="13" name="KPI 1 Delta"/>
          <p:cNvSpPr>
            <a:spLocks noGrp="1"/>
          </p:cNvSpPr>
          <p:nvPr>
            <p:ph type="body" idx="23"/>
          </p:nvPr>
        </p:nvSpPr>
        <p:spPr>
          <a:xfrm>
            <a:off x="6350000" y="5003800"/>
            <a:ext cx="2476500" cy="1651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8A6F2E"/>
                </a:solidFill>
                <a:latin typeface="Noto Sans Mono"/>
              </a:rPr>
              <a:t>vs. prior platform</a:t>
            </a:r>
          </a:p>
        </p:txBody>
      </p:sp>
      <p:sp>
        <p:nvSpPr>
          <p:cNvPr id="14" name="KPI 2 Value"/>
          <p:cNvSpPr>
            <a:spLocks noGrp="1"/>
          </p:cNvSpPr>
          <p:nvPr>
            <p:ph type="body" idx="24"/>
          </p:nvPr>
        </p:nvSpPr>
        <p:spPr>
          <a:xfrm>
            <a:off x="9080500" y="3810000"/>
            <a:ext cx="1841500" cy="889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6000" spc="-180">
                <a:solidFill>
                  <a:srgbClr val="0B1A33"/>
                </a:solidFill>
                <a:latin typeface="Noto Sans Light"/>
              </a:rPr>
              <a:t>2.3</a:t>
            </a:r>
          </a:p>
        </p:txBody>
      </p:sp>
      <p:sp>
        <p:nvSpPr>
          <p:cNvPr id="15" name="KPI 2 Unit"/>
          <p:cNvSpPr>
            <a:spLocks noGrp="1"/>
          </p:cNvSpPr>
          <p:nvPr>
            <p:ph type="body" idx="25"/>
          </p:nvPr>
        </p:nvSpPr>
        <p:spPr>
          <a:xfrm>
            <a:off x="10922000" y="3810000"/>
            <a:ext cx="635000" cy="889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2000">
                <a:solidFill>
                  <a:srgbClr val="2D3A52"/>
                </a:solidFill>
                <a:latin typeface="Noto Sans"/>
              </a:rPr>
              <a:t>×</a:t>
            </a:r>
          </a:p>
        </p:txBody>
      </p:sp>
      <p:sp>
        <p:nvSpPr>
          <p:cNvPr id="16" name="KPI 2 Key"/>
          <p:cNvSpPr>
            <a:spLocks noGrp="1"/>
          </p:cNvSpPr>
          <p:nvPr>
            <p:ph type="body" idx="26"/>
          </p:nvPr>
        </p:nvSpPr>
        <p:spPr>
          <a:xfrm>
            <a:off x="9080500" y="4800600"/>
            <a:ext cx="2476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2D3A52"/>
                </a:solidFill>
                <a:latin typeface="Noto Sans Mono"/>
              </a:rPr>
              <a:t>APP OPEN RATE</a:t>
            </a:r>
          </a:p>
        </p:txBody>
      </p:sp>
      <p:sp>
        <p:nvSpPr>
          <p:cNvPr id="17" name="KPI 2 Delta"/>
          <p:cNvSpPr>
            <a:spLocks noGrp="1"/>
          </p:cNvSpPr>
          <p:nvPr>
            <p:ph type="body" idx="27"/>
          </p:nvPr>
        </p:nvSpPr>
        <p:spPr>
          <a:xfrm>
            <a:off x="9080500" y="5003800"/>
            <a:ext cx="2476500" cy="1651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8A6F2E"/>
                </a:solidFill>
                <a:latin typeface="Noto Sans Mono"/>
              </a:rPr>
              <a:t>trailing 30 days</a:t>
            </a:r>
          </a:p>
        </p:txBody>
      </p:sp>
      <p:sp>
        <p:nvSpPr>
          <p:cNvPr id="18" name="Source"/>
          <p:cNvSpPr>
            <a:spLocks noGrp="1"/>
          </p:cNvSpPr>
          <p:nvPr>
            <p:ph type="body" idx="60"/>
          </p:nvPr>
        </p:nvSpPr>
        <p:spPr>
          <a:xfrm>
            <a:off x="635000" y="62865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2D3A52"/>
                </a:solidFill>
                <a:latin typeface="Noto Sans Mono"/>
              </a:rPr>
              <a:t>SOURCE · PLATFORM TELEMETRY, JUN–DEC 2025 · N = 142K ACCOUNTS</a:t>
            </a: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Horizontal Bullets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75640" y="426720"/>
            <a:ext cx="121920" cy="162560"/>
          </a:xfrm>
          <a:custGeom>
            <a:avLst/>
            <a:gdLst/>
            <a:ahLst/>
            <a:cxnLst/>
            <a:rect l="l" t="t" r="r" b="b"/>
            <a:pathLst>
              <a:path w="121920" h="162560">
                <a:moveTo>
                  <a:pt x="60960" y="0"/>
                </a:moveTo>
                <a:lnTo>
                  <a:pt x="20320" y="66040"/>
                </a:lnTo>
                <a:lnTo>
                  <a:pt x="0" y="86360"/>
                </a:lnTo>
                <a:lnTo>
                  <a:pt x="60960" y="162560"/>
                </a:lnTo>
                <a:lnTo>
                  <a:pt x="121920" y="86360"/>
                </a:lnTo>
                <a:lnTo>
                  <a:pt x="101600" y="66040"/>
                </a:lnTo>
                <a:close/>
              </a:path>
            </a:pathLst>
          </a:custGeom>
          <a:solidFill>
            <a:srgbClr val="0B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01700" y="4318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62" b="0">
                <a:solidFill>
                  <a:srgbClr val="0B1A33"/>
                </a:solidFill>
                <a:latin typeface="Noto Sans Medium"/>
              </a:rPr>
              <a:t>FEINSCHLIFF.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90">
                <a:solidFill>
                  <a:srgbClr val="0B1A33"/>
                </a:solidFill>
                <a:latin typeface="Noto Sans Mono"/>
              </a:rPr>
              <a:t>HORIZONTAL BULLETS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0B1A33"/>
                </a:solidFill>
                <a:latin typeface="Noto Sa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0B1A33"/>
                </a:solidFill>
                <a:latin typeface="Noto Sa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0B1A33"/>
                </a:solidFill>
                <a:latin typeface="Noto Sa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0B1A33"/>
                </a:solidFill>
                <a:latin typeface="Noto Sans Mono"/>
              </a:rPr>
              <a:t>CONTEXT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0B1A33"/>
                </a:solidFill>
                <a:latin typeface="Noto Sans"/>
              </a:rPr>
              <a:t>Three forces pull the 2026 roadmap: regulation, margin, and shared software.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03700" y="2895600"/>
            <a:ext cx="6350" cy="396240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969250" y="2895600"/>
            <a:ext cx="6350" cy="396240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Col1 Counter"/>
          <p:cNvSpPr>
            <a:spLocks noGrp="1"/>
          </p:cNvSpPr>
          <p:nvPr>
            <p:ph type="body" idx="20"/>
          </p:nvPr>
        </p:nvSpPr>
        <p:spPr>
          <a:xfrm>
            <a:off x="635000" y="2921000"/>
            <a:ext cx="338455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9A24A"/>
                </a:solidFill>
                <a:latin typeface="Noto Sans Mono"/>
              </a:rPr>
              <a:t>01 · REGULATION</a:t>
            </a:r>
          </a:p>
        </p:txBody>
      </p:sp>
      <p:sp>
        <p:nvSpPr>
          <p:cNvPr id="13" name="Col1 Heading"/>
          <p:cNvSpPr>
            <a:spLocks noGrp="1"/>
          </p:cNvSpPr>
          <p:nvPr>
            <p:ph type="body" idx="21"/>
          </p:nvPr>
        </p:nvSpPr>
        <p:spPr>
          <a:xfrm>
            <a:off x="635000" y="3251200"/>
            <a:ext cx="3384550" cy="8255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00" spc="-22">
                <a:solidFill>
                  <a:srgbClr val="0B1A33"/>
                </a:solidFill>
                <a:latin typeface="Noto Sans Medium"/>
              </a:rPr>
              <a:t>Energy and repair rules are tightening across EMEA.</a:t>
            </a:r>
          </a:p>
        </p:txBody>
      </p:sp>
      <p:sp>
        <p:nvSpPr>
          <p:cNvPr id="14" name="Col1 Bullets"/>
          <p:cNvSpPr>
            <a:spLocks noGrp="1"/>
          </p:cNvSpPr>
          <p:nvPr>
            <p:ph type="body" idx="22"/>
          </p:nvPr>
        </p:nvSpPr>
        <p:spPr>
          <a:xfrm>
            <a:off x="635000" y="4191000"/>
            <a:ext cx="3384550" cy="2667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•  EU Ecodesign 2027 raises minimum efficiency one full class.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•  Right-to-repair mandates in DE, FR, NL by end of 2026.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•  Refrigerant phase-down accelerates for commercial lines.</a:t>
            </a:r>
          </a:p>
        </p:txBody>
      </p:sp>
      <p:sp>
        <p:nvSpPr>
          <p:cNvPr id="15" name="Col2 Counter"/>
          <p:cNvSpPr>
            <a:spLocks noGrp="1"/>
          </p:cNvSpPr>
          <p:nvPr>
            <p:ph type="body" idx="24"/>
          </p:nvPr>
        </p:nvSpPr>
        <p:spPr>
          <a:xfrm>
            <a:off x="4400550" y="2921000"/>
            <a:ext cx="338455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9A24A"/>
                </a:solidFill>
                <a:latin typeface="Noto Sans Mono"/>
              </a:rPr>
              <a:t>02 · MARGIN</a:t>
            </a:r>
          </a:p>
        </p:txBody>
      </p:sp>
      <p:sp>
        <p:nvSpPr>
          <p:cNvPr id="16" name="Col2 Heading"/>
          <p:cNvSpPr>
            <a:spLocks noGrp="1"/>
          </p:cNvSpPr>
          <p:nvPr>
            <p:ph type="body" idx="25"/>
          </p:nvPr>
        </p:nvSpPr>
        <p:spPr>
          <a:xfrm>
            <a:off x="4400550" y="3251200"/>
            <a:ext cx="3384550" cy="8255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00" spc="-22">
                <a:solidFill>
                  <a:srgbClr val="0B1A33"/>
                </a:solidFill>
                <a:latin typeface="Noto Sans Medium"/>
              </a:rPr>
              <a:t>Component cost is stable but service cost is climbing.</a:t>
            </a:r>
          </a:p>
        </p:txBody>
      </p:sp>
      <p:sp>
        <p:nvSpPr>
          <p:cNvPr id="17" name="Col2 Bullets"/>
          <p:cNvSpPr>
            <a:spLocks noGrp="1"/>
          </p:cNvSpPr>
          <p:nvPr>
            <p:ph type="body" idx="26"/>
          </p:nvPr>
        </p:nvSpPr>
        <p:spPr>
          <a:xfrm>
            <a:off x="4400550" y="4191000"/>
            <a:ext cx="3384550" cy="2667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•  Field-service visits up 7% YoY on premium products.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•  Warranty reserve exceeds plan in 3 of 5 product lines.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•  Remote-diagnosis deflection saves an average 38 EUR / visit.</a:t>
            </a:r>
          </a:p>
        </p:txBody>
      </p:sp>
      <p:sp>
        <p:nvSpPr>
          <p:cNvPr id="18" name="Col3 Counter"/>
          <p:cNvSpPr>
            <a:spLocks noGrp="1"/>
          </p:cNvSpPr>
          <p:nvPr>
            <p:ph type="body" idx="28"/>
          </p:nvPr>
        </p:nvSpPr>
        <p:spPr>
          <a:xfrm>
            <a:off x="8166100" y="2921000"/>
            <a:ext cx="338455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9A24A"/>
                </a:solidFill>
                <a:latin typeface="Noto Sans Mono"/>
              </a:rPr>
              <a:t>03 · PLATFORM</a:t>
            </a:r>
          </a:p>
        </p:txBody>
      </p:sp>
      <p:sp>
        <p:nvSpPr>
          <p:cNvPr id="19" name="Col3 Heading"/>
          <p:cNvSpPr>
            <a:spLocks noGrp="1"/>
          </p:cNvSpPr>
          <p:nvPr>
            <p:ph type="body" idx="29"/>
          </p:nvPr>
        </p:nvSpPr>
        <p:spPr>
          <a:xfrm>
            <a:off x="8166100" y="3251200"/>
            <a:ext cx="3384550" cy="8255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00" spc="-22">
                <a:solidFill>
                  <a:srgbClr val="0B1A33"/>
                </a:solidFill>
                <a:latin typeface="Noto Sans Medium"/>
              </a:rPr>
              <a:t>The platform is becoming the product, not an add-on.</a:t>
            </a:r>
          </a:p>
        </p:txBody>
      </p:sp>
      <p:sp>
        <p:nvSpPr>
          <p:cNvPr id="20" name="Col3 Bullets"/>
          <p:cNvSpPr>
            <a:spLocks noGrp="1"/>
          </p:cNvSpPr>
          <p:nvPr>
            <p:ph type="body" idx="30"/>
          </p:nvPr>
        </p:nvSpPr>
        <p:spPr>
          <a:xfrm>
            <a:off x="8166100" y="4191000"/>
            <a:ext cx="3384550" cy="2667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•  New SKUs must ship with the platform from day one.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•  One update path cuts firmware maintenance headcount 22%.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•  Shared telemetry unlocks usage-driven feature priority.</a:t>
            </a:r>
          </a:p>
        </p:txBody>
      </p:sp>
      <p:sp>
        <p:nvSpPr>
          <p:cNvPr id="21" name="Source"/>
          <p:cNvSpPr>
            <a:spLocks noGrp="1"/>
          </p:cNvSpPr>
          <p:nvPr>
            <p:ph type="body" idx="60"/>
          </p:nvPr>
        </p:nvSpPr>
        <p:spPr>
          <a:xfrm>
            <a:off x="635000" y="6350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2D3A52"/>
                </a:solidFill>
                <a:latin typeface="Noto Sans Mono"/>
              </a:rPr>
              <a:t>SOURCE · STRATEGY REVIEW, Q4 2025</a:t>
            </a: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Vertical Bullets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75640" y="426720"/>
            <a:ext cx="121920" cy="162560"/>
          </a:xfrm>
          <a:custGeom>
            <a:avLst/>
            <a:gdLst/>
            <a:ahLst/>
            <a:cxnLst/>
            <a:rect l="l" t="t" r="r" b="b"/>
            <a:pathLst>
              <a:path w="121920" h="162560">
                <a:moveTo>
                  <a:pt x="60960" y="0"/>
                </a:moveTo>
                <a:lnTo>
                  <a:pt x="20320" y="66040"/>
                </a:lnTo>
                <a:lnTo>
                  <a:pt x="0" y="86360"/>
                </a:lnTo>
                <a:lnTo>
                  <a:pt x="60960" y="162560"/>
                </a:lnTo>
                <a:lnTo>
                  <a:pt x="121920" y="86360"/>
                </a:lnTo>
                <a:lnTo>
                  <a:pt x="101600" y="66040"/>
                </a:lnTo>
                <a:close/>
              </a:path>
            </a:pathLst>
          </a:custGeom>
          <a:solidFill>
            <a:srgbClr val="0B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01700" y="4318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62" b="0">
                <a:solidFill>
                  <a:srgbClr val="0B1A33"/>
                </a:solidFill>
                <a:latin typeface="Noto Sans Medium"/>
              </a:rPr>
              <a:t>FEINSCHLIFF.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90">
                <a:solidFill>
                  <a:srgbClr val="0B1A33"/>
                </a:solidFill>
                <a:latin typeface="Noto Sans Mono"/>
              </a:rPr>
              <a:t>VERTICAL BULLETS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0B1A33"/>
                </a:solidFill>
                <a:latin typeface="Noto Sa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0B1A33"/>
                </a:solidFill>
                <a:latin typeface="Noto Sa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0B1A33"/>
                </a:solidFill>
                <a:latin typeface="Noto Sa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889000"/>
            <a:ext cx="508000" cy="254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143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0B1A33"/>
                </a:solidFill>
                <a:latin typeface="Noto Sans Mono"/>
              </a:rPr>
              <a:t>PLAN OF RECORD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1397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0B1A33"/>
                </a:solidFill>
                <a:latin typeface="Noto Sans"/>
              </a:rPr>
              <a:t>Five moves define the first half: consolidate, instrument, retire, pilot, publish.</a:t>
            </a:r>
          </a:p>
        </p:txBody>
      </p:sp>
      <p:sp>
        <p:nvSpPr>
          <p:cNvPr id="10" name="Lede"/>
          <p:cNvSpPr>
            <a:spLocks noGrp="1"/>
          </p:cNvSpPr>
          <p:nvPr>
            <p:ph type="body" idx="11"/>
          </p:nvPr>
        </p:nvSpPr>
        <p:spPr>
          <a:xfrm>
            <a:off x="635000" y="2286000"/>
            <a:ext cx="109220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300">
                <a:solidFill>
                  <a:srgbClr val="2D3A52"/>
                </a:solidFill>
                <a:latin typeface="Noto Sans"/>
              </a:rPr>
              <a:t>Each move is owned by a single VP and reviewed at the monthly operating meeting — progress is measured against a metric, not an output.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5000" y="2984500"/>
            <a:ext cx="10922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w 1 Counter"/>
          <p:cNvSpPr>
            <a:spLocks noGrp="1"/>
          </p:cNvSpPr>
          <p:nvPr>
            <p:ph type="body" idx="20"/>
          </p:nvPr>
        </p:nvSpPr>
        <p:spPr>
          <a:xfrm>
            <a:off x="635000" y="3162300"/>
            <a:ext cx="88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72">
                <a:solidFill>
                  <a:srgbClr val="C9A24A"/>
                </a:solidFill>
                <a:latin typeface="Noto Sans Mono"/>
              </a:rPr>
              <a:t>01 / 06</a:t>
            </a:r>
          </a:p>
        </p:txBody>
      </p:sp>
      <p:sp>
        <p:nvSpPr>
          <p:cNvPr id="13" name="Row 1 Heading"/>
          <p:cNvSpPr>
            <a:spLocks noGrp="1"/>
          </p:cNvSpPr>
          <p:nvPr>
            <p:ph type="body" idx="21"/>
          </p:nvPr>
        </p:nvSpPr>
        <p:spPr>
          <a:xfrm>
            <a:off x="1676400" y="3124200"/>
            <a:ext cx="2667000" cy="304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4">
                <a:solidFill>
                  <a:srgbClr val="0B1A33"/>
                </a:solidFill>
                <a:latin typeface="Noto Sans Medium"/>
              </a:rPr>
              <a:t>Consolidate the firmware stack.</a:t>
            </a:r>
          </a:p>
        </p:txBody>
      </p:sp>
      <p:sp>
        <p:nvSpPr>
          <p:cNvPr id="14" name="Row 1 Body"/>
          <p:cNvSpPr>
            <a:spLocks noGrp="1"/>
          </p:cNvSpPr>
          <p:nvPr>
            <p:ph type="body" idx="22"/>
          </p:nvPr>
        </p:nvSpPr>
        <p:spPr>
          <a:xfrm>
            <a:off x="4495800" y="3149600"/>
            <a:ext cx="7061200" cy="4381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2D3A52"/>
                </a:solidFill>
                <a:latin typeface="Noto Sans"/>
              </a:rPr>
              <a:t>Move the remaining three product lines onto the unified OS core by end of Q2.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5000" y="3524250"/>
            <a:ext cx="10922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w 2 Counter"/>
          <p:cNvSpPr>
            <a:spLocks noGrp="1"/>
          </p:cNvSpPr>
          <p:nvPr>
            <p:ph type="body" idx="23"/>
          </p:nvPr>
        </p:nvSpPr>
        <p:spPr>
          <a:xfrm>
            <a:off x="635000" y="3702050"/>
            <a:ext cx="88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72">
                <a:solidFill>
                  <a:srgbClr val="C9A24A"/>
                </a:solidFill>
                <a:latin typeface="Noto Sans Mono"/>
              </a:rPr>
              <a:t>02 / 06</a:t>
            </a:r>
          </a:p>
        </p:txBody>
      </p:sp>
      <p:sp>
        <p:nvSpPr>
          <p:cNvPr id="17" name="Row 2 Heading"/>
          <p:cNvSpPr>
            <a:spLocks noGrp="1"/>
          </p:cNvSpPr>
          <p:nvPr>
            <p:ph type="body" idx="24"/>
          </p:nvPr>
        </p:nvSpPr>
        <p:spPr>
          <a:xfrm>
            <a:off x="1676400" y="3663950"/>
            <a:ext cx="2667000" cy="304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4">
                <a:solidFill>
                  <a:srgbClr val="0B1A33"/>
                </a:solidFill>
                <a:latin typeface="Noto Sans Medium"/>
              </a:rPr>
              <a:t>Instrument every SKU.</a:t>
            </a:r>
          </a:p>
        </p:txBody>
      </p:sp>
      <p:sp>
        <p:nvSpPr>
          <p:cNvPr id="18" name="Row 2 Body"/>
          <p:cNvSpPr>
            <a:spLocks noGrp="1"/>
          </p:cNvSpPr>
          <p:nvPr>
            <p:ph type="body" idx="25"/>
          </p:nvPr>
        </p:nvSpPr>
        <p:spPr>
          <a:xfrm>
            <a:off x="4495800" y="3689350"/>
            <a:ext cx="7061200" cy="4381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2D3A52"/>
                </a:solidFill>
                <a:latin typeface="Noto Sans"/>
              </a:rPr>
              <a:t>Every production unit leaving the factory reports health and usage by default.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35000" y="4064000"/>
            <a:ext cx="10922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w 3 Counter"/>
          <p:cNvSpPr>
            <a:spLocks noGrp="1"/>
          </p:cNvSpPr>
          <p:nvPr>
            <p:ph type="body" idx="26"/>
          </p:nvPr>
        </p:nvSpPr>
        <p:spPr>
          <a:xfrm>
            <a:off x="635000" y="4241800"/>
            <a:ext cx="88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72">
                <a:solidFill>
                  <a:srgbClr val="C9A24A"/>
                </a:solidFill>
                <a:latin typeface="Noto Sans Mono"/>
              </a:rPr>
              <a:t>03 / 06</a:t>
            </a:r>
          </a:p>
        </p:txBody>
      </p:sp>
      <p:sp>
        <p:nvSpPr>
          <p:cNvPr id="21" name="Row 3 Heading"/>
          <p:cNvSpPr>
            <a:spLocks noGrp="1"/>
          </p:cNvSpPr>
          <p:nvPr>
            <p:ph type="body" idx="27"/>
          </p:nvPr>
        </p:nvSpPr>
        <p:spPr>
          <a:xfrm>
            <a:off x="1676400" y="4203700"/>
            <a:ext cx="2667000" cy="304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4">
                <a:solidFill>
                  <a:srgbClr val="0B1A33"/>
                </a:solidFill>
                <a:latin typeface="Noto Sans Medium"/>
              </a:rPr>
              <a:t>Retire the legacy app.</a:t>
            </a:r>
          </a:p>
        </p:txBody>
      </p:sp>
      <p:sp>
        <p:nvSpPr>
          <p:cNvPr id="22" name="Row 3 Body"/>
          <p:cNvSpPr>
            <a:spLocks noGrp="1"/>
          </p:cNvSpPr>
          <p:nvPr>
            <p:ph type="body" idx="28"/>
          </p:nvPr>
        </p:nvSpPr>
        <p:spPr>
          <a:xfrm>
            <a:off x="4495800" y="4229100"/>
            <a:ext cx="7061200" cy="4381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2D3A52"/>
                </a:solidFill>
                <a:latin typeface="Noto Sans"/>
              </a:rPr>
              <a:t>Archive the legacy companion app once the new platform reaches 70% coverage.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35000" y="4603750"/>
            <a:ext cx="10922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w 4 Counter"/>
          <p:cNvSpPr>
            <a:spLocks noGrp="1"/>
          </p:cNvSpPr>
          <p:nvPr>
            <p:ph type="body" idx="29"/>
          </p:nvPr>
        </p:nvSpPr>
        <p:spPr>
          <a:xfrm>
            <a:off x="635000" y="4781550"/>
            <a:ext cx="88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72">
                <a:solidFill>
                  <a:srgbClr val="C9A24A"/>
                </a:solidFill>
                <a:latin typeface="Noto Sans Mono"/>
              </a:rPr>
              <a:t>04 / 06</a:t>
            </a:r>
          </a:p>
        </p:txBody>
      </p:sp>
      <p:sp>
        <p:nvSpPr>
          <p:cNvPr id="25" name="Row 4 Heading"/>
          <p:cNvSpPr>
            <a:spLocks noGrp="1"/>
          </p:cNvSpPr>
          <p:nvPr>
            <p:ph type="body" idx="30"/>
          </p:nvPr>
        </p:nvSpPr>
        <p:spPr>
          <a:xfrm>
            <a:off x="1676400" y="4743450"/>
            <a:ext cx="2667000" cy="304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4">
                <a:solidFill>
                  <a:srgbClr val="0B1A33"/>
                </a:solidFill>
                <a:latin typeface="Noto Sans Medium"/>
              </a:rPr>
              <a:t>Pilot guided sessions.</a:t>
            </a:r>
          </a:p>
        </p:txBody>
      </p:sp>
      <p:sp>
        <p:nvSpPr>
          <p:cNvPr id="26" name="Row 4 Body"/>
          <p:cNvSpPr>
            <a:spLocks noGrp="1"/>
          </p:cNvSpPr>
          <p:nvPr>
            <p:ph type="body" idx="31"/>
          </p:nvPr>
        </p:nvSpPr>
        <p:spPr>
          <a:xfrm>
            <a:off x="4495800" y="4768850"/>
            <a:ext cx="7061200" cy="4381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2D3A52"/>
                </a:solidFill>
                <a:latin typeface="Noto Sans"/>
              </a:rPr>
              <a:t>Run a two-thousand-customer test of the adaptive programme across three regions.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35000" y="5143500"/>
            <a:ext cx="10922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w 5 Counter"/>
          <p:cNvSpPr>
            <a:spLocks noGrp="1"/>
          </p:cNvSpPr>
          <p:nvPr>
            <p:ph type="body" idx="32"/>
          </p:nvPr>
        </p:nvSpPr>
        <p:spPr>
          <a:xfrm>
            <a:off x="635000" y="5321300"/>
            <a:ext cx="88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72">
                <a:solidFill>
                  <a:srgbClr val="C9A24A"/>
                </a:solidFill>
                <a:latin typeface="Noto Sans Mono"/>
              </a:rPr>
              <a:t>05 / 06</a:t>
            </a:r>
          </a:p>
        </p:txBody>
      </p:sp>
      <p:sp>
        <p:nvSpPr>
          <p:cNvPr id="29" name="Row 5 Heading"/>
          <p:cNvSpPr>
            <a:spLocks noGrp="1"/>
          </p:cNvSpPr>
          <p:nvPr>
            <p:ph type="body" idx="33"/>
          </p:nvPr>
        </p:nvSpPr>
        <p:spPr>
          <a:xfrm>
            <a:off x="1676400" y="5283200"/>
            <a:ext cx="2667000" cy="304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4">
                <a:solidFill>
                  <a:srgbClr val="0B1A33"/>
                </a:solidFill>
                <a:latin typeface="Noto Sans Medium"/>
              </a:rPr>
              <a:t>Publish the API.</a:t>
            </a:r>
          </a:p>
        </p:txBody>
      </p:sp>
      <p:sp>
        <p:nvSpPr>
          <p:cNvPr id="30" name="Row 5 Body"/>
          <p:cNvSpPr>
            <a:spLocks noGrp="1"/>
          </p:cNvSpPr>
          <p:nvPr>
            <p:ph type="body" idx="34"/>
          </p:nvPr>
        </p:nvSpPr>
        <p:spPr>
          <a:xfrm>
            <a:off x="4495800" y="5308600"/>
            <a:ext cx="7061200" cy="4381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2D3A52"/>
                </a:solidFill>
                <a:latin typeface="Noto Sans"/>
              </a:rPr>
              <a:t>Open the developer preview to partners at the end of H1.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35000" y="5683250"/>
            <a:ext cx="10922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w 6 Counter"/>
          <p:cNvSpPr>
            <a:spLocks noGrp="1"/>
          </p:cNvSpPr>
          <p:nvPr>
            <p:ph type="body" idx="35"/>
          </p:nvPr>
        </p:nvSpPr>
        <p:spPr>
          <a:xfrm>
            <a:off x="635000" y="5861050"/>
            <a:ext cx="88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72">
                <a:solidFill>
                  <a:srgbClr val="C9A24A"/>
                </a:solidFill>
                <a:latin typeface="Noto Sans Mono"/>
              </a:rPr>
              <a:t>06 / 06</a:t>
            </a:r>
          </a:p>
        </p:txBody>
      </p:sp>
      <p:sp>
        <p:nvSpPr>
          <p:cNvPr id="33" name="Row 6 Heading"/>
          <p:cNvSpPr>
            <a:spLocks noGrp="1"/>
          </p:cNvSpPr>
          <p:nvPr>
            <p:ph type="body" idx="36"/>
          </p:nvPr>
        </p:nvSpPr>
        <p:spPr>
          <a:xfrm>
            <a:off x="1676400" y="5822950"/>
            <a:ext cx="2667000" cy="304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4">
                <a:solidFill>
                  <a:srgbClr val="0B1A33"/>
                </a:solidFill>
                <a:latin typeface="Noto Sans Medium"/>
              </a:rPr>
              <a:t>Review monthly.</a:t>
            </a:r>
          </a:p>
        </p:txBody>
      </p:sp>
      <p:sp>
        <p:nvSpPr>
          <p:cNvPr id="34" name="Row 6 Body"/>
          <p:cNvSpPr>
            <a:spLocks noGrp="1"/>
          </p:cNvSpPr>
          <p:nvPr>
            <p:ph type="body" idx="37"/>
          </p:nvPr>
        </p:nvSpPr>
        <p:spPr>
          <a:xfrm>
            <a:off x="4495800" y="5848350"/>
            <a:ext cx="7061200" cy="4381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2D3A52"/>
                </a:solidFill>
                <a:latin typeface="Noto Sans"/>
              </a:rPr>
              <a:t>Each move is owned by one VP and reviewed at the monthly operating meeting.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35000" y="6223000"/>
            <a:ext cx="10922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Supporting Note"/>
          <p:cNvSpPr>
            <a:spLocks noGrp="1"/>
          </p:cNvSpPr>
          <p:nvPr>
            <p:ph type="body" idx="12"/>
          </p:nvPr>
        </p:nvSpPr>
        <p:spPr>
          <a:xfrm>
            <a:off x="635000" y="64135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2D3A52"/>
                </a:solidFill>
                <a:latin typeface="Noto Sans Mono"/>
              </a:rPr>
              <a:t>WORK THAT DOES NOT SUPPORT ONE OF THESE MOVES IS EXPLICITLY DESCOPED, NOT PAUSED.</a:t>
            </a: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2×2 Matrix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75640" y="426720"/>
            <a:ext cx="121920" cy="162560"/>
          </a:xfrm>
          <a:custGeom>
            <a:avLst/>
            <a:gdLst/>
            <a:ahLst/>
            <a:cxnLst/>
            <a:rect l="l" t="t" r="r" b="b"/>
            <a:pathLst>
              <a:path w="121920" h="162560">
                <a:moveTo>
                  <a:pt x="60960" y="0"/>
                </a:moveTo>
                <a:lnTo>
                  <a:pt x="20320" y="66040"/>
                </a:lnTo>
                <a:lnTo>
                  <a:pt x="0" y="86360"/>
                </a:lnTo>
                <a:lnTo>
                  <a:pt x="60960" y="162560"/>
                </a:lnTo>
                <a:lnTo>
                  <a:pt x="121920" y="86360"/>
                </a:lnTo>
                <a:lnTo>
                  <a:pt x="101600" y="66040"/>
                </a:lnTo>
                <a:close/>
              </a:path>
            </a:pathLst>
          </a:custGeom>
          <a:solidFill>
            <a:srgbClr val="0B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01700" y="4318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62" b="0">
                <a:solidFill>
                  <a:srgbClr val="0B1A33"/>
                </a:solidFill>
                <a:latin typeface="Noto Sans Medium"/>
              </a:rPr>
              <a:t>FEINSCHLIFF.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90">
                <a:solidFill>
                  <a:srgbClr val="0B1A33"/>
                </a:solidFill>
                <a:latin typeface="Noto Sans Mono"/>
              </a:rPr>
              <a:t>2×2 MATRIX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0B1A33"/>
                </a:solidFill>
                <a:latin typeface="Noto Sa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0B1A33"/>
                </a:solidFill>
                <a:latin typeface="Noto Sa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0B1A33"/>
                </a:solidFill>
                <a:latin typeface="Noto Sa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0B1A33"/>
                </a:solidFill>
                <a:latin typeface="Noto Sans Mono"/>
              </a:rPr>
              <a:t>PRIORITISATION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0B1A33"/>
                </a:solidFill>
                <a:latin typeface="Noto Sans"/>
              </a:rPr>
              <a:t>Invest in the top-right quadrant first: high impact, low lift.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1778000" y="2984500"/>
            <a:ext cx="4318000" cy="17145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086475" y="2984500"/>
            <a:ext cx="19050" cy="3429000"/>
          </a:xfrm>
          <a:prstGeom prst="rect">
            <a:avLst/>
          </a:prstGeom>
          <a:solidFill>
            <a:srgbClr val="2D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778000" y="4689475"/>
            <a:ext cx="8636000" cy="19050"/>
          </a:xfrm>
          <a:prstGeom prst="rect">
            <a:avLst/>
          </a:prstGeom>
          <a:solidFill>
            <a:srgbClr val="2D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765300" y="2984500"/>
            <a:ext cx="12700" cy="3441700"/>
          </a:xfrm>
          <a:prstGeom prst="rect">
            <a:avLst/>
          </a:prstGeom>
          <a:solidFill>
            <a:srgbClr val="2D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765300" y="6413500"/>
            <a:ext cx="8648700" cy="12700"/>
          </a:xfrm>
          <a:prstGeom prst="rect">
            <a:avLst/>
          </a:prstGeom>
          <a:solidFill>
            <a:srgbClr val="2D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Isosceles Triangle 14"/>
          <p:cNvSpPr/>
          <p:nvPr/>
        </p:nvSpPr>
        <p:spPr>
          <a:xfrm>
            <a:off x="1701800" y="2857500"/>
            <a:ext cx="127000" cy="127000"/>
          </a:xfrm>
          <a:prstGeom prst="triangle">
            <a:avLst/>
          </a:prstGeom>
          <a:solidFill>
            <a:srgbClr val="2D3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ight Triangle 15"/>
          <p:cNvSpPr/>
          <p:nvPr/>
        </p:nvSpPr>
        <p:spPr>
          <a:xfrm rot="16200000">
            <a:off x="10414000" y="6356350"/>
            <a:ext cx="127000" cy="127000"/>
          </a:xfrm>
          <a:prstGeom prst="rtTriangle">
            <a:avLst/>
          </a:prstGeom>
          <a:solidFill>
            <a:srgbClr val="2D3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778000" y="6527800"/>
            <a:ext cx="5080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98">
                <a:solidFill>
                  <a:srgbClr val="2D3A52"/>
                </a:solidFill>
                <a:latin typeface="Noto Sans Mono"/>
              </a:rPr>
              <a:t>LOW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906000" y="6527800"/>
            <a:ext cx="5080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98">
                <a:solidFill>
                  <a:srgbClr val="2D3A52"/>
                </a:solidFill>
                <a:latin typeface="Noto Sans Mono"/>
              </a:rPr>
              <a:t>HIGH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55700" y="6273800"/>
            <a:ext cx="5080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98">
                <a:solidFill>
                  <a:srgbClr val="2D3A52"/>
                </a:solidFill>
                <a:latin typeface="Noto Sans Mono"/>
              </a:rPr>
              <a:t>LOW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55700" y="2984500"/>
            <a:ext cx="5080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98">
                <a:solidFill>
                  <a:srgbClr val="2D3A52"/>
                </a:solidFill>
                <a:latin typeface="Noto Sans Mono"/>
              </a:rPr>
              <a:t>HIGH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955800" y="3162300"/>
            <a:ext cx="39624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0B1A33"/>
                </a:solidFill>
                <a:latin typeface="Noto Sans Mono"/>
              </a:rPr>
              <a:t>Q1 · HIGH IMPACT · LOW LIFT</a:t>
            </a:r>
          </a:p>
        </p:txBody>
      </p:sp>
      <p:sp>
        <p:nvSpPr>
          <p:cNvPr id="22" name="Cell1 Label"/>
          <p:cNvSpPr>
            <a:spLocks noGrp="1"/>
          </p:cNvSpPr>
          <p:nvPr>
            <p:ph type="body" idx="20"/>
          </p:nvPr>
        </p:nvSpPr>
        <p:spPr>
          <a:xfrm>
            <a:off x="1955800" y="3365500"/>
            <a:ext cx="39624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6">
                <a:solidFill>
                  <a:srgbClr val="0B1A33"/>
                </a:solidFill>
                <a:latin typeface="Noto Sans Medium"/>
              </a:rPr>
              <a:t>Guided sessions on the flagship line.</a:t>
            </a:r>
          </a:p>
        </p:txBody>
      </p:sp>
      <p:sp>
        <p:nvSpPr>
          <p:cNvPr id="23" name="Cell1 Body"/>
          <p:cNvSpPr>
            <a:spLocks noGrp="1"/>
          </p:cNvSpPr>
          <p:nvPr>
            <p:ph type="body" idx="21"/>
          </p:nvPr>
        </p:nvSpPr>
        <p:spPr>
          <a:xfrm>
            <a:off x="1955800" y="3924300"/>
            <a:ext cx="3962400" cy="711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0B1A33"/>
                </a:solidFill>
                <a:latin typeface="Noto Sans"/>
              </a:rPr>
              <a:t>Ships on existing hardware; telemetry already collected; known user need.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73800" y="3162300"/>
            <a:ext cx="39624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2D3A52"/>
                </a:solidFill>
                <a:latin typeface="Noto Sans Mono"/>
              </a:rPr>
              <a:t>Q2 · HIGH IMPACT · HIGH LIFT</a:t>
            </a:r>
          </a:p>
        </p:txBody>
      </p:sp>
      <p:sp>
        <p:nvSpPr>
          <p:cNvPr id="25" name="Cell2 Label"/>
          <p:cNvSpPr>
            <a:spLocks noGrp="1"/>
          </p:cNvSpPr>
          <p:nvPr>
            <p:ph type="body" idx="24"/>
          </p:nvPr>
        </p:nvSpPr>
        <p:spPr>
          <a:xfrm>
            <a:off x="6273800" y="3365500"/>
            <a:ext cx="39624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6">
                <a:solidFill>
                  <a:srgbClr val="0B1A33"/>
                </a:solidFill>
                <a:latin typeface="Noto Sans Medium"/>
              </a:rPr>
              <a:t>Full remote diagnosis across every product line.</a:t>
            </a:r>
          </a:p>
        </p:txBody>
      </p:sp>
      <p:sp>
        <p:nvSpPr>
          <p:cNvPr id="26" name="Cell2 Body"/>
          <p:cNvSpPr>
            <a:spLocks noGrp="1"/>
          </p:cNvSpPr>
          <p:nvPr>
            <p:ph type="body" idx="25"/>
          </p:nvPr>
        </p:nvSpPr>
        <p:spPr>
          <a:xfrm>
            <a:off x="6273800" y="3924300"/>
            <a:ext cx="3962400" cy="711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2D3A52"/>
                </a:solidFill>
                <a:latin typeface="Noto Sans"/>
              </a:rPr>
              <a:t>Large prize; requires firmware convergence and a new field-service workflow.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955800" y="4876800"/>
            <a:ext cx="39624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2D3A52"/>
                </a:solidFill>
                <a:latin typeface="Noto Sans Mono"/>
              </a:rPr>
              <a:t>Q3 · LOW IMPACT · LOW LIFT</a:t>
            </a:r>
          </a:p>
        </p:txBody>
      </p:sp>
      <p:sp>
        <p:nvSpPr>
          <p:cNvPr id="28" name="Cell3 Label"/>
          <p:cNvSpPr>
            <a:spLocks noGrp="1"/>
          </p:cNvSpPr>
          <p:nvPr>
            <p:ph type="body" idx="28"/>
          </p:nvPr>
        </p:nvSpPr>
        <p:spPr>
          <a:xfrm>
            <a:off x="1955800" y="5080000"/>
            <a:ext cx="39624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6">
                <a:solidFill>
                  <a:srgbClr val="0B1A33"/>
                </a:solidFill>
                <a:latin typeface="Noto Sans Medium"/>
              </a:rPr>
              <a:t>Cosmetic refresh of onboarding.</a:t>
            </a:r>
          </a:p>
        </p:txBody>
      </p:sp>
      <p:sp>
        <p:nvSpPr>
          <p:cNvPr id="29" name="Cell3 Body"/>
          <p:cNvSpPr>
            <a:spLocks noGrp="1"/>
          </p:cNvSpPr>
          <p:nvPr>
            <p:ph type="body" idx="29"/>
          </p:nvPr>
        </p:nvSpPr>
        <p:spPr>
          <a:xfrm>
            <a:off x="1955800" y="5638800"/>
            <a:ext cx="3962400" cy="711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2D3A52"/>
                </a:solidFill>
                <a:latin typeface="Noto Sans"/>
              </a:rPr>
              <a:t>Cheap to do; metrics rarely move meaningfully.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273800" y="4876800"/>
            <a:ext cx="39624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2D3A52"/>
                </a:solidFill>
                <a:latin typeface="Noto Sans Mono"/>
              </a:rPr>
              <a:t>Q4 · LOW IMPACT · HIGH LIFT</a:t>
            </a:r>
          </a:p>
        </p:txBody>
      </p:sp>
      <p:sp>
        <p:nvSpPr>
          <p:cNvPr id="31" name="Cell4 Label"/>
          <p:cNvSpPr>
            <a:spLocks noGrp="1"/>
          </p:cNvSpPr>
          <p:nvPr>
            <p:ph type="body" idx="32"/>
          </p:nvPr>
        </p:nvSpPr>
        <p:spPr>
          <a:xfrm>
            <a:off x="6273800" y="5080000"/>
            <a:ext cx="39624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6">
                <a:solidFill>
                  <a:srgbClr val="0B1A33"/>
                </a:solidFill>
                <a:latin typeface="Noto Sans Medium"/>
              </a:rPr>
              <a:t>Voice control expansion.</a:t>
            </a:r>
          </a:p>
        </p:txBody>
      </p:sp>
      <p:sp>
        <p:nvSpPr>
          <p:cNvPr id="32" name="Cell4 Body"/>
          <p:cNvSpPr>
            <a:spLocks noGrp="1"/>
          </p:cNvSpPr>
          <p:nvPr>
            <p:ph type="body" idx="33"/>
          </p:nvPr>
        </p:nvSpPr>
        <p:spPr>
          <a:xfrm>
            <a:off x="6273800" y="5638800"/>
            <a:ext cx="3962400" cy="711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2D3A52"/>
                </a:solidFill>
                <a:latin typeface="Noto Sans"/>
              </a:rPr>
              <a:t>Significant engineering and QA cost; adoption has plateaued.</a:t>
            </a:r>
          </a:p>
        </p:txBody>
      </p:sp>
      <p:sp>
        <p:nvSpPr>
          <p:cNvPr id="33" name="X Axis Title"/>
          <p:cNvSpPr>
            <a:spLocks noGrp="1"/>
          </p:cNvSpPr>
          <p:nvPr>
            <p:ph type="body" idx="41"/>
          </p:nvPr>
        </p:nvSpPr>
        <p:spPr>
          <a:xfrm>
            <a:off x="1778000" y="6769100"/>
            <a:ext cx="8636000" cy="152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112" cap="all">
                <a:solidFill>
                  <a:srgbClr val="2D3A52"/>
                </a:solidFill>
                <a:latin typeface="Noto Sans Mono"/>
              </a:rPr>
              <a:t>EFFORT TO SHIP</a:t>
            </a:r>
          </a:p>
        </p:txBody>
      </p:sp>
      <p:sp>
        <p:nvSpPr>
          <p:cNvPr id="34" name="Y Axis Title"/>
          <p:cNvSpPr>
            <a:spLocks noGrp="1"/>
          </p:cNvSpPr>
          <p:nvPr>
            <p:ph type="body" idx="42"/>
          </p:nvPr>
        </p:nvSpPr>
        <p:spPr>
          <a:xfrm>
            <a:off x="762000" y="2984500"/>
            <a:ext cx="508000" cy="3429000"/>
          </a:xfrm>
        </p:spPr>
        <p:txBody>
          <a:bodyPr lIns="0" tIns="0" rIns="0" bIns="0" wrap="square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00" spc="112" cap="all">
                <a:solidFill>
                  <a:srgbClr val="2D3A52"/>
                </a:solidFill>
                <a:latin typeface="Noto Sans Mono"/>
              </a:rPr>
              <a:t>I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en-US" sz="800" spc="112" cap="all">
                <a:solidFill>
                  <a:srgbClr val="2D3A52"/>
                </a:solidFill>
                <a:latin typeface="Noto Sans Mono"/>
              </a:rPr>
              <a:t>M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en-US" sz="800" spc="112" cap="all">
                <a:solidFill>
                  <a:srgbClr val="2D3A52"/>
                </a:solidFill>
                <a:latin typeface="Noto Sans Mono"/>
              </a:rPr>
              <a:t>P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en-US" sz="800" spc="112" cap="all">
                <a:solidFill>
                  <a:srgbClr val="2D3A52"/>
                </a:solidFill>
                <a:latin typeface="Noto Sans Mono"/>
              </a:rPr>
              <a:t>A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en-US" sz="800" spc="112" cap="all">
                <a:solidFill>
                  <a:srgbClr val="2D3A52"/>
                </a:solidFill>
                <a:latin typeface="Noto Sans Mono"/>
              </a:rPr>
              <a:t>C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en-US" sz="800" spc="112" cap="all">
                <a:solidFill>
                  <a:srgbClr val="2D3A52"/>
                </a:solidFill>
                <a:latin typeface="Noto Sans Mono"/>
              </a:rPr>
              <a:t>T</a:t>
            </a: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Waterfall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75640" y="426720"/>
            <a:ext cx="121920" cy="162560"/>
          </a:xfrm>
          <a:custGeom>
            <a:avLst/>
            <a:gdLst/>
            <a:ahLst/>
            <a:cxnLst/>
            <a:rect l="l" t="t" r="r" b="b"/>
            <a:pathLst>
              <a:path w="121920" h="162560">
                <a:moveTo>
                  <a:pt x="60960" y="0"/>
                </a:moveTo>
                <a:lnTo>
                  <a:pt x="20320" y="66040"/>
                </a:lnTo>
                <a:lnTo>
                  <a:pt x="0" y="86360"/>
                </a:lnTo>
                <a:lnTo>
                  <a:pt x="60960" y="162560"/>
                </a:lnTo>
                <a:lnTo>
                  <a:pt x="121920" y="86360"/>
                </a:lnTo>
                <a:lnTo>
                  <a:pt x="101600" y="66040"/>
                </a:lnTo>
                <a:close/>
              </a:path>
            </a:pathLst>
          </a:custGeom>
          <a:solidFill>
            <a:srgbClr val="0B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01700" y="4318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62" b="0">
                <a:solidFill>
                  <a:srgbClr val="0B1A33"/>
                </a:solidFill>
                <a:latin typeface="Noto Sans Medium"/>
              </a:rPr>
              <a:t>FEINSCHLIFF.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90">
                <a:solidFill>
                  <a:srgbClr val="0B1A33"/>
                </a:solidFill>
                <a:latin typeface="Noto Sans Mono"/>
              </a:rPr>
              <a:t>WATERFALL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0B1A33"/>
                </a:solidFill>
                <a:latin typeface="Noto Sa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0B1A33"/>
                </a:solidFill>
                <a:latin typeface="Noto Sa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0B1A33"/>
                </a:solidFill>
                <a:latin typeface="Noto Sa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0B1A33"/>
                </a:solidFill>
                <a:latin typeface="Noto Sans Mono"/>
              </a:rPr>
              <a:t>REVENUE BRIDGE · EUR BN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0B1A33"/>
                </a:solidFill>
                <a:latin typeface="Noto Sans"/>
              </a:rPr>
              <a:t>Revenue grows 5.1% YoY; platform and services offset a mild decline in legacy lines.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5000" y="3526626"/>
            <a:ext cx="1429657" cy="2315374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051957" y="3526626"/>
            <a:ext cx="38100" cy="6350"/>
          </a:xfrm>
          <a:prstGeom prst="rect">
            <a:avLst/>
          </a:prstGeom>
          <a:solidFill>
            <a:srgbClr val="2D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115457" y="3526626"/>
            <a:ext cx="38100" cy="6350"/>
          </a:xfrm>
          <a:prstGeom prst="rect">
            <a:avLst/>
          </a:prstGeom>
          <a:solidFill>
            <a:srgbClr val="2D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178957" y="3526626"/>
            <a:ext cx="38100" cy="6350"/>
          </a:xfrm>
          <a:prstGeom prst="rect">
            <a:avLst/>
          </a:prstGeom>
          <a:solidFill>
            <a:srgbClr val="2D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217057" y="3422952"/>
            <a:ext cx="1429657" cy="103673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634014" y="3422952"/>
            <a:ext cx="38100" cy="6350"/>
          </a:xfrm>
          <a:prstGeom prst="rect">
            <a:avLst/>
          </a:prstGeom>
          <a:solidFill>
            <a:srgbClr val="2D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697514" y="3422952"/>
            <a:ext cx="38100" cy="6350"/>
          </a:xfrm>
          <a:prstGeom prst="rect">
            <a:avLst/>
          </a:prstGeom>
          <a:solidFill>
            <a:srgbClr val="2D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761014" y="3422952"/>
            <a:ext cx="38100" cy="6350"/>
          </a:xfrm>
          <a:prstGeom prst="rect">
            <a:avLst/>
          </a:prstGeom>
          <a:solidFill>
            <a:srgbClr val="2D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799114" y="3353837"/>
            <a:ext cx="1429657" cy="69116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216071" y="3353837"/>
            <a:ext cx="38100" cy="6350"/>
          </a:xfrm>
          <a:prstGeom prst="rect">
            <a:avLst/>
          </a:prstGeom>
          <a:solidFill>
            <a:srgbClr val="2D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279571" y="3353837"/>
            <a:ext cx="38100" cy="6350"/>
          </a:xfrm>
          <a:prstGeom prst="rect">
            <a:avLst/>
          </a:prstGeom>
          <a:solidFill>
            <a:srgbClr val="2D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343071" y="3353837"/>
            <a:ext cx="38100" cy="6350"/>
          </a:xfrm>
          <a:prstGeom prst="rect">
            <a:avLst/>
          </a:prstGeom>
          <a:solidFill>
            <a:srgbClr val="2D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381171" y="3302000"/>
            <a:ext cx="1429657" cy="51837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798129" y="3302000"/>
            <a:ext cx="38100" cy="6350"/>
          </a:xfrm>
          <a:prstGeom prst="rect">
            <a:avLst/>
          </a:prstGeom>
          <a:solidFill>
            <a:srgbClr val="2D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861629" y="3302000"/>
            <a:ext cx="38100" cy="6350"/>
          </a:xfrm>
          <a:prstGeom prst="rect">
            <a:avLst/>
          </a:prstGeom>
          <a:solidFill>
            <a:srgbClr val="2D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925129" y="3302000"/>
            <a:ext cx="38100" cy="6350"/>
          </a:xfrm>
          <a:prstGeom prst="rect">
            <a:avLst/>
          </a:prstGeom>
          <a:solidFill>
            <a:srgbClr val="2D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963229" y="3302000"/>
            <a:ext cx="1429657" cy="51837"/>
          </a:xfrm>
          <a:prstGeom prst="rect">
            <a:avLst/>
          </a:prstGeom>
          <a:solidFill>
            <a:srgbClr val="5A64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380186" y="3353837"/>
            <a:ext cx="38100" cy="6350"/>
          </a:xfrm>
          <a:prstGeom prst="rect">
            <a:avLst/>
          </a:prstGeom>
          <a:solidFill>
            <a:srgbClr val="2D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443686" y="3353837"/>
            <a:ext cx="38100" cy="6350"/>
          </a:xfrm>
          <a:prstGeom prst="rect">
            <a:avLst/>
          </a:prstGeom>
          <a:solidFill>
            <a:srgbClr val="2D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507186" y="3353837"/>
            <a:ext cx="38100" cy="6350"/>
          </a:xfrm>
          <a:prstGeom prst="rect">
            <a:avLst/>
          </a:prstGeom>
          <a:solidFill>
            <a:srgbClr val="2D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545286" y="3353837"/>
            <a:ext cx="1429657" cy="34558"/>
          </a:xfrm>
          <a:prstGeom prst="rect">
            <a:avLst/>
          </a:prstGeom>
          <a:solidFill>
            <a:srgbClr val="5A64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9962243" y="3388395"/>
            <a:ext cx="38100" cy="6350"/>
          </a:xfrm>
          <a:prstGeom prst="rect">
            <a:avLst/>
          </a:prstGeom>
          <a:solidFill>
            <a:srgbClr val="2D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10025743" y="3388395"/>
            <a:ext cx="38100" cy="6350"/>
          </a:xfrm>
          <a:prstGeom prst="rect">
            <a:avLst/>
          </a:prstGeom>
          <a:solidFill>
            <a:srgbClr val="2D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10089243" y="3388395"/>
            <a:ext cx="38100" cy="6350"/>
          </a:xfrm>
          <a:prstGeom prst="rect">
            <a:avLst/>
          </a:prstGeom>
          <a:solidFill>
            <a:srgbClr val="2D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10127343" y="3405673"/>
            <a:ext cx="1429657" cy="2436327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35000" y="5842000"/>
            <a:ext cx="10922000" cy="635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Bar 1 Value"/>
          <p:cNvSpPr>
            <a:spLocks noGrp="1"/>
          </p:cNvSpPr>
          <p:nvPr>
            <p:ph type="body" idx="20"/>
          </p:nvPr>
        </p:nvSpPr>
        <p:spPr>
          <a:xfrm>
            <a:off x="584200" y="327025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200">
                <a:solidFill>
                  <a:srgbClr val="0B1A33"/>
                </a:solidFill>
                <a:latin typeface="Noto Sans Mono"/>
              </a:rPr>
              <a:t>13.4</a:t>
            </a:r>
          </a:p>
        </p:txBody>
      </p:sp>
      <p:sp>
        <p:nvSpPr>
          <p:cNvPr id="37" name="Bar 1 Label"/>
          <p:cNvSpPr>
            <a:spLocks noGrp="1"/>
          </p:cNvSpPr>
          <p:nvPr>
            <p:ph type="body" idx="21"/>
          </p:nvPr>
        </p:nvSpPr>
        <p:spPr>
          <a:xfrm>
            <a:off x="55880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64" cap="all">
                <a:solidFill>
                  <a:srgbClr val="2D3A52"/>
                </a:solidFill>
                <a:latin typeface="Noto Sans Mono"/>
              </a:rPr>
              <a:t>FY24 BASE</a:t>
            </a:r>
          </a:p>
        </p:txBody>
      </p:sp>
      <p:sp>
        <p:nvSpPr>
          <p:cNvPr id="38" name="Bar 2 Value"/>
          <p:cNvSpPr>
            <a:spLocks noGrp="1"/>
          </p:cNvSpPr>
          <p:nvPr>
            <p:ph type="body" idx="24"/>
          </p:nvPr>
        </p:nvSpPr>
        <p:spPr>
          <a:xfrm>
            <a:off x="2165350" y="316865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100">
                <a:solidFill>
                  <a:srgbClr val="0B1A33"/>
                </a:solidFill>
                <a:latin typeface="Noto Sans Mono"/>
              </a:rPr>
              <a:t>+0.6</a:t>
            </a:r>
          </a:p>
        </p:txBody>
      </p:sp>
      <p:sp>
        <p:nvSpPr>
          <p:cNvPr id="39" name="Bar 2 Label"/>
          <p:cNvSpPr>
            <a:spLocks noGrp="1"/>
          </p:cNvSpPr>
          <p:nvPr>
            <p:ph type="body" idx="25"/>
          </p:nvPr>
        </p:nvSpPr>
        <p:spPr>
          <a:xfrm>
            <a:off x="213995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64" cap="all">
                <a:solidFill>
                  <a:srgbClr val="2D3A52"/>
                </a:solidFill>
                <a:latin typeface="Noto Sans Mono"/>
              </a:rPr>
              <a:t>CONSUMER</a:t>
            </a:r>
          </a:p>
        </p:txBody>
      </p:sp>
      <p:sp>
        <p:nvSpPr>
          <p:cNvPr id="40" name="Bar 3 Value"/>
          <p:cNvSpPr>
            <a:spLocks noGrp="1"/>
          </p:cNvSpPr>
          <p:nvPr>
            <p:ph type="body" idx="28"/>
          </p:nvPr>
        </p:nvSpPr>
        <p:spPr>
          <a:xfrm>
            <a:off x="3746500" y="309880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100">
                <a:solidFill>
                  <a:srgbClr val="0B1A33"/>
                </a:solidFill>
                <a:latin typeface="Noto Sans Mono"/>
              </a:rPr>
              <a:t>+0.4</a:t>
            </a:r>
          </a:p>
        </p:txBody>
      </p:sp>
      <p:sp>
        <p:nvSpPr>
          <p:cNvPr id="41" name="Bar 3 Label"/>
          <p:cNvSpPr>
            <a:spLocks noGrp="1"/>
          </p:cNvSpPr>
          <p:nvPr>
            <p:ph type="body" idx="29"/>
          </p:nvPr>
        </p:nvSpPr>
        <p:spPr>
          <a:xfrm>
            <a:off x="372110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64" cap="all">
                <a:solidFill>
                  <a:srgbClr val="2D3A52"/>
                </a:solidFill>
                <a:latin typeface="Noto Sans Mono"/>
              </a:rPr>
              <a:t>PLATFORM</a:t>
            </a:r>
          </a:p>
        </p:txBody>
      </p:sp>
      <p:sp>
        <p:nvSpPr>
          <p:cNvPr id="42" name="Bar 4 Value"/>
          <p:cNvSpPr>
            <a:spLocks noGrp="1"/>
          </p:cNvSpPr>
          <p:nvPr>
            <p:ph type="body" idx="32"/>
          </p:nvPr>
        </p:nvSpPr>
        <p:spPr>
          <a:xfrm>
            <a:off x="5327650" y="304800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100">
                <a:solidFill>
                  <a:srgbClr val="0B1A33"/>
                </a:solidFill>
                <a:latin typeface="Noto Sans Mono"/>
              </a:rPr>
              <a:t>+0.3</a:t>
            </a:r>
          </a:p>
        </p:txBody>
      </p:sp>
      <p:sp>
        <p:nvSpPr>
          <p:cNvPr id="43" name="Bar 4 Label"/>
          <p:cNvSpPr>
            <a:spLocks noGrp="1"/>
          </p:cNvSpPr>
          <p:nvPr>
            <p:ph type="body" idx="33"/>
          </p:nvPr>
        </p:nvSpPr>
        <p:spPr>
          <a:xfrm>
            <a:off x="530225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64" cap="all">
                <a:solidFill>
                  <a:srgbClr val="2D3A52"/>
                </a:solidFill>
                <a:latin typeface="Noto Sans Mono"/>
              </a:rPr>
              <a:t>SERVICES</a:t>
            </a:r>
          </a:p>
        </p:txBody>
      </p:sp>
      <p:sp>
        <p:nvSpPr>
          <p:cNvPr id="44" name="Bar 5 Value"/>
          <p:cNvSpPr>
            <a:spLocks noGrp="1"/>
          </p:cNvSpPr>
          <p:nvPr>
            <p:ph type="body" idx="36"/>
          </p:nvPr>
        </p:nvSpPr>
        <p:spPr>
          <a:xfrm>
            <a:off x="6908800" y="304800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100">
                <a:solidFill>
                  <a:srgbClr val="0B1A33"/>
                </a:solidFill>
                <a:latin typeface="Noto Sans Mono"/>
              </a:rPr>
              <a:t>−0.3</a:t>
            </a:r>
          </a:p>
        </p:txBody>
      </p:sp>
      <p:sp>
        <p:nvSpPr>
          <p:cNvPr id="45" name="Bar 5 Label"/>
          <p:cNvSpPr>
            <a:spLocks noGrp="1"/>
          </p:cNvSpPr>
          <p:nvPr>
            <p:ph type="body" idx="37"/>
          </p:nvPr>
        </p:nvSpPr>
        <p:spPr>
          <a:xfrm>
            <a:off x="688340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64" cap="all">
                <a:solidFill>
                  <a:srgbClr val="2D3A52"/>
                </a:solidFill>
                <a:latin typeface="Noto Sans Mono"/>
              </a:rPr>
              <a:t>LEGACY</a:t>
            </a:r>
          </a:p>
        </p:txBody>
      </p:sp>
      <p:sp>
        <p:nvSpPr>
          <p:cNvPr id="46" name="Bar 6 Value"/>
          <p:cNvSpPr>
            <a:spLocks noGrp="1"/>
          </p:cNvSpPr>
          <p:nvPr>
            <p:ph type="body" idx="40"/>
          </p:nvPr>
        </p:nvSpPr>
        <p:spPr>
          <a:xfrm>
            <a:off x="8489950" y="309880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100">
                <a:solidFill>
                  <a:srgbClr val="0B1A33"/>
                </a:solidFill>
                <a:latin typeface="Noto Sans Mono"/>
              </a:rPr>
              <a:t>−0.2</a:t>
            </a:r>
          </a:p>
        </p:txBody>
      </p:sp>
      <p:sp>
        <p:nvSpPr>
          <p:cNvPr id="47" name="Bar 6 Label"/>
          <p:cNvSpPr>
            <a:spLocks noGrp="1"/>
          </p:cNvSpPr>
          <p:nvPr>
            <p:ph type="body" idx="41"/>
          </p:nvPr>
        </p:nvSpPr>
        <p:spPr>
          <a:xfrm>
            <a:off x="846455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64" cap="all">
                <a:solidFill>
                  <a:srgbClr val="2D3A52"/>
                </a:solidFill>
                <a:latin typeface="Noto Sans Mono"/>
              </a:rPr>
              <a:t>FX</a:t>
            </a:r>
          </a:p>
        </p:txBody>
      </p:sp>
      <p:sp>
        <p:nvSpPr>
          <p:cNvPr id="48" name="Bar 7 Value"/>
          <p:cNvSpPr>
            <a:spLocks noGrp="1"/>
          </p:cNvSpPr>
          <p:nvPr>
            <p:ph type="body" idx="44"/>
          </p:nvPr>
        </p:nvSpPr>
        <p:spPr>
          <a:xfrm>
            <a:off x="10071100" y="314960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200">
                <a:solidFill>
                  <a:srgbClr val="0B1A33"/>
                </a:solidFill>
                <a:latin typeface="Noto Sans Mono"/>
              </a:rPr>
              <a:t>14.1</a:t>
            </a:r>
          </a:p>
        </p:txBody>
      </p:sp>
      <p:sp>
        <p:nvSpPr>
          <p:cNvPr id="49" name="Bar 7 Label"/>
          <p:cNvSpPr>
            <a:spLocks noGrp="1"/>
          </p:cNvSpPr>
          <p:nvPr>
            <p:ph type="body" idx="45"/>
          </p:nvPr>
        </p:nvSpPr>
        <p:spPr>
          <a:xfrm>
            <a:off x="1004570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64" cap="all">
                <a:solidFill>
                  <a:srgbClr val="2D3A52"/>
                </a:solidFill>
                <a:latin typeface="Noto Sans Mono"/>
              </a:rPr>
              <a:t>FY25 TOTAL</a:t>
            </a:r>
          </a:p>
        </p:txBody>
      </p:sp>
      <p:sp>
        <p:nvSpPr>
          <p:cNvPr id="50" name="Source"/>
          <p:cNvSpPr>
            <a:spLocks noGrp="1"/>
          </p:cNvSpPr>
          <p:nvPr>
            <p:ph type="body" idx="60"/>
          </p:nvPr>
        </p:nvSpPr>
        <p:spPr>
          <a:xfrm>
            <a:off x="635000" y="63500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2D3A52"/>
                </a:solidFill>
                <a:latin typeface="Noto Sans Mono"/>
              </a:rPr>
              <a:t>SOURCE · SAMPLE DATA, FY25 PRELIMINARY · EUR BN · VARIANCES ROUNDED TO 0.1</a:t>
            </a: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Process Flow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75640" y="426720"/>
            <a:ext cx="121920" cy="162560"/>
          </a:xfrm>
          <a:custGeom>
            <a:avLst/>
            <a:gdLst/>
            <a:ahLst/>
            <a:cxnLst/>
            <a:rect l="l" t="t" r="r" b="b"/>
            <a:pathLst>
              <a:path w="121920" h="162560">
                <a:moveTo>
                  <a:pt x="60960" y="0"/>
                </a:moveTo>
                <a:lnTo>
                  <a:pt x="20320" y="66040"/>
                </a:lnTo>
                <a:lnTo>
                  <a:pt x="0" y="86360"/>
                </a:lnTo>
                <a:lnTo>
                  <a:pt x="60960" y="162560"/>
                </a:lnTo>
                <a:lnTo>
                  <a:pt x="121920" y="86360"/>
                </a:lnTo>
                <a:lnTo>
                  <a:pt x="101600" y="66040"/>
                </a:lnTo>
                <a:close/>
              </a:path>
            </a:pathLst>
          </a:custGeom>
          <a:solidFill>
            <a:srgbClr val="0B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01700" y="4318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62" b="0">
                <a:solidFill>
                  <a:srgbClr val="0B1A33"/>
                </a:solidFill>
                <a:latin typeface="Noto Sans Medium"/>
              </a:rPr>
              <a:t>FEINSCHLIFF.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90">
                <a:solidFill>
                  <a:srgbClr val="0B1A33"/>
                </a:solidFill>
                <a:latin typeface="Noto Sans Mono"/>
              </a:rPr>
              <a:t>PROCESS 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0B1A33"/>
                </a:solidFill>
                <a:latin typeface="Noto Sa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0B1A33"/>
                </a:solidFill>
                <a:latin typeface="Noto Sa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0B1A33"/>
                </a:solidFill>
                <a:latin typeface="Noto Sa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0B1A33"/>
                </a:solidFill>
                <a:latin typeface="Noto Sans Mono"/>
              </a:rPr>
              <a:t>DELIVERY SEQUENCE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0B1A33"/>
                </a:solidFill>
                <a:latin typeface="Noto Sans"/>
              </a:rPr>
              <a:t>Five stages · pilot highlights the current phase.</a:t>
            </a:r>
          </a:p>
        </p:txBody>
      </p:sp>
      <p:sp>
        <p:nvSpPr>
          <p:cNvPr id="10" name="Pentagon 9"/>
          <p:cNvSpPr/>
          <p:nvPr/>
        </p:nvSpPr>
        <p:spPr>
          <a:xfrm>
            <a:off x="635000" y="3429000"/>
            <a:ext cx="2326640" cy="2413000"/>
          </a:xfrm>
          <a:prstGeom prst="homePlate">
            <a:avLst/>
          </a:prstGeom>
          <a:solidFill>
            <a:srgbClr val="FA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Chevron 10"/>
          <p:cNvSpPr/>
          <p:nvPr/>
        </p:nvSpPr>
        <p:spPr>
          <a:xfrm>
            <a:off x="2783840" y="3429000"/>
            <a:ext cx="2326640" cy="2413000"/>
          </a:xfrm>
          <a:prstGeom prst="chevron">
            <a:avLst/>
          </a:prstGeom>
          <a:solidFill>
            <a:srgbClr val="FA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Chevron 11"/>
          <p:cNvSpPr/>
          <p:nvPr/>
        </p:nvSpPr>
        <p:spPr>
          <a:xfrm>
            <a:off x="4932680" y="3429000"/>
            <a:ext cx="2326640" cy="2413000"/>
          </a:xfrm>
          <a:prstGeom prst="chevron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Chevron 12"/>
          <p:cNvSpPr/>
          <p:nvPr/>
        </p:nvSpPr>
        <p:spPr>
          <a:xfrm>
            <a:off x="7081520" y="3429000"/>
            <a:ext cx="2326640" cy="2413000"/>
          </a:xfrm>
          <a:prstGeom prst="chevron">
            <a:avLst/>
          </a:prstGeom>
          <a:solidFill>
            <a:srgbClr val="FA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Chevron 13"/>
          <p:cNvSpPr/>
          <p:nvPr/>
        </p:nvSpPr>
        <p:spPr>
          <a:xfrm>
            <a:off x="9230360" y="3429000"/>
            <a:ext cx="2326640" cy="2413000"/>
          </a:xfrm>
          <a:prstGeom prst="chevron">
            <a:avLst/>
          </a:prstGeom>
          <a:solidFill>
            <a:srgbClr val="FA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Stage 1 Counter"/>
          <p:cNvSpPr>
            <a:spLocks noGrp="1"/>
          </p:cNvSpPr>
          <p:nvPr>
            <p:ph type="body" idx="20"/>
          </p:nvPr>
        </p:nvSpPr>
        <p:spPr>
          <a:xfrm>
            <a:off x="838200" y="3683000"/>
            <a:ext cx="1841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8A6F2E"/>
                </a:solidFill>
                <a:latin typeface="Noto Sans Mono"/>
              </a:rPr>
              <a:t>01</a:t>
            </a:r>
          </a:p>
        </p:txBody>
      </p:sp>
      <p:sp>
        <p:nvSpPr>
          <p:cNvPr id="16" name="Stage 1 Heading"/>
          <p:cNvSpPr>
            <a:spLocks noGrp="1"/>
          </p:cNvSpPr>
          <p:nvPr>
            <p:ph type="body" idx="21"/>
          </p:nvPr>
        </p:nvSpPr>
        <p:spPr>
          <a:xfrm>
            <a:off x="838200" y="4013200"/>
            <a:ext cx="1841500" cy="38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00" spc="-22">
                <a:solidFill>
                  <a:srgbClr val="0B1A33"/>
                </a:solidFill>
                <a:latin typeface="Noto Sans Medium"/>
              </a:rPr>
              <a:t>Frame</a:t>
            </a:r>
          </a:p>
        </p:txBody>
      </p:sp>
      <p:sp>
        <p:nvSpPr>
          <p:cNvPr id="17" name="Stage 1 Body"/>
          <p:cNvSpPr>
            <a:spLocks noGrp="1"/>
          </p:cNvSpPr>
          <p:nvPr>
            <p:ph type="body" idx="22"/>
          </p:nvPr>
        </p:nvSpPr>
        <p:spPr>
          <a:xfrm>
            <a:off x="838200" y="4508500"/>
            <a:ext cx="1841500" cy="1143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Clarify the problem and the one outcome that matters.</a:t>
            </a:r>
          </a:p>
        </p:txBody>
      </p:sp>
      <p:sp>
        <p:nvSpPr>
          <p:cNvPr id="18" name="Stage 2 Counter"/>
          <p:cNvSpPr>
            <a:spLocks noGrp="1"/>
          </p:cNvSpPr>
          <p:nvPr>
            <p:ph type="body" idx="24"/>
          </p:nvPr>
        </p:nvSpPr>
        <p:spPr>
          <a:xfrm>
            <a:off x="3162300" y="3683000"/>
            <a:ext cx="16637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8A6F2E"/>
                </a:solidFill>
                <a:latin typeface="Noto Sans Mono"/>
              </a:rPr>
              <a:t>02</a:t>
            </a:r>
          </a:p>
        </p:txBody>
      </p:sp>
      <p:sp>
        <p:nvSpPr>
          <p:cNvPr id="19" name="Stage 2 Heading"/>
          <p:cNvSpPr>
            <a:spLocks noGrp="1"/>
          </p:cNvSpPr>
          <p:nvPr>
            <p:ph type="body" idx="25"/>
          </p:nvPr>
        </p:nvSpPr>
        <p:spPr>
          <a:xfrm>
            <a:off x="3162300" y="4013200"/>
            <a:ext cx="1663700" cy="38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00" spc="-22">
                <a:solidFill>
                  <a:srgbClr val="0B1A33"/>
                </a:solidFill>
                <a:latin typeface="Noto Sans Medium"/>
              </a:rPr>
              <a:t>Prototype</a:t>
            </a:r>
          </a:p>
        </p:txBody>
      </p:sp>
      <p:sp>
        <p:nvSpPr>
          <p:cNvPr id="20" name="Stage 2 Body"/>
          <p:cNvSpPr>
            <a:spLocks noGrp="1"/>
          </p:cNvSpPr>
          <p:nvPr>
            <p:ph type="body" idx="26"/>
          </p:nvPr>
        </p:nvSpPr>
        <p:spPr>
          <a:xfrm>
            <a:off x="3162300" y="4508500"/>
            <a:ext cx="1663700" cy="1143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Build the thin vertical slice end-to-end.</a:t>
            </a:r>
          </a:p>
        </p:txBody>
      </p:sp>
      <p:sp>
        <p:nvSpPr>
          <p:cNvPr id="21" name="Stage 3 Counter"/>
          <p:cNvSpPr>
            <a:spLocks noGrp="1"/>
          </p:cNvSpPr>
          <p:nvPr>
            <p:ph type="body" idx="28"/>
          </p:nvPr>
        </p:nvSpPr>
        <p:spPr>
          <a:xfrm>
            <a:off x="5499100" y="3683000"/>
            <a:ext cx="14732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0B1A33"/>
                </a:solidFill>
                <a:latin typeface="Noto Sans Mono"/>
              </a:rPr>
              <a:t>03</a:t>
            </a:r>
          </a:p>
        </p:txBody>
      </p:sp>
      <p:sp>
        <p:nvSpPr>
          <p:cNvPr id="22" name="Stage 3 Heading"/>
          <p:cNvSpPr>
            <a:spLocks noGrp="1"/>
          </p:cNvSpPr>
          <p:nvPr>
            <p:ph type="body" idx="29"/>
          </p:nvPr>
        </p:nvSpPr>
        <p:spPr>
          <a:xfrm>
            <a:off x="5499100" y="4013200"/>
            <a:ext cx="1473200" cy="38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00" spc="-22">
                <a:solidFill>
                  <a:srgbClr val="0B1A33"/>
                </a:solidFill>
                <a:latin typeface="Noto Sans Medium"/>
              </a:rPr>
              <a:t>Pilot</a:t>
            </a:r>
          </a:p>
        </p:txBody>
      </p:sp>
      <p:sp>
        <p:nvSpPr>
          <p:cNvPr id="23" name="Stage 3 Body"/>
          <p:cNvSpPr>
            <a:spLocks noGrp="1"/>
          </p:cNvSpPr>
          <p:nvPr>
            <p:ph type="body" idx="30"/>
          </p:nvPr>
        </p:nvSpPr>
        <p:spPr>
          <a:xfrm>
            <a:off x="5499100" y="4508500"/>
            <a:ext cx="1473200" cy="1143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0B1A33"/>
                </a:solidFill>
                <a:latin typeface="Noto Sans"/>
              </a:rPr>
              <a:t>Run it with real users on real data.</a:t>
            </a:r>
          </a:p>
        </p:txBody>
      </p:sp>
      <p:sp>
        <p:nvSpPr>
          <p:cNvPr id="24" name="Stage 4 Counter"/>
          <p:cNvSpPr>
            <a:spLocks noGrp="1"/>
          </p:cNvSpPr>
          <p:nvPr>
            <p:ph type="body" idx="32"/>
          </p:nvPr>
        </p:nvSpPr>
        <p:spPr>
          <a:xfrm>
            <a:off x="7461250" y="3683000"/>
            <a:ext cx="16637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8A6F2E"/>
                </a:solidFill>
                <a:latin typeface="Noto Sans Mono"/>
              </a:rPr>
              <a:t>04</a:t>
            </a:r>
          </a:p>
        </p:txBody>
      </p:sp>
      <p:sp>
        <p:nvSpPr>
          <p:cNvPr id="25" name="Stage 4 Heading"/>
          <p:cNvSpPr>
            <a:spLocks noGrp="1"/>
          </p:cNvSpPr>
          <p:nvPr>
            <p:ph type="body" idx="33"/>
          </p:nvPr>
        </p:nvSpPr>
        <p:spPr>
          <a:xfrm>
            <a:off x="7461250" y="4013200"/>
            <a:ext cx="1663700" cy="38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00" spc="-22">
                <a:solidFill>
                  <a:srgbClr val="0B1A33"/>
                </a:solidFill>
                <a:latin typeface="Noto Sans Medium"/>
              </a:rPr>
              <a:t>Harden</a:t>
            </a:r>
          </a:p>
        </p:txBody>
      </p:sp>
      <p:sp>
        <p:nvSpPr>
          <p:cNvPr id="26" name="Stage 4 Body"/>
          <p:cNvSpPr>
            <a:spLocks noGrp="1"/>
          </p:cNvSpPr>
          <p:nvPr>
            <p:ph type="body" idx="34"/>
          </p:nvPr>
        </p:nvSpPr>
        <p:spPr>
          <a:xfrm>
            <a:off x="7461250" y="4508500"/>
            <a:ext cx="1663700" cy="1143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Fix what the pilot surfaces; add observability.</a:t>
            </a:r>
          </a:p>
        </p:txBody>
      </p:sp>
      <p:sp>
        <p:nvSpPr>
          <p:cNvPr id="27" name="Stage 5 Counter"/>
          <p:cNvSpPr>
            <a:spLocks noGrp="1"/>
          </p:cNvSpPr>
          <p:nvPr>
            <p:ph type="body" idx="36"/>
          </p:nvPr>
        </p:nvSpPr>
        <p:spPr>
          <a:xfrm>
            <a:off x="9607550" y="3683000"/>
            <a:ext cx="16637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8A6F2E"/>
                </a:solidFill>
                <a:latin typeface="Noto Sans Mono"/>
              </a:rPr>
              <a:t>05</a:t>
            </a:r>
          </a:p>
        </p:txBody>
      </p:sp>
      <p:sp>
        <p:nvSpPr>
          <p:cNvPr id="28" name="Stage 5 Heading"/>
          <p:cNvSpPr>
            <a:spLocks noGrp="1"/>
          </p:cNvSpPr>
          <p:nvPr>
            <p:ph type="body" idx="37"/>
          </p:nvPr>
        </p:nvSpPr>
        <p:spPr>
          <a:xfrm>
            <a:off x="9607550" y="4013200"/>
            <a:ext cx="1663700" cy="38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00" spc="-22">
                <a:solidFill>
                  <a:srgbClr val="0B1A33"/>
                </a:solidFill>
                <a:latin typeface="Noto Sans Medium"/>
              </a:rPr>
              <a:t>Scale</a:t>
            </a:r>
          </a:p>
        </p:txBody>
      </p:sp>
      <p:sp>
        <p:nvSpPr>
          <p:cNvPr id="29" name="Stage 5 Body"/>
          <p:cNvSpPr>
            <a:spLocks noGrp="1"/>
          </p:cNvSpPr>
          <p:nvPr>
            <p:ph type="body" idx="38"/>
          </p:nvPr>
        </p:nvSpPr>
        <p:spPr>
          <a:xfrm>
            <a:off x="9607550" y="4508500"/>
            <a:ext cx="1663700" cy="1143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Roll out to remaining regions and SKUs.</a:t>
            </a:r>
          </a:p>
        </p:txBody>
      </p:sp>
      <p:sp>
        <p:nvSpPr>
          <p:cNvPr id="30" name="Source"/>
          <p:cNvSpPr>
            <a:spLocks noGrp="1"/>
          </p:cNvSpPr>
          <p:nvPr>
            <p:ph type="body" idx="60"/>
          </p:nvPr>
        </p:nvSpPr>
        <p:spPr>
          <a:xfrm>
            <a:off x="635000" y="6350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2D3A52"/>
                </a:solidFill>
                <a:latin typeface="Noto Sans Mono"/>
              </a:rPr>
              <a:t>SOURCE · DELIVERY PLAN · WK 1–18 · PILOT CURRENTLY IN FLIGHT</a:t>
            </a: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Stacked Ba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75640" y="426720"/>
            <a:ext cx="121920" cy="162560"/>
          </a:xfrm>
          <a:custGeom>
            <a:avLst/>
            <a:gdLst/>
            <a:ahLst/>
            <a:cxnLst/>
            <a:rect l="l" t="t" r="r" b="b"/>
            <a:pathLst>
              <a:path w="121920" h="162560">
                <a:moveTo>
                  <a:pt x="60960" y="0"/>
                </a:moveTo>
                <a:lnTo>
                  <a:pt x="20320" y="66040"/>
                </a:lnTo>
                <a:lnTo>
                  <a:pt x="0" y="86360"/>
                </a:lnTo>
                <a:lnTo>
                  <a:pt x="60960" y="162560"/>
                </a:lnTo>
                <a:lnTo>
                  <a:pt x="121920" y="86360"/>
                </a:lnTo>
                <a:lnTo>
                  <a:pt x="101600" y="66040"/>
                </a:lnTo>
                <a:close/>
              </a:path>
            </a:pathLst>
          </a:custGeom>
          <a:solidFill>
            <a:srgbClr val="0B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01700" y="4318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62" b="0">
                <a:solidFill>
                  <a:srgbClr val="0B1A33"/>
                </a:solidFill>
                <a:latin typeface="Noto Sans Medium"/>
              </a:rPr>
              <a:t>FEINSCHLIFF.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90">
                <a:solidFill>
                  <a:srgbClr val="0B1A33"/>
                </a:solidFill>
                <a:latin typeface="Noto Sans Mono"/>
              </a:rPr>
              <a:t>DATA · REVENUE MIX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0B1A33"/>
                </a:solidFill>
                <a:latin typeface="Noto Sa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0B1A33"/>
                </a:solidFill>
                <a:latin typeface="Noto Sa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0B1A33"/>
                </a:solidFill>
                <a:latin typeface="Noto Sa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0B1A33"/>
                </a:solidFill>
                <a:latin typeface="Noto Sans Mono"/>
              </a:rPr>
              <a:t>MIX · FY21–FY25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0B1A33"/>
                </a:solidFill>
                <a:latin typeface="Noto Sans"/>
              </a:rPr>
              <a:t>Platform revenue is the fastest-growing share; legacy hardware is flat in absolute terms.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5000" y="5715000"/>
            <a:ext cx="8382000" cy="635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35000" y="4699000"/>
            <a:ext cx="952500" cy="10160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0400" y="51371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  <a:latin typeface="Noto Sans Mono"/>
              </a:rPr>
              <a:t>6.8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5000" y="4191000"/>
            <a:ext cx="952500" cy="5080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0400" y="43751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  <a:latin typeface="Noto Sans Mono"/>
              </a:rPr>
              <a:t>3.2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5000" y="3937000"/>
            <a:ext cx="952500" cy="254000"/>
          </a:xfrm>
          <a:prstGeom prst="rect">
            <a:avLst/>
          </a:prstGeom>
          <a:solidFill>
            <a:srgbClr val="2D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0400" y="39941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  <a:latin typeface="Noto Sans Mono"/>
              </a:rPr>
              <a:t>1.6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35000" y="3873500"/>
            <a:ext cx="952500" cy="635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489200" y="4711700"/>
            <a:ext cx="952500" cy="10033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514600" y="51435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  <a:latin typeface="Noto Sans Mono"/>
              </a:rPr>
              <a:t>6.7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489200" y="4152900"/>
            <a:ext cx="952500" cy="5588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514600" y="43624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  <a:latin typeface="Noto Sans Mono"/>
              </a:rPr>
              <a:t>3.5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489200" y="3886200"/>
            <a:ext cx="952500" cy="266700"/>
          </a:xfrm>
          <a:prstGeom prst="rect">
            <a:avLst/>
          </a:prstGeom>
          <a:solidFill>
            <a:srgbClr val="2D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514600" y="39497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  <a:latin typeface="Noto Sans Mono"/>
              </a:rPr>
              <a:t>1.7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489200" y="3784600"/>
            <a:ext cx="952500" cy="1016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343400" y="4724400"/>
            <a:ext cx="952500" cy="9906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368800" y="51498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  <a:latin typeface="Noto Sans Mono"/>
              </a:rPr>
              <a:t>6.6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343400" y="4140200"/>
            <a:ext cx="952500" cy="5842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368800" y="43624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  <a:latin typeface="Noto Sans Mono"/>
              </a:rPr>
              <a:t>3.7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343400" y="3848100"/>
            <a:ext cx="952500" cy="292100"/>
          </a:xfrm>
          <a:prstGeom prst="rect">
            <a:avLst/>
          </a:prstGeom>
          <a:solidFill>
            <a:srgbClr val="2D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368800" y="39243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  <a:latin typeface="Noto Sans Mono"/>
              </a:rPr>
              <a:t>1.8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343400" y="3695700"/>
            <a:ext cx="952500" cy="1524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197600" y="4737100"/>
            <a:ext cx="952500" cy="9779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223000" y="51562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  <a:latin typeface="Noto Sans Mono"/>
              </a:rPr>
              <a:t>6.5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197600" y="4114800"/>
            <a:ext cx="952500" cy="6223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223000" y="43561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  <a:latin typeface="Noto Sans Mono"/>
              </a:rPr>
              <a:t>3.9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197600" y="3810000"/>
            <a:ext cx="952500" cy="304800"/>
          </a:xfrm>
          <a:prstGeom prst="rect">
            <a:avLst/>
          </a:prstGeom>
          <a:solidFill>
            <a:srgbClr val="2D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223000" y="38925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  <a:latin typeface="Noto Sans Mono"/>
              </a:rPr>
              <a:t>1.9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197600" y="3568700"/>
            <a:ext cx="952500" cy="2413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223000" y="36195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  <a:latin typeface="Noto Sans Mono"/>
              </a:rPr>
              <a:t>1.1</a:t>
            </a:r>
          </a:p>
        </p:txBody>
      </p:sp>
      <p:sp>
        <p:nvSpPr>
          <p:cNvPr id="40" name="Rectangle 39"/>
          <p:cNvSpPr/>
          <p:nvPr/>
        </p:nvSpPr>
        <p:spPr>
          <a:xfrm>
            <a:off x="8051800" y="4762500"/>
            <a:ext cx="952500" cy="9525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077200" y="51689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  <a:latin typeface="Noto Sans Mono"/>
              </a:rPr>
              <a:t>6.4</a:t>
            </a:r>
          </a:p>
        </p:txBody>
      </p:sp>
      <p:sp>
        <p:nvSpPr>
          <p:cNvPr id="42" name="Rectangle 41"/>
          <p:cNvSpPr/>
          <p:nvPr/>
        </p:nvSpPr>
        <p:spPr>
          <a:xfrm>
            <a:off x="8051800" y="4102100"/>
            <a:ext cx="952500" cy="6604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077200" y="43624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  <a:latin typeface="Noto Sans Mono"/>
              </a:rPr>
              <a:t>4.2</a:t>
            </a:r>
          </a:p>
        </p:txBody>
      </p:sp>
      <p:sp>
        <p:nvSpPr>
          <p:cNvPr id="44" name="Rectangle 43"/>
          <p:cNvSpPr/>
          <p:nvPr/>
        </p:nvSpPr>
        <p:spPr>
          <a:xfrm>
            <a:off x="8051800" y="3771900"/>
            <a:ext cx="952500" cy="330200"/>
          </a:xfrm>
          <a:prstGeom prst="rect">
            <a:avLst/>
          </a:prstGeom>
          <a:solidFill>
            <a:srgbClr val="2D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077200" y="38671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  <a:latin typeface="Noto Sans Mono"/>
              </a:rPr>
              <a:t>2.1</a:t>
            </a:r>
          </a:p>
        </p:txBody>
      </p:sp>
      <p:sp>
        <p:nvSpPr>
          <p:cNvPr id="46" name="Rectangle 45"/>
          <p:cNvSpPr/>
          <p:nvPr/>
        </p:nvSpPr>
        <p:spPr>
          <a:xfrm>
            <a:off x="8051800" y="3441700"/>
            <a:ext cx="952500" cy="3302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077200" y="35369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  <a:latin typeface="Noto Sans Mono"/>
              </a:rPr>
              <a:t>1.4</a:t>
            </a:r>
          </a:p>
        </p:txBody>
      </p:sp>
      <p:sp>
        <p:nvSpPr>
          <p:cNvPr id="48" name="Bar 1 Total"/>
          <p:cNvSpPr>
            <a:spLocks noGrp="1"/>
          </p:cNvSpPr>
          <p:nvPr>
            <p:ph type="body" idx="30"/>
          </p:nvPr>
        </p:nvSpPr>
        <p:spPr>
          <a:xfrm>
            <a:off x="635000" y="3200400"/>
            <a:ext cx="952500" cy="2032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400">
                <a:solidFill>
                  <a:srgbClr val="0B1A33"/>
                </a:solidFill>
                <a:latin typeface="Noto Sans Medium"/>
              </a:rPr>
              <a:t>11.9</a:t>
            </a:r>
          </a:p>
        </p:txBody>
      </p:sp>
      <p:sp>
        <p:nvSpPr>
          <p:cNvPr id="49" name="Bar 1 Label"/>
          <p:cNvSpPr>
            <a:spLocks noGrp="1"/>
          </p:cNvSpPr>
          <p:nvPr>
            <p:ph type="body" idx="20"/>
          </p:nvPr>
        </p:nvSpPr>
        <p:spPr>
          <a:xfrm>
            <a:off x="635000" y="5816600"/>
            <a:ext cx="952500" cy="1905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100" spc="110" cap="all">
                <a:solidFill>
                  <a:srgbClr val="2D3A52"/>
                </a:solidFill>
                <a:latin typeface="Noto Sans Mono"/>
              </a:rPr>
              <a:t>FY21</a:t>
            </a:r>
          </a:p>
        </p:txBody>
      </p:sp>
      <p:sp>
        <p:nvSpPr>
          <p:cNvPr id="50" name="Bar 2 Total"/>
          <p:cNvSpPr>
            <a:spLocks noGrp="1"/>
          </p:cNvSpPr>
          <p:nvPr>
            <p:ph type="body" idx="31"/>
          </p:nvPr>
        </p:nvSpPr>
        <p:spPr>
          <a:xfrm>
            <a:off x="2489200" y="3200400"/>
            <a:ext cx="952500" cy="2032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400">
                <a:solidFill>
                  <a:srgbClr val="0B1A33"/>
                </a:solidFill>
                <a:latin typeface="Noto Sans Medium"/>
              </a:rPr>
              <a:t>12.4</a:t>
            </a:r>
          </a:p>
        </p:txBody>
      </p:sp>
      <p:sp>
        <p:nvSpPr>
          <p:cNvPr id="51" name="Bar 2 Label"/>
          <p:cNvSpPr>
            <a:spLocks noGrp="1"/>
          </p:cNvSpPr>
          <p:nvPr>
            <p:ph type="body" idx="21"/>
          </p:nvPr>
        </p:nvSpPr>
        <p:spPr>
          <a:xfrm>
            <a:off x="2489200" y="5816600"/>
            <a:ext cx="952500" cy="1905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100" spc="110" cap="all">
                <a:solidFill>
                  <a:srgbClr val="2D3A52"/>
                </a:solidFill>
                <a:latin typeface="Noto Sans Mono"/>
              </a:rPr>
              <a:t>FY22</a:t>
            </a:r>
          </a:p>
        </p:txBody>
      </p:sp>
      <p:sp>
        <p:nvSpPr>
          <p:cNvPr id="52" name="Bar 3 Total"/>
          <p:cNvSpPr>
            <a:spLocks noGrp="1"/>
          </p:cNvSpPr>
          <p:nvPr>
            <p:ph type="body" idx="32"/>
          </p:nvPr>
        </p:nvSpPr>
        <p:spPr>
          <a:xfrm>
            <a:off x="4343400" y="3200400"/>
            <a:ext cx="952500" cy="2032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400">
                <a:solidFill>
                  <a:srgbClr val="0B1A33"/>
                </a:solidFill>
                <a:latin typeface="Noto Sans Medium"/>
              </a:rPr>
              <a:t>12.9</a:t>
            </a:r>
          </a:p>
        </p:txBody>
      </p:sp>
      <p:sp>
        <p:nvSpPr>
          <p:cNvPr id="53" name="Bar 3 Label"/>
          <p:cNvSpPr>
            <a:spLocks noGrp="1"/>
          </p:cNvSpPr>
          <p:nvPr>
            <p:ph type="body" idx="22"/>
          </p:nvPr>
        </p:nvSpPr>
        <p:spPr>
          <a:xfrm>
            <a:off x="4343400" y="5816600"/>
            <a:ext cx="952500" cy="1905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100" spc="110" cap="all">
                <a:solidFill>
                  <a:srgbClr val="2D3A52"/>
                </a:solidFill>
                <a:latin typeface="Noto Sans Mono"/>
              </a:rPr>
              <a:t>FY23</a:t>
            </a:r>
          </a:p>
        </p:txBody>
      </p:sp>
      <p:sp>
        <p:nvSpPr>
          <p:cNvPr id="54" name="Bar 4 Total"/>
          <p:cNvSpPr>
            <a:spLocks noGrp="1"/>
          </p:cNvSpPr>
          <p:nvPr>
            <p:ph type="body" idx="33"/>
          </p:nvPr>
        </p:nvSpPr>
        <p:spPr>
          <a:xfrm>
            <a:off x="6197600" y="3200400"/>
            <a:ext cx="952500" cy="2032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400">
                <a:solidFill>
                  <a:srgbClr val="0B1A33"/>
                </a:solidFill>
                <a:latin typeface="Noto Sans Medium"/>
              </a:rPr>
              <a:t>13.4</a:t>
            </a:r>
          </a:p>
        </p:txBody>
      </p:sp>
      <p:sp>
        <p:nvSpPr>
          <p:cNvPr id="55" name="Bar 4 Label"/>
          <p:cNvSpPr>
            <a:spLocks noGrp="1"/>
          </p:cNvSpPr>
          <p:nvPr>
            <p:ph type="body" idx="23"/>
          </p:nvPr>
        </p:nvSpPr>
        <p:spPr>
          <a:xfrm>
            <a:off x="6197600" y="5816600"/>
            <a:ext cx="952500" cy="1905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100" spc="110" cap="all">
                <a:solidFill>
                  <a:srgbClr val="2D3A52"/>
                </a:solidFill>
                <a:latin typeface="Noto Sans Mono"/>
              </a:rPr>
              <a:t>FY24</a:t>
            </a:r>
          </a:p>
        </p:txBody>
      </p:sp>
      <p:sp>
        <p:nvSpPr>
          <p:cNvPr id="56" name="Bar 5 Total"/>
          <p:cNvSpPr>
            <a:spLocks noGrp="1"/>
          </p:cNvSpPr>
          <p:nvPr>
            <p:ph type="body" idx="34"/>
          </p:nvPr>
        </p:nvSpPr>
        <p:spPr>
          <a:xfrm>
            <a:off x="8051800" y="3200400"/>
            <a:ext cx="952500" cy="2032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400">
                <a:solidFill>
                  <a:srgbClr val="0B1A33"/>
                </a:solidFill>
                <a:latin typeface="Noto Sans Medium"/>
              </a:rPr>
              <a:t>14.1</a:t>
            </a:r>
          </a:p>
        </p:txBody>
      </p:sp>
      <p:sp>
        <p:nvSpPr>
          <p:cNvPr id="57" name="Bar 5 Label"/>
          <p:cNvSpPr>
            <a:spLocks noGrp="1"/>
          </p:cNvSpPr>
          <p:nvPr>
            <p:ph type="body" idx="24"/>
          </p:nvPr>
        </p:nvSpPr>
        <p:spPr>
          <a:xfrm>
            <a:off x="8051800" y="5816600"/>
            <a:ext cx="952500" cy="1905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100" spc="110" cap="all">
                <a:solidFill>
                  <a:srgbClr val="2D3A52"/>
                </a:solidFill>
                <a:latin typeface="Noto Sans Mono"/>
              </a:rPr>
              <a:t>FY25</a:t>
            </a:r>
          </a:p>
        </p:txBody>
      </p:sp>
      <p:sp>
        <p:nvSpPr>
          <p:cNvPr id="58" name="Legend Title"/>
          <p:cNvSpPr>
            <a:spLocks noGrp="1"/>
          </p:cNvSpPr>
          <p:nvPr>
            <p:ph type="body" idx="39"/>
          </p:nvPr>
        </p:nvSpPr>
        <p:spPr>
          <a:xfrm>
            <a:off x="9525000" y="3238500"/>
            <a:ext cx="203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98" cap="all">
                <a:solidFill>
                  <a:srgbClr val="0B1A33"/>
                </a:solidFill>
                <a:latin typeface="Noto Sans Mono"/>
              </a:rPr>
              <a:t>SEGMENT</a:t>
            </a:r>
          </a:p>
        </p:txBody>
      </p:sp>
      <p:sp>
        <p:nvSpPr>
          <p:cNvPr id="59" name="Rectangle 58"/>
          <p:cNvSpPr/>
          <p:nvPr/>
        </p:nvSpPr>
        <p:spPr>
          <a:xfrm>
            <a:off x="9525000" y="3479800"/>
            <a:ext cx="114300" cy="1143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Legend 1 Name"/>
          <p:cNvSpPr>
            <a:spLocks noGrp="1"/>
          </p:cNvSpPr>
          <p:nvPr>
            <p:ph type="body" idx="40"/>
          </p:nvPr>
        </p:nvSpPr>
        <p:spPr>
          <a:xfrm>
            <a:off x="9728200" y="3454400"/>
            <a:ext cx="1828800" cy="165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>
                <a:solidFill>
                  <a:srgbClr val="0B1A33"/>
                </a:solidFill>
                <a:latin typeface="Noto Sans Medium"/>
              </a:rPr>
              <a:t>Legacy hardware</a:t>
            </a:r>
          </a:p>
        </p:txBody>
      </p:sp>
      <p:sp>
        <p:nvSpPr>
          <p:cNvPr id="61" name="Legend 1 Change"/>
          <p:cNvSpPr>
            <a:spLocks noGrp="1"/>
          </p:cNvSpPr>
          <p:nvPr>
            <p:ph type="body" idx="41"/>
          </p:nvPr>
        </p:nvSpPr>
        <p:spPr>
          <a:xfrm>
            <a:off x="9728200" y="3606800"/>
            <a:ext cx="18288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35">
                <a:solidFill>
                  <a:srgbClr val="2D3A52"/>
                </a:solidFill>
                <a:latin typeface="Noto Sans Mono"/>
              </a:rPr>
              <a:t>−6% · 5y</a:t>
            </a:r>
          </a:p>
        </p:txBody>
      </p:sp>
      <p:sp>
        <p:nvSpPr>
          <p:cNvPr id="62" name="Rectangle 61"/>
          <p:cNvSpPr/>
          <p:nvPr/>
        </p:nvSpPr>
        <p:spPr>
          <a:xfrm>
            <a:off x="9525000" y="3835400"/>
            <a:ext cx="114300" cy="1143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Legend 2 Name"/>
          <p:cNvSpPr>
            <a:spLocks noGrp="1"/>
          </p:cNvSpPr>
          <p:nvPr>
            <p:ph type="body" idx="42"/>
          </p:nvPr>
        </p:nvSpPr>
        <p:spPr>
          <a:xfrm>
            <a:off x="9728200" y="3810000"/>
            <a:ext cx="1828800" cy="165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>
                <a:solidFill>
                  <a:srgbClr val="0B1A33"/>
                </a:solidFill>
                <a:latin typeface="Noto Sans Medium"/>
              </a:rPr>
              <a:t>Consumer products</a:t>
            </a:r>
          </a:p>
        </p:txBody>
      </p:sp>
      <p:sp>
        <p:nvSpPr>
          <p:cNvPr id="64" name="Legend 2 Change"/>
          <p:cNvSpPr>
            <a:spLocks noGrp="1"/>
          </p:cNvSpPr>
          <p:nvPr>
            <p:ph type="body" idx="43"/>
          </p:nvPr>
        </p:nvSpPr>
        <p:spPr>
          <a:xfrm>
            <a:off x="9728200" y="3962400"/>
            <a:ext cx="18288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35">
                <a:solidFill>
                  <a:srgbClr val="2D3A52"/>
                </a:solidFill>
                <a:latin typeface="Noto Sans Mono"/>
              </a:rPr>
              <a:t>+31% · 5y</a:t>
            </a:r>
          </a:p>
        </p:txBody>
      </p:sp>
      <p:sp>
        <p:nvSpPr>
          <p:cNvPr id="65" name="Rectangle 64"/>
          <p:cNvSpPr/>
          <p:nvPr/>
        </p:nvSpPr>
        <p:spPr>
          <a:xfrm>
            <a:off x="9525000" y="4191000"/>
            <a:ext cx="114300" cy="114300"/>
          </a:xfrm>
          <a:prstGeom prst="rect">
            <a:avLst/>
          </a:prstGeom>
          <a:solidFill>
            <a:srgbClr val="2D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Legend 3 Name"/>
          <p:cNvSpPr>
            <a:spLocks noGrp="1"/>
          </p:cNvSpPr>
          <p:nvPr>
            <p:ph type="body" idx="44"/>
          </p:nvPr>
        </p:nvSpPr>
        <p:spPr>
          <a:xfrm>
            <a:off x="9728200" y="4165600"/>
            <a:ext cx="1828800" cy="165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>
                <a:solidFill>
                  <a:srgbClr val="0B1A33"/>
                </a:solidFill>
                <a:latin typeface="Noto Sans Medium"/>
              </a:rPr>
              <a:t>Commercial</a:t>
            </a:r>
          </a:p>
        </p:txBody>
      </p:sp>
      <p:sp>
        <p:nvSpPr>
          <p:cNvPr id="67" name="Legend 3 Change"/>
          <p:cNvSpPr>
            <a:spLocks noGrp="1"/>
          </p:cNvSpPr>
          <p:nvPr>
            <p:ph type="body" idx="45"/>
          </p:nvPr>
        </p:nvSpPr>
        <p:spPr>
          <a:xfrm>
            <a:off x="9728200" y="4318000"/>
            <a:ext cx="18288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35">
                <a:solidFill>
                  <a:srgbClr val="2D3A52"/>
                </a:solidFill>
                <a:latin typeface="Noto Sans Mono"/>
              </a:rPr>
              <a:t>+31% · 5y</a:t>
            </a:r>
          </a:p>
        </p:txBody>
      </p:sp>
      <p:sp>
        <p:nvSpPr>
          <p:cNvPr id="68" name="Rectangle 67"/>
          <p:cNvSpPr/>
          <p:nvPr/>
        </p:nvSpPr>
        <p:spPr>
          <a:xfrm>
            <a:off x="9525000" y="4546600"/>
            <a:ext cx="114300" cy="1143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Legend 4 Name"/>
          <p:cNvSpPr>
            <a:spLocks noGrp="1"/>
          </p:cNvSpPr>
          <p:nvPr>
            <p:ph type="body" idx="46"/>
          </p:nvPr>
        </p:nvSpPr>
        <p:spPr>
          <a:xfrm>
            <a:off x="9728200" y="4521200"/>
            <a:ext cx="1828800" cy="165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>
                <a:solidFill>
                  <a:srgbClr val="0B1A33"/>
                </a:solidFill>
                <a:latin typeface="Noto Sans Medium"/>
              </a:rPr>
              <a:t>Platform &amp; services</a:t>
            </a:r>
          </a:p>
        </p:txBody>
      </p:sp>
      <p:sp>
        <p:nvSpPr>
          <p:cNvPr id="70" name="Legend 4 Change"/>
          <p:cNvSpPr>
            <a:spLocks noGrp="1"/>
          </p:cNvSpPr>
          <p:nvPr>
            <p:ph type="body" idx="47"/>
          </p:nvPr>
        </p:nvSpPr>
        <p:spPr>
          <a:xfrm>
            <a:off x="9728200" y="4673600"/>
            <a:ext cx="18288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35">
                <a:solidFill>
                  <a:srgbClr val="2D3A52"/>
                </a:solidFill>
                <a:latin typeface="Noto Sans Mono"/>
              </a:rPr>
              <a:t>+367% · 5y</a:t>
            </a:r>
          </a:p>
        </p:txBody>
      </p:sp>
      <p:sp>
        <p:nvSpPr>
          <p:cNvPr id="71" name="Source"/>
          <p:cNvSpPr>
            <a:spLocks noGrp="1"/>
          </p:cNvSpPr>
          <p:nvPr>
            <p:ph type="body" idx="60"/>
          </p:nvPr>
        </p:nvSpPr>
        <p:spPr>
          <a:xfrm>
            <a:off x="635000" y="6286500"/>
            <a:ext cx="838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2D3A52"/>
                </a:solidFill>
                <a:latin typeface="Noto Sans Mono"/>
              </a:rPr>
              <a:t>SOURCE · SAMPLE DATA · EUR BN</a:t>
            </a:r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Tabl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75640" y="426720"/>
            <a:ext cx="121920" cy="162560"/>
          </a:xfrm>
          <a:custGeom>
            <a:avLst/>
            <a:gdLst/>
            <a:ahLst/>
            <a:cxnLst/>
            <a:rect l="l" t="t" r="r" b="b"/>
            <a:pathLst>
              <a:path w="121920" h="162560">
                <a:moveTo>
                  <a:pt x="60960" y="0"/>
                </a:moveTo>
                <a:lnTo>
                  <a:pt x="20320" y="66040"/>
                </a:lnTo>
                <a:lnTo>
                  <a:pt x="0" y="86360"/>
                </a:lnTo>
                <a:lnTo>
                  <a:pt x="60960" y="162560"/>
                </a:lnTo>
                <a:lnTo>
                  <a:pt x="121920" y="86360"/>
                </a:lnTo>
                <a:lnTo>
                  <a:pt x="101600" y="66040"/>
                </a:lnTo>
                <a:close/>
              </a:path>
            </a:pathLst>
          </a:custGeom>
          <a:solidFill>
            <a:srgbClr val="0B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01700" y="4318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62" b="0">
                <a:solidFill>
                  <a:srgbClr val="0B1A33"/>
                </a:solidFill>
                <a:latin typeface="Noto Sans Medium"/>
              </a:rPr>
              <a:t>FEINSCHLIFF.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90">
                <a:solidFill>
                  <a:srgbClr val="0B1A33"/>
                </a:solidFill>
                <a:latin typeface="Noto Sans Mono"/>
              </a:rPr>
              <a:t>TABLE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0B1A33"/>
                </a:solidFill>
                <a:latin typeface="Noto Sa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0B1A33"/>
                </a:solidFill>
                <a:latin typeface="Noto Sa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0B1A33"/>
                </a:solidFill>
                <a:latin typeface="Noto Sa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0B1A33"/>
                </a:solidFill>
                <a:latin typeface="Noto Sans Mono"/>
              </a:rPr>
              <a:t>FY25 PRELIMINARY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0B1A33"/>
                </a:solidFill>
                <a:latin typeface="Noto Sans"/>
              </a:rPr>
              <a:t>Across five product lines, only the two flagship lines beat both revenue and margin plan.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5000" y="3263900"/>
            <a:ext cx="10922000" cy="127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35000" y="3811905"/>
            <a:ext cx="10922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35000" y="4350385"/>
            <a:ext cx="10922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35000" y="4888865"/>
            <a:ext cx="10922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5000" y="5427345"/>
            <a:ext cx="10922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35000" y="5965825"/>
            <a:ext cx="10922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Header 1"/>
          <p:cNvSpPr>
            <a:spLocks noGrp="1"/>
          </p:cNvSpPr>
          <p:nvPr>
            <p:ph type="body" idx="20"/>
          </p:nvPr>
        </p:nvSpPr>
        <p:spPr>
          <a:xfrm>
            <a:off x="787400" y="3035300"/>
            <a:ext cx="198120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C9A24A"/>
                </a:solidFill>
                <a:latin typeface="Noto Sans Mono"/>
              </a:rPr>
              <a:t>PRODUCT LINE</a:t>
            </a:r>
          </a:p>
        </p:txBody>
      </p:sp>
      <p:sp>
        <p:nvSpPr>
          <p:cNvPr id="17" name="Header 2"/>
          <p:cNvSpPr>
            <a:spLocks noGrp="1"/>
          </p:cNvSpPr>
          <p:nvPr>
            <p:ph type="body" idx="21"/>
          </p:nvPr>
        </p:nvSpPr>
        <p:spPr>
          <a:xfrm>
            <a:off x="3073400" y="3035300"/>
            <a:ext cx="185420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C9A24A"/>
                </a:solidFill>
                <a:latin typeface="Noto Sans Mono"/>
              </a:rPr>
              <a:t>REVENUE · €M</a:t>
            </a:r>
          </a:p>
        </p:txBody>
      </p:sp>
      <p:sp>
        <p:nvSpPr>
          <p:cNvPr id="18" name="Header 3"/>
          <p:cNvSpPr>
            <a:spLocks noGrp="1"/>
          </p:cNvSpPr>
          <p:nvPr>
            <p:ph type="body" idx="22"/>
          </p:nvPr>
        </p:nvSpPr>
        <p:spPr>
          <a:xfrm>
            <a:off x="5232400" y="3035300"/>
            <a:ext cx="185420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C9A24A"/>
                </a:solidFill>
                <a:latin typeface="Noto Sans Mono"/>
              </a:rPr>
              <a:t>VS. PLAN</a:t>
            </a:r>
          </a:p>
        </p:txBody>
      </p:sp>
      <p:sp>
        <p:nvSpPr>
          <p:cNvPr id="19" name="Header 4"/>
          <p:cNvSpPr>
            <a:spLocks noGrp="1"/>
          </p:cNvSpPr>
          <p:nvPr>
            <p:ph type="body" idx="23"/>
          </p:nvPr>
        </p:nvSpPr>
        <p:spPr>
          <a:xfrm>
            <a:off x="7391400" y="3035300"/>
            <a:ext cx="185420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C9A24A"/>
                </a:solidFill>
                <a:latin typeface="Noto Sans Mono"/>
              </a:rPr>
              <a:t>MARGIN</a:t>
            </a:r>
          </a:p>
        </p:txBody>
      </p:sp>
      <p:sp>
        <p:nvSpPr>
          <p:cNvPr id="20" name="Header 5"/>
          <p:cNvSpPr>
            <a:spLocks noGrp="1"/>
          </p:cNvSpPr>
          <p:nvPr>
            <p:ph type="body" idx="24"/>
          </p:nvPr>
        </p:nvSpPr>
        <p:spPr>
          <a:xfrm>
            <a:off x="9550400" y="3035300"/>
            <a:ext cx="185420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C9A24A"/>
                </a:solidFill>
                <a:latin typeface="Noto Sans Mono"/>
              </a:rPr>
              <a:t>VS. PLAN</a:t>
            </a:r>
          </a:p>
        </p:txBody>
      </p:sp>
      <p:sp>
        <p:nvSpPr>
          <p:cNvPr id="21" name="Row 1 Label"/>
          <p:cNvSpPr>
            <a:spLocks noGrp="1"/>
          </p:cNvSpPr>
          <p:nvPr>
            <p:ph type="body" idx="30"/>
          </p:nvPr>
        </p:nvSpPr>
        <p:spPr>
          <a:xfrm>
            <a:off x="787400" y="3390900"/>
            <a:ext cx="1981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0B1A33"/>
                </a:solidFill>
                <a:latin typeface="Noto Sans Medium"/>
              </a:rPr>
              <a:t>Flagship A</a:t>
            </a:r>
          </a:p>
        </p:txBody>
      </p:sp>
      <p:sp>
        <p:nvSpPr>
          <p:cNvPr id="22" name="Row 2 Label"/>
          <p:cNvSpPr>
            <a:spLocks noGrp="1"/>
          </p:cNvSpPr>
          <p:nvPr>
            <p:ph type="body" idx="31"/>
          </p:nvPr>
        </p:nvSpPr>
        <p:spPr>
          <a:xfrm>
            <a:off x="787400" y="3929380"/>
            <a:ext cx="1981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0B1A33"/>
                </a:solidFill>
                <a:latin typeface="Noto Sans Medium"/>
              </a:rPr>
              <a:t>Pro line</a:t>
            </a:r>
          </a:p>
        </p:txBody>
      </p:sp>
      <p:sp>
        <p:nvSpPr>
          <p:cNvPr id="23" name="Row 3 Label"/>
          <p:cNvSpPr>
            <a:spLocks noGrp="1"/>
          </p:cNvSpPr>
          <p:nvPr>
            <p:ph type="body" idx="32"/>
          </p:nvPr>
        </p:nvSpPr>
        <p:spPr>
          <a:xfrm>
            <a:off x="787400" y="4467860"/>
            <a:ext cx="1981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0B1A33"/>
                </a:solidFill>
                <a:latin typeface="Noto Sans Medium"/>
              </a:rPr>
              <a:t>Standard line</a:t>
            </a:r>
          </a:p>
        </p:txBody>
      </p:sp>
      <p:sp>
        <p:nvSpPr>
          <p:cNvPr id="24" name="Row 4 Label"/>
          <p:cNvSpPr>
            <a:spLocks noGrp="1"/>
          </p:cNvSpPr>
          <p:nvPr>
            <p:ph type="body" idx="33"/>
          </p:nvPr>
        </p:nvSpPr>
        <p:spPr>
          <a:xfrm>
            <a:off x="787400" y="5006340"/>
            <a:ext cx="1981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0B1A33"/>
                </a:solidFill>
                <a:latin typeface="Noto Sans Medium"/>
              </a:rPr>
              <a:t>Compact line</a:t>
            </a:r>
          </a:p>
        </p:txBody>
      </p:sp>
      <p:sp>
        <p:nvSpPr>
          <p:cNvPr id="25" name="Row 5 Label"/>
          <p:cNvSpPr>
            <a:spLocks noGrp="1"/>
          </p:cNvSpPr>
          <p:nvPr>
            <p:ph type="body" idx="34"/>
          </p:nvPr>
        </p:nvSpPr>
        <p:spPr>
          <a:xfrm>
            <a:off x="787400" y="5544820"/>
            <a:ext cx="1981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0B1A33"/>
                </a:solidFill>
                <a:latin typeface="Noto Sans Medium"/>
              </a:rPr>
              <a:t>Accessories</a:t>
            </a:r>
          </a:p>
        </p:txBody>
      </p:sp>
      <p:sp>
        <p:nvSpPr>
          <p:cNvPr id="26" name="Cell r1c1"/>
          <p:cNvSpPr>
            <a:spLocks noGrp="1"/>
          </p:cNvSpPr>
          <p:nvPr>
            <p:ph type="body" idx="40"/>
          </p:nvPr>
        </p:nvSpPr>
        <p:spPr>
          <a:xfrm>
            <a:off x="3073400" y="339090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3,240</a:t>
            </a:r>
          </a:p>
        </p:txBody>
      </p:sp>
      <p:sp>
        <p:nvSpPr>
          <p:cNvPr id="27" name="Cell r1c2"/>
          <p:cNvSpPr>
            <a:spLocks noGrp="1"/>
          </p:cNvSpPr>
          <p:nvPr>
            <p:ph type="body" idx="41"/>
          </p:nvPr>
        </p:nvSpPr>
        <p:spPr>
          <a:xfrm>
            <a:off x="5232400" y="339090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+3.8%</a:t>
            </a:r>
          </a:p>
        </p:txBody>
      </p:sp>
      <p:sp>
        <p:nvSpPr>
          <p:cNvPr id="28" name="Cell r1c3"/>
          <p:cNvSpPr>
            <a:spLocks noGrp="1"/>
          </p:cNvSpPr>
          <p:nvPr>
            <p:ph type="body" idx="42"/>
          </p:nvPr>
        </p:nvSpPr>
        <p:spPr>
          <a:xfrm>
            <a:off x="7391400" y="339090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14.2%</a:t>
            </a:r>
          </a:p>
        </p:txBody>
      </p:sp>
      <p:sp>
        <p:nvSpPr>
          <p:cNvPr id="29" name="Cell r1c4"/>
          <p:cNvSpPr>
            <a:spLocks noGrp="1"/>
          </p:cNvSpPr>
          <p:nvPr>
            <p:ph type="body" idx="43"/>
          </p:nvPr>
        </p:nvSpPr>
        <p:spPr>
          <a:xfrm>
            <a:off x="9550400" y="339090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+0.6 pt</a:t>
            </a:r>
          </a:p>
        </p:txBody>
      </p:sp>
      <p:sp>
        <p:nvSpPr>
          <p:cNvPr id="30" name="Cell r2c1"/>
          <p:cNvSpPr>
            <a:spLocks noGrp="1"/>
          </p:cNvSpPr>
          <p:nvPr>
            <p:ph type="body" idx="44"/>
          </p:nvPr>
        </p:nvSpPr>
        <p:spPr>
          <a:xfrm>
            <a:off x="3073400" y="392938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2,910</a:t>
            </a:r>
          </a:p>
        </p:txBody>
      </p:sp>
      <p:sp>
        <p:nvSpPr>
          <p:cNvPr id="31" name="Cell r2c2"/>
          <p:cNvSpPr>
            <a:spLocks noGrp="1"/>
          </p:cNvSpPr>
          <p:nvPr>
            <p:ph type="body" idx="45"/>
          </p:nvPr>
        </p:nvSpPr>
        <p:spPr>
          <a:xfrm>
            <a:off x="5232400" y="392938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+2.2%</a:t>
            </a:r>
          </a:p>
        </p:txBody>
      </p:sp>
      <p:sp>
        <p:nvSpPr>
          <p:cNvPr id="32" name="Cell r2c3"/>
          <p:cNvSpPr>
            <a:spLocks noGrp="1"/>
          </p:cNvSpPr>
          <p:nvPr>
            <p:ph type="body" idx="46"/>
          </p:nvPr>
        </p:nvSpPr>
        <p:spPr>
          <a:xfrm>
            <a:off x="7391400" y="392938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13.5%</a:t>
            </a:r>
          </a:p>
        </p:txBody>
      </p:sp>
      <p:sp>
        <p:nvSpPr>
          <p:cNvPr id="33" name="Cell r2c4"/>
          <p:cNvSpPr>
            <a:spLocks noGrp="1"/>
          </p:cNvSpPr>
          <p:nvPr>
            <p:ph type="body" idx="47"/>
          </p:nvPr>
        </p:nvSpPr>
        <p:spPr>
          <a:xfrm>
            <a:off x="9550400" y="392938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+0.4 pt</a:t>
            </a:r>
          </a:p>
        </p:txBody>
      </p:sp>
      <p:sp>
        <p:nvSpPr>
          <p:cNvPr id="34" name="Cell r3c1"/>
          <p:cNvSpPr>
            <a:spLocks noGrp="1"/>
          </p:cNvSpPr>
          <p:nvPr>
            <p:ph type="body" idx="48"/>
          </p:nvPr>
        </p:nvSpPr>
        <p:spPr>
          <a:xfrm>
            <a:off x="3073400" y="446786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3,480</a:t>
            </a:r>
          </a:p>
        </p:txBody>
      </p:sp>
      <p:sp>
        <p:nvSpPr>
          <p:cNvPr id="35" name="Cell r3c2"/>
          <p:cNvSpPr>
            <a:spLocks noGrp="1"/>
          </p:cNvSpPr>
          <p:nvPr>
            <p:ph type="body" idx="49"/>
          </p:nvPr>
        </p:nvSpPr>
        <p:spPr>
          <a:xfrm>
            <a:off x="5232400" y="446786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+0.3%</a:t>
            </a:r>
          </a:p>
        </p:txBody>
      </p:sp>
      <p:sp>
        <p:nvSpPr>
          <p:cNvPr id="36" name="Cell r3c3"/>
          <p:cNvSpPr>
            <a:spLocks noGrp="1"/>
          </p:cNvSpPr>
          <p:nvPr>
            <p:ph type="body" idx="50"/>
          </p:nvPr>
        </p:nvSpPr>
        <p:spPr>
          <a:xfrm>
            <a:off x="7391400" y="446786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11.1%</a:t>
            </a:r>
          </a:p>
        </p:txBody>
      </p:sp>
      <p:sp>
        <p:nvSpPr>
          <p:cNvPr id="37" name="Cell r3c4"/>
          <p:cNvSpPr>
            <a:spLocks noGrp="1"/>
          </p:cNvSpPr>
          <p:nvPr>
            <p:ph type="body" idx="51"/>
          </p:nvPr>
        </p:nvSpPr>
        <p:spPr>
          <a:xfrm>
            <a:off x="9550400" y="446786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−0.2 pt</a:t>
            </a:r>
          </a:p>
        </p:txBody>
      </p:sp>
      <p:sp>
        <p:nvSpPr>
          <p:cNvPr id="38" name="Cell r4c1"/>
          <p:cNvSpPr>
            <a:spLocks noGrp="1"/>
          </p:cNvSpPr>
          <p:nvPr>
            <p:ph type="body" idx="52"/>
          </p:nvPr>
        </p:nvSpPr>
        <p:spPr>
          <a:xfrm>
            <a:off x="3073400" y="500634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2,610</a:t>
            </a:r>
          </a:p>
        </p:txBody>
      </p:sp>
      <p:sp>
        <p:nvSpPr>
          <p:cNvPr id="39" name="Cell r4c2"/>
          <p:cNvSpPr>
            <a:spLocks noGrp="1"/>
          </p:cNvSpPr>
          <p:nvPr>
            <p:ph type="body" idx="53"/>
          </p:nvPr>
        </p:nvSpPr>
        <p:spPr>
          <a:xfrm>
            <a:off x="5232400" y="500634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−0.9%</a:t>
            </a:r>
          </a:p>
        </p:txBody>
      </p:sp>
      <p:sp>
        <p:nvSpPr>
          <p:cNvPr id="40" name="Cell r4c3"/>
          <p:cNvSpPr>
            <a:spLocks noGrp="1"/>
          </p:cNvSpPr>
          <p:nvPr>
            <p:ph type="body" idx="54"/>
          </p:nvPr>
        </p:nvSpPr>
        <p:spPr>
          <a:xfrm>
            <a:off x="7391400" y="500634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10.4%</a:t>
            </a:r>
          </a:p>
        </p:txBody>
      </p:sp>
      <p:sp>
        <p:nvSpPr>
          <p:cNvPr id="41" name="Cell r4c4"/>
          <p:cNvSpPr>
            <a:spLocks noGrp="1"/>
          </p:cNvSpPr>
          <p:nvPr>
            <p:ph type="body" idx="55"/>
          </p:nvPr>
        </p:nvSpPr>
        <p:spPr>
          <a:xfrm>
            <a:off x="9550400" y="500634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−0.3 pt</a:t>
            </a:r>
          </a:p>
        </p:txBody>
      </p:sp>
      <p:sp>
        <p:nvSpPr>
          <p:cNvPr id="42" name="Cell r5c1"/>
          <p:cNvSpPr>
            <a:spLocks noGrp="1"/>
          </p:cNvSpPr>
          <p:nvPr>
            <p:ph type="body" idx="56"/>
          </p:nvPr>
        </p:nvSpPr>
        <p:spPr>
          <a:xfrm>
            <a:off x="3073400" y="554482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1,860</a:t>
            </a:r>
          </a:p>
        </p:txBody>
      </p:sp>
      <p:sp>
        <p:nvSpPr>
          <p:cNvPr id="43" name="Cell r5c2"/>
          <p:cNvSpPr>
            <a:spLocks noGrp="1"/>
          </p:cNvSpPr>
          <p:nvPr>
            <p:ph type="body" idx="57"/>
          </p:nvPr>
        </p:nvSpPr>
        <p:spPr>
          <a:xfrm>
            <a:off x="5232400" y="554482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−1.4%</a:t>
            </a:r>
          </a:p>
        </p:txBody>
      </p:sp>
      <p:sp>
        <p:nvSpPr>
          <p:cNvPr id="44" name="Cell r5c3"/>
          <p:cNvSpPr>
            <a:spLocks noGrp="1"/>
          </p:cNvSpPr>
          <p:nvPr>
            <p:ph type="body" idx="58"/>
          </p:nvPr>
        </p:nvSpPr>
        <p:spPr>
          <a:xfrm>
            <a:off x="7391400" y="554482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9.2%</a:t>
            </a:r>
          </a:p>
        </p:txBody>
      </p:sp>
      <p:sp>
        <p:nvSpPr>
          <p:cNvPr id="45" name="Cell r5c4"/>
          <p:cNvSpPr>
            <a:spLocks noGrp="1"/>
          </p:cNvSpPr>
          <p:nvPr>
            <p:ph type="body" idx="59"/>
          </p:nvPr>
        </p:nvSpPr>
        <p:spPr>
          <a:xfrm>
            <a:off x="9550400" y="554482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−0.7 pt</a:t>
            </a:r>
          </a:p>
        </p:txBody>
      </p:sp>
      <p:sp>
        <p:nvSpPr>
          <p:cNvPr id="46" name="Source"/>
          <p:cNvSpPr>
            <a:spLocks noGrp="1"/>
          </p:cNvSpPr>
          <p:nvPr>
            <p:ph type="body" idx="60"/>
          </p:nvPr>
        </p:nvSpPr>
        <p:spPr>
          <a:xfrm>
            <a:off x="635000" y="62230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2D3A52"/>
                </a:solidFill>
                <a:latin typeface="Noto Sans Mono"/>
              </a:rPr>
              <a:t>SOURCE · SAMPLE DATA, FY25 PRELIMINARY · EUR M · PLAN SET OCT 2024</a:t>
            </a:r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Pyramid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75640" y="426720"/>
            <a:ext cx="121920" cy="162560"/>
          </a:xfrm>
          <a:custGeom>
            <a:avLst/>
            <a:gdLst/>
            <a:ahLst/>
            <a:cxnLst/>
            <a:rect l="l" t="t" r="r" b="b"/>
            <a:pathLst>
              <a:path w="121920" h="162560">
                <a:moveTo>
                  <a:pt x="60960" y="0"/>
                </a:moveTo>
                <a:lnTo>
                  <a:pt x="20320" y="66040"/>
                </a:lnTo>
                <a:lnTo>
                  <a:pt x="0" y="86360"/>
                </a:lnTo>
                <a:lnTo>
                  <a:pt x="60960" y="162560"/>
                </a:lnTo>
                <a:lnTo>
                  <a:pt x="121920" y="86360"/>
                </a:lnTo>
                <a:lnTo>
                  <a:pt x="101600" y="66040"/>
                </a:lnTo>
                <a:close/>
              </a:path>
            </a:pathLst>
          </a:custGeom>
          <a:solidFill>
            <a:srgbClr val="0B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01700" y="4318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62" b="0">
                <a:solidFill>
                  <a:srgbClr val="0B1A33"/>
                </a:solidFill>
                <a:latin typeface="Noto Sans Medium"/>
              </a:rPr>
              <a:t>FEINSCHLIFF.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90">
                <a:solidFill>
                  <a:srgbClr val="0B1A33"/>
                </a:solidFill>
                <a:latin typeface="Noto Sans Mono"/>
              </a:rPr>
              <a:t>PYRAMID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0B1A33"/>
                </a:solidFill>
                <a:latin typeface="Noto Sa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0B1A33"/>
                </a:solidFill>
                <a:latin typeface="Noto Sa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0B1A33"/>
                </a:solidFill>
                <a:latin typeface="Noto Sa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0B1A33"/>
                </a:solidFill>
                <a:latin typeface="Noto Sans Mono"/>
              </a:rPr>
              <a:t>CUSTOMER VALUE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0B1A33"/>
                </a:solidFill>
                <a:latin typeface="Noto Sans"/>
              </a:rPr>
              <a:t>Three tiers of value: a solid product, an honest relationship, a measured experience.</a:t>
            </a:r>
          </a:p>
        </p:txBody>
      </p:sp>
      <p:sp>
        <p:nvSpPr>
          <p:cNvPr id="10" name="Isosceles Triangle 9"/>
          <p:cNvSpPr/>
          <p:nvPr/>
        </p:nvSpPr>
        <p:spPr>
          <a:xfrm>
            <a:off x="2497667" y="3048000"/>
            <a:ext cx="1608667" cy="1083733"/>
          </a:xfrm>
          <a:prstGeom prst="triangle">
            <a:avLst/>
          </a:prstGeom>
          <a:solidFill>
            <a:srgbClr val="2D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Freeform 10"/>
          <p:cNvSpPr/>
          <p:nvPr/>
        </p:nvSpPr>
        <p:spPr>
          <a:xfrm>
            <a:off x="1693333" y="4157133"/>
            <a:ext cx="3217334" cy="1083734"/>
          </a:xfrm>
          <a:custGeom>
            <a:avLst/>
            <a:gdLst/>
            <a:ahLst/>
            <a:cxnLst/>
            <a:rect l="l" t="t" r="r" b="b"/>
            <a:pathLst>
              <a:path w="3217334" h="1083734">
                <a:moveTo>
                  <a:pt x="804334" y="0"/>
                </a:moveTo>
                <a:lnTo>
                  <a:pt x="2413000" y="0"/>
                </a:lnTo>
                <a:lnTo>
                  <a:pt x="3217334" y="1083734"/>
                </a:lnTo>
                <a:lnTo>
                  <a:pt x="0" y="1083734"/>
                </a:lnTo>
                <a:close/>
              </a:path>
            </a:pathLst>
          </a:cu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Freeform 11"/>
          <p:cNvSpPr/>
          <p:nvPr/>
        </p:nvSpPr>
        <p:spPr>
          <a:xfrm>
            <a:off x="889000" y="5266267"/>
            <a:ext cx="4826000" cy="1083733"/>
          </a:xfrm>
          <a:custGeom>
            <a:avLst/>
            <a:gdLst/>
            <a:ahLst/>
            <a:cxnLst/>
            <a:rect l="l" t="t" r="r" b="b"/>
            <a:pathLst>
              <a:path w="4826000" h="1083733">
                <a:moveTo>
                  <a:pt x="804333" y="0"/>
                </a:moveTo>
                <a:lnTo>
                  <a:pt x="4021667" y="0"/>
                </a:lnTo>
                <a:lnTo>
                  <a:pt x="4826000" y="1083733"/>
                </a:lnTo>
                <a:lnTo>
                  <a:pt x="0" y="1083733"/>
                </a:lnTo>
                <a:close/>
              </a:path>
            </a:pathLst>
          </a:cu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ier 1 Label"/>
          <p:cNvSpPr>
            <a:spLocks noGrp="1"/>
          </p:cNvSpPr>
          <p:nvPr>
            <p:ph type="body" idx="20"/>
          </p:nvPr>
        </p:nvSpPr>
        <p:spPr>
          <a:xfrm>
            <a:off x="4206875" y="3448050"/>
            <a:ext cx="21590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spc="-14">
                <a:solidFill>
                  <a:srgbClr val="0B1A33"/>
                </a:solidFill>
                <a:latin typeface="Noto Sans Medium"/>
              </a:rPr>
              <a:t>A measured experience.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350000" y="3048000"/>
            <a:ext cx="5207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ier 1 Counter"/>
          <p:cNvSpPr>
            <a:spLocks noGrp="1"/>
          </p:cNvSpPr>
          <p:nvPr>
            <p:ph type="body" idx="22"/>
          </p:nvPr>
        </p:nvSpPr>
        <p:spPr>
          <a:xfrm>
            <a:off x="6350000" y="3149600"/>
            <a:ext cx="5207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9A24A"/>
                </a:solidFill>
                <a:latin typeface="Noto Sans Mono"/>
              </a:rPr>
              <a:t>TIER 03 · MEANING</a:t>
            </a:r>
          </a:p>
        </p:txBody>
      </p:sp>
      <p:sp>
        <p:nvSpPr>
          <p:cNvPr id="16" name="Tier 1 Body"/>
          <p:cNvSpPr>
            <a:spLocks noGrp="1"/>
          </p:cNvSpPr>
          <p:nvPr>
            <p:ph type="body" idx="21"/>
          </p:nvPr>
        </p:nvSpPr>
        <p:spPr>
          <a:xfrm>
            <a:off x="6350000" y="3352800"/>
            <a:ext cx="5207000" cy="7239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2D3A52"/>
                </a:solidFill>
                <a:latin typeface="Noto Sans"/>
              </a:rPr>
              <a:t>Time given back; one less thing to think about.</a:t>
            </a:r>
          </a:p>
        </p:txBody>
      </p:sp>
      <p:sp>
        <p:nvSpPr>
          <p:cNvPr id="17" name="Tier 2 Label"/>
          <p:cNvSpPr>
            <a:spLocks noGrp="1"/>
          </p:cNvSpPr>
          <p:nvPr>
            <p:ph type="body" idx="24"/>
          </p:nvPr>
        </p:nvSpPr>
        <p:spPr>
          <a:xfrm>
            <a:off x="1797050" y="4552950"/>
            <a:ext cx="3009900" cy="279400"/>
          </a:xfrm>
        </p:spPr>
        <p:txBody>
          <a:bodyPr lIns="0" tIns="0" rIns="0" bIns="0" wrap="square" anchor="t"/>
          <a:lstStyle/>
          <a:p>
            <a:pPr marL="0" indent="0" algn="ctr">
              <a:lnSpc>
                <a:spcPct val="114999"/>
              </a:lnSpc>
              <a:buNone/>
            </a:pPr>
            <a:r>
              <a:rPr lang="en-US" sz="1400" spc="-17">
                <a:solidFill>
                  <a:srgbClr val="FFFFFF"/>
                </a:solidFill>
                <a:latin typeface="Noto Sans Medium"/>
              </a:rPr>
              <a:t>An honest relationship.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50000" y="4152900"/>
            <a:ext cx="5207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ier 2 Counter"/>
          <p:cNvSpPr>
            <a:spLocks noGrp="1"/>
          </p:cNvSpPr>
          <p:nvPr>
            <p:ph type="body" idx="26"/>
          </p:nvPr>
        </p:nvSpPr>
        <p:spPr>
          <a:xfrm>
            <a:off x="6350000" y="4254500"/>
            <a:ext cx="5207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9A24A"/>
                </a:solidFill>
                <a:latin typeface="Noto Sans Mono"/>
              </a:rPr>
              <a:t>TIER 02 · TRUST</a:t>
            </a:r>
          </a:p>
        </p:txBody>
      </p:sp>
      <p:sp>
        <p:nvSpPr>
          <p:cNvPr id="20" name="Tier 2 Body"/>
          <p:cNvSpPr>
            <a:spLocks noGrp="1"/>
          </p:cNvSpPr>
          <p:nvPr>
            <p:ph type="body" idx="25"/>
          </p:nvPr>
        </p:nvSpPr>
        <p:spPr>
          <a:xfrm>
            <a:off x="6350000" y="4457700"/>
            <a:ext cx="5207000" cy="7239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2D3A52"/>
                </a:solidFill>
                <a:latin typeface="Noto Sans"/>
              </a:rPr>
              <a:t>The product tells you the truth about itself — status, usage, when to act.</a:t>
            </a:r>
          </a:p>
        </p:txBody>
      </p:sp>
      <p:sp>
        <p:nvSpPr>
          <p:cNvPr id="21" name="Tier 3 Label"/>
          <p:cNvSpPr>
            <a:spLocks noGrp="1"/>
          </p:cNvSpPr>
          <p:nvPr>
            <p:ph type="body" idx="28"/>
          </p:nvPr>
        </p:nvSpPr>
        <p:spPr>
          <a:xfrm>
            <a:off x="990600" y="5664200"/>
            <a:ext cx="4622800" cy="279400"/>
          </a:xfrm>
        </p:spPr>
        <p:txBody>
          <a:bodyPr lIns="0" tIns="0" rIns="0" bIns="0" wrap="square" anchor="t"/>
          <a:lstStyle/>
          <a:p>
            <a:pPr marL="0" indent="0" algn="ctr">
              <a:lnSpc>
                <a:spcPct val="114999"/>
              </a:lnSpc>
              <a:buNone/>
            </a:pPr>
            <a:r>
              <a:rPr lang="en-US" sz="1400" spc="-17">
                <a:solidFill>
                  <a:srgbClr val="FFFFFF"/>
                </a:solidFill>
                <a:latin typeface="Noto Sans Medium"/>
              </a:rPr>
              <a:t>A solid product.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350000" y="5264150"/>
            <a:ext cx="5207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ier 3 Counter"/>
          <p:cNvSpPr>
            <a:spLocks noGrp="1"/>
          </p:cNvSpPr>
          <p:nvPr>
            <p:ph type="body" idx="30"/>
          </p:nvPr>
        </p:nvSpPr>
        <p:spPr>
          <a:xfrm>
            <a:off x="6350000" y="5365750"/>
            <a:ext cx="5207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9A24A"/>
                </a:solidFill>
                <a:latin typeface="Noto Sans Mono"/>
              </a:rPr>
              <a:t>TIER 01 · FOUNDATION</a:t>
            </a:r>
          </a:p>
        </p:txBody>
      </p:sp>
      <p:sp>
        <p:nvSpPr>
          <p:cNvPr id="24" name="Tier 3 Body"/>
          <p:cNvSpPr>
            <a:spLocks noGrp="1"/>
          </p:cNvSpPr>
          <p:nvPr>
            <p:ph type="body" idx="29"/>
          </p:nvPr>
        </p:nvSpPr>
        <p:spPr>
          <a:xfrm>
            <a:off x="6350000" y="5568950"/>
            <a:ext cx="5207000" cy="7239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2D3A52"/>
                </a:solidFill>
                <a:latin typeface="Noto Sans"/>
              </a:rPr>
              <a:t>Things that work, for years, in any context — solid, reliable, supportable.</a:t>
            </a:r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Key Takeaways">
    <p:bg>
      <p:bgPr>
        <a:solidFill>
          <a:srgbClr val="0B1A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75640" y="426720"/>
            <a:ext cx="121920" cy="162560"/>
          </a:xfrm>
          <a:custGeom>
            <a:avLst/>
            <a:gdLst/>
            <a:ahLst/>
            <a:cxnLst/>
            <a:rect l="l" t="t" r="r" b="b"/>
            <a:pathLst>
              <a:path w="121920" h="162560">
                <a:moveTo>
                  <a:pt x="60960" y="0"/>
                </a:moveTo>
                <a:lnTo>
                  <a:pt x="20320" y="66040"/>
                </a:lnTo>
                <a:lnTo>
                  <a:pt x="0" y="86360"/>
                </a:lnTo>
                <a:lnTo>
                  <a:pt x="60960" y="162560"/>
                </a:lnTo>
                <a:lnTo>
                  <a:pt x="121920" y="86360"/>
                </a:lnTo>
                <a:lnTo>
                  <a:pt x="101600" y="6604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01700" y="4318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62" b="0">
                <a:solidFill>
                  <a:srgbClr val="FFFFFF"/>
                </a:solidFill>
                <a:latin typeface="Noto Sans Medium"/>
              </a:rPr>
              <a:t>FEINSCHLIFF.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90">
                <a:solidFill>
                  <a:srgbClr val="FFFFFF"/>
                </a:solidFill>
                <a:latin typeface="Noto Sans Mono"/>
              </a:rPr>
              <a:t>KEY TAKEAWAYS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FFFFFF"/>
                </a:solidFill>
                <a:latin typeface="Noto Sa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FFFFFF"/>
                </a:solidFill>
                <a:latin typeface="Noto Sa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FFFFFF"/>
                </a:solidFill>
                <a:latin typeface="Noto Sa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143000"/>
            <a:ext cx="508000" cy="254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Kicker"/>
          <p:cNvSpPr>
            <a:spLocks noGrp="1"/>
          </p:cNvSpPr>
          <p:nvPr>
            <p:ph type="body" idx="10"/>
          </p:nvPr>
        </p:nvSpPr>
        <p:spPr>
          <a:xfrm>
            <a:off x="635000" y="14224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C9A24A"/>
                </a:solidFill>
                <a:latin typeface="Noto Sans Mono"/>
              </a:rPr>
              <a:t>KEY TAKEAWAYS</a:t>
            </a:r>
          </a:p>
        </p:txBody>
      </p:sp>
      <p:sp>
        <p:nvSpPr>
          <p:cNvPr id="9" name="Action Title"/>
          <p:cNvSpPr>
            <a:spLocks noGrp="1"/>
          </p:cNvSpPr>
          <p:nvPr>
            <p:ph type="title"/>
          </p:nvPr>
        </p:nvSpPr>
        <p:spPr>
          <a:xfrm>
            <a:off x="635000" y="1727200"/>
            <a:ext cx="109220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50" b="1" spc="-28">
                <a:solidFill>
                  <a:srgbClr val="FFFFFF"/>
                </a:solidFill>
                <a:latin typeface="Noto Sans"/>
              </a:rPr>
              <a:t>Three things to remember: platform first, measure the experience, write plainly.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5000" y="3175000"/>
            <a:ext cx="304800" cy="1905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Card 1 Counter"/>
          <p:cNvSpPr>
            <a:spLocks noGrp="1"/>
          </p:cNvSpPr>
          <p:nvPr>
            <p:ph type="body" idx="20"/>
          </p:nvPr>
        </p:nvSpPr>
        <p:spPr>
          <a:xfrm>
            <a:off x="635000" y="3302000"/>
            <a:ext cx="26162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9A24A"/>
                </a:solidFill>
                <a:latin typeface="Noto Sans Mono"/>
              </a:rPr>
              <a:t>01</a:t>
            </a:r>
          </a:p>
        </p:txBody>
      </p:sp>
      <p:sp>
        <p:nvSpPr>
          <p:cNvPr id="12" name="Card 1 Heading"/>
          <p:cNvSpPr>
            <a:spLocks noGrp="1"/>
          </p:cNvSpPr>
          <p:nvPr>
            <p:ph type="body" idx="21"/>
          </p:nvPr>
        </p:nvSpPr>
        <p:spPr>
          <a:xfrm>
            <a:off x="635000" y="3581400"/>
            <a:ext cx="26162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00" spc="-22">
                <a:solidFill>
                  <a:srgbClr val="FFFFFF"/>
                </a:solidFill>
                <a:latin typeface="Noto Sans Medium"/>
              </a:rPr>
              <a:t>Platform first.</a:t>
            </a:r>
          </a:p>
        </p:txBody>
      </p:sp>
      <p:sp>
        <p:nvSpPr>
          <p:cNvPr id="13" name="Card 1 Body"/>
          <p:cNvSpPr>
            <a:spLocks noGrp="1"/>
          </p:cNvSpPr>
          <p:nvPr>
            <p:ph type="body" idx="22"/>
          </p:nvPr>
        </p:nvSpPr>
        <p:spPr>
          <a:xfrm>
            <a:off x="635000" y="4318000"/>
            <a:ext cx="2616200" cy="177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A9BCD6"/>
                </a:solidFill>
                <a:latin typeface="Noto Sans"/>
              </a:rPr>
              <a:t>Every new SKU ships on the unified OS core from the first production run. No line-specific forks after Q2.</a:t>
            </a:r>
          </a:p>
        </p:txBody>
      </p:sp>
      <p:sp>
        <p:nvSpPr>
          <p:cNvPr id="14" name="Card 1 Owner"/>
          <p:cNvSpPr>
            <a:spLocks noGrp="1"/>
          </p:cNvSpPr>
          <p:nvPr>
            <p:ph type="body" idx="23"/>
          </p:nvPr>
        </p:nvSpPr>
        <p:spPr>
          <a:xfrm>
            <a:off x="635000" y="6223000"/>
            <a:ext cx="26162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5A6478"/>
                </a:solidFill>
                <a:latin typeface="Noto Sans Mono"/>
              </a:rPr>
              <a:t>OWNER · PLATFORM VP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403600" y="3175000"/>
            <a:ext cx="304800" cy="1905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Card 2 Counter"/>
          <p:cNvSpPr>
            <a:spLocks noGrp="1"/>
          </p:cNvSpPr>
          <p:nvPr>
            <p:ph type="body" idx="24"/>
          </p:nvPr>
        </p:nvSpPr>
        <p:spPr>
          <a:xfrm>
            <a:off x="3403600" y="3302000"/>
            <a:ext cx="26162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9A24A"/>
                </a:solidFill>
                <a:latin typeface="Noto Sans Mono"/>
              </a:rPr>
              <a:t>02</a:t>
            </a:r>
          </a:p>
        </p:txBody>
      </p:sp>
      <p:sp>
        <p:nvSpPr>
          <p:cNvPr id="17" name="Card 2 Heading"/>
          <p:cNvSpPr>
            <a:spLocks noGrp="1"/>
          </p:cNvSpPr>
          <p:nvPr>
            <p:ph type="body" idx="25"/>
          </p:nvPr>
        </p:nvSpPr>
        <p:spPr>
          <a:xfrm>
            <a:off x="3403600" y="3581400"/>
            <a:ext cx="26162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00" spc="-22">
                <a:solidFill>
                  <a:srgbClr val="FFFFFF"/>
                </a:solidFill>
                <a:latin typeface="Noto Sans Medium"/>
              </a:rPr>
              <a:t>Measure the experience.</a:t>
            </a:r>
          </a:p>
        </p:txBody>
      </p:sp>
      <p:sp>
        <p:nvSpPr>
          <p:cNvPr id="18" name="Card 2 Body"/>
          <p:cNvSpPr>
            <a:spLocks noGrp="1"/>
          </p:cNvSpPr>
          <p:nvPr>
            <p:ph type="body" idx="26"/>
          </p:nvPr>
        </p:nvSpPr>
        <p:spPr>
          <a:xfrm>
            <a:off x="3403600" y="4318000"/>
            <a:ext cx="2616200" cy="177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A9BCD6"/>
                </a:solidFill>
                <a:latin typeface="Noto Sans"/>
              </a:rPr>
              <a:t>Telemetry is the product, not an add-on. Every feature must ship with the metric that proves it worked.</a:t>
            </a:r>
          </a:p>
        </p:txBody>
      </p:sp>
      <p:sp>
        <p:nvSpPr>
          <p:cNvPr id="19" name="Card 2 Owner"/>
          <p:cNvSpPr>
            <a:spLocks noGrp="1"/>
          </p:cNvSpPr>
          <p:nvPr>
            <p:ph type="body" idx="27"/>
          </p:nvPr>
        </p:nvSpPr>
        <p:spPr>
          <a:xfrm>
            <a:off x="3403600" y="6223000"/>
            <a:ext cx="26162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5A6478"/>
                </a:solidFill>
                <a:latin typeface="Noto Sans Mono"/>
              </a:rPr>
              <a:t>OWNER · DATA LEAD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172200" y="3175000"/>
            <a:ext cx="304800" cy="1905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Card 3 Counter"/>
          <p:cNvSpPr>
            <a:spLocks noGrp="1"/>
          </p:cNvSpPr>
          <p:nvPr>
            <p:ph type="body" idx="28"/>
          </p:nvPr>
        </p:nvSpPr>
        <p:spPr>
          <a:xfrm>
            <a:off x="6172200" y="3302000"/>
            <a:ext cx="26162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9A24A"/>
                </a:solidFill>
                <a:latin typeface="Noto Sans Mono"/>
              </a:rPr>
              <a:t>03</a:t>
            </a:r>
          </a:p>
        </p:txBody>
      </p:sp>
      <p:sp>
        <p:nvSpPr>
          <p:cNvPr id="22" name="Card 3 Heading"/>
          <p:cNvSpPr>
            <a:spLocks noGrp="1"/>
          </p:cNvSpPr>
          <p:nvPr>
            <p:ph type="body" idx="29"/>
          </p:nvPr>
        </p:nvSpPr>
        <p:spPr>
          <a:xfrm>
            <a:off x="6172200" y="3581400"/>
            <a:ext cx="26162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00" spc="-22">
                <a:solidFill>
                  <a:srgbClr val="FFFFFF"/>
                </a:solidFill>
                <a:latin typeface="Noto Sans Medium"/>
              </a:rPr>
              <a:t>Write plainly.</a:t>
            </a:r>
          </a:p>
        </p:txBody>
      </p:sp>
      <p:sp>
        <p:nvSpPr>
          <p:cNvPr id="23" name="Card 3 Body"/>
          <p:cNvSpPr>
            <a:spLocks noGrp="1"/>
          </p:cNvSpPr>
          <p:nvPr>
            <p:ph type="body" idx="30"/>
          </p:nvPr>
        </p:nvSpPr>
        <p:spPr>
          <a:xfrm>
            <a:off x="6172200" y="4318000"/>
            <a:ext cx="2616200" cy="177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A9BCD6"/>
                </a:solidFill>
                <a:latin typeface="Noto Sans"/>
              </a:rPr>
              <a:t>Release notes, app copy, service sheets — all authored in the Feinschliff voice. Short sentences. Concrete nouns.</a:t>
            </a:r>
          </a:p>
        </p:txBody>
      </p:sp>
      <p:sp>
        <p:nvSpPr>
          <p:cNvPr id="24" name="Card 3 Owner"/>
          <p:cNvSpPr>
            <a:spLocks noGrp="1"/>
          </p:cNvSpPr>
          <p:nvPr>
            <p:ph type="body" idx="31"/>
          </p:nvPr>
        </p:nvSpPr>
        <p:spPr>
          <a:xfrm>
            <a:off x="6172200" y="6223000"/>
            <a:ext cx="26162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5A6478"/>
                </a:solidFill>
                <a:latin typeface="Noto Sans Mono"/>
              </a:rPr>
              <a:t>OWNER · CONTENT LEAD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940800" y="3175000"/>
            <a:ext cx="304800" cy="1905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Card 4 Counter"/>
          <p:cNvSpPr>
            <a:spLocks noGrp="1"/>
          </p:cNvSpPr>
          <p:nvPr>
            <p:ph type="body" idx="32"/>
          </p:nvPr>
        </p:nvSpPr>
        <p:spPr>
          <a:xfrm>
            <a:off x="8940800" y="3302000"/>
            <a:ext cx="26162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9A24A"/>
                </a:solidFill>
                <a:latin typeface="Noto Sans Mono"/>
              </a:rPr>
              <a:t>04</a:t>
            </a:r>
          </a:p>
        </p:txBody>
      </p:sp>
      <p:sp>
        <p:nvSpPr>
          <p:cNvPr id="27" name="Card 4 Heading"/>
          <p:cNvSpPr>
            <a:spLocks noGrp="1"/>
          </p:cNvSpPr>
          <p:nvPr>
            <p:ph type="body" idx="33"/>
          </p:nvPr>
        </p:nvSpPr>
        <p:spPr>
          <a:xfrm>
            <a:off x="8940800" y="3581400"/>
            <a:ext cx="26162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00" spc="-22">
                <a:solidFill>
                  <a:srgbClr val="FFFFFF"/>
                </a:solidFill>
                <a:latin typeface="Noto Sans Medium"/>
              </a:rPr>
              <a:t>Ship weekly.</a:t>
            </a:r>
          </a:p>
        </p:txBody>
      </p:sp>
      <p:sp>
        <p:nvSpPr>
          <p:cNvPr id="28" name="Card 4 Body"/>
          <p:cNvSpPr>
            <a:spLocks noGrp="1"/>
          </p:cNvSpPr>
          <p:nvPr>
            <p:ph type="body" idx="34"/>
          </p:nvPr>
        </p:nvSpPr>
        <p:spPr>
          <a:xfrm>
            <a:off x="8940800" y="4318000"/>
            <a:ext cx="2616200" cy="177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A9BCD6"/>
                </a:solidFill>
                <a:latin typeface="Noto Sans"/>
              </a:rPr>
              <a:t>Every squad cuts a release every week; anything that can't be weekly is a platform bug to be retired.</a:t>
            </a:r>
          </a:p>
        </p:txBody>
      </p:sp>
      <p:sp>
        <p:nvSpPr>
          <p:cNvPr id="29" name="Card 4 Owner"/>
          <p:cNvSpPr>
            <a:spLocks noGrp="1"/>
          </p:cNvSpPr>
          <p:nvPr>
            <p:ph type="body" idx="35"/>
          </p:nvPr>
        </p:nvSpPr>
        <p:spPr>
          <a:xfrm>
            <a:off x="8940800" y="6223000"/>
            <a:ext cx="26162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5A6478"/>
                </a:solidFill>
                <a:latin typeface="Noto Sans Mono"/>
              </a:rPr>
              <a:t>OWNER · ENG DIRECTOR</a:t>
            </a:r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Executive Summary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75640" y="426720"/>
            <a:ext cx="121920" cy="162560"/>
          </a:xfrm>
          <a:custGeom>
            <a:avLst/>
            <a:gdLst/>
            <a:ahLst/>
            <a:cxnLst/>
            <a:rect l="l" t="t" r="r" b="b"/>
            <a:pathLst>
              <a:path w="121920" h="162560">
                <a:moveTo>
                  <a:pt x="60960" y="0"/>
                </a:moveTo>
                <a:lnTo>
                  <a:pt x="20320" y="66040"/>
                </a:lnTo>
                <a:lnTo>
                  <a:pt x="0" y="86360"/>
                </a:lnTo>
                <a:lnTo>
                  <a:pt x="60960" y="162560"/>
                </a:lnTo>
                <a:lnTo>
                  <a:pt x="121920" y="86360"/>
                </a:lnTo>
                <a:lnTo>
                  <a:pt x="101600" y="66040"/>
                </a:lnTo>
                <a:close/>
              </a:path>
            </a:pathLst>
          </a:custGeom>
          <a:solidFill>
            <a:srgbClr val="0B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01700" y="4318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62" b="0">
                <a:solidFill>
                  <a:srgbClr val="0B1A33"/>
                </a:solidFill>
                <a:latin typeface="Noto Sans Medium"/>
              </a:rPr>
              <a:t>FEINSCHLIFF.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90">
                <a:solidFill>
                  <a:srgbClr val="0B1A33"/>
                </a:solidFill>
                <a:latin typeface="Noto Sans Mono"/>
              </a:rPr>
              <a:t>EXECUTIVE SUMMARY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0B1A33"/>
                </a:solidFill>
                <a:latin typeface="Noto Sa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0B1A33"/>
                </a:solidFill>
                <a:latin typeface="Noto Sa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0B1A33"/>
                </a:solidFill>
                <a:latin typeface="Noto Sa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889000"/>
            <a:ext cx="508000" cy="254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143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0B1A33"/>
                </a:solidFill>
                <a:latin typeface="Noto Sans Mono"/>
              </a:rPr>
              <a:t>EXECUTIVE SUMMARY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1397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0B1A33"/>
                </a:solidFill>
                <a:latin typeface="Noto Sans"/>
              </a:rPr>
              <a:t>Four insights, three next steps — the 2026 plan on one page.</a:t>
            </a:r>
          </a:p>
        </p:txBody>
      </p:sp>
      <p:sp>
        <p:nvSpPr>
          <p:cNvPr id="10" name="Lede"/>
          <p:cNvSpPr>
            <a:spLocks noGrp="1"/>
          </p:cNvSpPr>
          <p:nvPr>
            <p:ph type="body" idx="11"/>
          </p:nvPr>
        </p:nvSpPr>
        <p:spPr>
          <a:xfrm>
            <a:off x="635000" y="2286000"/>
            <a:ext cx="109220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300">
                <a:solidFill>
                  <a:srgbClr val="2D3A52"/>
                </a:solidFill>
                <a:latin typeface="Noto Sans"/>
              </a:rPr>
              <a:t>Platform economics turned in FY25 — active use per account grew while cloud cost fell. Convert that signal into the 2026 commitments below.</a:t>
            </a:r>
          </a:p>
        </p:txBody>
      </p:sp>
      <p:sp>
        <p:nvSpPr>
          <p:cNvPr id="11" name="Col1 Label"/>
          <p:cNvSpPr>
            <a:spLocks noGrp="1"/>
          </p:cNvSpPr>
          <p:nvPr>
            <p:ph type="body" idx="20"/>
          </p:nvPr>
        </p:nvSpPr>
        <p:spPr>
          <a:xfrm>
            <a:off x="635000" y="3175000"/>
            <a:ext cx="5207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112" cap="all">
                <a:solidFill>
                  <a:srgbClr val="C9A24A"/>
                </a:solidFill>
                <a:latin typeface="Noto Sans Mono"/>
              </a:rPr>
              <a:t>INSIGHTS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5000" y="3378200"/>
            <a:ext cx="5207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35000" y="3543300"/>
            <a:ext cx="50800" cy="508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Col1 Item1 Heading"/>
          <p:cNvSpPr>
            <a:spLocks noGrp="1"/>
          </p:cNvSpPr>
          <p:nvPr>
            <p:ph type="body" idx="21"/>
          </p:nvPr>
        </p:nvSpPr>
        <p:spPr>
          <a:xfrm>
            <a:off x="787400" y="3479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4">
                <a:solidFill>
                  <a:srgbClr val="0B1A33"/>
                </a:solidFill>
                <a:latin typeface="Noto Sans Medium"/>
              </a:rPr>
              <a:t>Platform share is compounding.</a:t>
            </a:r>
          </a:p>
        </p:txBody>
      </p:sp>
      <p:sp>
        <p:nvSpPr>
          <p:cNvPr id="15" name="Col1 Item1 Body"/>
          <p:cNvSpPr>
            <a:spLocks noGrp="1"/>
          </p:cNvSpPr>
          <p:nvPr>
            <p:ph type="body" idx="22"/>
          </p:nvPr>
        </p:nvSpPr>
        <p:spPr>
          <a:xfrm>
            <a:off x="787400" y="3695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2D3A52"/>
                </a:solidFill>
                <a:latin typeface="Noto Sans"/>
              </a:rPr>
              <a:t>Platform and services are the fastest-growing revenue line; legacy hardware is flat in absolute terms.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35000" y="4051300"/>
            <a:ext cx="50800" cy="508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Col1 Item2 Heading"/>
          <p:cNvSpPr>
            <a:spLocks noGrp="1"/>
          </p:cNvSpPr>
          <p:nvPr>
            <p:ph type="body" idx="23"/>
          </p:nvPr>
        </p:nvSpPr>
        <p:spPr>
          <a:xfrm>
            <a:off x="787400" y="3987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4">
                <a:solidFill>
                  <a:srgbClr val="0B1A33"/>
                </a:solidFill>
                <a:latin typeface="Noto Sans Medium"/>
              </a:rPr>
              <a:t>First-run pairing is the biggest leak.</a:t>
            </a:r>
          </a:p>
        </p:txBody>
      </p:sp>
      <p:sp>
        <p:nvSpPr>
          <p:cNvPr id="18" name="Col1 Item2 Body"/>
          <p:cNvSpPr>
            <a:spLocks noGrp="1"/>
          </p:cNvSpPr>
          <p:nvPr>
            <p:ph type="body" idx="24"/>
          </p:nvPr>
        </p:nvSpPr>
        <p:spPr>
          <a:xfrm>
            <a:off x="787400" y="4203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2D3A52"/>
                </a:solidFill>
                <a:latin typeface="Noto Sans"/>
              </a:rPr>
              <a:t>One in three buyers never pairs the product — fixable in firmware and the quickest lift to 90-day activation.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35000" y="4559300"/>
            <a:ext cx="50800" cy="508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Col1 Item3 Heading"/>
          <p:cNvSpPr>
            <a:spLocks noGrp="1"/>
          </p:cNvSpPr>
          <p:nvPr>
            <p:ph type="body" idx="25"/>
          </p:nvPr>
        </p:nvSpPr>
        <p:spPr>
          <a:xfrm>
            <a:off x="787400" y="4495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4">
                <a:solidFill>
                  <a:srgbClr val="0B1A33"/>
                </a:solidFill>
                <a:latin typeface="Noto Sans Medium"/>
              </a:rPr>
              <a:t>Telemetry is now default-on.</a:t>
            </a:r>
          </a:p>
        </p:txBody>
      </p:sp>
      <p:sp>
        <p:nvSpPr>
          <p:cNvPr id="21" name="Col1 Item3 Body"/>
          <p:cNvSpPr>
            <a:spLocks noGrp="1"/>
          </p:cNvSpPr>
          <p:nvPr>
            <p:ph type="body" idx="26"/>
          </p:nvPr>
        </p:nvSpPr>
        <p:spPr>
          <a:xfrm>
            <a:off x="787400" y="4711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2D3A52"/>
                </a:solidFill>
                <a:latin typeface="Noto Sans"/>
              </a:rPr>
              <a:t>Every production unit reports usage and health from day one; the data contract is locked and versioned.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35000" y="5067300"/>
            <a:ext cx="50800" cy="508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Col1 Item4 Heading"/>
          <p:cNvSpPr>
            <a:spLocks noGrp="1"/>
          </p:cNvSpPr>
          <p:nvPr>
            <p:ph type="body" idx="27"/>
          </p:nvPr>
        </p:nvSpPr>
        <p:spPr>
          <a:xfrm>
            <a:off x="787400" y="5003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4">
                <a:solidFill>
                  <a:srgbClr val="0B1A33"/>
                </a:solidFill>
                <a:latin typeface="Noto Sans Medium"/>
              </a:rPr>
              <a:t>Hybrid platform beats build-vs-buy.</a:t>
            </a:r>
          </a:p>
        </p:txBody>
      </p:sp>
      <p:sp>
        <p:nvSpPr>
          <p:cNvPr id="24" name="Col1 Item4 Body"/>
          <p:cNvSpPr>
            <a:spLocks noGrp="1"/>
          </p:cNvSpPr>
          <p:nvPr>
            <p:ph type="body" idx="28"/>
          </p:nvPr>
        </p:nvSpPr>
        <p:spPr>
          <a:xfrm>
            <a:off x="787400" y="5219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2D3A52"/>
                </a:solidFill>
                <a:latin typeface="Noto Sans"/>
              </a:rPr>
              <a:t>Core in-house, cloud and ML partner-operated — wins on speed and control without the full build-out.</a:t>
            </a:r>
          </a:p>
        </p:txBody>
      </p:sp>
      <p:sp>
        <p:nvSpPr>
          <p:cNvPr id="25" name="Col2 Label"/>
          <p:cNvSpPr>
            <a:spLocks noGrp="1"/>
          </p:cNvSpPr>
          <p:nvPr>
            <p:ph type="body" idx="30"/>
          </p:nvPr>
        </p:nvSpPr>
        <p:spPr>
          <a:xfrm>
            <a:off x="6350000" y="3175000"/>
            <a:ext cx="5207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112" cap="all">
                <a:solidFill>
                  <a:srgbClr val="C9A24A"/>
                </a:solidFill>
                <a:latin typeface="Noto Sans Mono"/>
              </a:rPr>
              <a:t>NEXT STEPS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350000" y="3378200"/>
            <a:ext cx="5207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350000" y="3543300"/>
            <a:ext cx="50800" cy="508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Col2 Item1 Heading"/>
          <p:cNvSpPr>
            <a:spLocks noGrp="1"/>
          </p:cNvSpPr>
          <p:nvPr>
            <p:ph type="body" idx="31"/>
          </p:nvPr>
        </p:nvSpPr>
        <p:spPr>
          <a:xfrm>
            <a:off x="6502400" y="3479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4">
                <a:solidFill>
                  <a:srgbClr val="0B1A33"/>
                </a:solidFill>
                <a:latin typeface="Noto Sans Medium"/>
              </a:rPr>
              <a:t>Consolidate firmware across SKUs.</a:t>
            </a:r>
          </a:p>
        </p:txBody>
      </p:sp>
      <p:sp>
        <p:nvSpPr>
          <p:cNvPr id="29" name="Col2 Item1 Body"/>
          <p:cNvSpPr>
            <a:spLocks noGrp="1"/>
          </p:cNvSpPr>
          <p:nvPr>
            <p:ph type="body" idx="32"/>
          </p:nvPr>
        </p:nvSpPr>
        <p:spPr>
          <a:xfrm>
            <a:off x="6502400" y="3695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2D3A52"/>
                </a:solidFill>
                <a:latin typeface="Noto Sans"/>
              </a:rPr>
              <a:t>Retire the last two forks; every line onto the shared OS core by end of Q2.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350000" y="4051300"/>
            <a:ext cx="50800" cy="508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Col2 Item2 Heading"/>
          <p:cNvSpPr>
            <a:spLocks noGrp="1"/>
          </p:cNvSpPr>
          <p:nvPr>
            <p:ph type="body" idx="33"/>
          </p:nvPr>
        </p:nvSpPr>
        <p:spPr>
          <a:xfrm>
            <a:off x="6502400" y="3987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4">
                <a:solidFill>
                  <a:srgbClr val="0B1A33"/>
                </a:solidFill>
                <a:latin typeface="Noto Sans Medium"/>
              </a:rPr>
              <a:t>Ship the pairing-flow fix.</a:t>
            </a:r>
          </a:p>
        </p:txBody>
      </p:sp>
      <p:sp>
        <p:nvSpPr>
          <p:cNvPr id="32" name="Col2 Item2 Body"/>
          <p:cNvSpPr>
            <a:spLocks noGrp="1"/>
          </p:cNvSpPr>
          <p:nvPr>
            <p:ph type="body" idx="34"/>
          </p:nvPr>
        </p:nvSpPr>
        <p:spPr>
          <a:xfrm>
            <a:off x="6502400" y="4203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2D3A52"/>
                </a:solidFill>
                <a:latin typeface="Noto Sans"/>
              </a:rPr>
              <a:t>Firmware patch for mixed-SSID routers lands in the Q1 release, with instrumentation on first-try success.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350000" y="4559300"/>
            <a:ext cx="50800" cy="508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Col2 Item3 Heading"/>
          <p:cNvSpPr>
            <a:spLocks noGrp="1"/>
          </p:cNvSpPr>
          <p:nvPr>
            <p:ph type="body" idx="35"/>
          </p:nvPr>
        </p:nvSpPr>
        <p:spPr>
          <a:xfrm>
            <a:off x="6502400" y="4495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4">
                <a:solidFill>
                  <a:srgbClr val="0B1A33"/>
                </a:solidFill>
                <a:latin typeface="Noto Sans Medium"/>
              </a:rPr>
              <a:t>Open the developer API preview.</a:t>
            </a:r>
          </a:p>
        </p:txBody>
      </p:sp>
      <p:sp>
        <p:nvSpPr>
          <p:cNvPr id="35" name="Col2 Item3 Body"/>
          <p:cNvSpPr>
            <a:spLocks noGrp="1"/>
          </p:cNvSpPr>
          <p:nvPr>
            <p:ph type="body" idx="36"/>
          </p:nvPr>
        </p:nvSpPr>
        <p:spPr>
          <a:xfrm>
            <a:off x="6502400" y="4711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2D3A52"/>
                </a:solidFill>
                <a:latin typeface="Noto Sans"/>
              </a:rPr>
              <a:t>Partner preview end of H1, GA at year-end — 30 design partners already signed.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350000" y="5067300"/>
            <a:ext cx="50800" cy="508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Col2 Item4 Heading"/>
          <p:cNvSpPr>
            <a:spLocks noGrp="1"/>
          </p:cNvSpPr>
          <p:nvPr>
            <p:ph type="body" idx="37"/>
          </p:nvPr>
        </p:nvSpPr>
        <p:spPr>
          <a:xfrm>
            <a:off x="6502400" y="5003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4">
                <a:solidFill>
                  <a:srgbClr val="0B1A33"/>
                </a:solidFill>
                <a:latin typeface="Noto Sans Medium"/>
              </a:rPr>
              <a:t>Lock the hybrid platform deal.</a:t>
            </a:r>
          </a:p>
        </p:txBody>
      </p:sp>
      <p:sp>
        <p:nvSpPr>
          <p:cNvPr id="38" name="Col2 Item4 Body"/>
          <p:cNvSpPr>
            <a:spLocks noGrp="1"/>
          </p:cNvSpPr>
          <p:nvPr>
            <p:ph type="body" idx="38"/>
          </p:nvPr>
        </p:nvSpPr>
        <p:spPr>
          <a:xfrm>
            <a:off x="6502400" y="5219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2D3A52"/>
                </a:solidFill>
                <a:latin typeface="Noto Sans"/>
              </a:rPr>
              <a:t>Finalise cloud and ML vendor terms; platform group staffed and chartered for a Q2 kick-off.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35000" y="5778500"/>
            <a:ext cx="10922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635000" y="6286500"/>
            <a:ext cx="10922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KPI 1 Value"/>
          <p:cNvSpPr>
            <a:spLocks noGrp="1"/>
          </p:cNvSpPr>
          <p:nvPr>
            <p:ph type="body" idx="50"/>
          </p:nvPr>
        </p:nvSpPr>
        <p:spPr>
          <a:xfrm>
            <a:off x="787400" y="5842000"/>
            <a:ext cx="1016000" cy="381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2800" spc="-56">
                <a:solidFill>
                  <a:srgbClr val="0B1A33"/>
                </a:solidFill>
                <a:latin typeface="Noto Sans Light"/>
              </a:rPr>
              <a:t>+43</a:t>
            </a:r>
          </a:p>
        </p:txBody>
      </p:sp>
      <p:sp>
        <p:nvSpPr>
          <p:cNvPr id="42" name="KPI 1 Unit"/>
          <p:cNvSpPr>
            <a:spLocks noGrp="1"/>
          </p:cNvSpPr>
          <p:nvPr>
            <p:ph type="body" idx="51"/>
          </p:nvPr>
        </p:nvSpPr>
        <p:spPr>
          <a:xfrm>
            <a:off x="1803400" y="5842000"/>
            <a:ext cx="381000" cy="381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%</a:t>
            </a:r>
          </a:p>
        </p:txBody>
      </p:sp>
      <p:sp>
        <p:nvSpPr>
          <p:cNvPr id="43" name="KPI 1 Key"/>
          <p:cNvSpPr>
            <a:spLocks noGrp="1"/>
          </p:cNvSpPr>
          <p:nvPr>
            <p:ph type="body" idx="52"/>
          </p:nvPr>
        </p:nvSpPr>
        <p:spPr>
          <a:xfrm>
            <a:off x="2286000" y="5981700"/>
            <a:ext cx="1835150" cy="1651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2D3A52"/>
                </a:solidFill>
                <a:latin typeface="Noto Sans Mono"/>
              </a:rPr>
              <a:t>ACTIVE TIME · 5Y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273550" y="5829300"/>
            <a:ext cx="6350" cy="40640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KPI 2 Value"/>
          <p:cNvSpPr>
            <a:spLocks noGrp="1"/>
          </p:cNvSpPr>
          <p:nvPr>
            <p:ph type="body" idx="53"/>
          </p:nvPr>
        </p:nvSpPr>
        <p:spPr>
          <a:xfrm>
            <a:off x="4425950" y="5842000"/>
            <a:ext cx="1016000" cy="381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2800" spc="-56">
                <a:solidFill>
                  <a:srgbClr val="0B1A33"/>
                </a:solidFill>
                <a:latin typeface="Noto Sans Light"/>
              </a:rPr>
              <a:t>14</a:t>
            </a:r>
          </a:p>
        </p:txBody>
      </p:sp>
      <p:sp>
        <p:nvSpPr>
          <p:cNvPr id="46" name="KPI 2 Unit"/>
          <p:cNvSpPr>
            <a:spLocks noGrp="1"/>
          </p:cNvSpPr>
          <p:nvPr>
            <p:ph type="body" idx="54"/>
          </p:nvPr>
        </p:nvSpPr>
        <p:spPr>
          <a:xfrm>
            <a:off x="5441950" y="5842000"/>
            <a:ext cx="381000" cy="381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 bn</a:t>
            </a:r>
          </a:p>
        </p:txBody>
      </p:sp>
      <p:sp>
        <p:nvSpPr>
          <p:cNvPr id="47" name="KPI 2 Key"/>
          <p:cNvSpPr>
            <a:spLocks noGrp="1"/>
          </p:cNvSpPr>
          <p:nvPr>
            <p:ph type="body" idx="55"/>
          </p:nvPr>
        </p:nvSpPr>
        <p:spPr>
          <a:xfrm>
            <a:off x="5924550" y="5981700"/>
            <a:ext cx="1835150" cy="1651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2D3A52"/>
                </a:solidFill>
                <a:latin typeface="Noto Sans Mono"/>
              </a:rPr>
              <a:t>REVENUE · EUR</a:t>
            </a:r>
          </a:p>
        </p:txBody>
      </p:sp>
      <p:sp>
        <p:nvSpPr>
          <p:cNvPr id="48" name="Rectangle 47"/>
          <p:cNvSpPr/>
          <p:nvPr/>
        </p:nvSpPr>
        <p:spPr>
          <a:xfrm>
            <a:off x="7912100" y="5829300"/>
            <a:ext cx="6350" cy="40640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KPI 3 Value"/>
          <p:cNvSpPr>
            <a:spLocks noGrp="1"/>
          </p:cNvSpPr>
          <p:nvPr>
            <p:ph type="body" idx="56"/>
          </p:nvPr>
        </p:nvSpPr>
        <p:spPr>
          <a:xfrm>
            <a:off x="8064500" y="5842000"/>
            <a:ext cx="1016000" cy="381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2800" spc="-56">
                <a:solidFill>
                  <a:srgbClr val="0B1A33"/>
                </a:solidFill>
                <a:latin typeface="Noto Sans Light"/>
              </a:rPr>
              <a:t>95</a:t>
            </a:r>
          </a:p>
        </p:txBody>
      </p:sp>
      <p:sp>
        <p:nvSpPr>
          <p:cNvPr id="50" name="KPI 3 Unit"/>
          <p:cNvSpPr>
            <a:spLocks noGrp="1"/>
          </p:cNvSpPr>
          <p:nvPr>
            <p:ph type="body" idx="57"/>
          </p:nvPr>
        </p:nvSpPr>
        <p:spPr>
          <a:xfrm>
            <a:off x="9080500" y="5842000"/>
            <a:ext cx="381000" cy="381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%</a:t>
            </a:r>
          </a:p>
        </p:txBody>
      </p:sp>
      <p:sp>
        <p:nvSpPr>
          <p:cNvPr id="51" name="KPI 3 Key"/>
          <p:cNvSpPr>
            <a:spLocks noGrp="1"/>
          </p:cNvSpPr>
          <p:nvPr>
            <p:ph type="body" idx="58"/>
          </p:nvPr>
        </p:nvSpPr>
        <p:spPr>
          <a:xfrm>
            <a:off x="9563100" y="5981700"/>
            <a:ext cx="1835150" cy="1651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2D3A52"/>
                </a:solidFill>
                <a:latin typeface="Noto Sans Mono"/>
              </a:rPr>
              <a:t>TELEMETRY OPT-IN</a:t>
            </a:r>
          </a:p>
        </p:txBody>
      </p:sp>
      <p:sp>
        <p:nvSpPr>
          <p:cNvPr id="52" name="Source"/>
          <p:cNvSpPr>
            <a:spLocks noGrp="1"/>
          </p:cNvSpPr>
          <p:nvPr>
            <p:ph type="body" idx="60"/>
          </p:nvPr>
        </p:nvSpPr>
        <p:spPr>
          <a:xfrm>
            <a:off x="635000" y="64770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2D3A52"/>
                </a:solidFill>
                <a:latin typeface="Noto Sans Mono"/>
              </a:rPr>
              <a:t>SOURCE · SAMPLE DATA, FY25 PRELIMINARY</a:t>
            </a:r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Line Char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75640" y="426720"/>
            <a:ext cx="121920" cy="162560"/>
          </a:xfrm>
          <a:custGeom>
            <a:avLst/>
            <a:gdLst/>
            <a:ahLst/>
            <a:cxnLst/>
            <a:rect l="l" t="t" r="r" b="b"/>
            <a:pathLst>
              <a:path w="121920" h="162560">
                <a:moveTo>
                  <a:pt x="60960" y="0"/>
                </a:moveTo>
                <a:lnTo>
                  <a:pt x="20320" y="66040"/>
                </a:lnTo>
                <a:lnTo>
                  <a:pt x="0" y="86360"/>
                </a:lnTo>
                <a:lnTo>
                  <a:pt x="60960" y="162560"/>
                </a:lnTo>
                <a:lnTo>
                  <a:pt x="121920" y="86360"/>
                </a:lnTo>
                <a:lnTo>
                  <a:pt x="101600" y="66040"/>
                </a:lnTo>
                <a:close/>
              </a:path>
            </a:pathLst>
          </a:custGeom>
          <a:solidFill>
            <a:srgbClr val="0B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01700" y="4318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62" b="0">
                <a:solidFill>
                  <a:srgbClr val="0B1A33"/>
                </a:solidFill>
                <a:latin typeface="Noto Sans Medium"/>
              </a:rPr>
              <a:t>FEINSCHLIFF.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90">
                <a:solidFill>
                  <a:srgbClr val="0B1A33"/>
                </a:solidFill>
                <a:latin typeface="Noto Sans Mono"/>
              </a:rPr>
              <a:t>LINE CHART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0B1A33"/>
                </a:solidFill>
                <a:latin typeface="Noto Sa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0B1A33"/>
                </a:solidFill>
                <a:latin typeface="Noto Sa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0B1A33"/>
                </a:solidFill>
                <a:latin typeface="Noto Sa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0B1A33"/>
                </a:solidFill>
                <a:latin typeface="Noto Sans Mono"/>
              </a:rPr>
              <a:t>PER-ACCOUNT METRICS, FY21–FY25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0B1A33"/>
                </a:solidFill>
                <a:latin typeface="Noto Sans"/>
              </a:rPr>
              <a:t>Per-account active time grew 43% while cloud cost per account declined — platform economics are turning.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5000" y="5835650"/>
            <a:ext cx="3048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56">
                <a:solidFill>
                  <a:srgbClr val="2D3A52"/>
                </a:solidFill>
                <a:latin typeface="Noto Sans Mono"/>
              </a:rPr>
              <a:t>0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90600" y="5194300"/>
            <a:ext cx="77978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5000" y="5127625"/>
            <a:ext cx="3048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56">
                <a:solidFill>
                  <a:srgbClr val="2D3A52"/>
                </a:solidFill>
                <a:latin typeface="Noto Sans Mono"/>
              </a:rPr>
              <a:t>50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90600" y="4486275"/>
            <a:ext cx="77978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5000" y="4419600"/>
            <a:ext cx="3048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56">
                <a:solidFill>
                  <a:srgbClr val="2D3A52"/>
                </a:solidFill>
                <a:latin typeface="Noto Sans Mono"/>
              </a:rPr>
              <a:t>100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90600" y="3778250"/>
            <a:ext cx="77978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5000" y="3711575"/>
            <a:ext cx="3048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56">
                <a:solidFill>
                  <a:srgbClr val="2D3A52"/>
                </a:solidFill>
                <a:latin typeface="Noto Sans Mono"/>
              </a:rPr>
              <a:t>150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90600" y="3070225"/>
            <a:ext cx="77978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5000" y="3003550"/>
            <a:ext cx="3048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56">
                <a:solidFill>
                  <a:srgbClr val="2D3A52"/>
                </a:solidFill>
                <a:latin typeface="Noto Sans Mono"/>
              </a:rPr>
              <a:t>200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90600" y="5899150"/>
            <a:ext cx="7797800" cy="127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Freeform 19"/>
          <p:cNvSpPr/>
          <p:nvPr/>
        </p:nvSpPr>
        <p:spPr>
          <a:xfrm>
            <a:off x="990600" y="3299968"/>
            <a:ext cx="7797800" cy="792988"/>
          </a:xfrm>
          <a:custGeom>
            <a:avLst/>
            <a:gdLst/>
            <a:ahLst/>
            <a:cxnLst/>
            <a:rect l="l" t="t" r="r" b="b"/>
            <a:pathLst>
              <a:path w="7797800" h="792988">
                <a:moveTo>
                  <a:pt x="0" y="792988"/>
                </a:moveTo>
                <a:lnTo>
                  <a:pt x="1949450" y="651383"/>
                </a:lnTo>
                <a:lnTo>
                  <a:pt x="3898900" y="311531"/>
                </a:lnTo>
                <a:lnTo>
                  <a:pt x="5848350" y="127444"/>
                </a:lnTo>
                <a:lnTo>
                  <a:pt x="7797800" y="0"/>
                </a:lnTo>
              </a:path>
            </a:pathLst>
          </a:custGeom>
          <a:noFill/>
          <a:ln w="19050">
            <a:solidFill>
              <a:srgbClr val="C9A2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958850" y="4061206"/>
            <a:ext cx="63500" cy="63500"/>
          </a:xfrm>
          <a:prstGeom prst="ellipse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2908300" y="3919601"/>
            <a:ext cx="63500" cy="63500"/>
          </a:xfrm>
          <a:prstGeom prst="ellipse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4857750" y="3579749"/>
            <a:ext cx="63500" cy="63500"/>
          </a:xfrm>
          <a:prstGeom prst="ellipse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807200" y="3395662"/>
            <a:ext cx="63500" cy="63500"/>
          </a:xfrm>
          <a:prstGeom prst="ellipse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8756650" y="3268218"/>
            <a:ext cx="63500" cy="63500"/>
          </a:xfrm>
          <a:prstGeom prst="ellipse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Freeform 25"/>
          <p:cNvSpPr/>
          <p:nvPr/>
        </p:nvSpPr>
        <p:spPr>
          <a:xfrm>
            <a:off x="990600" y="3356610"/>
            <a:ext cx="7797800" cy="1557655"/>
          </a:xfrm>
          <a:custGeom>
            <a:avLst/>
            <a:gdLst/>
            <a:ahLst/>
            <a:cxnLst/>
            <a:rect l="l" t="t" r="r" b="b"/>
            <a:pathLst>
              <a:path w="7797800" h="1557655">
                <a:moveTo>
                  <a:pt x="0" y="0"/>
                </a:moveTo>
                <a:lnTo>
                  <a:pt x="1949450" y="169926"/>
                </a:lnTo>
                <a:lnTo>
                  <a:pt x="3898900" y="566420"/>
                </a:lnTo>
                <a:lnTo>
                  <a:pt x="5848350" y="1062038"/>
                </a:lnTo>
                <a:lnTo>
                  <a:pt x="7797800" y="1557655"/>
                </a:lnTo>
              </a:path>
            </a:pathLst>
          </a:custGeom>
          <a:noFill/>
          <a:ln w="12700">
            <a:solidFill>
              <a:srgbClr val="0B1A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958850" y="3324860"/>
            <a:ext cx="63500" cy="63500"/>
          </a:xfrm>
          <a:prstGeom prst="ellipse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2908300" y="3494786"/>
            <a:ext cx="63500" cy="63500"/>
          </a:xfrm>
          <a:prstGeom prst="ellipse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4857750" y="3891280"/>
            <a:ext cx="63500" cy="63500"/>
          </a:xfrm>
          <a:prstGeom prst="ellipse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6807200" y="4386898"/>
            <a:ext cx="63500" cy="63500"/>
          </a:xfrm>
          <a:prstGeom prst="ellipse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8756650" y="4882515"/>
            <a:ext cx="63500" cy="63500"/>
          </a:xfrm>
          <a:prstGeom prst="ellipse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X label 1"/>
          <p:cNvSpPr>
            <a:spLocks noGrp="1"/>
          </p:cNvSpPr>
          <p:nvPr>
            <p:ph type="body" idx="20"/>
          </p:nvPr>
        </p:nvSpPr>
        <p:spPr>
          <a:xfrm>
            <a:off x="673100" y="5994400"/>
            <a:ext cx="635000" cy="152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 cap="all">
                <a:solidFill>
                  <a:srgbClr val="2D3A52"/>
                </a:solidFill>
                <a:latin typeface="Noto Sans Mono"/>
              </a:rPr>
              <a:t>FY21</a:t>
            </a:r>
          </a:p>
        </p:txBody>
      </p:sp>
      <p:sp>
        <p:nvSpPr>
          <p:cNvPr id="33" name="X label 2"/>
          <p:cNvSpPr>
            <a:spLocks noGrp="1"/>
          </p:cNvSpPr>
          <p:nvPr>
            <p:ph type="body" idx="21"/>
          </p:nvPr>
        </p:nvSpPr>
        <p:spPr>
          <a:xfrm>
            <a:off x="2622550" y="5994400"/>
            <a:ext cx="635000" cy="152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 cap="all">
                <a:solidFill>
                  <a:srgbClr val="2D3A52"/>
                </a:solidFill>
                <a:latin typeface="Noto Sans Mono"/>
              </a:rPr>
              <a:t>FY22</a:t>
            </a:r>
          </a:p>
        </p:txBody>
      </p:sp>
      <p:sp>
        <p:nvSpPr>
          <p:cNvPr id="34" name="X label 3"/>
          <p:cNvSpPr>
            <a:spLocks noGrp="1"/>
          </p:cNvSpPr>
          <p:nvPr>
            <p:ph type="body" idx="22"/>
          </p:nvPr>
        </p:nvSpPr>
        <p:spPr>
          <a:xfrm>
            <a:off x="4572000" y="5994400"/>
            <a:ext cx="635000" cy="152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 cap="all">
                <a:solidFill>
                  <a:srgbClr val="2D3A52"/>
                </a:solidFill>
                <a:latin typeface="Noto Sans Mono"/>
              </a:rPr>
              <a:t>FY23</a:t>
            </a:r>
          </a:p>
        </p:txBody>
      </p:sp>
      <p:sp>
        <p:nvSpPr>
          <p:cNvPr id="35" name="X label 4"/>
          <p:cNvSpPr>
            <a:spLocks noGrp="1"/>
          </p:cNvSpPr>
          <p:nvPr>
            <p:ph type="body" idx="23"/>
          </p:nvPr>
        </p:nvSpPr>
        <p:spPr>
          <a:xfrm>
            <a:off x="6521450" y="5994400"/>
            <a:ext cx="635000" cy="152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 cap="all">
                <a:solidFill>
                  <a:srgbClr val="2D3A52"/>
                </a:solidFill>
                <a:latin typeface="Noto Sans Mono"/>
              </a:rPr>
              <a:t>FY24</a:t>
            </a:r>
          </a:p>
        </p:txBody>
      </p:sp>
      <p:sp>
        <p:nvSpPr>
          <p:cNvPr id="36" name="X label 5"/>
          <p:cNvSpPr>
            <a:spLocks noGrp="1"/>
          </p:cNvSpPr>
          <p:nvPr>
            <p:ph type="body" idx="24"/>
          </p:nvPr>
        </p:nvSpPr>
        <p:spPr>
          <a:xfrm>
            <a:off x="8470900" y="5994400"/>
            <a:ext cx="635000" cy="152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 cap="all">
                <a:solidFill>
                  <a:srgbClr val="2D3A52"/>
                </a:solidFill>
                <a:latin typeface="Noto Sans Mono"/>
              </a:rPr>
              <a:t>FY25</a:t>
            </a:r>
          </a:p>
        </p:txBody>
      </p:sp>
      <p:sp>
        <p:nvSpPr>
          <p:cNvPr id="37" name="Rectangle 36"/>
          <p:cNvSpPr/>
          <p:nvPr/>
        </p:nvSpPr>
        <p:spPr>
          <a:xfrm>
            <a:off x="9144000" y="3244850"/>
            <a:ext cx="114300" cy="381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Series 1 Name"/>
          <p:cNvSpPr>
            <a:spLocks noGrp="1"/>
          </p:cNvSpPr>
          <p:nvPr>
            <p:ph type="body" idx="30"/>
          </p:nvPr>
        </p:nvSpPr>
        <p:spPr>
          <a:xfrm>
            <a:off x="9372600" y="3175000"/>
            <a:ext cx="2032000" cy="177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00">
                <a:solidFill>
                  <a:srgbClr val="0B1A33"/>
                </a:solidFill>
                <a:latin typeface="Noto Sans Medium"/>
              </a:rPr>
              <a:t>Active time per account</a:t>
            </a:r>
          </a:p>
        </p:txBody>
      </p:sp>
      <p:sp>
        <p:nvSpPr>
          <p:cNvPr id="39" name="Rectangle 38"/>
          <p:cNvSpPr/>
          <p:nvPr/>
        </p:nvSpPr>
        <p:spPr>
          <a:xfrm>
            <a:off x="9144000" y="3498850"/>
            <a:ext cx="114300" cy="381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Series 2 Name"/>
          <p:cNvSpPr>
            <a:spLocks noGrp="1"/>
          </p:cNvSpPr>
          <p:nvPr>
            <p:ph type="body" idx="31"/>
          </p:nvPr>
        </p:nvSpPr>
        <p:spPr>
          <a:xfrm>
            <a:off x="9372600" y="3429000"/>
            <a:ext cx="2032000" cy="177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00">
                <a:solidFill>
                  <a:srgbClr val="0B1A33"/>
                </a:solidFill>
                <a:latin typeface="Noto Sans Medium"/>
              </a:rPr>
              <a:t>Cloud cost per account</a:t>
            </a:r>
          </a:p>
        </p:txBody>
      </p:sp>
      <p:sp>
        <p:nvSpPr>
          <p:cNvPr id="41" name="Source / caption"/>
          <p:cNvSpPr>
            <a:spLocks noGrp="1"/>
          </p:cNvSpPr>
          <p:nvPr>
            <p:ph type="body" idx="40"/>
          </p:nvPr>
        </p:nvSpPr>
        <p:spPr>
          <a:xfrm>
            <a:off x="635000" y="631825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2D3A52"/>
                </a:solidFill>
                <a:latin typeface="Noto Sans Mono"/>
              </a:rPr>
              <a:t>SOURCE · FEINSCHLIFF ANALYTICS, N = 2.4M ACCOUNTS</a:t>
            </a:r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Scorecard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75640" y="426720"/>
            <a:ext cx="121920" cy="162560"/>
          </a:xfrm>
          <a:custGeom>
            <a:avLst/>
            <a:gdLst/>
            <a:ahLst/>
            <a:cxnLst/>
            <a:rect l="l" t="t" r="r" b="b"/>
            <a:pathLst>
              <a:path w="121920" h="162560">
                <a:moveTo>
                  <a:pt x="60960" y="0"/>
                </a:moveTo>
                <a:lnTo>
                  <a:pt x="20320" y="66040"/>
                </a:lnTo>
                <a:lnTo>
                  <a:pt x="0" y="86360"/>
                </a:lnTo>
                <a:lnTo>
                  <a:pt x="60960" y="162560"/>
                </a:lnTo>
                <a:lnTo>
                  <a:pt x="121920" y="86360"/>
                </a:lnTo>
                <a:lnTo>
                  <a:pt x="101600" y="66040"/>
                </a:lnTo>
                <a:close/>
              </a:path>
            </a:pathLst>
          </a:custGeom>
          <a:solidFill>
            <a:srgbClr val="0B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01700" y="4318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62" b="0">
                <a:solidFill>
                  <a:srgbClr val="0B1A33"/>
                </a:solidFill>
                <a:latin typeface="Noto Sans Medium"/>
              </a:rPr>
              <a:t>FEINSCHLIFF.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90">
                <a:solidFill>
                  <a:srgbClr val="0B1A33"/>
                </a:solidFill>
                <a:latin typeface="Noto Sans Mono"/>
              </a:rPr>
              <a:t>SCORECARD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0B1A33"/>
                </a:solidFill>
                <a:latin typeface="Noto Sa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0B1A33"/>
                </a:solidFill>
                <a:latin typeface="Noto Sa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0B1A33"/>
                </a:solidFill>
                <a:latin typeface="Noto Sa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0B1A33"/>
                </a:solidFill>
                <a:latin typeface="Noto Sans Mono"/>
              </a:rPr>
              <a:t>PORTFOLIO HEALTH · FY25 Q3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0B1A33"/>
                </a:solidFill>
                <a:latin typeface="Noto Sans"/>
              </a:rPr>
              <a:t>Four of five workstreams are on track; developer API slips into Q4 and data-platform integration is off the critical path.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5000" y="3270250"/>
            <a:ext cx="10922000" cy="6350"/>
          </a:xfrm>
          <a:prstGeom prst="rect">
            <a:avLst/>
          </a:prstGeom>
          <a:solidFill>
            <a:srgbClr val="2D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790825" y="2921000"/>
            <a:ext cx="6350" cy="317500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981575" y="2921000"/>
            <a:ext cx="6350" cy="317500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172325" y="2921000"/>
            <a:ext cx="6350" cy="317500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9363075" y="2921000"/>
            <a:ext cx="6350" cy="317500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35000" y="3978275"/>
            <a:ext cx="10922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5000" y="4683125"/>
            <a:ext cx="10922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35000" y="5387975"/>
            <a:ext cx="10922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2921000" y="3390900"/>
            <a:ext cx="114300" cy="1143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5111750" y="3390900"/>
            <a:ext cx="114300" cy="1143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7302500" y="3390900"/>
            <a:ext cx="114300" cy="1143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9493250" y="3390900"/>
            <a:ext cx="114300" cy="1143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2921000" y="4095750"/>
            <a:ext cx="114300" cy="114300"/>
          </a:xfrm>
          <a:prstGeom prst="ellipse">
            <a:avLst/>
          </a:prstGeom>
          <a:solidFill>
            <a:srgbClr val="E4C2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5111750" y="4095750"/>
            <a:ext cx="114300" cy="114300"/>
          </a:xfrm>
          <a:prstGeom prst="ellipse">
            <a:avLst/>
          </a:prstGeom>
          <a:solidFill>
            <a:srgbClr val="E4C2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7302500" y="4095750"/>
            <a:ext cx="114300" cy="1143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493250" y="4095750"/>
            <a:ext cx="114300" cy="1143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2921000" y="4800600"/>
            <a:ext cx="114300" cy="114300"/>
          </a:xfrm>
          <a:prstGeom prst="ellipse">
            <a:avLst/>
          </a:prstGeom>
          <a:solidFill>
            <a:srgbClr val="A04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5111750" y="4800600"/>
            <a:ext cx="114300" cy="114300"/>
          </a:xfrm>
          <a:prstGeom prst="ellipse">
            <a:avLst/>
          </a:prstGeom>
          <a:solidFill>
            <a:srgbClr val="E4C2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7302500" y="4800600"/>
            <a:ext cx="114300" cy="114300"/>
          </a:xfrm>
          <a:prstGeom prst="ellipse">
            <a:avLst/>
          </a:prstGeom>
          <a:solidFill>
            <a:srgbClr val="E4C2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9493250" y="4800600"/>
            <a:ext cx="114300" cy="114300"/>
          </a:xfrm>
          <a:prstGeom prst="ellipse">
            <a:avLst/>
          </a:prstGeom>
          <a:solidFill>
            <a:srgbClr val="A04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2921000" y="5505450"/>
            <a:ext cx="114300" cy="114300"/>
          </a:xfrm>
          <a:prstGeom prst="ellipse">
            <a:avLst/>
          </a:prstGeom>
          <a:solidFill>
            <a:srgbClr val="E4C2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5111750" y="5505450"/>
            <a:ext cx="114300" cy="114300"/>
          </a:xfrm>
          <a:prstGeom prst="ellipse">
            <a:avLst/>
          </a:prstGeom>
          <a:solidFill>
            <a:srgbClr val="A04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7302500" y="5505450"/>
            <a:ext cx="114300" cy="114300"/>
          </a:xfrm>
          <a:prstGeom prst="ellipse">
            <a:avLst/>
          </a:prstGeom>
          <a:solidFill>
            <a:srgbClr val="A04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9493250" y="5505450"/>
            <a:ext cx="114300" cy="114300"/>
          </a:xfrm>
          <a:prstGeom prst="ellipse">
            <a:avLst/>
          </a:prstGeom>
          <a:solidFill>
            <a:srgbClr val="A04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Column 1 Header"/>
          <p:cNvSpPr>
            <a:spLocks noGrp="1"/>
          </p:cNvSpPr>
          <p:nvPr>
            <p:ph type="body" idx="20"/>
          </p:nvPr>
        </p:nvSpPr>
        <p:spPr>
          <a:xfrm>
            <a:off x="2921000" y="3035300"/>
            <a:ext cx="193675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2D3A52"/>
                </a:solidFill>
                <a:latin typeface="Noto Sans Mono"/>
              </a:rPr>
              <a:t>Q1 FY25</a:t>
            </a:r>
          </a:p>
        </p:txBody>
      </p:sp>
      <p:sp>
        <p:nvSpPr>
          <p:cNvPr id="35" name="Column 2 Header"/>
          <p:cNvSpPr>
            <a:spLocks noGrp="1"/>
          </p:cNvSpPr>
          <p:nvPr>
            <p:ph type="body" idx="21"/>
          </p:nvPr>
        </p:nvSpPr>
        <p:spPr>
          <a:xfrm>
            <a:off x="5111750" y="3035300"/>
            <a:ext cx="193675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2D3A52"/>
                </a:solidFill>
                <a:latin typeface="Noto Sans Mono"/>
              </a:rPr>
              <a:t>Q2 FY25</a:t>
            </a:r>
          </a:p>
        </p:txBody>
      </p:sp>
      <p:sp>
        <p:nvSpPr>
          <p:cNvPr id="36" name="Column 3 Header"/>
          <p:cNvSpPr>
            <a:spLocks noGrp="1"/>
          </p:cNvSpPr>
          <p:nvPr>
            <p:ph type="body" idx="22"/>
          </p:nvPr>
        </p:nvSpPr>
        <p:spPr>
          <a:xfrm>
            <a:off x="7302500" y="3035300"/>
            <a:ext cx="193675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2D3A52"/>
                </a:solidFill>
                <a:latin typeface="Noto Sans Mono"/>
              </a:rPr>
              <a:t>Q3 FY25</a:t>
            </a:r>
          </a:p>
        </p:txBody>
      </p:sp>
      <p:sp>
        <p:nvSpPr>
          <p:cNvPr id="37" name="Column 4 Header"/>
          <p:cNvSpPr>
            <a:spLocks noGrp="1"/>
          </p:cNvSpPr>
          <p:nvPr>
            <p:ph type="body" idx="23"/>
          </p:nvPr>
        </p:nvSpPr>
        <p:spPr>
          <a:xfrm>
            <a:off x="9493250" y="3035300"/>
            <a:ext cx="193675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2D3A52"/>
                </a:solidFill>
                <a:latin typeface="Noto Sans Mono"/>
              </a:rPr>
              <a:t>Q4 FY25</a:t>
            </a:r>
          </a:p>
        </p:txBody>
      </p:sp>
      <p:sp>
        <p:nvSpPr>
          <p:cNvPr id="38" name="Row 1 Label"/>
          <p:cNvSpPr>
            <a:spLocks noGrp="1"/>
          </p:cNvSpPr>
          <p:nvPr>
            <p:ph type="body" idx="30"/>
          </p:nvPr>
        </p:nvSpPr>
        <p:spPr>
          <a:xfrm>
            <a:off x="762000" y="3502025"/>
            <a:ext cx="19558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spc="-11">
                <a:solidFill>
                  <a:srgbClr val="0B1A33"/>
                </a:solidFill>
                <a:latin typeface="Noto Sans Medium"/>
              </a:rPr>
              <a:t>Firmware consolidation</a:t>
            </a:r>
          </a:p>
        </p:txBody>
      </p:sp>
      <p:sp>
        <p:nvSpPr>
          <p:cNvPr id="39" name="Row 2 Label"/>
          <p:cNvSpPr>
            <a:spLocks noGrp="1"/>
          </p:cNvSpPr>
          <p:nvPr>
            <p:ph type="body" idx="31"/>
          </p:nvPr>
        </p:nvSpPr>
        <p:spPr>
          <a:xfrm>
            <a:off x="762000" y="4206875"/>
            <a:ext cx="19558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spc="-11">
                <a:solidFill>
                  <a:srgbClr val="0B1A33"/>
                </a:solidFill>
                <a:latin typeface="Noto Sans Medium"/>
              </a:rPr>
              <a:t>Default-on telemetry</a:t>
            </a:r>
          </a:p>
        </p:txBody>
      </p:sp>
      <p:sp>
        <p:nvSpPr>
          <p:cNvPr id="40" name="Row 3 Label"/>
          <p:cNvSpPr>
            <a:spLocks noGrp="1"/>
          </p:cNvSpPr>
          <p:nvPr>
            <p:ph type="body" idx="32"/>
          </p:nvPr>
        </p:nvSpPr>
        <p:spPr>
          <a:xfrm>
            <a:off x="762000" y="4911725"/>
            <a:ext cx="19558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spc="-11">
                <a:solidFill>
                  <a:srgbClr val="0B1A33"/>
                </a:solidFill>
                <a:latin typeface="Noto Sans Medium"/>
              </a:rPr>
              <a:t>Developer API</a:t>
            </a:r>
          </a:p>
        </p:txBody>
      </p:sp>
      <p:sp>
        <p:nvSpPr>
          <p:cNvPr id="41" name="Row 4 Label"/>
          <p:cNvSpPr>
            <a:spLocks noGrp="1"/>
          </p:cNvSpPr>
          <p:nvPr>
            <p:ph type="body" idx="33"/>
          </p:nvPr>
        </p:nvSpPr>
        <p:spPr>
          <a:xfrm>
            <a:off x="762000" y="5616575"/>
            <a:ext cx="19558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spc="-11">
                <a:solidFill>
                  <a:srgbClr val="0B1A33"/>
                </a:solidFill>
                <a:latin typeface="Noto Sans Medium"/>
              </a:rPr>
              <a:t>Data-platform integration</a:t>
            </a:r>
          </a:p>
        </p:txBody>
      </p:sp>
      <p:sp>
        <p:nvSpPr>
          <p:cNvPr id="42" name="Cell r1c1"/>
          <p:cNvSpPr>
            <a:spLocks noGrp="1"/>
          </p:cNvSpPr>
          <p:nvPr>
            <p:ph type="body" idx="40"/>
          </p:nvPr>
        </p:nvSpPr>
        <p:spPr>
          <a:xfrm>
            <a:off x="3111500" y="33655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Cutover · 62%</a:t>
            </a:r>
          </a:p>
        </p:txBody>
      </p:sp>
      <p:sp>
        <p:nvSpPr>
          <p:cNvPr id="43" name="Cell r1c2"/>
          <p:cNvSpPr>
            <a:spLocks noGrp="1"/>
          </p:cNvSpPr>
          <p:nvPr>
            <p:ph type="body" idx="41"/>
          </p:nvPr>
        </p:nvSpPr>
        <p:spPr>
          <a:xfrm>
            <a:off x="5302250" y="33655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Cutover · 100%</a:t>
            </a:r>
          </a:p>
        </p:txBody>
      </p:sp>
      <p:sp>
        <p:nvSpPr>
          <p:cNvPr id="44" name="Cell r1c3"/>
          <p:cNvSpPr>
            <a:spLocks noGrp="1"/>
          </p:cNvSpPr>
          <p:nvPr>
            <p:ph type="body" idx="42"/>
          </p:nvPr>
        </p:nvSpPr>
        <p:spPr>
          <a:xfrm>
            <a:off x="7493000" y="33655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Shipped</a:t>
            </a:r>
          </a:p>
        </p:txBody>
      </p:sp>
      <p:sp>
        <p:nvSpPr>
          <p:cNvPr id="45" name="Cell r1c4"/>
          <p:cNvSpPr>
            <a:spLocks noGrp="1"/>
          </p:cNvSpPr>
          <p:nvPr>
            <p:ph type="body" idx="43"/>
          </p:nvPr>
        </p:nvSpPr>
        <p:spPr>
          <a:xfrm>
            <a:off x="9683750" y="33655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Stable</a:t>
            </a:r>
          </a:p>
        </p:txBody>
      </p:sp>
      <p:sp>
        <p:nvSpPr>
          <p:cNvPr id="46" name="Cell r2c1"/>
          <p:cNvSpPr>
            <a:spLocks noGrp="1"/>
          </p:cNvSpPr>
          <p:nvPr>
            <p:ph type="body" idx="45"/>
          </p:nvPr>
        </p:nvSpPr>
        <p:spPr>
          <a:xfrm>
            <a:off x="3111500" y="40703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Pilot factories</a:t>
            </a:r>
          </a:p>
        </p:txBody>
      </p:sp>
      <p:sp>
        <p:nvSpPr>
          <p:cNvPr id="47" name="Cell r2c2"/>
          <p:cNvSpPr>
            <a:spLocks noGrp="1"/>
          </p:cNvSpPr>
          <p:nvPr>
            <p:ph type="body" idx="46"/>
          </p:nvPr>
        </p:nvSpPr>
        <p:spPr>
          <a:xfrm>
            <a:off x="5302250" y="40703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Rollout 40%</a:t>
            </a:r>
          </a:p>
        </p:txBody>
      </p:sp>
      <p:sp>
        <p:nvSpPr>
          <p:cNvPr id="48" name="Cell r2c3"/>
          <p:cNvSpPr>
            <a:spLocks noGrp="1"/>
          </p:cNvSpPr>
          <p:nvPr>
            <p:ph type="body" idx="47"/>
          </p:nvPr>
        </p:nvSpPr>
        <p:spPr>
          <a:xfrm>
            <a:off x="7493000" y="40703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Rollout 85%</a:t>
            </a:r>
          </a:p>
        </p:txBody>
      </p:sp>
      <p:sp>
        <p:nvSpPr>
          <p:cNvPr id="49" name="Cell r2c4"/>
          <p:cNvSpPr>
            <a:spLocks noGrp="1"/>
          </p:cNvSpPr>
          <p:nvPr>
            <p:ph type="body" idx="48"/>
          </p:nvPr>
        </p:nvSpPr>
        <p:spPr>
          <a:xfrm>
            <a:off x="9683750" y="40703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Default-on</a:t>
            </a:r>
          </a:p>
        </p:txBody>
      </p:sp>
      <p:sp>
        <p:nvSpPr>
          <p:cNvPr id="50" name="Cell r3c1"/>
          <p:cNvSpPr>
            <a:spLocks noGrp="1"/>
          </p:cNvSpPr>
          <p:nvPr>
            <p:ph type="body" idx="50"/>
          </p:nvPr>
        </p:nvSpPr>
        <p:spPr>
          <a:xfrm>
            <a:off x="3111500" y="47752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Design only</a:t>
            </a:r>
          </a:p>
        </p:txBody>
      </p:sp>
      <p:sp>
        <p:nvSpPr>
          <p:cNvPr id="51" name="Cell r3c2"/>
          <p:cNvSpPr>
            <a:spLocks noGrp="1"/>
          </p:cNvSpPr>
          <p:nvPr>
            <p:ph type="body" idx="51"/>
          </p:nvPr>
        </p:nvSpPr>
        <p:spPr>
          <a:xfrm>
            <a:off x="5302250" y="47752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Preview private</a:t>
            </a:r>
          </a:p>
        </p:txBody>
      </p:sp>
      <p:sp>
        <p:nvSpPr>
          <p:cNvPr id="52" name="Cell r3c3"/>
          <p:cNvSpPr>
            <a:spLocks noGrp="1"/>
          </p:cNvSpPr>
          <p:nvPr>
            <p:ph type="body" idx="52"/>
          </p:nvPr>
        </p:nvSpPr>
        <p:spPr>
          <a:xfrm>
            <a:off x="7493000" y="47752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Preview public</a:t>
            </a:r>
          </a:p>
        </p:txBody>
      </p:sp>
      <p:sp>
        <p:nvSpPr>
          <p:cNvPr id="53" name="Cell r3c4"/>
          <p:cNvSpPr>
            <a:spLocks noGrp="1"/>
          </p:cNvSpPr>
          <p:nvPr>
            <p:ph type="body" idx="53"/>
          </p:nvPr>
        </p:nvSpPr>
        <p:spPr>
          <a:xfrm>
            <a:off x="9683750" y="47752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GA → Q4 slip</a:t>
            </a:r>
          </a:p>
        </p:txBody>
      </p:sp>
      <p:sp>
        <p:nvSpPr>
          <p:cNvPr id="54" name="Cell r4c1"/>
          <p:cNvSpPr>
            <a:spLocks noGrp="1"/>
          </p:cNvSpPr>
          <p:nvPr>
            <p:ph type="body" idx="55"/>
          </p:nvPr>
        </p:nvSpPr>
        <p:spPr>
          <a:xfrm>
            <a:off x="3111500" y="54800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Scope locked</a:t>
            </a:r>
          </a:p>
        </p:txBody>
      </p:sp>
      <p:sp>
        <p:nvSpPr>
          <p:cNvPr id="55" name="Cell r4c2"/>
          <p:cNvSpPr>
            <a:spLocks noGrp="1"/>
          </p:cNvSpPr>
          <p:nvPr>
            <p:ph type="body" idx="56"/>
          </p:nvPr>
        </p:nvSpPr>
        <p:spPr>
          <a:xfrm>
            <a:off x="5302250" y="54800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Vendor delay</a:t>
            </a:r>
          </a:p>
        </p:txBody>
      </p:sp>
      <p:sp>
        <p:nvSpPr>
          <p:cNvPr id="56" name="Cell r4c3"/>
          <p:cNvSpPr>
            <a:spLocks noGrp="1"/>
          </p:cNvSpPr>
          <p:nvPr>
            <p:ph type="body" idx="57"/>
          </p:nvPr>
        </p:nvSpPr>
        <p:spPr>
          <a:xfrm>
            <a:off x="7493000" y="54800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Off plan</a:t>
            </a:r>
          </a:p>
        </p:txBody>
      </p:sp>
      <p:sp>
        <p:nvSpPr>
          <p:cNvPr id="57" name="Cell r4c4"/>
          <p:cNvSpPr>
            <a:spLocks noGrp="1"/>
          </p:cNvSpPr>
          <p:nvPr>
            <p:ph type="body" idx="58"/>
          </p:nvPr>
        </p:nvSpPr>
        <p:spPr>
          <a:xfrm>
            <a:off x="9683750" y="54800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Re-baseline</a:t>
            </a:r>
          </a:p>
        </p:txBody>
      </p:sp>
      <p:sp>
        <p:nvSpPr>
          <p:cNvPr id="58" name="Oval 57"/>
          <p:cNvSpPr/>
          <p:nvPr/>
        </p:nvSpPr>
        <p:spPr>
          <a:xfrm>
            <a:off x="8496300" y="6235700"/>
            <a:ext cx="88900" cy="889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8648700" y="6210300"/>
            <a:ext cx="6985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2D3A52"/>
                </a:solidFill>
                <a:latin typeface="Noto Sans Mono"/>
              </a:rPr>
              <a:t>ON TRACK</a:t>
            </a:r>
          </a:p>
        </p:txBody>
      </p:sp>
      <p:sp>
        <p:nvSpPr>
          <p:cNvPr id="60" name="Oval 59"/>
          <p:cNvSpPr/>
          <p:nvPr/>
        </p:nvSpPr>
        <p:spPr>
          <a:xfrm>
            <a:off x="9601200" y="6235700"/>
            <a:ext cx="88900" cy="88900"/>
          </a:xfrm>
          <a:prstGeom prst="ellipse">
            <a:avLst/>
          </a:prstGeom>
          <a:solidFill>
            <a:srgbClr val="E4C2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9753600" y="6210300"/>
            <a:ext cx="6985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2D3A52"/>
                </a:solidFill>
                <a:latin typeface="Noto Sans Mono"/>
              </a:rPr>
              <a:t>AT RISK</a:t>
            </a:r>
          </a:p>
        </p:txBody>
      </p:sp>
      <p:sp>
        <p:nvSpPr>
          <p:cNvPr id="62" name="Oval 61"/>
          <p:cNvSpPr/>
          <p:nvPr/>
        </p:nvSpPr>
        <p:spPr>
          <a:xfrm>
            <a:off x="10706100" y="6235700"/>
            <a:ext cx="88900" cy="88900"/>
          </a:xfrm>
          <a:prstGeom prst="ellipse">
            <a:avLst/>
          </a:prstGeom>
          <a:solidFill>
            <a:srgbClr val="A04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10858500" y="6210300"/>
            <a:ext cx="6985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2D3A52"/>
                </a:solidFill>
                <a:latin typeface="Noto Sans Mono"/>
              </a:rPr>
              <a:t>OFF TRACK</a:t>
            </a:r>
          </a:p>
        </p:txBody>
      </p:sp>
      <p:sp>
        <p:nvSpPr>
          <p:cNvPr id="64" name="Source"/>
          <p:cNvSpPr>
            <a:spLocks noGrp="1"/>
          </p:cNvSpPr>
          <p:nvPr>
            <p:ph type="body" idx="60"/>
          </p:nvPr>
        </p:nvSpPr>
        <p:spPr>
          <a:xfrm>
            <a:off x="635000" y="63500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2D3A52"/>
                </a:solidFill>
                <a:latin typeface="Noto Sans Mono"/>
              </a:rPr>
              <a:t>SOURCE · PROGRAMME BOARD · FY25 Q3 STATUS REVIEW</a:t>
            </a:r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Gant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75640" y="426720"/>
            <a:ext cx="121920" cy="162560"/>
          </a:xfrm>
          <a:custGeom>
            <a:avLst/>
            <a:gdLst/>
            <a:ahLst/>
            <a:cxnLst/>
            <a:rect l="l" t="t" r="r" b="b"/>
            <a:pathLst>
              <a:path w="121920" h="162560">
                <a:moveTo>
                  <a:pt x="60960" y="0"/>
                </a:moveTo>
                <a:lnTo>
                  <a:pt x="20320" y="66040"/>
                </a:lnTo>
                <a:lnTo>
                  <a:pt x="0" y="86360"/>
                </a:lnTo>
                <a:lnTo>
                  <a:pt x="60960" y="162560"/>
                </a:lnTo>
                <a:lnTo>
                  <a:pt x="121920" y="86360"/>
                </a:lnTo>
                <a:lnTo>
                  <a:pt x="101600" y="66040"/>
                </a:lnTo>
                <a:close/>
              </a:path>
            </a:pathLst>
          </a:custGeom>
          <a:solidFill>
            <a:srgbClr val="0B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01700" y="4318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62" b="0">
                <a:solidFill>
                  <a:srgbClr val="0B1A33"/>
                </a:solidFill>
                <a:latin typeface="Noto Sans Medium"/>
              </a:rPr>
              <a:t>FEINSCHLIFF.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90">
                <a:solidFill>
                  <a:srgbClr val="0B1A33"/>
                </a:solidFill>
                <a:latin typeface="Noto Sans Mono"/>
              </a:rPr>
              <a:t>GANTT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0B1A33"/>
                </a:solidFill>
                <a:latin typeface="Noto Sa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0B1A33"/>
                </a:solidFill>
                <a:latin typeface="Noto Sa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0B1A33"/>
                </a:solidFill>
                <a:latin typeface="Noto Sa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0B1A33"/>
                </a:solidFill>
                <a:latin typeface="Noto Sans Mono"/>
              </a:rPr>
              <a:t>WORKSTREAMS — FY25 DELIVERY PLAN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0B1A33"/>
                </a:solidFill>
                <a:latin typeface="Noto Sans"/>
              </a:rPr>
              <a:t>Firmware consolidation lands in Q2; the developer API goes GA in Q4, dependent on telemetry rollout.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794250" y="2921000"/>
            <a:ext cx="6350" cy="30480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048500" y="2921000"/>
            <a:ext cx="6350" cy="30480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9302750" y="2921000"/>
            <a:ext cx="6350" cy="30480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35000" y="3225800"/>
            <a:ext cx="10922000" cy="635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794250" y="3225800"/>
            <a:ext cx="6350" cy="203200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048500" y="3225800"/>
            <a:ext cx="6350" cy="203200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9302750" y="3225800"/>
            <a:ext cx="6350" cy="203200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578100" y="3390900"/>
            <a:ext cx="4432300" cy="1778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Diamond 17"/>
          <p:cNvSpPr/>
          <p:nvPr/>
        </p:nvSpPr>
        <p:spPr>
          <a:xfrm>
            <a:off x="6765925" y="3422650"/>
            <a:ext cx="114300" cy="114300"/>
          </a:xfrm>
          <a:prstGeom prst="diamond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35000" y="3733800"/>
            <a:ext cx="10922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578100" y="3898900"/>
            <a:ext cx="6686550" cy="1778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Diamond 20"/>
          <p:cNvSpPr/>
          <p:nvPr/>
        </p:nvSpPr>
        <p:spPr>
          <a:xfrm>
            <a:off x="8794750" y="3930650"/>
            <a:ext cx="114300" cy="114300"/>
          </a:xfrm>
          <a:prstGeom prst="diamond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35000" y="4241800"/>
            <a:ext cx="10922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832350" y="4492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908550" y="4492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984750" y="4492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060950" y="4492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137150" y="4492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5213350" y="4492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5289550" y="4492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5365750" y="4492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41950" y="4492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5518150" y="4492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5594350" y="4492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5670550" y="4492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5746750" y="4492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5822950" y="4492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5899150" y="4492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5975350" y="4492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6051550" y="4492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6127750" y="4492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6203950" y="4492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280150" y="4492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6356350" y="4492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6432550" y="4492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6508750" y="4492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6584950" y="4492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6661150" y="4492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6737350" y="4492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6813550" y="4492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6889750" y="4492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6965950" y="4492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7086600" y="4406900"/>
            <a:ext cx="4432300" cy="1778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635000" y="4749800"/>
            <a:ext cx="10922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4832350" y="5000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4908550" y="5000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4984750" y="5000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5060950" y="5000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5137150" y="5000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5213350" y="5000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5289550" y="5000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5365750" y="5000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5441950" y="5000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5518150" y="5000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5594350" y="5000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5670550" y="5000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5746750" y="5000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5822950" y="5000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5899150" y="5000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5975350" y="5000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6051550" y="5000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6127750" y="5000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6203950" y="5000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6280150" y="5000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6356350" y="5000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6432550" y="5000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6508750" y="5000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6584950" y="5000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6661150" y="5000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6737350" y="5000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6813550" y="5000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6889750" y="5000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6965950" y="5000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7086600" y="4914900"/>
            <a:ext cx="2178050" cy="1778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9340850" y="4914900"/>
            <a:ext cx="2178050" cy="1778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Diamond 84"/>
          <p:cNvSpPr/>
          <p:nvPr/>
        </p:nvSpPr>
        <p:spPr>
          <a:xfrm>
            <a:off x="11274425" y="4946650"/>
            <a:ext cx="114300" cy="114300"/>
          </a:xfrm>
          <a:prstGeom prst="diamond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635000" y="5257800"/>
            <a:ext cx="10922000" cy="635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Period 1"/>
          <p:cNvSpPr>
            <a:spLocks noGrp="1"/>
          </p:cNvSpPr>
          <p:nvPr>
            <p:ph type="body" idx="20"/>
          </p:nvPr>
        </p:nvSpPr>
        <p:spPr>
          <a:xfrm>
            <a:off x="2603500" y="3009900"/>
            <a:ext cx="2127250" cy="2159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0B1A33"/>
                </a:solidFill>
                <a:latin typeface="Noto Sans Mono"/>
              </a:rPr>
              <a:t>Q1 · PLAN</a:t>
            </a:r>
          </a:p>
        </p:txBody>
      </p:sp>
      <p:sp>
        <p:nvSpPr>
          <p:cNvPr id="88" name="Period 2"/>
          <p:cNvSpPr>
            <a:spLocks noGrp="1"/>
          </p:cNvSpPr>
          <p:nvPr>
            <p:ph type="body" idx="21"/>
          </p:nvPr>
        </p:nvSpPr>
        <p:spPr>
          <a:xfrm>
            <a:off x="4857750" y="3009900"/>
            <a:ext cx="2127250" cy="2159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0B1A33"/>
                </a:solidFill>
                <a:latin typeface="Noto Sans Mono"/>
              </a:rPr>
              <a:t>Q2 · BUILD</a:t>
            </a:r>
          </a:p>
        </p:txBody>
      </p:sp>
      <p:sp>
        <p:nvSpPr>
          <p:cNvPr id="89" name="Period 3"/>
          <p:cNvSpPr>
            <a:spLocks noGrp="1"/>
          </p:cNvSpPr>
          <p:nvPr>
            <p:ph type="body" idx="22"/>
          </p:nvPr>
        </p:nvSpPr>
        <p:spPr>
          <a:xfrm>
            <a:off x="7112000" y="3009900"/>
            <a:ext cx="2127250" cy="2159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0B1A33"/>
                </a:solidFill>
                <a:latin typeface="Noto Sans Mono"/>
              </a:rPr>
              <a:t>Q3 · PILOT</a:t>
            </a:r>
          </a:p>
        </p:txBody>
      </p:sp>
      <p:sp>
        <p:nvSpPr>
          <p:cNvPr id="90" name="Period 4"/>
          <p:cNvSpPr>
            <a:spLocks noGrp="1"/>
          </p:cNvSpPr>
          <p:nvPr>
            <p:ph type="body" idx="23"/>
          </p:nvPr>
        </p:nvSpPr>
        <p:spPr>
          <a:xfrm>
            <a:off x="9366250" y="3009900"/>
            <a:ext cx="2127250" cy="2159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0B1A33"/>
                </a:solidFill>
                <a:latin typeface="Noto Sans Mono"/>
              </a:rPr>
              <a:t>Q4 · SCALE</a:t>
            </a:r>
          </a:p>
        </p:txBody>
      </p:sp>
      <p:sp>
        <p:nvSpPr>
          <p:cNvPr id="91" name="Lane 1 Label"/>
          <p:cNvSpPr>
            <a:spLocks noGrp="1"/>
          </p:cNvSpPr>
          <p:nvPr>
            <p:ph type="body" idx="30"/>
          </p:nvPr>
        </p:nvSpPr>
        <p:spPr>
          <a:xfrm>
            <a:off x="698500" y="3289300"/>
            <a:ext cx="1778000" cy="381000"/>
          </a:xfrm>
        </p:spPr>
        <p:txBody>
          <a:bodyPr lIns="0" tIns="0" rIns="0" bIns="0" wrap="square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C9A24A"/>
                </a:solidFill>
                <a:latin typeface="Noto Sans Mono"/>
              </a:rPr>
              <a:t>FIRMWARE CONSOLIDATION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C9A24A"/>
                </a:solidFill>
                <a:latin typeface="Noto Sans Mono"/>
              </a:rPr>
              <a:t>OWNER · PLATFORM</a:t>
            </a:r>
          </a:p>
        </p:txBody>
      </p:sp>
      <p:sp>
        <p:nvSpPr>
          <p:cNvPr id="92" name="Lane 2 Label"/>
          <p:cNvSpPr>
            <a:spLocks noGrp="1"/>
          </p:cNvSpPr>
          <p:nvPr>
            <p:ph type="body" idx="31"/>
          </p:nvPr>
        </p:nvSpPr>
        <p:spPr>
          <a:xfrm>
            <a:off x="698500" y="3797300"/>
            <a:ext cx="1778000" cy="381000"/>
          </a:xfrm>
        </p:spPr>
        <p:txBody>
          <a:bodyPr lIns="0" tIns="0" rIns="0" bIns="0" wrap="square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C9A24A"/>
                </a:solidFill>
                <a:latin typeface="Noto Sans Mono"/>
              </a:rPr>
              <a:t>DEFAULT-ON TELEMETRY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C9A24A"/>
                </a:solidFill>
                <a:latin typeface="Noto Sans Mono"/>
              </a:rPr>
              <a:t>OWNER · DATA</a:t>
            </a:r>
          </a:p>
        </p:txBody>
      </p:sp>
      <p:sp>
        <p:nvSpPr>
          <p:cNvPr id="93" name="Lane 3 Label"/>
          <p:cNvSpPr>
            <a:spLocks noGrp="1"/>
          </p:cNvSpPr>
          <p:nvPr>
            <p:ph type="body" idx="32"/>
          </p:nvPr>
        </p:nvSpPr>
        <p:spPr>
          <a:xfrm>
            <a:off x="698500" y="4305300"/>
            <a:ext cx="1778000" cy="381000"/>
          </a:xfrm>
        </p:spPr>
        <p:txBody>
          <a:bodyPr lIns="0" tIns="0" rIns="0" bIns="0" wrap="square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C9A24A"/>
                </a:solidFill>
                <a:latin typeface="Noto Sans Mono"/>
              </a:rPr>
              <a:t>REGIONAL PILOT · 2,000 CUSTOMERS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C9A24A"/>
                </a:solidFill>
                <a:latin typeface="Noto Sans Mono"/>
              </a:rPr>
              <a:t>OWNER · CONSUMER</a:t>
            </a:r>
          </a:p>
        </p:txBody>
      </p:sp>
      <p:sp>
        <p:nvSpPr>
          <p:cNvPr id="94" name="Lane 4 Label"/>
          <p:cNvSpPr>
            <a:spLocks noGrp="1"/>
          </p:cNvSpPr>
          <p:nvPr>
            <p:ph type="body" idx="33"/>
          </p:nvPr>
        </p:nvSpPr>
        <p:spPr>
          <a:xfrm>
            <a:off x="698500" y="4813300"/>
            <a:ext cx="1778000" cy="381000"/>
          </a:xfrm>
        </p:spPr>
        <p:txBody>
          <a:bodyPr lIns="0" tIns="0" rIns="0" bIns="0" wrap="square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C9A24A"/>
                </a:solidFill>
                <a:latin typeface="Noto Sans Mono"/>
              </a:rPr>
              <a:t>DEVELOPER API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C9A24A"/>
                </a:solidFill>
                <a:latin typeface="Noto Sans Mono"/>
              </a:rPr>
              <a:t>OWNER · PLATFORM</a:t>
            </a:r>
          </a:p>
        </p:txBody>
      </p:sp>
      <p:sp>
        <p:nvSpPr>
          <p:cNvPr id="95" name="Lane 1 Bar 1 Label"/>
          <p:cNvSpPr>
            <a:spLocks noGrp="1"/>
          </p:cNvSpPr>
          <p:nvPr>
            <p:ph type="body" idx="40"/>
          </p:nvPr>
        </p:nvSpPr>
        <p:spPr>
          <a:xfrm>
            <a:off x="2628900" y="3390900"/>
            <a:ext cx="4330700" cy="177800"/>
          </a:xfrm>
        </p:spPr>
        <p:txBody>
          <a:bodyPr lIns="0" tIns="0" rIns="0" bIns="0" wrap="square" anchor="ctr"/>
          <a:lstStyle/>
          <a:p>
            <a:pPr marL="0" indent="0" algn="l">
              <a:buNone/>
            </a:pPr>
            <a:r>
              <a:rPr lang="en-US" sz="650" spc="52" cap="all">
                <a:solidFill>
                  <a:srgbClr val="0B1A33"/>
                </a:solidFill>
                <a:latin typeface="Noto Sans Mono"/>
              </a:rPr>
              <a:t>CUTOVER · ALL SKUS</a:t>
            </a:r>
          </a:p>
        </p:txBody>
      </p:sp>
      <p:sp>
        <p:nvSpPr>
          <p:cNvPr id="96" name="Lane 2 Bar 1 Label"/>
          <p:cNvSpPr>
            <a:spLocks noGrp="1"/>
          </p:cNvSpPr>
          <p:nvPr>
            <p:ph type="body" idx="43"/>
          </p:nvPr>
        </p:nvSpPr>
        <p:spPr>
          <a:xfrm>
            <a:off x="2628900" y="3898900"/>
            <a:ext cx="6584950" cy="177800"/>
          </a:xfrm>
        </p:spPr>
        <p:txBody>
          <a:bodyPr lIns="0" tIns="0" rIns="0" bIns="0" wrap="square" anchor="ctr"/>
          <a:lstStyle/>
          <a:p>
            <a:pPr marL="0" indent="0" algn="l">
              <a:buNone/>
            </a:pPr>
            <a:r>
              <a:rPr lang="en-US" sz="650" spc="52" cap="all">
                <a:solidFill>
                  <a:srgbClr val="FFFFFF"/>
                </a:solidFill>
                <a:latin typeface="Noto Sans Mono"/>
              </a:rPr>
              <a:t>FACTORY ROLLOUT</a:t>
            </a:r>
          </a:p>
        </p:txBody>
      </p:sp>
      <p:sp>
        <p:nvSpPr>
          <p:cNvPr id="97" name="Lane 3 Bar 2 Label"/>
          <p:cNvSpPr>
            <a:spLocks noGrp="1"/>
          </p:cNvSpPr>
          <p:nvPr>
            <p:ph type="body" idx="47"/>
          </p:nvPr>
        </p:nvSpPr>
        <p:spPr>
          <a:xfrm>
            <a:off x="7137400" y="4406900"/>
            <a:ext cx="4330700" cy="177800"/>
          </a:xfrm>
        </p:spPr>
        <p:txBody>
          <a:bodyPr lIns="0" tIns="0" rIns="0" bIns="0" wrap="square" anchor="ctr"/>
          <a:lstStyle/>
          <a:p>
            <a:pPr marL="0" indent="0" algn="l">
              <a:buNone/>
            </a:pPr>
            <a:r>
              <a:rPr lang="en-US" sz="650" spc="52" cap="all">
                <a:solidFill>
                  <a:srgbClr val="0B1A33"/>
                </a:solidFill>
                <a:latin typeface="Noto Sans Mono"/>
              </a:rPr>
              <a:t>INSTRUMENTED STUDY</a:t>
            </a:r>
          </a:p>
        </p:txBody>
      </p:sp>
      <p:sp>
        <p:nvSpPr>
          <p:cNvPr id="98" name="Lane 4 Bar 2 Label"/>
          <p:cNvSpPr>
            <a:spLocks noGrp="1"/>
          </p:cNvSpPr>
          <p:nvPr>
            <p:ph type="body" idx="50"/>
          </p:nvPr>
        </p:nvSpPr>
        <p:spPr>
          <a:xfrm>
            <a:off x="7137400" y="4914900"/>
            <a:ext cx="2076450" cy="177800"/>
          </a:xfrm>
        </p:spPr>
        <p:txBody>
          <a:bodyPr lIns="0" tIns="0" rIns="0" bIns="0" wrap="square" anchor="ctr"/>
          <a:lstStyle/>
          <a:p>
            <a:pPr marL="0" indent="0" algn="l">
              <a:buNone/>
            </a:pPr>
            <a:r>
              <a:rPr lang="en-US" sz="650" spc="52" cap="all">
                <a:solidFill>
                  <a:srgbClr val="FFFFFF"/>
                </a:solidFill>
                <a:latin typeface="Noto Sans Mono"/>
              </a:rPr>
              <a:t>PREVIEW</a:t>
            </a:r>
          </a:p>
        </p:txBody>
      </p:sp>
      <p:sp>
        <p:nvSpPr>
          <p:cNvPr id="99" name="Lane 4 Bar 3 Label"/>
          <p:cNvSpPr>
            <a:spLocks noGrp="1"/>
          </p:cNvSpPr>
          <p:nvPr>
            <p:ph type="body" idx="51"/>
          </p:nvPr>
        </p:nvSpPr>
        <p:spPr>
          <a:xfrm>
            <a:off x="9391650" y="4914900"/>
            <a:ext cx="2076450" cy="177800"/>
          </a:xfrm>
        </p:spPr>
        <p:txBody>
          <a:bodyPr lIns="0" tIns="0" rIns="0" bIns="0" wrap="square" anchor="ctr"/>
          <a:lstStyle/>
          <a:p>
            <a:pPr marL="0" indent="0" algn="l">
              <a:buNone/>
            </a:pPr>
            <a:r>
              <a:rPr lang="en-US" sz="650" spc="52" cap="all">
                <a:solidFill>
                  <a:srgbClr val="0B1A33"/>
                </a:solidFill>
                <a:latin typeface="Noto Sans Mono"/>
              </a:rPr>
              <a:t>GA</a:t>
            </a:r>
          </a:p>
        </p:txBody>
      </p:sp>
      <p:sp>
        <p:nvSpPr>
          <p:cNvPr id="100" name="Source / caption"/>
          <p:cNvSpPr>
            <a:spLocks noGrp="1"/>
          </p:cNvSpPr>
          <p:nvPr>
            <p:ph type="body" idx="60"/>
          </p:nvPr>
        </p:nvSpPr>
        <p:spPr>
          <a:xfrm>
            <a:off x="635000" y="63500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2D3A52"/>
                </a:solidFill>
                <a:latin typeface="Noto Sans Mono"/>
              </a:rPr>
              <a:t>COMMITTED · CRITICAL PATH · DEPENDENCY WINDOW · MILESTONE</a:t>
            </a:r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Funnel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75640" y="426720"/>
            <a:ext cx="121920" cy="162560"/>
          </a:xfrm>
          <a:custGeom>
            <a:avLst/>
            <a:gdLst/>
            <a:ahLst/>
            <a:cxnLst/>
            <a:rect l="l" t="t" r="r" b="b"/>
            <a:pathLst>
              <a:path w="121920" h="162560">
                <a:moveTo>
                  <a:pt x="60960" y="0"/>
                </a:moveTo>
                <a:lnTo>
                  <a:pt x="20320" y="66040"/>
                </a:lnTo>
                <a:lnTo>
                  <a:pt x="0" y="86360"/>
                </a:lnTo>
                <a:lnTo>
                  <a:pt x="60960" y="162560"/>
                </a:lnTo>
                <a:lnTo>
                  <a:pt x="121920" y="86360"/>
                </a:lnTo>
                <a:lnTo>
                  <a:pt x="101600" y="66040"/>
                </a:lnTo>
                <a:close/>
              </a:path>
            </a:pathLst>
          </a:custGeom>
          <a:solidFill>
            <a:srgbClr val="0B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01700" y="4318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62" b="0">
                <a:solidFill>
                  <a:srgbClr val="0B1A33"/>
                </a:solidFill>
                <a:latin typeface="Noto Sans Medium"/>
              </a:rPr>
              <a:t>FEINSCHLIFF.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90">
                <a:solidFill>
                  <a:srgbClr val="0B1A33"/>
                </a:solidFill>
                <a:latin typeface="Noto Sans Mono"/>
              </a:rPr>
              <a:t>FUNNEL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0B1A33"/>
                </a:solidFill>
                <a:latin typeface="Noto Sa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0B1A33"/>
                </a:solidFill>
                <a:latin typeface="Noto Sa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0B1A33"/>
                </a:solidFill>
                <a:latin typeface="Noto Sa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0B1A33"/>
                </a:solidFill>
                <a:latin typeface="Noto Sans Mono"/>
              </a:rPr>
              <a:t>APP ACTIVATION FUNNEL · Q4 FY25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0B1A33"/>
                </a:solidFill>
                <a:latin typeface="Noto Sans"/>
              </a:rPr>
              <a:t>One in three buyers never pairs their product — first-run setup is the largest and most fixable drop-off.</a:t>
            </a:r>
          </a:p>
        </p:txBody>
      </p:sp>
      <p:sp>
        <p:nvSpPr>
          <p:cNvPr id="10" name="Freeform 9"/>
          <p:cNvSpPr/>
          <p:nvPr/>
        </p:nvSpPr>
        <p:spPr>
          <a:xfrm>
            <a:off x="635000" y="3048000"/>
            <a:ext cx="3048000" cy="774700"/>
          </a:xfrm>
          <a:custGeom>
            <a:avLst/>
            <a:gdLst/>
            <a:ahLst/>
            <a:cxnLst/>
            <a:rect l="l" t="t" r="r" b="b"/>
            <a:pathLst>
              <a:path w="3048000" h="774700">
                <a:moveTo>
                  <a:pt x="0" y="0"/>
                </a:moveTo>
                <a:lnTo>
                  <a:pt x="3048000" y="0"/>
                </a:lnTo>
                <a:lnTo>
                  <a:pt x="2778125" y="774700"/>
                </a:lnTo>
                <a:lnTo>
                  <a:pt x="269875" y="774700"/>
                </a:lnTo>
                <a:close/>
              </a:path>
            </a:pathLst>
          </a:cu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Freeform 10"/>
          <p:cNvSpPr/>
          <p:nvPr/>
        </p:nvSpPr>
        <p:spPr>
          <a:xfrm>
            <a:off x="904875" y="3848100"/>
            <a:ext cx="2508250" cy="774700"/>
          </a:xfrm>
          <a:custGeom>
            <a:avLst/>
            <a:gdLst/>
            <a:ahLst/>
            <a:cxnLst/>
            <a:rect l="l" t="t" r="r" b="b"/>
            <a:pathLst>
              <a:path w="2508250" h="774700">
                <a:moveTo>
                  <a:pt x="0" y="0"/>
                </a:moveTo>
                <a:lnTo>
                  <a:pt x="2508250" y="0"/>
                </a:lnTo>
                <a:lnTo>
                  <a:pt x="2238375" y="774700"/>
                </a:lnTo>
                <a:lnTo>
                  <a:pt x="269875" y="774700"/>
                </a:lnTo>
                <a:close/>
              </a:path>
            </a:pathLst>
          </a:cu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Freeform 11"/>
          <p:cNvSpPr/>
          <p:nvPr/>
        </p:nvSpPr>
        <p:spPr>
          <a:xfrm>
            <a:off x="1174750" y="4648200"/>
            <a:ext cx="1968500" cy="774700"/>
          </a:xfrm>
          <a:custGeom>
            <a:avLst/>
            <a:gdLst/>
            <a:ahLst/>
            <a:cxnLst/>
            <a:rect l="l" t="t" r="r" b="b"/>
            <a:pathLst>
              <a:path w="1968500" h="774700">
                <a:moveTo>
                  <a:pt x="0" y="0"/>
                </a:moveTo>
                <a:lnTo>
                  <a:pt x="1968500" y="0"/>
                </a:lnTo>
                <a:lnTo>
                  <a:pt x="1698625" y="774700"/>
                </a:lnTo>
                <a:lnTo>
                  <a:pt x="269875" y="774700"/>
                </a:lnTo>
                <a:close/>
              </a:path>
            </a:pathLst>
          </a:cu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Freeform 12"/>
          <p:cNvSpPr/>
          <p:nvPr/>
        </p:nvSpPr>
        <p:spPr>
          <a:xfrm>
            <a:off x="1444625" y="5448300"/>
            <a:ext cx="1428750" cy="774700"/>
          </a:xfrm>
          <a:custGeom>
            <a:avLst/>
            <a:gdLst/>
            <a:ahLst/>
            <a:cxnLst/>
            <a:rect l="l" t="t" r="r" b="b"/>
            <a:pathLst>
              <a:path w="1428750" h="774700">
                <a:moveTo>
                  <a:pt x="0" y="0"/>
                </a:moveTo>
                <a:lnTo>
                  <a:pt x="1428750" y="0"/>
                </a:lnTo>
                <a:lnTo>
                  <a:pt x="1158875" y="774700"/>
                </a:lnTo>
                <a:lnTo>
                  <a:pt x="269875" y="774700"/>
                </a:lnTo>
                <a:close/>
              </a:path>
            </a:pathLst>
          </a:cu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937000" y="3048000"/>
            <a:ext cx="3048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Stage 1 Name"/>
          <p:cNvSpPr>
            <a:spLocks noGrp="1"/>
          </p:cNvSpPr>
          <p:nvPr>
            <p:ph type="body" idx="20"/>
          </p:nvPr>
        </p:nvSpPr>
        <p:spPr>
          <a:xfrm>
            <a:off x="3937000" y="3124200"/>
            <a:ext cx="2032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300" spc="-16">
                <a:solidFill>
                  <a:srgbClr val="0B1A33"/>
                </a:solidFill>
                <a:latin typeface="Noto Sans Medium"/>
              </a:rPr>
              <a:t>Product sold</a:t>
            </a:r>
          </a:p>
        </p:txBody>
      </p:sp>
      <p:sp>
        <p:nvSpPr>
          <p:cNvPr id="16" name="Stage 1 Detail"/>
          <p:cNvSpPr>
            <a:spLocks noGrp="1"/>
          </p:cNvSpPr>
          <p:nvPr>
            <p:ph type="body" idx="21"/>
          </p:nvPr>
        </p:nvSpPr>
        <p:spPr>
          <a:xfrm>
            <a:off x="3937000" y="3365500"/>
            <a:ext cx="2032000" cy="152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700">
                <a:solidFill>
                  <a:srgbClr val="2D3A52"/>
                </a:solidFill>
                <a:latin typeface="Noto Sans"/>
              </a:rPr>
              <a:t>Shipment, any SKU</a:t>
            </a:r>
          </a:p>
        </p:txBody>
      </p:sp>
      <p:sp>
        <p:nvSpPr>
          <p:cNvPr id="17" name="Stage 1 Volume"/>
          <p:cNvSpPr>
            <a:spLocks noGrp="1"/>
          </p:cNvSpPr>
          <p:nvPr>
            <p:ph type="body" idx="22"/>
          </p:nvPr>
        </p:nvSpPr>
        <p:spPr>
          <a:xfrm>
            <a:off x="6096000" y="3124200"/>
            <a:ext cx="889000" cy="2794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700" spc="-34">
                <a:solidFill>
                  <a:srgbClr val="0B1A33"/>
                </a:solidFill>
                <a:latin typeface="Noto Sans Light"/>
              </a:rPr>
              <a:t>2.4 M</a:t>
            </a:r>
          </a:p>
        </p:txBody>
      </p:sp>
      <p:sp>
        <p:nvSpPr>
          <p:cNvPr id="18" name="Stage 1 Rate"/>
          <p:cNvSpPr>
            <a:spLocks noGrp="1"/>
          </p:cNvSpPr>
          <p:nvPr>
            <p:ph type="body" idx="23"/>
          </p:nvPr>
        </p:nvSpPr>
        <p:spPr>
          <a:xfrm>
            <a:off x="6096000" y="3429000"/>
            <a:ext cx="8890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50" spc="65" cap="all">
                <a:solidFill>
                  <a:srgbClr val="2D3A52"/>
                </a:solidFill>
                <a:latin typeface="Noto Sans Mono"/>
              </a:rPr>
              <a:t>100%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937000" y="3848100"/>
            <a:ext cx="3048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Stage 2 Name"/>
          <p:cNvSpPr>
            <a:spLocks noGrp="1"/>
          </p:cNvSpPr>
          <p:nvPr>
            <p:ph type="body" idx="24"/>
          </p:nvPr>
        </p:nvSpPr>
        <p:spPr>
          <a:xfrm>
            <a:off x="3937000" y="3924300"/>
            <a:ext cx="2032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300" spc="-16">
                <a:solidFill>
                  <a:srgbClr val="0B1A33"/>
                </a:solidFill>
                <a:latin typeface="Noto Sans Medium"/>
              </a:rPr>
              <a:t>App installed</a:t>
            </a:r>
          </a:p>
        </p:txBody>
      </p:sp>
      <p:sp>
        <p:nvSpPr>
          <p:cNvPr id="21" name="Stage 2 Detail"/>
          <p:cNvSpPr>
            <a:spLocks noGrp="1"/>
          </p:cNvSpPr>
          <p:nvPr>
            <p:ph type="body" idx="25"/>
          </p:nvPr>
        </p:nvSpPr>
        <p:spPr>
          <a:xfrm>
            <a:off x="3937000" y="4165600"/>
            <a:ext cx="2032000" cy="152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700">
                <a:solidFill>
                  <a:srgbClr val="2D3A52"/>
                </a:solidFill>
                <a:latin typeface="Noto Sans"/>
              </a:rPr>
              <a:t>Within 30 days of purchase</a:t>
            </a:r>
          </a:p>
        </p:txBody>
      </p:sp>
      <p:sp>
        <p:nvSpPr>
          <p:cNvPr id="22" name="Stage 2 Volume"/>
          <p:cNvSpPr>
            <a:spLocks noGrp="1"/>
          </p:cNvSpPr>
          <p:nvPr>
            <p:ph type="body" idx="26"/>
          </p:nvPr>
        </p:nvSpPr>
        <p:spPr>
          <a:xfrm>
            <a:off x="6096000" y="3924300"/>
            <a:ext cx="889000" cy="2794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700" spc="-34">
                <a:solidFill>
                  <a:srgbClr val="0B1A33"/>
                </a:solidFill>
                <a:latin typeface="Noto Sans Light"/>
              </a:rPr>
              <a:t>2.0 M</a:t>
            </a:r>
          </a:p>
        </p:txBody>
      </p:sp>
      <p:sp>
        <p:nvSpPr>
          <p:cNvPr id="23" name="Stage 2 Rate"/>
          <p:cNvSpPr>
            <a:spLocks noGrp="1"/>
          </p:cNvSpPr>
          <p:nvPr>
            <p:ph type="body" idx="27"/>
          </p:nvPr>
        </p:nvSpPr>
        <p:spPr>
          <a:xfrm>
            <a:off x="6096000" y="4229100"/>
            <a:ext cx="8890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50" spc="65" cap="all">
                <a:solidFill>
                  <a:srgbClr val="2D3A52"/>
                </a:solidFill>
                <a:latin typeface="Noto Sans Mono"/>
              </a:rPr>
              <a:t>84%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937000" y="4648200"/>
            <a:ext cx="3048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Stage 3 Name"/>
          <p:cNvSpPr>
            <a:spLocks noGrp="1"/>
          </p:cNvSpPr>
          <p:nvPr>
            <p:ph type="body" idx="28"/>
          </p:nvPr>
        </p:nvSpPr>
        <p:spPr>
          <a:xfrm>
            <a:off x="3937000" y="4724400"/>
            <a:ext cx="2032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300" spc="-16">
                <a:solidFill>
                  <a:srgbClr val="0B1A33"/>
                </a:solidFill>
                <a:latin typeface="Noto Sans Medium"/>
              </a:rPr>
              <a:t>Product paired</a:t>
            </a:r>
          </a:p>
        </p:txBody>
      </p:sp>
      <p:sp>
        <p:nvSpPr>
          <p:cNvPr id="26" name="Stage 3 Detail"/>
          <p:cNvSpPr>
            <a:spLocks noGrp="1"/>
          </p:cNvSpPr>
          <p:nvPr>
            <p:ph type="body" idx="29"/>
          </p:nvPr>
        </p:nvSpPr>
        <p:spPr>
          <a:xfrm>
            <a:off x="3937000" y="4965700"/>
            <a:ext cx="2032000" cy="152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700">
                <a:solidFill>
                  <a:srgbClr val="2D3A52"/>
                </a:solidFill>
                <a:latin typeface="Noto Sans"/>
              </a:rPr>
              <a:t>First-run setup completed</a:t>
            </a:r>
          </a:p>
        </p:txBody>
      </p:sp>
      <p:sp>
        <p:nvSpPr>
          <p:cNvPr id="27" name="Stage 3 Volume"/>
          <p:cNvSpPr>
            <a:spLocks noGrp="1"/>
          </p:cNvSpPr>
          <p:nvPr>
            <p:ph type="body" idx="30"/>
          </p:nvPr>
        </p:nvSpPr>
        <p:spPr>
          <a:xfrm>
            <a:off x="6096000" y="4724400"/>
            <a:ext cx="889000" cy="2794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700" spc="-34">
                <a:solidFill>
                  <a:srgbClr val="0B1A33"/>
                </a:solidFill>
                <a:latin typeface="Noto Sans Light"/>
              </a:rPr>
              <a:t>1.5 M</a:t>
            </a:r>
          </a:p>
        </p:txBody>
      </p:sp>
      <p:sp>
        <p:nvSpPr>
          <p:cNvPr id="28" name="Stage 3 Rate"/>
          <p:cNvSpPr>
            <a:spLocks noGrp="1"/>
          </p:cNvSpPr>
          <p:nvPr>
            <p:ph type="body" idx="31"/>
          </p:nvPr>
        </p:nvSpPr>
        <p:spPr>
          <a:xfrm>
            <a:off x="6096000" y="5029200"/>
            <a:ext cx="8890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50" spc="65" cap="all">
                <a:solidFill>
                  <a:srgbClr val="2D3A52"/>
                </a:solidFill>
                <a:latin typeface="Noto Sans Mono"/>
              </a:rPr>
              <a:t>62%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937000" y="5448300"/>
            <a:ext cx="3048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Stage 4 Name"/>
          <p:cNvSpPr>
            <a:spLocks noGrp="1"/>
          </p:cNvSpPr>
          <p:nvPr>
            <p:ph type="body" idx="32"/>
          </p:nvPr>
        </p:nvSpPr>
        <p:spPr>
          <a:xfrm>
            <a:off x="3937000" y="5524500"/>
            <a:ext cx="2032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300" spc="-16">
                <a:solidFill>
                  <a:srgbClr val="0B1A33"/>
                </a:solidFill>
                <a:latin typeface="Noto Sans Medium"/>
              </a:rPr>
              <a:t>Active at 90 days</a:t>
            </a:r>
          </a:p>
        </p:txBody>
      </p:sp>
      <p:sp>
        <p:nvSpPr>
          <p:cNvPr id="31" name="Stage 4 Detail"/>
          <p:cNvSpPr>
            <a:spLocks noGrp="1"/>
          </p:cNvSpPr>
          <p:nvPr>
            <p:ph type="body" idx="33"/>
          </p:nvPr>
        </p:nvSpPr>
        <p:spPr>
          <a:xfrm>
            <a:off x="3937000" y="5765800"/>
            <a:ext cx="2032000" cy="152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700">
                <a:solidFill>
                  <a:srgbClr val="2D3A52"/>
                </a:solidFill>
                <a:latin typeface="Noto Sans"/>
              </a:rPr>
              <a:t>≥4 cycles in last month</a:t>
            </a:r>
          </a:p>
        </p:txBody>
      </p:sp>
      <p:sp>
        <p:nvSpPr>
          <p:cNvPr id="32" name="Stage 4 Volume"/>
          <p:cNvSpPr>
            <a:spLocks noGrp="1"/>
          </p:cNvSpPr>
          <p:nvPr>
            <p:ph type="body" idx="34"/>
          </p:nvPr>
        </p:nvSpPr>
        <p:spPr>
          <a:xfrm>
            <a:off x="6096000" y="5524500"/>
            <a:ext cx="889000" cy="2794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700" spc="-34">
                <a:solidFill>
                  <a:srgbClr val="0B1A33"/>
                </a:solidFill>
                <a:latin typeface="Noto Sans Light"/>
              </a:rPr>
              <a:t>870 K</a:t>
            </a:r>
          </a:p>
        </p:txBody>
      </p:sp>
      <p:sp>
        <p:nvSpPr>
          <p:cNvPr id="33" name="Stage 4 Rate"/>
          <p:cNvSpPr>
            <a:spLocks noGrp="1"/>
          </p:cNvSpPr>
          <p:nvPr>
            <p:ph type="body" idx="35"/>
          </p:nvPr>
        </p:nvSpPr>
        <p:spPr>
          <a:xfrm>
            <a:off x="6096000" y="5829300"/>
            <a:ext cx="8890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50" spc="65" cap="all">
                <a:solidFill>
                  <a:srgbClr val="2D3A52"/>
                </a:solidFill>
                <a:latin typeface="Noto Sans Mono"/>
              </a:rPr>
              <a:t>36%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493000" y="3048000"/>
            <a:ext cx="4064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Dropoff 1 Pct"/>
          <p:cNvSpPr>
            <a:spLocks noGrp="1"/>
          </p:cNvSpPr>
          <p:nvPr>
            <p:ph type="body" idx="50"/>
          </p:nvPr>
        </p:nvSpPr>
        <p:spPr>
          <a:xfrm>
            <a:off x="7493000" y="3149600"/>
            <a:ext cx="4064000" cy="3556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2300" spc="-46">
                <a:solidFill>
                  <a:srgbClr val="C9A24A"/>
                </a:solidFill>
                <a:latin typeface="Noto Sans Light"/>
              </a:rPr>
              <a:t>−22 pt</a:t>
            </a:r>
          </a:p>
        </p:txBody>
      </p:sp>
      <p:sp>
        <p:nvSpPr>
          <p:cNvPr id="36" name="Dropoff 1 Label"/>
          <p:cNvSpPr>
            <a:spLocks noGrp="1"/>
          </p:cNvSpPr>
          <p:nvPr>
            <p:ph type="body" idx="51"/>
          </p:nvPr>
        </p:nvSpPr>
        <p:spPr>
          <a:xfrm>
            <a:off x="7493000" y="3530600"/>
            <a:ext cx="4064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2D3A52"/>
                </a:solidFill>
                <a:latin typeface="Noto Sans Mono"/>
              </a:rPr>
              <a:t>TRIAL → ACTIVATE</a:t>
            </a:r>
          </a:p>
        </p:txBody>
      </p:sp>
      <p:sp>
        <p:nvSpPr>
          <p:cNvPr id="37" name="Dropoff 1 Body"/>
          <p:cNvSpPr>
            <a:spLocks noGrp="1"/>
          </p:cNvSpPr>
          <p:nvPr>
            <p:ph type="body" idx="52"/>
          </p:nvPr>
        </p:nvSpPr>
        <p:spPr>
          <a:xfrm>
            <a:off x="7493000" y="3733800"/>
            <a:ext cx="40640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800">
                <a:solidFill>
                  <a:srgbClr val="2D3A52"/>
                </a:solidFill>
                <a:latin typeface="Noto Sans"/>
              </a:rPr>
              <a:t>Activation fails on mixed-SSID routers and Wi-Fi 6 backward compatibility. Fix is scoped for Q1.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493000" y="4140200"/>
            <a:ext cx="4064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Dropoff 2 Pct"/>
          <p:cNvSpPr>
            <a:spLocks noGrp="1"/>
          </p:cNvSpPr>
          <p:nvPr>
            <p:ph type="body" idx="54"/>
          </p:nvPr>
        </p:nvSpPr>
        <p:spPr>
          <a:xfrm>
            <a:off x="7493000" y="4241800"/>
            <a:ext cx="4064000" cy="3556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2300" spc="-46">
                <a:solidFill>
                  <a:srgbClr val="C9A24A"/>
                </a:solidFill>
                <a:latin typeface="Noto Sans Light"/>
              </a:rPr>
              <a:t>−14 pt</a:t>
            </a:r>
          </a:p>
        </p:txBody>
      </p:sp>
      <p:sp>
        <p:nvSpPr>
          <p:cNvPr id="40" name="Dropoff 2 Label"/>
          <p:cNvSpPr>
            <a:spLocks noGrp="1"/>
          </p:cNvSpPr>
          <p:nvPr>
            <p:ph type="body" idx="55"/>
          </p:nvPr>
        </p:nvSpPr>
        <p:spPr>
          <a:xfrm>
            <a:off x="7493000" y="4622800"/>
            <a:ext cx="4064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2D3A52"/>
                </a:solidFill>
                <a:latin typeface="Noto Sans Mono"/>
              </a:rPr>
              <a:t>FEATURE → 90D ACTIVE</a:t>
            </a:r>
          </a:p>
        </p:txBody>
      </p:sp>
      <p:sp>
        <p:nvSpPr>
          <p:cNvPr id="41" name="Dropoff 2 Body"/>
          <p:cNvSpPr>
            <a:spLocks noGrp="1"/>
          </p:cNvSpPr>
          <p:nvPr>
            <p:ph type="body" idx="56"/>
          </p:nvPr>
        </p:nvSpPr>
        <p:spPr>
          <a:xfrm>
            <a:off x="7493000" y="4826000"/>
            <a:ext cx="40640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800">
                <a:solidFill>
                  <a:srgbClr val="2D3A52"/>
                </a:solidFill>
                <a:latin typeface="Noto Sans"/>
              </a:rPr>
              <a:t>Users try one session then default to the panel. Cadence nudges in-app are live in Q2.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493000" y="5232400"/>
            <a:ext cx="4064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Dropoff 3 Pct"/>
          <p:cNvSpPr>
            <a:spLocks noGrp="1"/>
          </p:cNvSpPr>
          <p:nvPr>
            <p:ph type="body" idx="58"/>
          </p:nvPr>
        </p:nvSpPr>
        <p:spPr>
          <a:xfrm>
            <a:off x="7493000" y="5334000"/>
            <a:ext cx="4064000" cy="3556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endParaRPr lang="en-US"/>
          </a:p>
        </p:txBody>
      </p:sp>
      <p:sp>
        <p:nvSpPr>
          <p:cNvPr id="44" name="Dropoff 3 Label"/>
          <p:cNvSpPr>
            <a:spLocks noGrp="1"/>
          </p:cNvSpPr>
          <p:nvPr>
            <p:ph type="body" idx="59"/>
          </p:nvPr>
        </p:nvSpPr>
        <p:spPr>
          <a:xfrm>
            <a:off x="7493000" y="5715000"/>
            <a:ext cx="4064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endParaRPr lang="en-US"/>
          </a:p>
        </p:txBody>
      </p:sp>
      <p:sp>
        <p:nvSpPr>
          <p:cNvPr id="45" name="Dropoff 3 Body"/>
          <p:cNvSpPr>
            <a:spLocks noGrp="1"/>
          </p:cNvSpPr>
          <p:nvPr>
            <p:ph type="body" idx="60"/>
          </p:nvPr>
        </p:nvSpPr>
        <p:spPr>
          <a:xfrm>
            <a:off x="7493000" y="5918200"/>
            <a:ext cx="40640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endParaRPr lang="en-US"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Venn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75640" y="426720"/>
            <a:ext cx="121920" cy="162560"/>
          </a:xfrm>
          <a:custGeom>
            <a:avLst/>
            <a:gdLst/>
            <a:ahLst/>
            <a:cxnLst/>
            <a:rect l="l" t="t" r="r" b="b"/>
            <a:pathLst>
              <a:path w="121920" h="162560">
                <a:moveTo>
                  <a:pt x="60960" y="0"/>
                </a:moveTo>
                <a:lnTo>
                  <a:pt x="20320" y="66040"/>
                </a:lnTo>
                <a:lnTo>
                  <a:pt x="0" y="86360"/>
                </a:lnTo>
                <a:lnTo>
                  <a:pt x="60960" y="162560"/>
                </a:lnTo>
                <a:lnTo>
                  <a:pt x="121920" y="86360"/>
                </a:lnTo>
                <a:lnTo>
                  <a:pt x="101600" y="66040"/>
                </a:lnTo>
                <a:close/>
              </a:path>
            </a:pathLst>
          </a:custGeom>
          <a:solidFill>
            <a:srgbClr val="0B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01700" y="4318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62" b="0">
                <a:solidFill>
                  <a:srgbClr val="0B1A33"/>
                </a:solidFill>
                <a:latin typeface="Noto Sans Medium"/>
              </a:rPr>
              <a:t>FEINSCHLIFF.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90">
                <a:solidFill>
                  <a:srgbClr val="0B1A33"/>
                </a:solidFill>
                <a:latin typeface="Noto Sans Mono"/>
              </a:rPr>
              <a:t>VENN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0B1A33"/>
                </a:solidFill>
                <a:latin typeface="Noto Sa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0B1A33"/>
                </a:solidFill>
                <a:latin typeface="Noto Sa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0B1A33"/>
                </a:solidFill>
                <a:latin typeface="Noto Sa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0B1A33"/>
                </a:solidFill>
                <a:latin typeface="Noto Sans Mono"/>
              </a:rPr>
              <a:t>WHERE THE THREE BUSINESSES MEET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0B1A33"/>
                </a:solidFill>
                <a:latin typeface="Noto Sans"/>
              </a:rPr>
              <a:t>The connected platform is the intersection — only the integrated brand has the product, the platform, and the service relationship.</a:t>
            </a:r>
          </a:p>
        </p:txBody>
      </p:sp>
      <p:sp>
        <p:nvSpPr>
          <p:cNvPr id="10" name="Oval 9"/>
          <p:cNvSpPr/>
          <p:nvPr/>
        </p:nvSpPr>
        <p:spPr>
          <a:xfrm>
            <a:off x="1587500" y="3238500"/>
            <a:ext cx="2159000" cy="2159000"/>
          </a:xfrm>
          <a:prstGeom prst="ellipse">
            <a:avLst/>
          </a:prstGeom>
          <a:solidFill>
            <a:srgbClr val="C9A24A">
              <a:alpha val="50000"/>
            </a:srgbClr>
          </a:solidFill>
          <a:ln w="12700">
            <a:solidFill>
              <a:srgbClr val="0B1A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3111500" y="3238500"/>
            <a:ext cx="2159000" cy="2159000"/>
          </a:xfrm>
          <a:prstGeom prst="ellipse">
            <a:avLst/>
          </a:prstGeom>
          <a:solidFill>
            <a:srgbClr val="0B1A33">
              <a:alpha val="50000"/>
            </a:srgbClr>
          </a:solidFill>
          <a:ln w="12700">
            <a:solidFill>
              <a:srgbClr val="0B1A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2349500" y="4381500"/>
            <a:ext cx="2159000" cy="2159000"/>
          </a:xfrm>
          <a:prstGeom prst="ellipse">
            <a:avLst/>
          </a:prstGeom>
          <a:solidFill>
            <a:srgbClr val="2D3A52">
              <a:alpha val="50000"/>
            </a:srgbClr>
          </a:solidFill>
          <a:ln w="12700">
            <a:solidFill>
              <a:srgbClr val="0B1A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3098800" y="4400550"/>
            <a:ext cx="660400" cy="660400"/>
          </a:xfrm>
          <a:prstGeom prst="ellipse">
            <a:avLst/>
          </a:prstGeom>
          <a:solidFill>
            <a:srgbClr val="FAF8F3"/>
          </a:solidFill>
          <a:ln w="12700">
            <a:solidFill>
              <a:srgbClr val="0B1A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Set A Name"/>
          <p:cNvSpPr>
            <a:spLocks noGrp="1"/>
          </p:cNvSpPr>
          <p:nvPr>
            <p:ph type="body" idx="20"/>
          </p:nvPr>
        </p:nvSpPr>
        <p:spPr>
          <a:xfrm>
            <a:off x="1016000" y="3594100"/>
            <a:ext cx="1524000" cy="1651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900" spc="108" cap="all">
                <a:solidFill>
                  <a:srgbClr val="0B1A33"/>
                </a:solidFill>
                <a:latin typeface="Noto Sans Mono"/>
              </a:rPr>
              <a:t>CONSUMER</a:t>
            </a:r>
          </a:p>
        </p:txBody>
      </p:sp>
      <p:sp>
        <p:nvSpPr>
          <p:cNvPr id="15" name="Set A Subtitle"/>
          <p:cNvSpPr>
            <a:spLocks noGrp="1"/>
          </p:cNvSpPr>
          <p:nvPr>
            <p:ph type="body" idx="21"/>
          </p:nvPr>
        </p:nvSpPr>
        <p:spPr>
          <a:xfrm>
            <a:off x="1016000" y="3784600"/>
            <a:ext cx="1524000" cy="1397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>
                <a:solidFill>
                  <a:srgbClr val="2D3A52"/>
                </a:solidFill>
                <a:latin typeface="Noto Sans Mono"/>
              </a:rPr>
              <a:t>Product + brand</a:t>
            </a:r>
          </a:p>
        </p:txBody>
      </p:sp>
      <p:sp>
        <p:nvSpPr>
          <p:cNvPr id="16" name="Set B Name"/>
          <p:cNvSpPr>
            <a:spLocks noGrp="1"/>
          </p:cNvSpPr>
          <p:nvPr>
            <p:ph type="body" idx="24"/>
          </p:nvPr>
        </p:nvSpPr>
        <p:spPr>
          <a:xfrm>
            <a:off x="4318000" y="3594100"/>
            <a:ext cx="1524000" cy="1651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900" spc="108" cap="all">
                <a:solidFill>
                  <a:srgbClr val="0B1A33"/>
                </a:solidFill>
                <a:latin typeface="Noto Sans Mono"/>
              </a:rPr>
              <a:t>PLATFORM</a:t>
            </a:r>
          </a:p>
        </p:txBody>
      </p:sp>
      <p:sp>
        <p:nvSpPr>
          <p:cNvPr id="17" name="Set B Subtitle"/>
          <p:cNvSpPr>
            <a:spLocks noGrp="1"/>
          </p:cNvSpPr>
          <p:nvPr>
            <p:ph type="body" idx="25"/>
          </p:nvPr>
        </p:nvSpPr>
        <p:spPr>
          <a:xfrm>
            <a:off x="4318000" y="3784600"/>
            <a:ext cx="1524000" cy="1397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>
                <a:solidFill>
                  <a:srgbClr val="2D3A52"/>
                </a:solidFill>
                <a:latin typeface="Noto Sans Mono"/>
              </a:rPr>
              <a:t>Firmware + API</a:t>
            </a:r>
          </a:p>
        </p:txBody>
      </p:sp>
      <p:sp>
        <p:nvSpPr>
          <p:cNvPr id="18" name="Set C Name"/>
          <p:cNvSpPr>
            <a:spLocks noGrp="1"/>
          </p:cNvSpPr>
          <p:nvPr>
            <p:ph type="body" idx="28"/>
          </p:nvPr>
        </p:nvSpPr>
        <p:spPr>
          <a:xfrm>
            <a:off x="2667000" y="6038850"/>
            <a:ext cx="1524000" cy="1651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900" spc="108" cap="all">
                <a:solidFill>
                  <a:srgbClr val="0B1A33"/>
                </a:solidFill>
                <a:latin typeface="Noto Sans Mono"/>
              </a:rPr>
              <a:t>SERVICES</a:t>
            </a:r>
          </a:p>
        </p:txBody>
      </p:sp>
      <p:sp>
        <p:nvSpPr>
          <p:cNvPr id="19" name="Set C Subtitle"/>
          <p:cNvSpPr>
            <a:spLocks noGrp="1"/>
          </p:cNvSpPr>
          <p:nvPr>
            <p:ph type="body" idx="29"/>
          </p:nvPr>
        </p:nvSpPr>
        <p:spPr>
          <a:xfrm>
            <a:off x="2667000" y="6229350"/>
            <a:ext cx="1524000" cy="1397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>
                <a:solidFill>
                  <a:srgbClr val="2D3A52"/>
                </a:solidFill>
                <a:latin typeface="Noto Sans Mono"/>
              </a:rPr>
              <a:t>Install · repair</a:t>
            </a:r>
          </a:p>
        </p:txBody>
      </p:sp>
      <p:sp>
        <p:nvSpPr>
          <p:cNvPr id="20" name="Intersection AB"/>
          <p:cNvSpPr>
            <a:spLocks noGrp="1"/>
          </p:cNvSpPr>
          <p:nvPr>
            <p:ph type="body" idx="30"/>
          </p:nvPr>
        </p:nvSpPr>
        <p:spPr>
          <a:xfrm>
            <a:off x="2667000" y="4159250"/>
            <a:ext cx="1524000" cy="254000"/>
          </a:xfrm>
        </p:spPr>
        <p:txBody>
          <a:bodyPr lIns="0" tIns="0" rIns="0" bIns="0" wrap="square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00" spc="-4">
                <a:solidFill>
                  <a:srgbClr val="0B1A33"/>
                </a:solidFill>
                <a:latin typeface="Noto Sans Medium"/>
              </a:rPr>
              <a:t>Smart product</a:t>
            </a:r>
          </a:p>
        </p:txBody>
      </p:sp>
      <p:sp>
        <p:nvSpPr>
          <p:cNvPr id="21" name="Intersection AC"/>
          <p:cNvSpPr>
            <a:spLocks noGrp="1"/>
          </p:cNvSpPr>
          <p:nvPr>
            <p:ph type="body" idx="31"/>
          </p:nvPr>
        </p:nvSpPr>
        <p:spPr>
          <a:xfrm>
            <a:off x="1905000" y="4826000"/>
            <a:ext cx="1524000" cy="254000"/>
          </a:xfrm>
        </p:spPr>
        <p:txBody>
          <a:bodyPr lIns="0" tIns="0" rIns="0" bIns="0" wrap="square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00" spc="-4">
                <a:solidFill>
                  <a:srgbClr val="0B1A33"/>
                </a:solidFill>
                <a:latin typeface="Noto Sans Medium"/>
              </a:rPr>
              <a:t>In-home install</a:t>
            </a:r>
          </a:p>
        </p:txBody>
      </p:sp>
      <p:sp>
        <p:nvSpPr>
          <p:cNvPr id="22" name="Intersection BC"/>
          <p:cNvSpPr>
            <a:spLocks noGrp="1"/>
          </p:cNvSpPr>
          <p:nvPr>
            <p:ph type="body" idx="32"/>
          </p:nvPr>
        </p:nvSpPr>
        <p:spPr>
          <a:xfrm>
            <a:off x="3429000" y="4826000"/>
            <a:ext cx="1524000" cy="254000"/>
          </a:xfrm>
        </p:spPr>
        <p:txBody>
          <a:bodyPr lIns="0" tIns="0" rIns="0" bIns="0" wrap="square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00" spc="-4">
                <a:solidFill>
                  <a:srgbClr val="0B1A33"/>
                </a:solidFill>
                <a:latin typeface="Noto Sans Medium"/>
              </a:rPr>
              <a:t>Remote diagnostics</a:t>
            </a:r>
          </a:p>
        </p:txBody>
      </p:sp>
      <p:sp>
        <p:nvSpPr>
          <p:cNvPr id="23" name="Center Intersection"/>
          <p:cNvSpPr>
            <a:spLocks noGrp="1"/>
          </p:cNvSpPr>
          <p:nvPr>
            <p:ph type="body" idx="33"/>
          </p:nvPr>
        </p:nvSpPr>
        <p:spPr>
          <a:xfrm>
            <a:off x="2921000" y="4578350"/>
            <a:ext cx="1016000" cy="304800"/>
          </a:xfrm>
        </p:spPr>
        <p:txBody>
          <a:bodyPr lIns="0" tIns="0" rIns="0" bIns="0" wrap="square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700" b="1" spc="-4">
                <a:solidFill>
                  <a:srgbClr val="0B1A33"/>
                </a:solidFill>
                <a:latin typeface="Noto Sans"/>
              </a:rPr>
              <a:t>Connected platform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858000" y="2921000"/>
            <a:ext cx="4699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Item 1 Counter"/>
          <p:cNvSpPr>
            <a:spLocks noGrp="1"/>
          </p:cNvSpPr>
          <p:nvPr>
            <p:ph type="body" idx="40"/>
          </p:nvPr>
        </p:nvSpPr>
        <p:spPr>
          <a:xfrm>
            <a:off x="6858000" y="2997200"/>
            <a:ext cx="4699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2D3A52"/>
                </a:solidFill>
                <a:latin typeface="Noto Sans Mono"/>
              </a:rPr>
              <a:t>01 · CONSUMER × PLATFORM</a:t>
            </a:r>
          </a:p>
        </p:txBody>
      </p:sp>
      <p:sp>
        <p:nvSpPr>
          <p:cNvPr id="26" name="Item 1 Heading"/>
          <p:cNvSpPr>
            <a:spLocks noGrp="1"/>
          </p:cNvSpPr>
          <p:nvPr>
            <p:ph type="body" idx="41"/>
          </p:nvPr>
        </p:nvSpPr>
        <p:spPr>
          <a:xfrm>
            <a:off x="6858000" y="3175000"/>
            <a:ext cx="4699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spc="-14">
                <a:solidFill>
                  <a:srgbClr val="0B1A33"/>
                </a:solidFill>
                <a:latin typeface="Noto Sans Medium"/>
              </a:rPr>
              <a:t>Smart product</a:t>
            </a:r>
          </a:p>
        </p:txBody>
      </p:sp>
      <p:sp>
        <p:nvSpPr>
          <p:cNvPr id="27" name="Item 1 Body"/>
          <p:cNvSpPr>
            <a:spLocks noGrp="1"/>
          </p:cNvSpPr>
          <p:nvPr>
            <p:ph type="body" idx="42"/>
          </p:nvPr>
        </p:nvSpPr>
        <p:spPr>
          <a:xfrm>
            <a:off x="6858000" y="3429000"/>
            <a:ext cx="4699000" cy="222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750">
                <a:solidFill>
                  <a:srgbClr val="2D3A52"/>
                </a:solidFill>
                <a:latin typeface="Noto Sans"/>
              </a:rPr>
              <a:t>Firmware turns the object into an addressable node — the basis for every service we layer on top.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858000" y="3803650"/>
            <a:ext cx="4699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Item 2 Counter"/>
          <p:cNvSpPr>
            <a:spLocks noGrp="1"/>
          </p:cNvSpPr>
          <p:nvPr>
            <p:ph type="body" idx="44"/>
          </p:nvPr>
        </p:nvSpPr>
        <p:spPr>
          <a:xfrm>
            <a:off x="6858000" y="3879850"/>
            <a:ext cx="4699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2D3A52"/>
                </a:solidFill>
                <a:latin typeface="Noto Sans Mono"/>
              </a:rPr>
              <a:t>02 · PLATFORM × SERVICES</a:t>
            </a:r>
          </a:p>
        </p:txBody>
      </p:sp>
      <p:sp>
        <p:nvSpPr>
          <p:cNvPr id="30" name="Item 2 Heading"/>
          <p:cNvSpPr>
            <a:spLocks noGrp="1"/>
          </p:cNvSpPr>
          <p:nvPr>
            <p:ph type="body" idx="45"/>
          </p:nvPr>
        </p:nvSpPr>
        <p:spPr>
          <a:xfrm>
            <a:off x="6858000" y="4057650"/>
            <a:ext cx="4699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spc="-14">
                <a:solidFill>
                  <a:srgbClr val="0B1A33"/>
                </a:solidFill>
                <a:latin typeface="Noto Sans Medium"/>
              </a:rPr>
              <a:t>Remote diagnostics</a:t>
            </a:r>
          </a:p>
        </p:txBody>
      </p:sp>
      <p:sp>
        <p:nvSpPr>
          <p:cNvPr id="31" name="Item 2 Body"/>
          <p:cNvSpPr>
            <a:spLocks noGrp="1"/>
          </p:cNvSpPr>
          <p:nvPr>
            <p:ph type="body" idx="46"/>
          </p:nvPr>
        </p:nvSpPr>
        <p:spPr>
          <a:xfrm>
            <a:off x="6858000" y="4311650"/>
            <a:ext cx="4699000" cy="222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750">
                <a:solidFill>
                  <a:srgbClr val="2D3A52"/>
                </a:solidFill>
                <a:latin typeface="Noto Sans"/>
              </a:rPr>
              <a:t>Telemetry lets service pre-triage a call; first-time-fix rate rises, truck rolls fall.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858000" y="4686300"/>
            <a:ext cx="4699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Item 3 Counter"/>
          <p:cNvSpPr>
            <a:spLocks noGrp="1"/>
          </p:cNvSpPr>
          <p:nvPr>
            <p:ph type="body" idx="48"/>
          </p:nvPr>
        </p:nvSpPr>
        <p:spPr>
          <a:xfrm>
            <a:off x="6858000" y="4762500"/>
            <a:ext cx="4699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2D3A52"/>
                </a:solidFill>
                <a:latin typeface="Noto Sans Mono"/>
              </a:rPr>
              <a:t>03 · CONSUMER × SERVICES</a:t>
            </a:r>
          </a:p>
        </p:txBody>
      </p:sp>
      <p:sp>
        <p:nvSpPr>
          <p:cNvPr id="34" name="Item 3 Heading"/>
          <p:cNvSpPr>
            <a:spLocks noGrp="1"/>
          </p:cNvSpPr>
          <p:nvPr>
            <p:ph type="body" idx="49"/>
          </p:nvPr>
        </p:nvSpPr>
        <p:spPr>
          <a:xfrm>
            <a:off x="6858000" y="4940300"/>
            <a:ext cx="4699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spc="-14">
                <a:solidFill>
                  <a:srgbClr val="0B1A33"/>
                </a:solidFill>
                <a:latin typeface="Noto Sans Medium"/>
              </a:rPr>
              <a:t>In-home install</a:t>
            </a:r>
          </a:p>
        </p:txBody>
      </p:sp>
      <p:sp>
        <p:nvSpPr>
          <p:cNvPr id="35" name="Item 3 Body"/>
          <p:cNvSpPr>
            <a:spLocks noGrp="1"/>
          </p:cNvSpPr>
          <p:nvPr>
            <p:ph type="body" idx="50"/>
          </p:nvPr>
        </p:nvSpPr>
        <p:spPr>
          <a:xfrm>
            <a:off x="6858000" y="5194300"/>
            <a:ext cx="4699000" cy="222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750">
                <a:solidFill>
                  <a:srgbClr val="2D3A52"/>
                </a:solidFill>
                <a:latin typeface="Noto Sans"/>
              </a:rPr>
              <a:t>Existing service relationship carries trust; we extend it into the subscription tier.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858000" y="5568950"/>
            <a:ext cx="4699000" cy="127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Item 4 Counter"/>
          <p:cNvSpPr>
            <a:spLocks noGrp="1"/>
          </p:cNvSpPr>
          <p:nvPr>
            <p:ph type="body" idx="52"/>
          </p:nvPr>
        </p:nvSpPr>
        <p:spPr>
          <a:xfrm>
            <a:off x="6858000" y="5645150"/>
            <a:ext cx="4699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9A24A"/>
                </a:solidFill>
                <a:latin typeface="Noto Sans Mono"/>
              </a:rPr>
              <a:t>CENTER</a:t>
            </a:r>
          </a:p>
        </p:txBody>
      </p:sp>
      <p:sp>
        <p:nvSpPr>
          <p:cNvPr id="38" name="Item 4 Heading"/>
          <p:cNvSpPr>
            <a:spLocks noGrp="1"/>
          </p:cNvSpPr>
          <p:nvPr>
            <p:ph type="body" idx="53"/>
          </p:nvPr>
        </p:nvSpPr>
        <p:spPr>
          <a:xfrm>
            <a:off x="6858000" y="5822950"/>
            <a:ext cx="4699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spc="-14">
                <a:solidFill>
                  <a:srgbClr val="0B1A33"/>
                </a:solidFill>
                <a:latin typeface="Noto Sans Medium"/>
              </a:rPr>
              <a:t>Connected platform</a:t>
            </a:r>
          </a:p>
        </p:txBody>
      </p:sp>
      <p:sp>
        <p:nvSpPr>
          <p:cNvPr id="39" name="Item 4 Body"/>
          <p:cNvSpPr>
            <a:spLocks noGrp="1"/>
          </p:cNvSpPr>
          <p:nvPr>
            <p:ph type="body" idx="54"/>
          </p:nvPr>
        </p:nvSpPr>
        <p:spPr>
          <a:xfrm>
            <a:off x="6858000" y="6076950"/>
            <a:ext cx="4699000" cy="222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750">
                <a:solidFill>
                  <a:srgbClr val="2D3A52"/>
                </a:solidFill>
                <a:latin typeface="Noto Sans"/>
              </a:rPr>
              <a:t>Only Feinschliff sits in all three sets at scale — the moat no single-category competitor can cross.</a:t>
            </a:r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Diagram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35000" y="1587500"/>
            <a:ext cx="10922000" cy="4318000"/>
          </a:xfrm>
          <a:prstGeom prst="rect">
            <a:avLst/>
          </a:prstGeom>
          <a:solidFill>
            <a:srgbClr val="D6D1C2"/>
          </a:solidFill>
          <a:ln w="6350">
            <a:solidFill>
              <a:srgbClr val="A9BC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2000" y="171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08">
                <a:solidFill>
                  <a:srgbClr val="2D3A52"/>
                </a:solidFill>
                <a:latin typeface="Noto Sans Mono"/>
              </a:rPr>
              <a:t>DIAGRAM · FILL VIA /DECK</a:t>
            </a:r>
          </a:p>
        </p:txBody>
      </p:sp>
      <p:sp>
        <p:nvSpPr>
          <p:cNvPr id="4" name="Freeform 3"/>
          <p:cNvSpPr/>
          <p:nvPr/>
        </p:nvSpPr>
        <p:spPr>
          <a:xfrm>
            <a:off x="675640" y="426720"/>
            <a:ext cx="121920" cy="162560"/>
          </a:xfrm>
          <a:custGeom>
            <a:avLst/>
            <a:gdLst/>
            <a:ahLst/>
            <a:cxnLst/>
            <a:rect l="l" t="t" r="r" b="b"/>
            <a:pathLst>
              <a:path w="121920" h="162560">
                <a:moveTo>
                  <a:pt x="60960" y="0"/>
                </a:moveTo>
                <a:lnTo>
                  <a:pt x="20320" y="66040"/>
                </a:lnTo>
                <a:lnTo>
                  <a:pt x="0" y="86360"/>
                </a:lnTo>
                <a:lnTo>
                  <a:pt x="60960" y="162560"/>
                </a:lnTo>
                <a:lnTo>
                  <a:pt x="121920" y="86360"/>
                </a:lnTo>
                <a:lnTo>
                  <a:pt x="101600" y="66040"/>
                </a:lnTo>
                <a:close/>
              </a:path>
            </a:pathLst>
          </a:custGeom>
          <a:solidFill>
            <a:srgbClr val="0B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1700" y="4318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62" b="0">
                <a:solidFill>
                  <a:srgbClr val="0B1A33"/>
                </a:solidFill>
                <a:latin typeface="Noto Sans Medium"/>
              </a:rPr>
              <a:t>FEINSCHLIFF.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90">
                <a:solidFill>
                  <a:srgbClr val="0B1A33"/>
                </a:solidFill>
                <a:latin typeface="Noto Sans Mono"/>
              </a:rPr>
              <a:t>LAYOUT · DIAGRAM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0B1A33"/>
                </a:solidFill>
                <a:latin typeface="Noto Sans Mono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0B1A33"/>
                </a:solidFill>
                <a:latin typeface="Noto Sa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0B1A33"/>
                </a:solidFill>
                <a:latin typeface="Noto Sans Mono"/>
              </a:rPr>
              <a:t>1</a:t>
            </a:fld>
          </a:p>
        </p:txBody>
      </p:sp>
      <p:sp>
        <p:nvSpPr>
          <p:cNvPr id="9" name="Rectangle 8"/>
          <p:cNvSpPr/>
          <p:nvPr/>
        </p:nvSpPr>
        <p:spPr>
          <a:xfrm>
            <a:off x="635000" y="762000"/>
            <a:ext cx="508000" cy="254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Eyebrow"/>
          <p:cNvSpPr>
            <a:spLocks noGrp="1"/>
          </p:cNvSpPr>
          <p:nvPr>
            <p:ph type="body" idx="10"/>
          </p:nvPr>
        </p:nvSpPr>
        <p:spPr>
          <a:xfrm>
            <a:off x="635000" y="1016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0B1A33"/>
                </a:solidFill>
                <a:latin typeface="Noto Sans Mono"/>
              </a:rPr>
              <a:t>LAYOUT · DIAGRAM</a:t>
            </a:r>
          </a:p>
        </p:txBody>
      </p:sp>
      <p:sp>
        <p:nvSpPr>
          <p:cNvPr id="11" name="Title"/>
          <p:cNvSpPr>
            <a:spLocks noGrp="1"/>
          </p:cNvSpPr>
          <p:nvPr>
            <p:ph type="title"/>
          </p:nvPr>
        </p:nvSpPr>
        <p:spPr>
          <a:xfrm>
            <a:off x="635000" y="1238250"/>
            <a:ext cx="10922000" cy="3175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spc="-37">
                <a:solidFill>
                  <a:srgbClr val="0B1A33"/>
                </a:solidFill>
                <a:latin typeface="Noto Sans Light"/>
              </a:rPr>
              <a:t>Architectural overview goes here.</a:t>
            </a:r>
          </a:p>
        </p:txBody>
      </p:sp>
      <p:sp>
        <p:nvSpPr>
          <p:cNvPr id="12" name="Caption"/>
          <p:cNvSpPr>
            <a:spLocks noGrp="1"/>
          </p:cNvSpPr>
          <p:nvPr>
            <p:ph type="body" idx="11"/>
          </p:nvPr>
        </p:nvSpPr>
        <p:spPr>
          <a:xfrm>
            <a:off x="635000" y="6064250"/>
            <a:ext cx="10922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300">
                <a:solidFill>
                  <a:srgbClr val="2D3A52"/>
                </a:solidFill>
                <a:latin typeface="Noto Sans"/>
              </a:rPr>
              <a:t>Caption · source, figure number, etc.</a:t>
            </a:r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Tech Radar · Full Bleed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pattFill prst="wdDnDiag">
            <a:fgClr>
              <a:srgbClr val="D6D1C2"/>
            </a:fgClr>
            <a:bgClr>
              <a:srgbClr val="FAF8F3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0"/>
            <a:ext cx="12192000" cy="685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spc="90">
                <a:solidFill>
                  <a:srgbClr val="2D3A52"/>
                </a:solidFill>
                <a:latin typeface="Noto Sans Mono"/>
              </a:rPr>
              <a:t>DROP TECH-RADAR PNG (RADAR-ENGINE RENDER)</a:t>
            </a:r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V-Model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75640" y="426720"/>
            <a:ext cx="121920" cy="162560"/>
          </a:xfrm>
          <a:custGeom>
            <a:avLst/>
            <a:gdLst/>
            <a:ahLst/>
            <a:cxnLst/>
            <a:rect l="l" t="t" r="r" b="b"/>
            <a:pathLst>
              <a:path w="121920" h="162560">
                <a:moveTo>
                  <a:pt x="60960" y="0"/>
                </a:moveTo>
                <a:lnTo>
                  <a:pt x="20320" y="66040"/>
                </a:lnTo>
                <a:lnTo>
                  <a:pt x="0" y="86360"/>
                </a:lnTo>
                <a:lnTo>
                  <a:pt x="60960" y="162560"/>
                </a:lnTo>
                <a:lnTo>
                  <a:pt x="121920" y="86360"/>
                </a:lnTo>
                <a:lnTo>
                  <a:pt x="101600" y="66040"/>
                </a:lnTo>
                <a:close/>
              </a:path>
            </a:pathLst>
          </a:custGeom>
          <a:solidFill>
            <a:srgbClr val="0B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01700" y="4318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62" b="0">
                <a:solidFill>
                  <a:srgbClr val="0B1A33"/>
                </a:solidFill>
                <a:latin typeface="Noto Sans Medium"/>
              </a:rPr>
              <a:t>FEINSCHLIFF.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90">
                <a:solidFill>
                  <a:srgbClr val="0B1A33"/>
                </a:solidFill>
                <a:latin typeface="Noto Sans Mono"/>
              </a:rPr>
              <a:t>V-MODEL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0B1A33"/>
                </a:solidFill>
                <a:latin typeface="Noto Sa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0B1A33"/>
                </a:solidFill>
                <a:latin typeface="Noto Sa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0B1A33"/>
                </a:solidFill>
                <a:latin typeface="Noto Sans Mono"/>
              </a:rPr>
              <a:t>1</a:t>
            </a:fld>
          </a:p>
        </p:txBody>
      </p:sp>
      <p:sp>
        <p:nvSpPr>
          <p:cNvPr id="7" name="Kicker"/>
          <p:cNvSpPr>
            <a:spLocks noGrp="1"/>
          </p:cNvSpPr>
          <p:nvPr>
            <p:ph type="body" idx="11"/>
          </p:nvPr>
        </p:nvSpPr>
        <p:spPr>
          <a:xfrm>
            <a:off x="635000" y="1143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C9A24A"/>
                </a:solidFill>
                <a:latin typeface="Noto Sans Mono"/>
              </a:rPr>
              <a:t>VERIFICATION · VALIDATION</a:t>
            </a:r>
          </a:p>
        </p:txBody>
      </p:sp>
      <p:sp>
        <p:nvSpPr>
          <p:cNvPr id="8" name="Action Title"/>
          <p:cNvSpPr>
            <a:spLocks noGrp="1"/>
          </p:cNvSpPr>
          <p:nvPr>
            <p:ph type="title"/>
          </p:nvPr>
        </p:nvSpPr>
        <p:spPr>
          <a:xfrm>
            <a:off x="635000" y="1397000"/>
            <a:ext cx="109220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2600" spc="-39">
                <a:solidFill>
                  <a:srgbClr val="0B1A33"/>
                </a:solidFill>
                <a:latin typeface="Noto Sans Medium"/>
              </a:rPr>
              <a:t>Every design step on the left has a matching test on the right — the V-model pairs them.</a:t>
            </a:r>
          </a:p>
        </p:txBody>
      </p:sp>
      <p:sp>
        <p:nvSpPr>
          <p:cNvPr id="9" name="Rectangle 8"/>
          <p:cNvSpPr/>
          <p:nvPr/>
        </p:nvSpPr>
        <p:spPr>
          <a:xfrm>
            <a:off x="1016000" y="2800350"/>
            <a:ext cx="1270000" cy="609600"/>
          </a:xfrm>
          <a:prstGeom prst="rect">
            <a:avLst/>
          </a:prstGeom>
          <a:solidFill>
            <a:srgbClr val="FA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016000" y="2800350"/>
            <a:ext cx="25400" cy="6096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9906000" y="2800350"/>
            <a:ext cx="1270000" cy="609600"/>
          </a:xfrm>
          <a:prstGeom prst="rect">
            <a:avLst/>
          </a:prstGeom>
          <a:solidFill>
            <a:srgbClr val="FA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1150600" y="2800350"/>
            <a:ext cx="25400" cy="6096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2860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3622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4384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5146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5908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6670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7432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8194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28956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29718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30480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31242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2004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32766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33528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34290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35052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5814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36576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37338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38100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38862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39624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40386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41148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41910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42672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43434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44196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44958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45720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46482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47244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48006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48768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49530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50292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51054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51816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52578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53340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54102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54864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55626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56388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57150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57912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58674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59436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60198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60960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61722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62484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63246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64008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64770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65532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66294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67056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67818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68580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69342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70104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70866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71628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72390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73152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73914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74676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75438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76200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76962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ectangle 84"/>
          <p:cNvSpPr/>
          <p:nvPr/>
        </p:nvSpPr>
        <p:spPr>
          <a:xfrm>
            <a:off x="77724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78486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Rectangle 86"/>
          <p:cNvSpPr/>
          <p:nvPr/>
        </p:nvSpPr>
        <p:spPr>
          <a:xfrm>
            <a:off x="79248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Rectangle 87"/>
          <p:cNvSpPr/>
          <p:nvPr/>
        </p:nvSpPr>
        <p:spPr>
          <a:xfrm>
            <a:off x="80010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Rectangle 88"/>
          <p:cNvSpPr/>
          <p:nvPr/>
        </p:nvSpPr>
        <p:spPr>
          <a:xfrm>
            <a:off x="80772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Rectangle 89"/>
          <p:cNvSpPr/>
          <p:nvPr/>
        </p:nvSpPr>
        <p:spPr>
          <a:xfrm>
            <a:off x="81534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Rectangle 90"/>
          <p:cNvSpPr/>
          <p:nvPr/>
        </p:nvSpPr>
        <p:spPr>
          <a:xfrm>
            <a:off x="82296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Rectangle 91"/>
          <p:cNvSpPr/>
          <p:nvPr/>
        </p:nvSpPr>
        <p:spPr>
          <a:xfrm>
            <a:off x="83058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Rectangle 92"/>
          <p:cNvSpPr/>
          <p:nvPr/>
        </p:nvSpPr>
        <p:spPr>
          <a:xfrm>
            <a:off x="83820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Rectangle 93"/>
          <p:cNvSpPr/>
          <p:nvPr/>
        </p:nvSpPr>
        <p:spPr>
          <a:xfrm>
            <a:off x="84582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Rectangle 94"/>
          <p:cNvSpPr/>
          <p:nvPr/>
        </p:nvSpPr>
        <p:spPr>
          <a:xfrm>
            <a:off x="85344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Rectangle 95"/>
          <p:cNvSpPr/>
          <p:nvPr/>
        </p:nvSpPr>
        <p:spPr>
          <a:xfrm>
            <a:off x="86106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Rectangle 96"/>
          <p:cNvSpPr/>
          <p:nvPr/>
        </p:nvSpPr>
        <p:spPr>
          <a:xfrm>
            <a:off x="86868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Rectangle 97"/>
          <p:cNvSpPr/>
          <p:nvPr/>
        </p:nvSpPr>
        <p:spPr>
          <a:xfrm>
            <a:off x="87630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Rectangle 98"/>
          <p:cNvSpPr/>
          <p:nvPr/>
        </p:nvSpPr>
        <p:spPr>
          <a:xfrm>
            <a:off x="88392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Rectangle 99"/>
          <p:cNvSpPr/>
          <p:nvPr/>
        </p:nvSpPr>
        <p:spPr>
          <a:xfrm>
            <a:off x="89154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Rectangle 100"/>
          <p:cNvSpPr/>
          <p:nvPr/>
        </p:nvSpPr>
        <p:spPr>
          <a:xfrm>
            <a:off x="89916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Rectangle 101"/>
          <p:cNvSpPr/>
          <p:nvPr/>
        </p:nvSpPr>
        <p:spPr>
          <a:xfrm>
            <a:off x="90678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Rectangle 102"/>
          <p:cNvSpPr/>
          <p:nvPr/>
        </p:nvSpPr>
        <p:spPr>
          <a:xfrm>
            <a:off x="91440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Rectangle 103"/>
          <p:cNvSpPr/>
          <p:nvPr/>
        </p:nvSpPr>
        <p:spPr>
          <a:xfrm>
            <a:off x="92202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Rectangle 104"/>
          <p:cNvSpPr/>
          <p:nvPr/>
        </p:nvSpPr>
        <p:spPr>
          <a:xfrm>
            <a:off x="92964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Rectangle 105"/>
          <p:cNvSpPr/>
          <p:nvPr/>
        </p:nvSpPr>
        <p:spPr>
          <a:xfrm>
            <a:off x="93726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Rectangle 106"/>
          <p:cNvSpPr/>
          <p:nvPr/>
        </p:nvSpPr>
        <p:spPr>
          <a:xfrm>
            <a:off x="94488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Rectangle 107"/>
          <p:cNvSpPr/>
          <p:nvPr/>
        </p:nvSpPr>
        <p:spPr>
          <a:xfrm>
            <a:off x="95250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Rectangle 108"/>
          <p:cNvSpPr/>
          <p:nvPr/>
        </p:nvSpPr>
        <p:spPr>
          <a:xfrm>
            <a:off x="96012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Rectangle 109"/>
          <p:cNvSpPr/>
          <p:nvPr/>
        </p:nvSpPr>
        <p:spPr>
          <a:xfrm>
            <a:off x="96774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Rectangle 110"/>
          <p:cNvSpPr/>
          <p:nvPr/>
        </p:nvSpPr>
        <p:spPr>
          <a:xfrm>
            <a:off x="97536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Rectangle 111"/>
          <p:cNvSpPr/>
          <p:nvPr/>
        </p:nvSpPr>
        <p:spPr>
          <a:xfrm>
            <a:off x="98298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Rectangle 112"/>
          <p:cNvSpPr/>
          <p:nvPr/>
        </p:nvSpPr>
        <p:spPr>
          <a:xfrm>
            <a:off x="5461000" y="3028950"/>
            <a:ext cx="1270000" cy="152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Rectangle 113"/>
          <p:cNvSpPr/>
          <p:nvPr/>
        </p:nvSpPr>
        <p:spPr>
          <a:xfrm>
            <a:off x="2286000" y="3473450"/>
            <a:ext cx="1270000" cy="609600"/>
          </a:xfrm>
          <a:prstGeom prst="rect">
            <a:avLst/>
          </a:prstGeom>
          <a:solidFill>
            <a:srgbClr val="FA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Rectangle 114"/>
          <p:cNvSpPr/>
          <p:nvPr/>
        </p:nvSpPr>
        <p:spPr>
          <a:xfrm>
            <a:off x="2286000" y="3473450"/>
            <a:ext cx="25400" cy="6096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Rectangle 115"/>
          <p:cNvSpPr/>
          <p:nvPr/>
        </p:nvSpPr>
        <p:spPr>
          <a:xfrm>
            <a:off x="8636000" y="3473450"/>
            <a:ext cx="1270000" cy="609600"/>
          </a:xfrm>
          <a:prstGeom prst="rect">
            <a:avLst/>
          </a:prstGeom>
          <a:solidFill>
            <a:srgbClr val="FA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Rectangle 116"/>
          <p:cNvSpPr/>
          <p:nvPr/>
        </p:nvSpPr>
        <p:spPr>
          <a:xfrm>
            <a:off x="9880600" y="3473450"/>
            <a:ext cx="25400" cy="6096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Rectangle 117"/>
          <p:cNvSpPr/>
          <p:nvPr/>
        </p:nvSpPr>
        <p:spPr>
          <a:xfrm>
            <a:off x="35560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Rectangle 118"/>
          <p:cNvSpPr/>
          <p:nvPr/>
        </p:nvSpPr>
        <p:spPr>
          <a:xfrm>
            <a:off x="36322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Rectangle 119"/>
          <p:cNvSpPr/>
          <p:nvPr/>
        </p:nvSpPr>
        <p:spPr>
          <a:xfrm>
            <a:off x="37084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Rectangle 120"/>
          <p:cNvSpPr/>
          <p:nvPr/>
        </p:nvSpPr>
        <p:spPr>
          <a:xfrm>
            <a:off x="37846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Rectangle 121"/>
          <p:cNvSpPr/>
          <p:nvPr/>
        </p:nvSpPr>
        <p:spPr>
          <a:xfrm>
            <a:off x="38608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Rectangle 122"/>
          <p:cNvSpPr/>
          <p:nvPr/>
        </p:nvSpPr>
        <p:spPr>
          <a:xfrm>
            <a:off x="39370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Rectangle 123"/>
          <p:cNvSpPr/>
          <p:nvPr/>
        </p:nvSpPr>
        <p:spPr>
          <a:xfrm>
            <a:off x="40132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Rectangle 124"/>
          <p:cNvSpPr/>
          <p:nvPr/>
        </p:nvSpPr>
        <p:spPr>
          <a:xfrm>
            <a:off x="40894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Rectangle 125"/>
          <p:cNvSpPr/>
          <p:nvPr/>
        </p:nvSpPr>
        <p:spPr>
          <a:xfrm>
            <a:off x="41656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Rectangle 126"/>
          <p:cNvSpPr/>
          <p:nvPr/>
        </p:nvSpPr>
        <p:spPr>
          <a:xfrm>
            <a:off x="42418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Rectangle 127"/>
          <p:cNvSpPr/>
          <p:nvPr/>
        </p:nvSpPr>
        <p:spPr>
          <a:xfrm>
            <a:off x="43180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Rectangle 128"/>
          <p:cNvSpPr/>
          <p:nvPr/>
        </p:nvSpPr>
        <p:spPr>
          <a:xfrm>
            <a:off x="43942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Rectangle 129"/>
          <p:cNvSpPr/>
          <p:nvPr/>
        </p:nvSpPr>
        <p:spPr>
          <a:xfrm>
            <a:off x="44704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Rectangle 130"/>
          <p:cNvSpPr/>
          <p:nvPr/>
        </p:nvSpPr>
        <p:spPr>
          <a:xfrm>
            <a:off x="45466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Rectangle 131"/>
          <p:cNvSpPr/>
          <p:nvPr/>
        </p:nvSpPr>
        <p:spPr>
          <a:xfrm>
            <a:off x="46228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Rectangle 132"/>
          <p:cNvSpPr/>
          <p:nvPr/>
        </p:nvSpPr>
        <p:spPr>
          <a:xfrm>
            <a:off x="46990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Rectangle 133"/>
          <p:cNvSpPr/>
          <p:nvPr/>
        </p:nvSpPr>
        <p:spPr>
          <a:xfrm>
            <a:off x="47752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Rectangle 134"/>
          <p:cNvSpPr/>
          <p:nvPr/>
        </p:nvSpPr>
        <p:spPr>
          <a:xfrm>
            <a:off x="48514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Rectangle 135"/>
          <p:cNvSpPr/>
          <p:nvPr/>
        </p:nvSpPr>
        <p:spPr>
          <a:xfrm>
            <a:off x="49276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Rectangle 136"/>
          <p:cNvSpPr/>
          <p:nvPr/>
        </p:nvSpPr>
        <p:spPr>
          <a:xfrm>
            <a:off x="50038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Rectangle 137"/>
          <p:cNvSpPr/>
          <p:nvPr/>
        </p:nvSpPr>
        <p:spPr>
          <a:xfrm>
            <a:off x="50800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Rectangle 138"/>
          <p:cNvSpPr/>
          <p:nvPr/>
        </p:nvSpPr>
        <p:spPr>
          <a:xfrm>
            <a:off x="51562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Rectangle 139"/>
          <p:cNvSpPr/>
          <p:nvPr/>
        </p:nvSpPr>
        <p:spPr>
          <a:xfrm>
            <a:off x="52324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Rectangle 140"/>
          <p:cNvSpPr/>
          <p:nvPr/>
        </p:nvSpPr>
        <p:spPr>
          <a:xfrm>
            <a:off x="53086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Rectangle 141"/>
          <p:cNvSpPr/>
          <p:nvPr/>
        </p:nvSpPr>
        <p:spPr>
          <a:xfrm>
            <a:off x="53848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Rectangle 142"/>
          <p:cNvSpPr/>
          <p:nvPr/>
        </p:nvSpPr>
        <p:spPr>
          <a:xfrm>
            <a:off x="54610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Rectangle 143"/>
          <p:cNvSpPr/>
          <p:nvPr/>
        </p:nvSpPr>
        <p:spPr>
          <a:xfrm>
            <a:off x="55372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Rectangle 144"/>
          <p:cNvSpPr/>
          <p:nvPr/>
        </p:nvSpPr>
        <p:spPr>
          <a:xfrm>
            <a:off x="56134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Rectangle 145"/>
          <p:cNvSpPr/>
          <p:nvPr/>
        </p:nvSpPr>
        <p:spPr>
          <a:xfrm>
            <a:off x="56896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Rectangle 146"/>
          <p:cNvSpPr/>
          <p:nvPr/>
        </p:nvSpPr>
        <p:spPr>
          <a:xfrm>
            <a:off x="57658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" name="Rectangle 147"/>
          <p:cNvSpPr/>
          <p:nvPr/>
        </p:nvSpPr>
        <p:spPr>
          <a:xfrm>
            <a:off x="58420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" name="Rectangle 148"/>
          <p:cNvSpPr/>
          <p:nvPr/>
        </p:nvSpPr>
        <p:spPr>
          <a:xfrm>
            <a:off x="59182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Rectangle 149"/>
          <p:cNvSpPr/>
          <p:nvPr/>
        </p:nvSpPr>
        <p:spPr>
          <a:xfrm>
            <a:off x="59944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" name="Rectangle 150"/>
          <p:cNvSpPr/>
          <p:nvPr/>
        </p:nvSpPr>
        <p:spPr>
          <a:xfrm>
            <a:off x="60706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" name="Rectangle 151"/>
          <p:cNvSpPr/>
          <p:nvPr/>
        </p:nvSpPr>
        <p:spPr>
          <a:xfrm>
            <a:off x="61468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" name="Rectangle 152"/>
          <p:cNvSpPr/>
          <p:nvPr/>
        </p:nvSpPr>
        <p:spPr>
          <a:xfrm>
            <a:off x="62230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" name="Rectangle 153"/>
          <p:cNvSpPr/>
          <p:nvPr/>
        </p:nvSpPr>
        <p:spPr>
          <a:xfrm>
            <a:off x="62992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" name="Rectangle 154"/>
          <p:cNvSpPr/>
          <p:nvPr/>
        </p:nvSpPr>
        <p:spPr>
          <a:xfrm>
            <a:off x="63754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Rectangle 155"/>
          <p:cNvSpPr/>
          <p:nvPr/>
        </p:nvSpPr>
        <p:spPr>
          <a:xfrm>
            <a:off x="64516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" name="Rectangle 156"/>
          <p:cNvSpPr/>
          <p:nvPr/>
        </p:nvSpPr>
        <p:spPr>
          <a:xfrm>
            <a:off x="65278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" name="Rectangle 157"/>
          <p:cNvSpPr/>
          <p:nvPr/>
        </p:nvSpPr>
        <p:spPr>
          <a:xfrm>
            <a:off x="66040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" name="Rectangle 158"/>
          <p:cNvSpPr/>
          <p:nvPr/>
        </p:nvSpPr>
        <p:spPr>
          <a:xfrm>
            <a:off x="66802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Rectangle 159"/>
          <p:cNvSpPr/>
          <p:nvPr/>
        </p:nvSpPr>
        <p:spPr>
          <a:xfrm>
            <a:off x="67564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" name="Rectangle 160"/>
          <p:cNvSpPr/>
          <p:nvPr/>
        </p:nvSpPr>
        <p:spPr>
          <a:xfrm>
            <a:off x="68326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" name="Rectangle 161"/>
          <p:cNvSpPr/>
          <p:nvPr/>
        </p:nvSpPr>
        <p:spPr>
          <a:xfrm>
            <a:off x="69088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" name="Rectangle 162"/>
          <p:cNvSpPr/>
          <p:nvPr/>
        </p:nvSpPr>
        <p:spPr>
          <a:xfrm>
            <a:off x="69850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" name="Rectangle 163"/>
          <p:cNvSpPr/>
          <p:nvPr/>
        </p:nvSpPr>
        <p:spPr>
          <a:xfrm>
            <a:off x="70612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" name="Rectangle 164"/>
          <p:cNvSpPr/>
          <p:nvPr/>
        </p:nvSpPr>
        <p:spPr>
          <a:xfrm>
            <a:off x="71374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Rectangle 165"/>
          <p:cNvSpPr/>
          <p:nvPr/>
        </p:nvSpPr>
        <p:spPr>
          <a:xfrm>
            <a:off x="72136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" name="Rectangle 166"/>
          <p:cNvSpPr/>
          <p:nvPr/>
        </p:nvSpPr>
        <p:spPr>
          <a:xfrm>
            <a:off x="72898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" name="Rectangle 167"/>
          <p:cNvSpPr/>
          <p:nvPr/>
        </p:nvSpPr>
        <p:spPr>
          <a:xfrm>
            <a:off x="73660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9" name="Rectangle 168"/>
          <p:cNvSpPr/>
          <p:nvPr/>
        </p:nvSpPr>
        <p:spPr>
          <a:xfrm>
            <a:off x="74422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" name="Rectangle 169"/>
          <p:cNvSpPr/>
          <p:nvPr/>
        </p:nvSpPr>
        <p:spPr>
          <a:xfrm>
            <a:off x="75184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1" name="Rectangle 170"/>
          <p:cNvSpPr/>
          <p:nvPr/>
        </p:nvSpPr>
        <p:spPr>
          <a:xfrm>
            <a:off x="75946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" name="Rectangle 171"/>
          <p:cNvSpPr/>
          <p:nvPr/>
        </p:nvSpPr>
        <p:spPr>
          <a:xfrm>
            <a:off x="76708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3" name="Rectangle 172"/>
          <p:cNvSpPr/>
          <p:nvPr/>
        </p:nvSpPr>
        <p:spPr>
          <a:xfrm>
            <a:off x="77470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" name="Rectangle 173"/>
          <p:cNvSpPr/>
          <p:nvPr/>
        </p:nvSpPr>
        <p:spPr>
          <a:xfrm>
            <a:off x="78232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5" name="Rectangle 174"/>
          <p:cNvSpPr/>
          <p:nvPr/>
        </p:nvSpPr>
        <p:spPr>
          <a:xfrm>
            <a:off x="78994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6" name="Rectangle 175"/>
          <p:cNvSpPr/>
          <p:nvPr/>
        </p:nvSpPr>
        <p:spPr>
          <a:xfrm>
            <a:off x="79756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7" name="Rectangle 176"/>
          <p:cNvSpPr/>
          <p:nvPr/>
        </p:nvSpPr>
        <p:spPr>
          <a:xfrm>
            <a:off x="80518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8" name="Rectangle 177"/>
          <p:cNvSpPr/>
          <p:nvPr/>
        </p:nvSpPr>
        <p:spPr>
          <a:xfrm>
            <a:off x="81280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9" name="Rectangle 178"/>
          <p:cNvSpPr/>
          <p:nvPr/>
        </p:nvSpPr>
        <p:spPr>
          <a:xfrm>
            <a:off x="82042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0" name="Rectangle 179"/>
          <p:cNvSpPr/>
          <p:nvPr/>
        </p:nvSpPr>
        <p:spPr>
          <a:xfrm>
            <a:off x="82804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1" name="Rectangle 180"/>
          <p:cNvSpPr/>
          <p:nvPr/>
        </p:nvSpPr>
        <p:spPr>
          <a:xfrm>
            <a:off x="83566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2" name="Rectangle 181"/>
          <p:cNvSpPr/>
          <p:nvPr/>
        </p:nvSpPr>
        <p:spPr>
          <a:xfrm>
            <a:off x="84328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3" name="Rectangle 182"/>
          <p:cNvSpPr/>
          <p:nvPr/>
        </p:nvSpPr>
        <p:spPr>
          <a:xfrm>
            <a:off x="85090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4" name="Rectangle 183"/>
          <p:cNvSpPr/>
          <p:nvPr/>
        </p:nvSpPr>
        <p:spPr>
          <a:xfrm>
            <a:off x="85852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5" name="Rectangle 184"/>
          <p:cNvSpPr/>
          <p:nvPr/>
        </p:nvSpPr>
        <p:spPr>
          <a:xfrm>
            <a:off x="5461000" y="3702050"/>
            <a:ext cx="1270000" cy="152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6" name="Rectangle 185"/>
          <p:cNvSpPr/>
          <p:nvPr/>
        </p:nvSpPr>
        <p:spPr>
          <a:xfrm>
            <a:off x="3556000" y="4146550"/>
            <a:ext cx="1270000" cy="609600"/>
          </a:xfrm>
          <a:prstGeom prst="rect">
            <a:avLst/>
          </a:prstGeom>
          <a:solidFill>
            <a:srgbClr val="FA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7" name="Rectangle 186"/>
          <p:cNvSpPr/>
          <p:nvPr/>
        </p:nvSpPr>
        <p:spPr>
          <a:xfrm>
            <a:off x="3556000" y="4146550"/>
            <a:ext cx="25400" cy="6096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8" name="Rectangle 187"/>
          <p:cNvSpPr/>
          <p:nvPr/>
        </p:nvSpPr>
        <p:spPr>
          <a:xfrm>
            <a:off x="7366000" y="4146550"/>
            <a:ext cx="1270000" cy="609600"/>
          </a:xfrm>
          <a:prstGeom prst="rect">
            <a:avLst/>
          </a:prstGeom>
          <a:solidFill>
            <a:srgbClr val="FA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9" name="Rectangle 188"/>
          <p:cNvSpPr/>
          <p:nvPr/>
        </p:nvSpPr>
        <p:spPr>
          <a:xfrm>
            <a:off x="8610600" y="4146550"/>
            <a:ext cx="25400" cy="6096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0" name="Rectangle 189"/>
          <p:cNvSpPr/>
          <p:nvPr/>
        </p:nvSpPr>
        <p:spPr>
          <a:xfrm>
            <a:off x="4826000" y="44481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1" name="Rectangle 190"/>
          <p:cNvSpPr/>
          <p:nvPr/>
        </p:nvSpPr>
        <p:spPr>
          <a:xfrm>
            <a:off x="4902200" y="44481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2" name="Rectangle 191"/>
          <p:cNvSpPr/>
          <p:nvPr/>
        </p:nvSpPr>
        <p:spPr>
          <a:xfrm>
            <a:off x="4978400" y="44481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3" name="Rectangle 192"/>
          <p:cNvSpPr/>
          <p:nvPr/>
        </p:nvSpPr>
        <p:spPr>
          <a:xfrm>
            <a:off x="5054600" y="44481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4" name="Rectangle 193"/>
          <p:cNvSpPr/>
          <p:nvPr/>
        </p:nvSpPr>
        <p:spPr>
          <a:xfrm>
            <a:off x="5130800" y="44481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5" name="Rectangle 194"/>
          <p:cNvSpPr/>
          <p:nvPr/>
        </p:nvSpPr>
        <p:spPr>
          <a:xfrm>
            <a:off x="5207000" y="44481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6" name="Rectangle 195"/>
          <p:cNvSpPr/>
          <p:nvPr/>
        </p:nvSpPr>
        <p:spPr>
          <a:xfrm>
            <a:off x="5283200" y="44481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7" name="Rectangle 196"/>
          <p:cNvSpPr/>
          <p:nvPr/>
        </p:nvSpPr>
        <p:spPr>
          <a:xfrm>
            <a:off x="5359400" y="44481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8" name="Rectangle 197"/>
          <p:cNvSpPr/>
          <p:nvPr/>
        </p:nvSpPr>
        <p:spPr>
          <a:xfrm>
            <a:off x="5435600" y="44481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9" name="Rectangle 198"/>
          <p:cNvSpPr/>
          <p:nvPr/>
        </p:nvSpPr>
        <p:spPr>
          <a:xfrm>
            <a:off x="5511800" y="44481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0" name="Rectangle 199"/>
          <p:cNvSpPr/>
          <p:nvPr/>
        </p:nvSpPr>
        <p:spPr>
          <a:xfrm>
            <a:off x="5588000" y="44481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1" name="Rectangle 200"/>
          <p:cNvSpPr/>
          <p:nvPr/>
        </p:nvSpPr>
        <p:spPr>
          <a:xfrm>
            <a:off x="5664200" y="44481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2" name="Rectangle 201"/>
          <p:cNvSpPr/>
          <p:nvPr/>
        </p:nvSpPr>
        <p:spPr>
          <a:xfrm>
            <a:off x="5740400" y="44481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3" name="Rectangle 202"/>
          <p:cNvSpPr/>
          <p:nvPr/>
        </p:nvSpPr>
        <p:spPr>
          <a:xfrm>
            <a:off x="5816600" y="44481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4" name="Rectangle 203"/>
          <p:cNvSpPr/>
          <p:nvPr/>
        </p:nvSpPr>
        <p:spPr>
          <a:xfrm>
            <a:off x="5892800" y="44481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5" name="Rectangle 204"/>
          <p:cNvSpPr/>
          <p:nvPr/>
        </p:nvSpPr>
        <p:spPr>
          <a:xfrm>
            <a:off x="5969000" y="44481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6" name="Rectangle 205"/>
          <p:cNvSpPr/>
          <p:nvPr/>
        </p:nvSpPr>
        <p:spPr>
          <a:xfrm>
            <a:off x="6045200" y="44481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7" name="Rectangle 206"/>
          <p:cNvSpPr/>
          <p:nvPr/>
        </p:nvSpPr>
        <p:spPr>
          <a:xfrm>
            <a:off x="6121400" y="44481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8" name="Rectangle 207"/>
          <p:cNvSpPr/>
          <p:nvPr/>
        </p:nvSpPr>
        <p:spPr>
          <a:xfrm>
            <a:off x="6197600" y="44481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9" name="Rectangle 208"/>
          <p:cNvSpPr/>
          <p:nvPr/>
        </p:nvSpPr>
        <p:spPr>
          <a:xfrm>
            <a:off x="6273800" y="44481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0" name="Rectangle 209"/>
          <p:cNvSpPr/>
          <p:nvPr/>
        </p:nvSpPr>
        <p:spPr>
          <a:xfrm>
            <a:off x="6350000" y="44481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1" name="Rectangle 210"/>
          <p:cNvSpPr/>
          <p:nvPr/>
        </p:nvSpPr>
        <p:spPr>
          <a:xfrm>
            <a:off x="6426200" y="44481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2" name="Rectangle 211"/>
          <p:cNvSpPr/>
          <p:nvPr/>
        </p:nvSpPr>
        <p:spPr>
          <a:xfrm>
            <a:off x="6502400" y="44481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3" name="Rectangle 212"/>
          <p:cNvSpPr/>
          <p:nvPr/>
        </p:nvSpPr>
        <p:spPr>
          <a:xfrm>
            <a:off x="6578600" y="44481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4" name="Rectangle 213"/>
          <p:cNvSpPr/>
          <p:nvPr/>
        </p:nvSpPr>
        <p:spPr>
          <a:xfrm>
            <a:off x="6654800" y="44481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5" name="Rectangle 214"/>
          <p:cNvSpPr/>
          <p:nvPr/>
        </p:nvSpPr>
        <p:spPr>
          <a:xfrm>
            <a:off x="6731000" y="44481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6" name="Rectangle 215"/>
          <p:cNvSpPr/>
          <p:nvPr/>
        </p:nvSpPr>
        <p:spPr>
          <a:xfrm>
            <a:off x="6807200" y="44481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7" name="Rectangle 216"/>
          <p:cNvSpPr/>
          <p:nvPr/>
        </p:nvSpPr>
        <p:spPr>
          <a:xfrm>
            <a:off x="6883400" y="44481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8" name="Rectangle 217"/>
          <p:cNvSpPr/>
          <p:nvPr/>
        </p:nvSpPr>
        <p:spPr>
          <a:xfrm>
            <a:off x="6959600" y="44481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9" name="Rectangle 218"/>
          <p:cNvSpPr/>
          <p:nvPr/>
        </p:nvSpPr>
        <p:spPr>
          <a:xfrm>
            <a:off x="7035800" y="44481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0" name="Rectangle 219"/>
          <p:cNvSpPr/>
          <p:nvPr/>
        </p:nvSpPr>
        <p:spPr>
          <a:xfrm>
            <a:off x="7112000" y="44481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1" name="Rectangle 220"/>
          <p:cNvSpPr/>
          <p:nvPr/>
        </p:nvSpPr>
        <p:spPr>
          <a:xfrm>
            <a:off x="7188200" y="44481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2" name="Rectangle 221"/>
          <p:cNvSpPr/>
          <p:nvPr/>
        </p:nvSpPr>
        <p:spPr>
          <a:xfrm>
            <a:off x="7264400" y="44481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3" name="Rectangle 222"/>
          <p:cNvSpPr/>
          <p:nvPr/>
        </p:nvSpPr>
        <p:spPr>
          <a:xfrm>
            <a:off x="7340600" y="4448175"/>
            <a:ext cx="254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4" name="Rectangle 223"/>
          <p:cNvSpPr/>
          <p:nvPr/>
        </p:nvSpPr>
        <p:spPr>
          <a:xfrm>
            <a:off x="5461000" y="4375150"/>
            <a:ext cx="1270000" cy="152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5" name="Rectangle 224"/>
          <p:cNvSpPr/>
          <p:nvPr/>
        </p:nvSpPr>
        <p:spPr>
          <a:xfrm>
            <a:off x="4191000" y="4819650"/>
            <a:ext cx="1270000" cy="609600"/>
          </a:xfrm>
          <a:prstGeom prst="rect">
            <a:avLst/>
          </a:prstGeom>
          <a:solidFill>
            <a:srgbClr val="FA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6" name="Rectangle 225"/>
          <p:cNvSpPr/>
          <p:nvPr/>
        </p:nvSpPr>
        <p:spPr>
          <a:xfrm>
            <a:off x="4191000" y="4819650"/>
            <a:ext cx="25400" cy="6096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7" name="Rectangle 226"/>
          <p:cNvSpPr/>
          <p:nvPr/>
        </p:nvSpPr>
        <p:spPr>
          <a:xfrm>
            <a:off x="6731000" y="4819650"/>
            <a:ext cx="1270000" cy="609600"/>
          </a:xfrm>
          <a:prstGeom prst="rect">
            <a:avLst/>
          </a:prstGeom>
          <a:solidFill>
            <a:srgbClr val="FA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8" name="Rectangle 227"/>
          <p:cNvSpPr/>
          <p:nvPr/>
        </p:nvSpPr>
        <p:spPr>
          <a:xfrm>
            <a:off x="7975600" y="4819650"/>
            <a:ext cx="25400" cy="6096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9" name="Rectangle 228"/>
          <p:cNvSpPr/>
          <p:nvPr/>
        </p:nvSpPr>
        <p:spPr>
          <a:xfrm>
            <a:off x="5461000" y="51212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0" name="Rectangle 229"/>
          <p:cNvSpPr/>
          <p:nvPr/>
        </p:nvSpPr>
        <p:spPr>
          <a:xfrm>
            <a:off x="5537200" y="51212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1" name="Rectangle 230"/>
          <p:cNvSpPr/>
          <p:nvPr/>
        </p:nvSpPr>
        <p:spPr>
          <a:xfrm>
            <a:off x="5613400" y="51212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2" name="Rectangle 231"/>
          <p:cNvSpPr/>
          <p:nvPr/>
        </p:nvSpPr>
        <p:spPr>
          <a:xfrm>
            <a:off x="5689600" y="51212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3" name="Rectangle 232"/>
          <p:cNvSpPr/>
          <p:nvPr/>
        </p:nvSpPr>
        <p:spPr>
          <a:xfrm>
            <a:off x="5765800" y="51212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4" name="Rectangle 233"/>
          <p:cNvSpPr/>
          <p:nvPr/>
        </p:nvSpPr>
        <p:spPr>
          <a:xfrm>
            <a:off x="5842000" y="51212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5" name="Rectangle 234"/>
          <p:cNvSpPr/>
          <p:nvPr/>
        </p:nvSpPr>
        <p:spPr>
          <a:xfrm>
            <a:off x="5918200" y="51212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6" name="Rectangle 235"/>
          <p:cNvSpPr/>
          <p:nvPr/>
        </p:nvSpPr>
        <p:spPr>
          <a:xfrm>
            <a:off x="5994400" y="51212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7" name="Rectangle 236"/>
          <p:cNvSpPr/>
          <p:nvPr/>
        </p:nvSpPr>
        <p:spPr>
          <a:xfrm>
            <a:off x="6070600" y="51212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8" name="Rectangle 237"/>
          <p:cNvSpPr/>
          <p:nvPr/>
        </p:nvSpPr>
        <p:spPr>
          <a:xfrm>
            <a:off x="6146800" y="51212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9" name="Rectangle 238"/>
          <p:cNvSpPr/>
          <p:nvPr/>
        </p:nvSpPr>
        <p:spPr>
          <a:xfrm>
            <a:off x="6223000" y="51212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0" name="Rectangle 239"/>
          <p:cNvSpPr/>
          <p:nvPr/>
        </p:nvSpPr>
        <p:spPr>
          <a:xfrm>
            <a:off x="6299200" y="51212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1" name="Rectangle 240"/>
          <p:cNvSpPr/>
          <p:nvPr/>
        </p:nvSpPr>
        <p:spPr>
          <a:xfrm>
            <a:off x="6375400" y="51212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2" name="Rectangle 241"/>
          <p:cNvSpPr/>
          <p:nvPr/>
        </p:nvSpPr>
        <p:spPr>
          <a:xfrm>
            <a:off x="6451600" y="51212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3" name="Rectangle 242"/>
          <p:cNvSpPr/>
          <p:nvPr/>
        </p:nvSpPr>
        <p:spPr>
          <a:xfrm>
            <a:off x="6527800" y="51212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4" name="Rectangle 243"/>
          <p:cNvSpPr/>
          <p:nvPr/>
        </p:nvSpPr>
        <p:spPr>
          <a:xfrm>
            <a:off x="6604000" y="51212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5" name="Rectangle 244"/>
          <p:cNvSpPr/>
          <p:nvPr/>
        </p:nvSpPr>
        <p:spPr>
          <a:xfrm>
            <a:off x="6680200" y="51212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6" name="Rectangle 245"/>
          <p:cNvSpPr/>
          <p:nvPr/>
        </p:nvSpPr>
        <p:spPr>
          <a:xfrm>
            <a:off x="5461000" y="5048250"/>
            <a:ext cx="1270000" cy="152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7" name="Rectangle 246"/>
          <p:cNvSpPr/>
          <p:nvPr/>
        </p:nvSpPr>
        <p:spPr>
          <a:xfrm>
            <a:off x="4826000" y="5543550"/>
            <a:ext cx="2540000" cy="5461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8" name="Rectangle 247"/>
          <p:cNvSpPr/>
          <p:nvPr/>
        </p:nvSpPr>
        <p:spPr>
          <a:xfrm>
            <a:off x="4826000" y="5543550"/>
            <a:ext cx="2540000" cy="254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9" name="Pair 1 L Counter"/>
          <p:cNvSpPr>
            <a:spLocks noGrp="1"/>
          </p:cNvSpPr>
          <p:nvPr>
            <p:ph type="body" idx="20"/>
          </p:nvPr>
        </p:nvSpPr>
        <p:spPr>
          <a:xfrm>
            <a:off x="1130300" y="2901950"/>
            <a:ext cx="1041400" cy="127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spc="84" cap="all">
                <a:solidFill>
                  <a:srgbClr val="2D3A52"/>
                </a:solidFill>
                <a:latin typeface="Noto Sans Mono"/>
              </a:rPr>
              <a:t>PHASE 01</a:t>
            </a:r>
          </a:p>
        </p:txBody>
      </p:sp>
      <p:sp>
        <p:nvSpPr>
          <p:cNvPr id="250" name="Pair 1 L Title"/>
          <p:cNvSpPr>
            <a:spLocks noGrp="1"/>
          </p:cNvSpPr>
          <p:nvPr>
            <p:ph type="body" idx="21"/>
          </p:nvPr>
        </p:nvSpPr>
        <p:spPr>
          <a:xfrm>
            <a:off x="1130300" y="3054350"/>
            <a:ext cx="1041400" cy="292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750" spc="-8">
                <a:solidFill>
                  <a:srgbClr val="0B1A33"/>
                </a:solidFill>
                <a:latin typeface="Noto Sans Medium"/>
              </a:rPr>
              <a:t>Requirement gathering</a:t>
            </a:r>
          </a:p>
        </p:txBody>
      </p:sp>
      <p:sp>
        <p:nvSpPr>
          <p:cNvPr id="251" name="Pair 1 R Counter"/>
          <p:cNvSpPr>
            <a:spLocks noGrp="1"/>
          </p:cNvSpPr>
          <p:nvPr>
            <p:ph type="body" idx="22"/>
          </p:nvPr>
        </p:nvSpPr>
        <p:spPr>
          <a:xfrm>
            <a:off x="10020300" y="2901950"/>
            <a:ext cx="10414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00" spc="84" cap="all">
                <a:solidFill>
                  <a:srgbClr val="8A6F2E"/>
                </a:solidFill>
                <a:latin typeface="Noto Sans Mono"/>
              </a:rPr>
              <a:t>TEST 01</a:t>
            </a:r>
          </a:p>
        </p:txBody>
      </p:sp>
      <p:sp>
        <p:nvSpPr>
          <p:cNvPr id="252" name="Pair 1 R Title"/>
          <p:cNvSpPr>
            <a:spLocks noGrp="1"/>
          </p:cNvSpPr>
          <p:nvPr>
            <p:ph type="body" idx="23"/>
          </p:nvPr>
        </p:nvSpPr>
        <p:spPr>
          <a:xfrm>
            <a:off x="10020300" y="3054350"/>
            <a:ext cx="1041400" cy="292100"/>
          </a:xfrm>
        </p:spPr>
        <p:txBody>
          <a:bodyPr lIns="0" tIns="0" rIns="0" bIns="0" wrap="square" anchor="t"/>
          <a:lstStyle/>
          <a:p>
            <a:pPr marL="0" indent="0" algn="r">
              <a:lnSpc>
                <a:spcPct val="114999"/>
              </a:lnSpc>
              <a:buNone/>
            </a:pPr>
            <a:r>
              <a:rPr lang="en-US" sz="750" spc="-8">
                <a:solidFill>
                  <a:srgbClr val="0B1A33"/>
                </a:solidFill>
                <a:latin typeface="Noto Sans Medium"/>
              </a:rPr>
              <a:t>Acceptance testing</a:t>
            </a:r>
          </a:p>
        </p:txBody>
      </p:sp>
      <p:sp>
        <p:nvSpPr>
          <p:cNvPr id="253" name="Pair 1 Connector"/>
          <p:cNvSpPr>
            <a:spLocks noGrp="1"/>
          </p:cNvSpPr>
          <p:nvPr>
            <p:ph type="body" idx="24"/>
          </p:nvPr>
        </p:nvSpPr>
        <p:spPr>
          <a:xfrm>
            <a:off x="5511800" y="3054350"/>
            <a:ext cx="1168400" cy="1016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550" spc="55" cap="all">
                <a:solidFill>
                  <a:srgbClr val="2D3A52"/>
                </a:solidFill>
                <a:latin typeface="Noto Sans Mono"/>
              </a:rPr>
              <a:t>ACCEPTANCE PLAN</a:t>
            </a:r>
          </a:p>
        </p:txBody>
      </p:sp>
      <p:sp>
        <p:nvSpPr>
          <p:cNvPr id="254" name="Pair 2 L Counter"/>
          <p:cNvSpPr>
            <a:spLocks noGrp="1"/>
          </p:cNvSpPr>
          <p:nvPr>
            <p:ph type="body" idx="25"/>
          </p:nvPr>
        </p:nvSpPr>
        <p:spPr>
          <a:xfrm>
            <a:off x="2400300" y="3575050"/>
            <a:ext cx="1041400" cy="127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spc="84" cap="all">
                <a:solidFill>
                  <a:srgbClr val="2D3A52"/>
                </a:solidFill>
                <a:latin typeface="Noto Sans Mono"/>
              </a:rPr>
              <a:t>PHASE 02</a:t>
            </a:r>
          </a:p>
        </p:txBody>
      </p:sp>
      <p:sp>
        <p:nvSpPr>
          <p:cNvPr id="255" name="Pair 2 L Title"/>
          <p:cNvSpPr>
            <a:spLocks noGrp="1"/>
          </p:cNvSpPr>
          <p:nvPr>
            <p:ph type="body" idx="26"/>
          </p:nvPr>
        </p:nvSpPr>
        <p:spPr>
          <a:xfrm>
            <a:off x="2400300" y="3727450"/>
            <a:ext cx="1041400" cy="292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750" spc="-8">
                <a:solidFill>
                  <a:srgbClr val="0B1A33"/>
                </a:solidFill>
                <a:latin typeface="Noto Sans Medium"/>
              </a:rPr>
              <a:t>System analysis</a:t>
            </a:r>
          </a:p>
        </p:txBody>
      </p:sp>
      <p:sp>
        <p:nvSpPr>
          <p:cNvPr id="256" name="Pair 2 R Counter"/>
          <p:cNvSpPr>
            <a:spLocks noGrp="1"/>
          </p:cNvSpPr>
          <p:nvPr>
            <p:ph type="body" idx="27"/>
          </p:nvPr>
        </p:nvSpPr>
        <p:spPr>
          <a:xfrm>
            <a:off x="8750300" y="3575050"/>
            <a:ext cx="10414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00" spc="84" cap="all">
                <a:solidFill>
                  <a:srgbClr val="8A6F2E"/>
                </a:solidFill>
                <a:latin typeface="Noto Sans Mono"/>
              </a:rPr>
              <a:t>TEST 02</a:t>
            </a:r>
          </a:p>
        </p:txBody>
      </p:sp>
      <p:sp>
        <p:nvSpPr>
          <p:cNvPr id="257" name="Pair 2 R Title"/>
          <p:cNvSpPr>
            <a:spLocks noGrp="1"/>
          </p:cNvSpPr>
          <p:nvPr>
            <p:ph type="body" idx="28"/>
          </p:nvPr>
        </p:nvSpPr>
        <p:spPr>
          <a:xfrm>
            <a:off x="8750300" y="3727450"/>
            <a:ext cx="1041400" cy="292100"/>
          </a:xfrm>
        </p:spPr>
        <p:txBody>
          <a:bodyPr lIns="0" tIns="0" rIns="0" bIns="0" wrap="square" anchor="t"/>
          <a:lstStyle/>
          <a:p>
            <a:pPr marL="0" indent="0" algn="r">
              <a:lnSpc>
                <a:spcPct val="114999"/>
              </a:lnSpc>
              <a:buNone/>
            </a:pPr>
            <a:r>
              <a:rPr lang="en-US" sz="750" spc="-8">
                <a:solidFill>
                  <a:srgbClr val="0B1A33"/>
                </a:solidFill>
                <a:latin typeface="Noto Sans Medium"/>
              </a:rPr>
              <a:t>System testing</a:t>
            </a:r>
          </a:p>
        </p:txBody>
      </p:sp>
      <p:sp>
        <p:nvSpPr>
          <p:cNvPr id="258" name="Pair 2 Connector"/>
          <p:cNvSpPr>
            <a:spLocks noGrp="1"/>
          </p:cNvSpPr>
          <p:nvPr>
            <p:ph type="body" idx="29"/>
          </p:nvPr>
        </p:nvSpPr>
        <p:spPr>
          <a:xfrm>
            <a:off x="5511800" y="3727450"/>
            <a:ext cx="1168400" cy="1016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550" spc="55" cap="all">
                <a:solidFill>
                  <a:srgbClr val="2D3A52"/>
                </a:solidFill>
                <a:latin typeface="Noto Sans Mono"/>
              </a:rPr>
              <a:t>SYSTEM TEST PLAN</a:t>
            </a:r>
          </a:p>
        </p:txBody>
      </p:sp>
      <p:sp>
        <p:nvSpPr>
          <p:cNvPr id="259" name="Pair 3 L Counter"/>
          <p:cNvSpPr>
            <a:spLocks noGrp="1"/>
          </p:cNvSpPr>
          <p:nvPr>
            <p:ph type="body" idx="30"/>
          </p:nvPr>
        </p:nvSpPr>
        <p:spPr>
          <a:xfrm>
            <a:off x="3670300" y="4248150"/>
            <a:ext cx="1041400" cy="127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spc="84" cap="all">
                <a:solidFill>
                  <a:srgbClr val="2D3A52"/>
                </a:solidFill>
                <a:latin typeface="Noto Sans Mono"/>
              </a:rPr>
              <a:t>PHASE 03</a:t>
            </a:r>
          </a:p>
        </p:txBody>
      </p:sp>
      <p:sp>
        <p:nvSpPr>
          <p:cNvPr id="260" name="Pair 3 L Title"/>
          <p:cNvSpPr>
            <a:spLocks noGrp="1"/>
          </p:cNvSpPr>
          <p:nvPr>
            <p:ph type="body" idx="31"/>
          </p:nvPr>
        </p:nvSpPr>
        <p:spPr>
          <a:xfrm>
            <a:off x="3670300" y="4400550"/>
            <a:ext cx="1041400" cy="292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750" spc="-8">
                <a:solidFill>
                  <a:srgbClr val="0B1A33"/>
                </a:solidFill>
                <a:latin typeface="Noto Sans Medium"/>
              </a:rPr>
              <a:t>Software design</a:t>
            </a:r>
          </a:p>
        </p:txBody>
      </p:sp>
      <p:sp>
        <p:nvSpPr>
          <p:cNvPr id="261" name="Pair 3 R Counter"/>
          <p:cNvSpPr>
            <a:spLocks noGrp="1"/>
          </p:cNvSpPr>
          <p:nvPr>
            <p:ph type="body" idx="32"/>
          </p:nvPr>
        </p:nvSpPr>
        <p:spPr>
          <a:xfrm>
            <a:off x="7480300" y="4248150"/>
            <a:ext cx="10414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00" spc="84" cap="all">
                <a:solidFill>
                  <a:srgbClr val="8A6F2E"/>
                </a:solidFill>
                <a:latin typeface="Noto Sans Mono"/>
              </a:rPr>
              <a:t>TEST 03</a:t>
            </a:r>
          </a:p>
        </p:txBody>
      </p:sp>
      <p:sp>
        <p:nvSpPr>
          <p:cNvPr id="262" name="Pair 3 R Title"/>
          <p:cNvSpPr>
            <a:spLocks noGrp="1"/>
          </p:cNvSpPr>
          <p:nvPr>
            <p:ph type="body" idx="33"/>
          </p:nvPr>
        </p:nvSpPr>
        <p:spPr>
          <a:xfrm>
            <a:off x="7480300" y="4400550"/>
            <a:ext cx="1041400" cy="292100"/>
          </a:xfrm>
        </p:spPr>
        <p:txBody>
          <a:bodyPr lIns="0" tIns="0" rIns="0" bIns="0" wrap="square" anchor="t"/>
          <a:lstStyle/>
          <a:p>
            <a:pPr marL="0" indent="0" algn="r">
              <a:lnSpc>
                <a:spcPct val="114999"/>
              </a:lnSpc>
              <a:buNone/>
            </a:pPr>
            <a:r>
              <a:rPr lang="en-US" sz="750" spc="-8">
                <a:solidFill>
                  <a:srgbClr val="0B1A33"/>
                </a:solidFill>
                <a:latin typeface="Noto Sans Medium"/>
              </a:rPr>
              <a:t>Integration testing</a:t>
            </a:r>
          </a:p>
        </p:txBody>
      </p:sp>
      <p:sp>
        <p:nvSpPr>
          <p:cNvPr id="263" name="Pair 3 Connector"/>
          <p:cNvSpPr>
            <a:spLocks noGrp="1"/>
          </p:cNvSpPr>
          <p:nvPr>
            <p:ph type="body" idx="34"/>
          </p:nvPr>
        </p:nvSpPr>
        <p:spPr>
          <a:xfrm>
            <a:off x="5511800" y="4400550"/>
            <a:ext cx="1168400" cy="1016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550" spc="55" cap="all">
                <a:solidFill>
                  <a:srgbClr val="2D3A52"/>
                </a:solidFill>
                <a:latin typeface="Noto Sans Mono"/>
              </a:rPr>
              <a:t>INTEGRATION</a:t>
            </a:r>
          </a:p>
        </p:txBody>
      </p:sp>
      <p:sp>
        <p:nvSpPr>
          <p:cNvPr id="264" name="Pair 4 L Counter"/>
          <p:cNvSpPr>
            <a:spLocks noGrp="1"/>
          </p:cNvSpPr>
          <p:nvPr>
            <p:ph type="body" idx="35"/>
          </p:nvPr>
        </p:nvSpPr>
        <p:spPr>
          <a:xfrm>
            <a:off x="4305300" y="4921250"/>
            <a:ext cx="1041400" cy="127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spc="84" cap="all">
                <a:solidFill>
                  <a:srgbClr val="2D3A52"/>
                </a:solidFill>
                <a:latin typeface="Noto Sans Mono"/>
              </a:rPr>
              <a:t>PHASE 04</a:t>
            </a:r>
          </a:p>
        </p:txBody>
      </p:sp>
      <p:sp>
        <p:nvSpPr>
          <p:cNvPr id="265" name="Pair 4 L Title"/>
          <p:cNvSpPr>
            <a:spLocks noGrp="1"/>
          </p:cNvSpPr>
          <p:nvPr>
            <p:ph type="body" idx="36"/>
          </p:nvPr>
        </p:nvSpPr>
        <p:spPr>
          <a:xfrm>
            <a:off x="4305300" y="5073650"/>
            <a:ext cx="1041400" cy="292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750" spc="-8">
                <a:solidFill>
                  <a:srgbClr val="0B1A33"/>
                </a:solidFill>
                <a:latin typeface="Noto Sans Medium"/>
              </a:rPr>
              <a:t>Module design</a:t>
            </a:r>
          </a:p>
        </p:txBody>
      </p:sp>
      <p:sp>
        <p:nvSpPr>
          <p:cNvPr id="266" name="Pair 4 R Counter"/>
          <p:cNvSpPr>
            <a:spLocks noGrp="1"/>
          </p:cNvSpPr>
          <p:nvPr>
            <p:ph type="body" idx="37"/>
          </p:nvPr>
        </p:nvSpPr>
        <p:spPr>
          <a:xfrm>
            <a:off x="6845300" y="4921250"/>
            <a:ext cx="10414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00" spc="84" cap="all">
                <a:solidFill>
                  <a:srgbClr val="8A6F2E"/>
                </a:solidFill>
                <a:latin typeface="Noto Sans Mono"/>
              </a:rPr>
              <a:t>TEST 04</a:t>
            </a:r>
          </a:p>
        </p:txBody>
      </p:sp>
      <p:sp>
        <p:nvSpPr>
          <p:cNvPr id="267" name="Pair 4 R Title"/>
          <p:cNvSpPr>
            <a:spLocks noGrp="1"/>
          </p:cNvSpPr>
          <p:nvPr>
            <p:ph type="body" idx="38"/>
          </p:nvPr>
        </p:nvSpPr>
        <p:spPr>
          <a:xfrm>
            <a:off x="6845300" y="5073650"/>
            <a:ext cx="1041400" cy="292100"/>
          </a:xfrm>
        </p:spPr>
        <p:txBody>
          <a:bodyPr lIns="0" tIns="0" rIns="0" bIns="0" wrap="square" anchor="t"/>
          <a:lstStyle/>
          <a:p>
            <a:pPr marL="0" indent="0" algn="r">
              <a:lnSpc>
                <a:spcPct val="114999"/>
              </a:lnSpc>
              <a:buNone/>
            </a:pPr>
            <a:r>
              <a:rPr lang="en-US" sz="750" spc="-8">
                <a:solidFill>
                  <a:srgbClr val="0B1A33"/>
                </a:solidFill>
                <a:latin typeface="Noto Sans Medium"/>
              </a:rPr>
              <a:t>Unit testing</a:t>
            </a:r>
          </a:p>
        </p:txBody>
      </p:sp>
      <p:sp>
        <p:nvSpPr>
          <p:cNvPr id="268" name="Pair 4 Connector"/>
          <p:cNvSpPr>
            <a:spLocks noGrp="1"/>
          </p:cNvSpPr>
          <p:nvPr>
            <p:ph type="body" idx="39"/>
          </p:nvPr>
        </p:nvSpPr>
        <p:spPr>
          <a:xfrm>
            <a:off x="5511800" y="5073650"/>
            <a:ext cx="1168400" cy="1016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550" spc="55" cap="all">
                <a:solidFill>
                  <a:srgbClr val="2D3A52"/>
                </a:solidFill>
                <a:latin typeface="Noto Sans Mono"/>
              </a:rPr>
              <a:t>UNIT TESTS</a:t>
            </a:r>
          </a:p>
        </p:txBody>
      </p:sp>
      <p:sp>
        <p:nvSpPr>
          <p:cNvPr id="269" name="Pivot Counter"/>
          <p:cNvSpPr>
            <a:spLocks noGrp="1"/>
          </p:cNvSpPr>
          <p:nvPr>
            <p:ph type="body" idx="40"/>
          </p:nvPr>
        </p:nvSpPr>
        <p:spPr>
          <a:xfrm>
            <a:off x="4826000" y="5645150"/>
            <a:ext cx="2540000" cy="1270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600" spc="84" cap="all">
                <a:solidFill>
                  <a:srgbClr val="C9A24A"/>
                </a:solidFill>
                <a:latin typeface="Noto Sans Mono"/>
              </a:rPr>
              <a:t>PIVOT</a:t>
            </a:r>
          </a:p>
        </p:txBody>
      </p:sp>
      <p:sp>
        <p:nvSpPr>
          <p:cNvPr id="270" name="Pivot Title"/>
          <p:cNvSpPr>
            <a:spLocks noGrp="1"/>
          </p:cNvSpPr>
          <p:nvPr>
            <p:ph type="body" idx="41"/>
          </p:nvPr>
        </p:nvSpPr>
        <p:spPr>
          <a:xfrm>
            <a:off x="4826000" y="5797550"/>
            <a:ext cx="2540000" cy="2540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100" spc="-13">
                <a:solidFill>
                  <a:srgbClr val="FFFFFF"/>
                </a:solidFill>
                <a:latin typeface="Noto Sans Medium"/>
              </a:rPr>
              <a:t>Coding &amp; implementation</a:t>
            </a: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3" Type="http://schemas.openxmlformats.org/officeDocument/2006/relationships/slideLayout" Target="../slideLayouts/slideLayout12.xml"/><Relationship Id="rId14" Type="http://schemas.openxmlformats.org/officeDocument/2006/relationships/slideLayout" Target="../slideLayouts/slideLayout13.xml"/><Relationship Id="rId15" Type="http://schemas.openxmlformats.org/officeDocument/2006/relationships/slideLayout" Target="../slideLayouts/slideLayout14.xml"/><Relationship Id="rId16" Type="http://schemas.openxmlformats.org/officeDocument/2006/relationships/slideLayout" Target="../slideLayouts/slideLayout15.xml"/><Relationship Id="rId17" Type="http://schemas.openxmlformats.org/officeDocument/2006/relationships/slideLayout" Target="../slideLayouts/slideLayout16.xml"/><Relationship Id="rId18" Type="http://schemas.openxmlformats.org/officeDocument/2006/relationships/slideLayout" Target="../slideLayouts/slideLayout17.xml"/><Relationship Id="rId19" Type="http://schemas.openxmlformats.org/officeDocument/2006/relationships/slideLayout" Target="../slideLayouts/slideLayout18.xml"/><Relationship Id="rId20" Type="http://schemas.openxmlformats.org/officeDocument/2006/relationships/slideLayout" Target="../slideLayouts/slideLayout19.xml"/><Relationship Id="rId21" Type="http://schemas.openxmlformats.org/officeDocument/2006/relationships/slideLayout" Target="../slideLayouts/slideLayout20.xml"/><Relationship Id="rId22" Type="http://schemas.openxmlformats.org/officeDocument/2006/relationships/slideLayout" Target="../slideLayouts/slideLayout21.xml"/><Relationship Id="rId23" Type="http://schemas.openxmlformats.org/officeDocument/2006/relationships/slideLayout" Target="../slideLayouts/slideLayout22.xml"/><Relationship Id="rId24" Type="http://schemas.openxmlformats.org/officeDocument/2006/relationships/slideLayout" Target="../slideLayouts/slideLayout23.xml"/><Relationship Id="rId25" Type="http://schemas.openxmlformats.org/officeDocument/2006/relationships/slideLayout" Target="../slideLayouts/slideLayout24.xml"/><Relationship Id="rId26" Type="http://schemas.openxmlformats.org/officeDocument/2006/relationships/slideLayout" Target="../slideLayouts/slideLayout25.xml"/><Relationship Id="rId27" Type="http://schemas.openxmlformats.org/officeDocument/2006/relationships/slideLayout" Target="../slideLayouts/slideLayout26.xml"/><Relationship Id="rId28" Type="http://schemas.openxmlformats.org/officeDocument/2006/relationships/slideLayout" Target="../slideLayouts/slideLayout27.xml"/><Relationship Id="rId29" Type="http://schemas.openxmlformats.org/officeDocument/2006/relationships/slideLayout" Target="../slideLayouts/slideLayout28.xml"/><Relationship Id="rId30" Type="http://schemas.openxmlformats.org/officeDocument/2006/relationships/slideLayout" Target="../slideLayouts/slideLayout29.xml"/><Relationship Id="rId31" Type="http://schemas.openxmlformats.org/officeDocument/2006/relationships/slideLayout" Target="../slideLayouts/slideLayout30.xml"/><Relationship Id="rId32" Type="http://schemas.openxmlformats.org/officeDocument/2006/relationships/slideLayout" Target="../slideLayouts/slideLayout31.xml"/><Relationship Id="rId33" Type="http://schemas.openxmlformats.org/officeDocument/2006/relationships/slideLayout" Target="../slideLayouts/slideLayout32.xml"/><Relationship Id="rId34" Type="http://schemas.openxmlformats.org/officeDocument/2006/relationships/slideLayout" Target="../slideLayouts/slideLayout33.xml"/><Relationship Id="rId35" Type="http://schemas.openxmlformats.org/officeDocument/2006/relationships/slideLayout" Target="../slideLayouts/slideLayout34.xml"/><Relationship Id="rId36" Type="http://schemas.openxmlformats.org/officeDocument/2006/relationships/slideLayout" Target="../slideLayouts/slideLayout35.xml"/><Relationship Id="rId37" Type="http://schemas.openxmlformats.org/officeDocument/2006/relationships/slideLayout" Target="../slideLayouts/slideLayout3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  <p:sldLayoutId id="2147483679" r:id="rId32"/>
    <p:sldLayoutId id="2147483680" r:id="rId33"/>
    <p:sldLayoutId id="2147483681" r:id="rId34"/>
    <p:sldLayoutId id="2147483682" r:id="rId35"/>
    <p:sldLayoutId id="2147483683" r:id="rId36"/>
    <p:sldLayoutId id="2147483684" r:id="rId3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0B1A33"/>
                </a:solidFill>
                <a:latin typeface="Noto Sans Mono"/>
              </a:rPr>
              <a:t>Layout · graphical bars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0B1A33"/>
                </a:solidFill>
                <a:latin typeface="Noto Sans"/>
              </a:rPr>
              <a:t>Headline takeaway from the chart.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0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1400">
                <a:solidFill>
                  <a:srgbClr val="0B1A33"/>
                </a:solidFill>
                <a:latin typeface="Noto Sans Medium"/>
              </a:rPr>
              <a:t>Bar A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21"/>
          </p:nvPr>
        </p:nvSpPr>
        <p:spPr/>
        <p:txBody>
          <a:bodyPr/>
          <a:lstStyle/>
          <a:p>
            <a:pPr marL="0" indent="0" algn="r">
              <a:buNone/>
            </a:pPr>
            <a:r>
              <a:rPr lang="en-US" sz="1100">
                <a:solidFill>
                  <a:srgbClr val="0B1A33"/>
                </a:solidFill>
                <a:latin typeface="Noto Sans Mono"/>
              </a:rPr>
              <a:t>62%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24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1400">
                <a:solidFill>
                  <a:srgbClr val="0B1A33"/>
                </a:solidFill>
                <a:latin typeface="Noto Sans Medium"/>
              </a:rPr>
              <a:t>Bar B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25"/>
          </p:nvPr>
        </p:nvSpPr>
        <p:spPr/>
        <p:txBody>
          <a:bodyPr/>
          <a:lstStyle/>
          <a:p>
            <a:pPr marL="0" indent="0" algn="r">
              <a:buNone/>
            </a:pPr>
            <a:r>
              <a:rPr lang="en-US" sz="1100">
                <a:solidFill>
                  <a:srgbClr val="0B1A33"/>
                </a:solidFill>
                <a:latin typeface="Noto Sans Mono"/>
              </a:rPr>
              <a:t>24%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idx="28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1400">
                <a:solidFill>
                  <a:srgbClr val="0B1A33"/>
                </a:solidFill>
                <a:latin typeface="Noto Sans Medium"/>
              </a:rPr>
              <a:t>Bar C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idx="29"/>
          </p:nvPr>
        </p:nvSpPr>
        <p:spPr/>
        <p:txBody>
          <a:bodyPr/>
          <a:lstStyle/>
          <a:p>
            <a:pPr marL="0" indent="0" algn="r">
              <a:buNone/>
            </a:pPr>
            <a:r>
              <a:rPr lang="en-US" sz="1100">
                <a:solidFill>
                  <a:srgbClr val="0B1A33"/>
                </a:solidFill>
                <a:latin typeface="Noto Sans Mono"/>
              </a:rPr>
              <a:t>11%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idx="32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1400">
                <a:solidFill>
                  <a:srgbClr val="0B1A33"/>
                </a:solidFill>
                <a:latin typeface="Noto Sans Medium"/>
              </a:rPr>
              <a:t>Bar D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idx="33"/>
          </p:nvPr>
        </p:nvSpPr>
        <p:spPr/>
        <p:txBody>
          <a:bodyPr/>
          <a:lstStyle/>
          <a:p>
            <a:pPr marL="0" indent="0" algn="r">
              <a:buNone/>
            </a:pPr>
            <a:r>
              <a:rPr lang="en-US" sz="1100">
                <a:solidFill>
                  <a:srgbClr val="0B1A33"/>
                </a:solidFill>
                <a:latin typeface="Noto Sans Mono"/>
              </a:rPr>
              <a:t>3%</a:t>
            </a:r>
          </a:p>
        </p:txBody>
      </p:sp>
      <p:sp>
        <p:nvSpPr>
          <p:cNvPr id="12" name="Text Placeholder 11"/>
          <p:cNvSpPr>
            <a:spLocks noGrp="1"/>
          </p:cNvSpPr>
          <p:nvPr>
            <p:ph type="body" idx="60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2D3A52"/>
                </a:solidFill>
                <a:latin typeface="Noto Sans Mono"/>
              </a:rPr>
              <a:t>Source · placeholder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Feinschliff">
      <a:dk1>
        <a:sysClr val="windowText" lastClr="0B1A33"/>
      </a:dk1>
      <a:lt1>
        <a:sysClr val="window" lastClr="FFFFFF"/>
      </a:lt1>
      <a:dk2>
        <a:srgbClr val="0B1A33"/>
      </a:dk2>
      <a:lt2>
        <a:srgbClr val="FAF8F3"/>
      </a:lt2>
      <a:accent1>
        <a:srgbClr val="C9A24A"/>
      </a:accent1>
      <a:accent2>
        <a:srgbClr val="E4C27A"/>
      </a:accent2>
      <a:accent3>
        <a:srgbClr val="2D3A52"/>
      </a:accent3>
      <a:accent4>
        <a:srgbClr val="5A6478"/>
      </a:accent4>
      <a:accent5>
        <a:srgbClr val="A9BCD6"/>
      </a:accent5>
      <a:accent6>
        <a:srgbClr val="D6D1C2"/>
      </a:accent6>
      <a:hlink>
        <a:srgbClr val="8A6F2E"/>
      </a:hlink>
      <a:folHlink>
        <a:srgbClr val="C9A24A"/>
      </a:folHlink>
    </a:clrScheme>
    <a:fontScheme name="Feinschliff">
      <a:majorFont>
        <a:latin typeface="Noto Sans" panose="020B0604020202020204"/>
        <a:ea typeface=""/>
        <a:cs typeface=""/>
      </a:majorFont>
      <a:minorFont>
        <a:latin typeface="Noto Sans" panose="020B0604020202020204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