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einschliff · Title · Accent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FEINSCHLIFF. DESIGN SYSTEM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31623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34417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A SHOWCASE OF THE FEINSCHLIFF 2026 SYSTEM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3784600"/>
            <a:ext cx="10922000" cy="2032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Feinschliff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showcase deck.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einschliff · Title · Ink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FFFFFF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FFFFFF"/>
                </a:solidFill>
                <a:latin typeface="Noto Sans Mono"/>
              </a:rPr>
              <a:t>FEINSCHLIFF. DESIGN SYSTEM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FFFFFF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FFFFFF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31623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34417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TITLE SLIDE · INK VARIANT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3784600"/>
            <a:ext cx="10922000" cy="2032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FFFFFF"/>
                </a:solidFill>
                <a:latin typeface="Noto Sans Light"/>
              </a:rPr>
              <a:t>The same wordmark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FFFFFF"/>
                </a:solidFill>
                <a:latin typeface="Noto Sans Light"/>
              </a:rPr>
              <a:t>in a darker room.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Feinschliff · Title + Pic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PRODUCT SHOT · 16:9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TITLE +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28575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3136900"/>
            <a:ext cx="5207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03 · TITLE + PICTURE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3454400"/>
            <a:ext cx="5207000" cy="1651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Pair a title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with a product.</a:t>
            </a:r>
          </a:p>
        </p:txBody>
      </p:sp>
      <p:sp>
        <p:nvSpPr>
          <p:cNvPr id="12" name="Body"/>
          <p:cNvSpPr>
            <a:spLocks noGrp="1"/>
          </p:cNvSpPr>
          <p:nvPr>
            <p:ph type="body" idx="11"/>
          </p:nvPr>
        </p:nvSpPr>
        <p:spPr>
          <a:xfrm>
            <a:off x="635000" y="5207000"/>
            <a:ext cx="4953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Full-bleed image on the right half, title stacked on the left. The logo and page meta sit on top, unchanged.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Feinschliff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397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ONLY TITLE LAYOUT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1651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What we'll cover.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26670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w 1 Num"/>
          <p:cNvSpPr>
            <a:spLocks noGrp="1"/>
          </p:cNvSpPr>
          <p:nvPr>
            <p:ph type="body" idx="20"/>
          </p:nvPr>
        </p:nvSpPr>
        <p:spPr>
          <a:xfrm>
            <a:off x="635000" y="27559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01 / 06</a:t>
            </a:r>
          </a:p>
        </p:txBody>
      </p:sp>
      <p:sp>
        <p:nvSpPr>
          <p:cNvPr id="12" name="Row 1 Title"/>
          <p:cNvSpPr>
            <a:spLocks noGrp="1"/>
          </p:cNvSpPr>
          <p:nvPr>
            <p:ph type="body" idx="21"/>
          </p:nvPr>
        </p:nvSpPr>
        <p:spPr>
          <a:xfrm>
            <a:off x="1397000" y="27305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Brand mark</a:t>
            </a:r>
          </a:p>
        </p:txBody>
      </p:sp>
      <p:sp>
        <p:nvSpPr>
          <p:cNvPr id="13" name="Row 1 Desc"/>
          <p:cNvSpPr>
            <a:spLocks noGrp="1"/>
          </p:cNvSpPr>
          <p:nvPr>
            <p:ph type="body" idx="22"/>
          </p:nvPr>
        </p:nvSpPr>
        <p:spPr>
          <a:xfrm>
            <a:off x="1397000" y="29972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Wordmark, contrast, clear space.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0000" y="26670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w 2 Num"/>
          <p:cNvSpPr>
            <a:spLocks noGrp="1"/>
          </p:cNvSpPr>
          <p:nvPr>
            <p:ph type="body" idx="23"/>
          </p:nvPr>
        </p:nvSpPr>
        <p:spPr>
          <a:xfrm>
            <a:off x="6350000" y="27559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02 / 06</a:t>
            </a:r>
          </a:p>
        </p:txBody>
      </p:sp>
      <p:sp>
        <p:nvSpPr>
          <p:cNvPr id="16" name="Row 2 Title"/>
          <p:cNvSpPr>
            <a:spLocks noGrp="1"/>
          </p:cNvSpPr>
          <p:nvPr>
            <p:ph type="body" idx="24"/>
          </p:nvPr>
        </p:nvSpPr>
        <p:spPr>
          <a:xfrm>
            <a:off x="7112000" y="27305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Colour</a:t>
            </a:r>
          </a:p>
        </p:txBody>
      </p:sp>
      <p:sp>
        <p:nvSpPr>
          <p:cNvPr id="17" name="Row 2 Desc"/>
          <p:cNvSpPr>
            <a:spLocks noGrp="1"/>
          </p:cNvSpPr>
          <p:nvPr>
            <p:ph type="body" idx="25"/>
          </p:nvPr>
        </p:nvSpPr>
        <p:spPr>
          <a:xfrm>
            <a:off x="7112000" y="29972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One orange, seven neutrals.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" y="33782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w 3 Num"/>
          <p:cNvSpPr>
            <a:spLocks noGrp="1"/>
          </p:cNvSpPr>
          <p:nvPr>
            <p:ph type="body" idx="26"/>
          </p:nvPr>
        </p:nvSpPr>
        <p:spPr>
          <a:xfrm>
            <a:off x="635000" y="34671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03 / 06</a:t>
            </a:r>
          </a:p>
        </p:txBody>
      </p:sp>
      <p:sp>
        <p:nvSpPr>
          <p:cNvPr id="20" name="Row 3 Title"/>
          <p:cNvSpPr>
            <a:spLocks noGrp="1"/>
          </p:cNvSpPr>
          <p:nvPr>
            <p:ph type="body" idx="27"/>
          </p:nvPr>
        </p:nvSpPr>
        <p:spPr>
          <a:xfrm>
            <a:off x="1397000" y="34417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Type</a:t>
            </a:r>
          </a:p>
        </p:txBody>
      </p:sp>
      <p:sp>
        <p:nvSpPr>
          <p:cNvPr id="21" name="Row 3 Desc"/>
          <p:cNvSpPr>
            <a:spLocks noGrp="1"/>
          </p:cNvSpPr>
          <p:nvPr>
            <p:ph type="body" idx="28"/>
          </p:nvPr>
        </p:nvSpPr>
        <p:spPr>
          <a:xfrm>
            <a:off x="1397000" y="37084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Noto Sans, 28pt titles.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0" y="33782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w 4 Num"/>
          <p:cNvSpPr>
            <a:spLocks noGrp="1"/>
          </p:cNvSpPr>
          <p:nvPr>
            <p:ph type="body" idx="29"/>
          </p:nvPr>
        </p:nvSpPr>
        <p:spPr>
          <a:xfrm>
            <a:off x="6350000" y="34671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04 / 06</a:t>
            </a:r>
          </a:p>
        </p:txBody>
      </p:sp>
      <p:sp>
        <p:nvSpPr>
          <p:cNvPr id="24" name="Row 4 Title"/>
          <p:cNvSpPr>
            <a:spLocks noGrp="1"/>
          </p:cNvSpPr>
          <p:nvPr>
            <p:ph type="body" idx="30"/>
          </p:nvPr>
        </p:nvSpPr>
        <p:spPr>
          <a:xfrm>
            <a:off x="7112000" y="34417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Layouts</a:t>
            </a:r>
          </a:p>
        </p:txBody>
      </p:sp>
      <p:sp>
        <p:nvSpPr>
          <p:cNvPr id="25" name="Row 4 Desc"/>
          <p:cNvSpPr>
            <a:spLocks noGrp="1"/>
          </p:cNvSpPr>
          <p:nvPr>
            <p:ph type="body" idx="31"/>
          </p:nvPr>
        </p:nvSpPr>
        <p:spPr>
          <a:xfrm>
            <a:off x="7112000" y="37084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Chapter, content, picture, data.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" y="40894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w 5 Num"/>
          <p:cNvSpPr>
            <a:spLocks noGrp="1"/>
          </p:cNvSpPr>
          <p:nvPr>
            <p:ph type="body" idx="32"/>
          </p:nvPr>
        </p:nvSpPr>
        <p:spPr>
          <a:xfrm>
            <a:off x="635000" y="41783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05 / 06</a:t>
            </a:r>
          </a:p>
        </p:txBody>
      </p:sp>
      <p:sp>
        <p:nvSpPr>
          <p:cNvPr id="28" name="Row 5 Title"/>
          <p:cNvSpPr>
            <a:spLocks noGrp="1"/>
          </p:cNvSpPr>
          <p:nvPr>
            <p:ph type="body" idx="33"/>
          </p:nvPr>
        </p:nvSpPr>
        <p:spPr>
          <a:xfrm>
            <a:off x="1397000" y="41529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Components</a:t>
            </a:r>
          </a:p>
        </p:txBody>
      </p:sp>
      <p:sp>
        <p:nvSpPr>
          <p:cNvPr id="29" name="Row 5 Desc"/>
          <p:cNvSpPr>
            <a:spLocks noGrp="1"/>
          </p:cNvSpPr>
          <p:nvPr>
            <p:ph type="body" idx="34"/>
          </p:nvPr>
        </p:nvSpPr>
        <p:spPr>
          <a:xfrm>
            <a:off x="1397000" y="44196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Buttons, chips, KPIs, rules.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0000" y="40894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w 6 Num"/>
          <p:cNvSpPr>
            <a:spLocks noGrp="1"/>
          </p:cNvSpPr>
          <p:nvPr>
            <p:ph type="body" idx="35"/>
          </p:nvPr>
        </p:nvSpPr>
        <p:spPr>
          <a:xfrm>
            <a:off x="6350000" y="41783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06 / 06</a:t>
            </a:r>
          </a:p>
        </p:txBody>
      </p:sp>
      <p:sp>
        <p:nvSpPr>
          <p:cNvPr id="32" name="Row 6 Title"/>
          <p:cNvSpPr>
            <a:spLocks noGrp="1"/>
          </p:cNvSpPr>
          <p:nvPr>
            <p:ph type="body" idx="36"/>
          </p:nvPr>
        </p:nvSpPr>
        <p:spPr>
          <a:xfrm>
            <a:off x="7112000" y="41529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Voice</a:t>
            </a:r>
          </a:p>
        </p:txBody>
      </p:sp>
      <p:sp>
        <p:nvSpPr>
          <p:cNvPr id="33" name="Row 6 Desc"/>
          <p:cNvSpPr>
            <a:spLocks noGrp="1"/>
          </p:cNvSpPr>
          <p:nvPr>
            <p:ph type="body" idx="37"/>
          </p:nvPr>
        </p:nvSpPr>
        <p:spPr>
          <a:xfrm>
            <a:off x="7112000" y="44196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Quiet confidence.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Feinschliff · Chapter · Accent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CHAPTER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6985000" y="4953000"/>
            <a:ext cx="5080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11000" spc="-440" b="0">
                <a:solidFill>
                  <a:srgbClr val="0B1A33">
                    <a:alpha val="22000"/>
                  </a:srgbClr>
                </a:solidFill>
                <a:latin typeface="Noto Sans Light"/>
              </a:rPr>
              <a:t>01 / 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31623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yebrow"/>
          <p:cNvSpPr>
            <a:spLocks noGrp="1"/>
          </p:cNvSpPr>
          <p:nvPr>
            <p:ph type="body" idx="10"/>
          </p:nvPr>
        </p:nvSpPr>
        <p:spPr>
          <a:xfrm>
            <a:off x="635000" y="34417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CHAPTER OPENER · ORANGE</a:t>
            </a:r>
          </a:p>
        </p:txBody>
      </p:sp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635000" y="3784600"/>
            <a:ext cx="8255000" cy="2032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01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Brand.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einschliff · Chapter · Ink + Picture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pattFill prst="wdDnDiag">
            <a:fgClr>
              <a:srgbClr val="1A1A1A"/>
            </a:fgClr>
            <a:bgClr>
              <a:srgbClr val="222222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5A6478"/>
                </a:solidFill>
                <a:latin typeface="Noto Sans Mono"/>
              </a:rPr>
              <a:t>EDITORIAL IMAGE · 16:9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FFFFFF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FFFFFF"/>
                </a:solidFill>
                <a:latin typeface="Noto Sans Mono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FFFFFF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FFFFFF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2794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3073400"/>
            <a:ext cx="5207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CHAPTER OPENER · INK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3429000"/>
            <a:ext cx="5207000" cy="2286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02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Colour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&amp; Type.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COMPANY ·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FIGURES AT A GLANCE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Feinschliff in numbers.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0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55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PI 1 Key"/>
          <p:cNvSpPr>
            <a:spLocks noGrp="1"/>
          </p:cNvSpPr>
          <p:nvPr>
            <p:ph type="body" idx="20"/>
          </p:nvPr>
        </p:nvSpPr>
        <p:spPr>
          <a:xfrm>
            <a:off x="8890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EMPLOYEES</a:t>
            </a:r>
          </a:p>
        </p:txBody>
      </p:sp>
      <p:sp>
        <p:nvSpPr>
          <p:cNvPr id="15" name="KPI 1 Delta"/>
          <p:cNvSpPr>
            <a:spLocks noGrp="1"/>
          </p:cNvSpPr>
          <p:nvPr>
            <p:ph type="body" idx="21"/>
          </p:nvPr>
        </p:nvSpPr>
        <p:spPr>
          <a:xfrm>
            <a:off x="8890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+3% YoY</a:t>
            </a:r>
          </a:p>
        </p:txBody>
      </p:sp>
      <p:sp>
        <p:nvSpPr>
          <p:cNvPr id="16" name="KPI 1 Value"/>
          <p:cNvSpPr>
            <a:spLocks noGrp="1"/>
          </p:cNvSpPr>
          <p:nvPr>
            <p:ph type="body" idx="30"/>
          </p:nvPr>
        </p:nvSpPr>
        <p:spPr>
          <a:xfrm>
            <a:off x="8890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62</a:t>
            </a:r>
          </a:p>
        </p:txBody>
      </p:sp>
      <p:sp>
        <p:nvSpPr>
          <p:cNvPr id="17" name="KPI 1 Unit"/>
          <p:cNvSpPr>
            <a:spLocks noGrp="1"/>
          </p:cNvSpPr>
          <p:nvPr>
            <p:ph type="body" idx="31"/>
          </p:nvPr>
        </p:nvSpPr>
        <p:spPr>
          <a:xfrm>
            <a:off x="20955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55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55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KPI 2 Key"/>
          <p:cNvSpPr>
            <a:spLocks noGrp="1"/>
          </p:cNvSpPr>
          <p:nvPr>
            <p:ph type="body" idx="22"/>
          </p:nvPr>
        </p:nvSpPr>
        <p:spPr>
          <a:xfrm>
            <a:off x="36195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REVENUE · EUR</a:t>
            </a:r>
          </a:p>
        </p:txBody>
      </p:sp>
      <p:sp>
        <p:nvSpPr>
          <p:cNvPr id="22" name="KPI 2 Delta"/>
          <p:cNvSpPr>
            <a:spLocks noGrp="1"/>
          </p:cNvSpPr>
          <p:nvPr>
            <p:ph type="body" idx="23"/>
          </p:nvPr>
        </p:nvSpPr>
        <p:spPr>
          <a:xfrm>
            <a:off x="36195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+5.1% YoY</a:t>
            </a:r>
          </a:p>
        </p:txBody>
      </p:sp>
      <p:sp>
        <p:nvSpPr>
          <p:cNvPr id="23" name="KPI 2 Value"/>
          <p:cNvSpPr>
            <a:spLocks noGrp="1"/>
          </p:cNvSpPr>
          <p:nvPr>
            <p:ph type="body" idx="32"/>
          </p:nvPr>
        </p:nvSpPr>
        <p:spPr>
          <a:xfrm>
            <a:off x="36195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14</a:t>
            </a:r>
          </a:p>
        </p:txBody>
      </p:sp>
      <p:sp>
        <p:nvSpPr>
          <p:cNvPr id="24" name="KPI 2 Unit"/>
          <p:cNvSpPr>
            <a:spLocks noGrp="1"/>
          </p:cNvSpPr>
          <p:nvPr>
            <p:ph type="body" idx="33"/>
          </p:nvPr>
        </p:nvSpPr>
        <p:spPr>
          <a:xfrm>
            <a:off x="48260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 bn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60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265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PI 3 Key"/>
          <p:cNvSpPr>
            <a:spLocks noGrp="1"/>
          </p:cNvSpPr>
          <p:nvPr>
            <p:ph type="body" idx="24"/>
          </p:nvPr>
        </p:nvSpPr>
        <p:spPr>
          <a:xfrm>
            <a:off x="63500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FACTORIES WORLDWIDE</a:t>
            </a:r>
          </a:p>
        </p:txBody>
      </p:sp>
      <p:sp>
        <p:nvSpPr>
          <p:cNvPr id="29" name="KPI 3 Delta"/>
          <p:cNvSpPr>
            <a:spLocks noGrp="1"/>
          </p:cNvSpPr>
          <p:nvPr>
            <p:ph type="body" idx="25"/>
          </p:nvPr>
        </p:nvSpPr>
        <p:spPr>
          <a:xfrm>
            <a:off x="63500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8 regions</a:t>
            </a:r>
          </a:p>
        </p:txBody>
      </p:sp>
      <p:sp>
        <p:nvSpPr>
          <p:cNvPr id="30" name="KPI 3 Value"/>
          <p:cNvSpPr>
            <a:spLocks noGrp="1"/>
          </p:cNvSpPr>
          <p:nvPr>
            <p:ph type="body" idx="34"/>
          </p:nvPr>
        </p:nvSpPr>
        <p:spPr>
          <a:xfrm>
            <a:off x="63500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40</a:t>
            </a:r>
          </a:p>
        </p:txBody>
      </p:sp>
      <p:sp>
        <p:nvSpPr>
          <p:cNvPr id="31" name="KPI 3 Unit"/>
          <p:cNvSpPr>
            <a:spLocks noGrp="1"/>
          </p:cNvSpPr>
          <p:nvPr>
            <p:ph type="body" idx="35"/>
          </p:nvPr>
        </p:nvSpPr>
        <p:spPr>
          <a:xfrm>
            <a:off x="75565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88265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265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5570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PI 4 Key"/>
          <p:cNvSpPr>
            <a:spLocks noGrp="1"/>
          </p:cNvSpPr>
          <p:nvPr>
            <p:ph type="body" idx="26"/>
          </p:nvPr>
        </p:nvSpPr>
        <p:spPr>
          <a:xfrm>
            <a:off x="90805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GREEN ELECTRICITY</a:t>
            </a:r>
          </a:p>
        </p:txBody>
      </p:sp>
      <p:sp>
        <p:nvSpPr>
          <p:cNvPr id="36" name="KPI 4 Delta"/>
          <p:cNvSpPr>
            <a:spLocks noGrp="1"/>
          </p:cNvSpPr>
          <p:nvPr>
            <p:ph type="body" idx="27"/>
          </p:nvPr>
        </p:nvSpPr>
        <p:spPr>
          <a:xfrm>
            <a:off x="90805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since 2020</a:t>
            </a:r>
          </a:p>
        </p:txBody>
      </p:sp>
      <p:sp>
        <p:nvSpPr>
          <p:cNvPr id="37" name="KPI 4 Value"/>
          <p:cNvSpPr>
            <a:spLocks noGrp="1"/>
          </p:cNvSpPr>
          <p:nvPr>
            <p:ph type="body" idx="36"/>
          </p:nvPr>
        </p:nvSpPr>
        <p:spPr>
          <a:xfrm>
            <a:off x="90805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100</a:t>
            </a:r>
          </a:p>
        </p:txBody>
      </p:sp>
      <p:sp>
        <p:nvSpPr>
          <p:cNvPr id="38" name="KPI 4 Unit"/>
          <p:cNvSpPr>
            <a:spLocks noGrp="1"/>
          </p:cNvSpPr>
          <p:nvPr>
            <p:ph type="body" idx="37"/>
          </p:nvPr>
        </p:nvSpPr>
        <p:spPr>
          <a:xfrm>
            <a:off x="102870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Feinschliff · 2-Column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2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TWO COLUMNS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Two halves, one frame.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ol20 Number"/>
          <p:cNvSpPr>
            <a:spLocks noGrp="1"/>
          </p:cNvSpPr>
          <p:nvPr>
            <p:ph type="body" idx="20"/>
          </p:nvPr>
        </p:nvSpPr>
        <p:spPr>
          <a:xfrm>
            <a:off x="889000" y="3429000"/>
            <a:ext cx="48006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 · CONSUMER</a:t>
            </a:r>
          </a:p>
        </p:txBody>
      </p:sp>
      <p:sp>
        <p:nvSpPr>
          <p:cNvPr id="12" name="Col20 Title"/>
          <p:cNvSpPr>
            <a:spLocks noGrp="1"/>
          </p:cNvSpPr>
          <p:nvPr>
            <p:ph type="body" idx="21"/>
          </p:nvPr>
        </p:nvSpPr>
        <p:spPr>
          <a:xfrm>
            <a:off x="889000" y="3708400"/>
            <a:ext cx="48006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Products designed around daily use, not corner-case specs.</a:t>
            </a:r>
          </a:p>
        </p:txBody>
      </p:sp>
      <p:sp>
        <p:nvSpPr>
          <p:cNvPr id="13" name="Col20 Body"/>
          <p:cNvSpPr>
            <a:spLocks noGrp="1"/>
          </p:cNvSpPr>
          <p:nvPr>
            <p:ph type="body" idx="22"/>
          </p:nvPr>
        </p:nvSpPr>
        <p:spPr>
          <a:xfrm>
            <a:off x="889000" y="4826000"/>
            <a:ext cx="48006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Ship features users actually touch — fewer modes, sharper defaults, faster onboarding.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84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ol23 Number"/>
          <p:cNvSpPr>
            <a:spLocks noGrp="1"/>
          </p:cNvSpPr>
          <p:nvPr>
            <p:ph type="body" idx="23"/>
          </p:nvPr>
        </p:nvSpPr>
        <p:spPr>
          <a:xfrm>
            <a:off x="6502400" y="3429000"/>
            <a:ext cx="48006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 · PLATFORM</a:t>
            </a:r>
          </a:p>
        </p:txBody>
      </p:sp>
      <p:sp>
        <p:nvSpPr>
          <p:cNvPr id="16" name="Col23 Title"/>
          <p:cNvSpPr>
            <a:spLocks noGrp="1"/>
          </p:cNvSpPr>
          <p:nvPr>
            <p:ph type="body" idx="24"/>
          </p:nvPr>
        </p:nvSpPr>
        <p:spPr>
          <a:xfrm>
            <a:off x="6502400" y="3708400"/>
            <a:ext cx="48006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A shared software backbone across every product we build.</a:t>
            </a:r>
          </a:p>
        </p:txBody>
      </p:sp>
      <p:sp>
        <p:nvSpPr>
          <p:cNvPr id="17" name="Col23 Body"/>
          <p:cNvSpPr>
            <a:spLocks noGrp="1"/>
          </p:cNvSpPr>
          <p:nvPr>
            <p:ph type="body" idx="25"/>
          </p:nvPr>
        </p:nvSpPr>
        <p:spPr>
          <a:xfrm>
            <a:off x="6502400" y="4826000"/>
            <a:ext cx="48006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One OS means one update path, one data contract, and one place to measure real-world usage.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einschliff ·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3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THREE PILLARS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Consumer, commercial, platform.</a:t>
            </a:r>
          </a:p>
        </p:txBody>
      </p:sp>
      <p:sp>
        <p:nvSpPr>
          <p:cNvPr id="10" name="Col20 Number"/>
          <p:cNvSpPr>
            <a:spLocks noGrp="1"/>
          </p:cNvSpPr>
          <p:nvPr>
            <p:ph type="body" idx="20"/>
          </p:nvPr>
        </p:nvSpPr>
        <p:spPr>
          <a:xfrm>
            <a:off x="635000" y="3175000"/>
            <a:ext cx="34353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11" name="Col20 Title"/>
          <p:cNvSpPr>
            <a:spLocks noGrp="1"/>
          </p:cNvSpPr>
          <p:nvPr>
            <p:ph type="body" idx="21"/>
          </p:nvPr>
        </p:nvSpPr>
        <p:spPr>
          <a:xfrm>
            <a:off x="635000" y="3454400"/>
            <a:ext cx="343535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Consumer.</a:t>
            </a:r>
          </a:p>
        </p:txBody>
      </p:sp>
      <p:sp>
        <p:nvSpPr>
          <p:cNvPr id="12" name="Col20 Body"/>
          <p:cNvSpPr>
            <a:spLocks noGrp="1"/>
          </p:cNvSpPr>
          <p:nvPr>
            <p:ph type="body" idx="22"/>
          </p:nvPr>
        </p:nvSpPr>
        <p:spPr>
          <a:xfrm>
            <a:off x="635000" y="4572000"/>
            <a:ext cx="343535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Brand A, Brand B, Brand C, Brand D — placeholder column copy.</a:t>
            </a:r>
          </a:p>
        </p:txBody>
      </p:sp>
      <p:sp>
        <p:nvSpPr>
          <p:cNvPr id="13" name="Col23 Number"/>
          <p:cNvSpPr>
            <a:spLocks noGrp="1"/>
          </p:cNvSpPr>
          <p:nvPr>
            <p:ph type="body" idx="23"/>
          </p:nvPr>
        </p:nvSpPr>
        <p:spPr>
          <a:xfrm>
            <a:off x="4375150" y="3175000"/>
            <a:ext cx="34353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14" name="Col23 Title"/>
          <p:cNvSpPr>
            <a:spLocks noGrp="1"/>
          </p:cNvSpPr>
          <p:nvPr>
            <p:ph type="body" idx="24"/>
          </p:nvPr>
        </p:nvSpPr>
        <p:spPr>
          <a:xfrm>
            <a:off x="4375150" y="3454400"/>
            <a:ext cx="343535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Commercial.</a:t>
            </a:r>
          </a:p>
        </p:txBody>
      </p:sp>
      <p:sp>
        <p:nvSpPr>
          <p:cNvPr id="15" name="Col23 Body"/>
          <p:cNvSpPr>
            <a:spLocks noGrp="1"/>
          </p:cNvSpPr>
          <p:nvPr>
            <p:ph type="body" idx="25"/>
          </p:nvPr>
        </p:nvSpPr>
        <p:spPr>
          <a:xfrm>
            <a:off x="4375150" y="4572000"/>
            <a:ext cx="343535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Products engineered for the commercial sector — hotels, retail, services, multi-site.</a:t>
            </a:r>
          </a:p>
        </p:txBody>
      </p:sp>
      <p:sp>
        <p:nvSpPr>
          <p:cNvPr id="16" name="Col26 Number"/>
          <p:cNvSpPr>
            <a:spLocks noGrp="1"/>
          </p:cNvSpPr>
          <p:nvPr>
            <p:ph type="body" idx="26"/>
          </p:nvPr>
        </p:nvSpPr>
        <p:spPr>
          <a:xfrm>
            <a:off x="8115300" y="3175000"/>
            <a:ext cx="34353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17" name="Col26 Title"/>
          <p:cNvSpPr>
            <a:spLocks noGrp="1"/>
          </p:cNvSpPr>
          <p:nvPr>
            <p:ph type="body" idx="27"/>
          </p:nvPr>
        </p:nvSpPr>
        <p:spPr>
          <a:xfrm>
            <a:off x="8115300" y="3454400"/>
            <a:ext cx="343535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Platform.</a:t>
            </a:r>
          </a:p>
        </p:txBody>
      </p:sp>
      <p:sp>
        <p:nvSpPr>
          <p:cNvPr id="18" name="Col26 Body"/>
          <p:cNvSpPr>
            <a:spLocks noGrp="1"/>
          </p:cNvSpPr>
          <p:nvPr>
            <p:ph type="body" idx="28"/>
          </p:nvPr>
        </p:nvSpPr>
        <p:spPr>
          <a:xfrm>
            <a:off x="8115300" y="4572000"/>
            <a:ext cx="343535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Platform — the software layer shared across all of it.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Feinschliff · 4-Column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ROADMAP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PLAN, BUILD, PILOT, SCALE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The year, in four quarters.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ol20 Number"/>
          <p:cNvSpPr>
            <a:spLocks noGrp="1"/>
          </p:cNvSpPr>
          <p:nvPr>
            <p:ph type="body" idx="20"/>
          </p:nvPr>
        </p:nvSpPr>
        <p:spPr>
          <a:xfrm>
            <a:off x="8382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Q1 · PLAN</a:t>
            </a:r>
          </a:p>
        </p:txBody>
      </p:sp>
      <p:sp>
        <p:nvSpPr>
          <p:cNvPr id="12" name="Col20 Title"/>
          <p:cNvSpPr>
            <a:spLocks noGrp="1"/>
          </p:cNvSpPr>
          <p:nvPr>
            <p:ph type="body" idx="21"/>
          </p:nvPr>
        </p:nvSpPr>
        <p:spPr>
          <a:xfrm>
            <a:off x="8382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Align the 2026 product roadmap across regions.</a:t>
            </a:r>
          </a:p>
        </p:txBody>
      </p:sp>
      <p:sp>
        <p:nvSpPr>
          <p:cNvPr id="13" name="Col20 Body"/>
          <p:cNvSpPr>
            <a:spLocks noGrp="1"/>
          </p:cNvSpPr>
          <p:nvPr>
            <p:ph type="body" idx="22"/>
          </p:nvPr>
        </p:nvSpPr>
        <p:spPr>
          <a:xfrm>
            <a:off x="8382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Finalise priorities, staff crews, lock budget.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09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ol23 Number"/>
          <p:cNvSpPr>
            <a:spLocks noGrp="1"/>
          </p:cNvSpPr>
          <p:nvPr>
            <p:ph type="body" idx="23"/>
          </p:nvPr>
        </p:nvSpPr>
        <p:spPr>
          <a:xfrm>
            <a:off x="35941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Q2 · BUILD</a:t>
            </a:r>
          </a:p>
        </p:txBody>
      </p:sp>
      <p:sp>
        <p:nvSpPr>
          <p:cNvPr id="16" name="Col23 Title"/>
          <p:cNvSpPr>
            <a:spLocks noGrp="1"/>
          </p:cNvSpPr>
          <p:nvPr>
            <p:ph type="body" idx="24"/>
          </p:nvPr>
        </p:nvSpPr>
        <p:spPr>
          <a:xfrm>
            <a:off x="35941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Ship the platform foundations and first feature set.</a:t>
            </a:r>
          </a:p>
        </p:txBody>
      </p:sp>
      <p:sp>
        <p:nvSpPr>
          <p:cNvPr id="17" name="Col23 Body"/>
          <p:cNvSpPr>
            <a:spLocks noGrp="1"/>
          </p:cNvSpPr>
          <p:nvPr>
            <p:ph type="body" idx="25"/>
          </p:nvPr>
        </p:nvSpPr>
        <p:spPr>
          <a:xfrm>
            <a:off x="35941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New OS core, updated Platform SDK.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68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ol26 Number"/>
          <p:cNvSpPr>
            <a:spLocks noGrp="1"/>
          </p:cNvSpPr>
          <p:nvPr>
            <p:ph type="body" idx="26"/>
          </p:nvPr>
        </p:nvSpPr>
        <p:spPr>
          <a:xfrm>
            <a:off x="63500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Q3 · PILOT</a:t>
            </a:r>
          </a:p>
        </p:txBody>
      </p:sp>
      <p:sp>
        <p:nvSpPr>
          <p:cNvPr id="20" name="Col26 Title"/>
          <p:cNvSpPr>
            <a:spLocks noGrp="1"/>
          </p:cNvSpPr>
          <p:nvPr>
            <p:ph type="body" idx="27"/>
          </p:nvPr>
        </p:nvSpPr>
        <p:spPr>
          <a:xfrm>
            <a:off x="63500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Field-test with 2,000 customers across three regions.</a:t>
            </a:r>
          </a:p>
        </p:txBody>
      </p:sp>
      <p:sp>
        <p:nvSpPr>
          <p:cNvPr id="21" name="Col26 Body"/>
          <p:cNvSpPr>
            <a:spLocks noGrp="1"/>
          </p:cNvSpPr>
          <p:nvPr>
            <p:ph type="body" idx="28"/>
          </p:nvPr>
        </p:nvSpPr>
        <p:spPr>
          <a:xfrm>
            <a:off x="63500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Instrument, measure, iterate weekly.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27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ol29 Number"/>
          <p:cNvSpPr>
            <a:spLocks noGrp="1"/>
          </p:cNvSpPr>
          <p:nvPr>
            <p:ph type="body" idx="29"/>
          </p:nvPr>
        </p:nvSpPr>
        <p:spPr>
          <a:xfrm>
            <a:off x="91059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Q4 · SCALE</a:t>
            </a:r>
          </a:p>
        </p:txBody>
      </p:sp>
      <p:sp>
        <p:nvSpPr>
          <p:cNvPr id="24" name="Col29 Title"/>
          <p:cNvSpPr>
            <a:spLocks noGrp="1"/>
          </p:cNvSpPr>
          <p:nvPr>
            <p:ph type="body" idx="30"/>
          </p:nvPr>
        </p:nvSpPr>
        <p:spPr>
          <a:xfrm>
            <a:off x="91059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Roll out globally with phased regional launches.</a:t>
            </a:r>
          </a:p>
        </p:txBody>
      </p:sp>
      <p:sp>
        <p:nvSpPr>
          <p:cNvPr id="25" name="Col29 Body"/>
          <p:cNvSpPr>
            <a:spLocks noGrp="1"/>
          </p:cNvSpPr>
          <p:nvPr>
            <p:ph type="body" idx="31"/>
          </p:nvPr>
        </p:nvSpPr>
        <p:spPr>
          <a:xfrm>
            <a:off x="91059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EMEA, then NAM, then APAC.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einschliff · Text + Pic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604000" y="1270000"/>
            <a:ext cx="4953000" cy="4572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04000" y="1270000"/>
            <a:ext cx="4953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PRODUCT HERO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TEXT +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1270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1524000"/>
            <a:ext cx="4826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FLAGSHIP · 2026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1778000"/>
            <a:ext cx="4826000" cy="2413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A flagship that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learns the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user.</a:t>
            </a:r>
          </a:p>
        </p:txBody>
      </p:sp>
      <p:sp>
        <p:nvSpPr>
          <p:cNvPr id="12" name="Body"/>
          <p:cNvSpPr>
            <a:spLocks noGrp="1"/>
          </p:cNvSpPr>
          <p:nvPr>
            <p:ph type="body" idx="11"/>
          </p:nvPr>
        </p:nvSpPr>
        <p:spPr>
          <a:xfrm>
            <a:off x="635000" y="4445000"/>
            <a:ext cx="4572000" cy="889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Adaptive heat zones that calibrate to each pan automatically and hold their target to within 2 °C, across the whole surface.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5524500"/>
            <a:ext cx="1651000" cy="508000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Read the brief 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13000" y="5524500"/>
            <a:ext cx="1333500" cy="508000"/>
          </a:xfrm>
          <a:prstGeom prst="rect">
            <a:avLst/>
          </a:prstGeom>
          <a:noFill/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Spec sheet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Full-bleed Cov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DROP COVER IMAGE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4318000"/>
            <a:ext cx="5207000" cy="1778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9000" y="45212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yebrow"/>
          <p:cNvSpPr>
            <a:spLocks noGrp="1"/>
          </p:cNvSpPr>
          <p:nvPr>
            <p:ph type="body" idx="10"/>
          </p:nvPr>
        </p:nvSpPr>
        <p:spPr>
          <a:xfrm>
            <a:off x="889000" y="4749800"/>
            <a:ext cx="469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FULL-BLEED COVER</a:t>
            </a:r>
          </a:p>
        </p:txBody>
      </p:sp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889000" y="5016500"/>
            <a:ext cx="4699000" cy="1016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3600" spc="-108">
                <a:solidFill>
                  <a:srgbClr val="0B1A33"/>
                </a:solidFill>
                <a:latin typeface="Noto Sans Light"/>
              </a:rPr>
              <a:t>An image does</a:t>
            </a:r>
          </a:p>
          <a:p>
            <a:pPr marL="0" indent="0" algn="l">
              <a:buNone/>
            </a:pPr>
            <a:r>
              <a:rPr lang="en-US" sz="3600" spc="-108">
                <a:solidFill>
                  <a:srgbClr val="0B1A33"/>
                </a:solidFill>
                <a:latin typeface="Noto Sans Light"/>
              </a:rPr>
              <a:t>the talking.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Bar Char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DATA · Q3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SHARE OF REVENUE BY REGION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EMEA still leads; NAM closing the gap.</a:t>
            </a:r>
          </a:p>
        </p:txBody>
      </p:sp>
      <p:sp>
        <p:nvSpPr>
          <p:cNvPr id="10" name="Bar 1 Label"/>
          <p:cNvSpPr>
            <a:spLocks noGrp="1"/>
          </p:cNvSpPr>
          <p:nvPr>
            <p:ph type="body" idx="20"/>
          </p:nvPr>
        </p:nvSpPr>
        <p:spPr>
          <a:xfrm>
            <a:off x="635000" y="3429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EMEA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11400" y="3479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1400" y="3479800"/>
            <a:ext cx="5162550" cy="203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ar 1 Value"/>
          <p:cNvSpPr>
            <a:spLocks noGrp="1"/>
          </p:cNvSpPr>
          <p:nvPr>
            <p:ph type="body" idx="21"/>
          </p:nvPr>
        </p:nvSpPr>
        <p:spPr>
          <a:xfrm>
            <a:off x="10795000" y="3467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62%</a:t>
            </a:r>
          </a:p>
        </p:txBody>
      </p:sp>
      <p:sp>
        <p:nvSpPr>
          <p:cNvPr id="14" name="Bar 2 Label"/>
          <p:cNvSpPr>
            <a:spLocks noGrp="1"/>
          </p:cNvSpPr>
          <p:nvPr>
            <p:ph type="body" idx="22"/>
          </p:nvPr>
        </p:nvSpPr>
        <p:spPr>
          <a:xfrm>
            <a:off x="635000" y="3937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NAM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11400" y="3987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11400" y="3987800"/>
            <a:ext cx="2000250" cy="2032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Bar 2 Value"/>
          <p:cNvSpPr>
            <a:spLocks noGrp="1"/>
          </p:cNvSpPr>
          <p:nvPr>
            <p:ph type="body" idx="23"/>
          </p:nvPr>
        </p:nvSpPr>
        <p:spPr>
          <a:xfrm>
            <a:off x="10795000" y="3975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24%</a:t>
            </a:r>
          </a:p>
        </p:txBody>
      </p:sp>
      <p:sp>
        <p:nvSpPr>
          <p:cNvPr id="18" name="Bar 3 Label"/>
          <p:cNvSpPr>
            <a:spLocks noGrp="1"/>
          </p:cNvSpPr>
          <p:nvPr>
            <p:ph type="body" idx="24"/>
          </p:nvPr>
        </p:nvSpPr>
        <p:spPr>
          <a:xfrm>
            <a:off x="635000" y="4445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APAC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1400" y="4495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11400" y="4495800"/>
            <a:ext cx="914400" cy="203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ar 3 Value"/>
          <p:cNvSpPr>
            <a:spLocks noGrp="1"/>
          </p:cNvSpPr>
          <p:nvPr>
            <p:ph type="body" idx="25"/>
          </p:nvPr>
        </p:nvSpPr>
        <p:spPr>
          <a:xfrm>
            <a:off x="10795000" y="4483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11%</a:t>
            </a:r>
          </a:p>
        </p:txBody>
      </p:sp>
      <p:sp>
        <p:nvSpPr>
          <p:cNvPr id="22" name="Bar 4 Label"/>
          <p:cNvSpPr>
            <a:spLocks noGrp="1"/>
          </p:cNvSpPr>
          <p:nvPr>
            <p:ph type="body" idx="26"/>
          </p:nvPr>
        </p:nvSpPr>
        <p:spPr>
          <a:xfrm>
            <a:off x="635000" y="4953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LATAM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11400" y="5003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11400" y="5003800"/>
            <a:ext cx="247650" cy="203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ar 4 Value"/>
          <p:cNvSpPr>
            <a:spLocks noGrp="1"/>
          </p:cNvSpPr>
          <p:nvPr>
            <p:ph type="body" idx="27"/>
          </p:nvPr>
        </p:nvSpPr>
        <p:spPr>
          <a:xfrm>
            <a:off x="10795000" y="4991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3%</a:t>
            </a:r>
          </a:p>
        </p:txBody>
      </p:sp>
      <p:sp>
        <p:nvSpPr>
          <p:cNvPr id="26" name="Figure caption"/>
          <p:cNvSpPr>
            <a:spLocks noGrp="1"/>
          </p:cNvSpPr>
          <p:nvPr>
            <p:ph type="body" idx="40"/>
          </p:nvPr>
        </p:nvSpPr>
        <p:spPr>
          <a:xfrm>
            <a:off x="635000" y="5842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FIGURE 01 · SAMPLE DATA, Q3 FY25 · N = €14.1 BN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Components Showcas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UI 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UI LIBRARY PREVIEW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Flat, sharp, quiet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800" y="34798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BUTTONS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800" y="3860800"/>
            <a:ext cx="1270000" cy="406400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Primary  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6800" y="3860800"/>
            <a:ext cx="1270000" cy="406400"/>
          </a:xfrm>
          <a:prstGeom prst="rect">
            <a:avLst/>
          </a:prstGeom>
          <a:solidFill>
            <a:srgbClr val="0B1A33"/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FFFFFF"/>
                </a:solidFill>
                <a:latin typeface="Noto Sans Medium"/>
              </a:rPr>
              <a:t>Default 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3800" y="3860800"/>
            <a:ext cx="1079500" cy="406400"/>
          </a:xfrm>
          <a:prstGeom prst="rect">
            <a:avLst/>
          </a:prstGeom>
          <a:noFill/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Ghost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46228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TAGS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800" y="4940300"/>
            <a:ext cx="1111250" cy="279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PRODUCTION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6300" y="4940300"/>
            <a:ext cx="889000" cy="279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FEATURED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0550" y="4940300"/>
            <a:ext cx="571500" cy="279400"/>
          </a:xfrm>
          <a:prstGeom prst="rect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BETA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97300" y="4940300"/>
            <a:ext cx="952500" cy="279400"/>
          </a:xfrm>
          <a:prstGeom prst="rect">
            <a:avLst/>
          </a:prstGeom>
          <a:noFill/>
          <a:ln w="635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ARCHIVED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4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200" y="34798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RULES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200" y="3987800"/>
            <a:ext cx="3556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4076700"/>
            <a:ext cx="4699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70">
                <a:solidFill>
                  <a:srgbClr val="2D3A52"/>
                </a:solidFill>
                <a:latin typeface="Noto Sans Mono"/>
              </a:rPr>
              <a:t>SECTION · 56 × 1 · INK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53200" y="46228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3200" y="4711700"/>
            <a:ext cx="4699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70">
                <a:solidFill>
                  <a:srgbClr val="2D3A52"/>
                </a:solidFill>
                <a:latin typeface="Noto Sans Mono"/>
              </a:rPr>
              <a:t>EMPHASIS · 80 × 4 · ORANGE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53200" y="525780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3200" y="5346700"/>
            <a:ext cx="4699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70">
                <a:solidFill>
                  <a:srgbClr val="2D3A52"/>
                </a:solidFill>
                <a:latin typeface="Noto Sans Mono"/>
              </a:rPr>
              <a:t>HAIRLINE · WIDTH × 1 · FOG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Quote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2667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Quote"/>
          <p:cNvSpPr>
            <a:spLocks noGrp="1"/>
          </p:cNvSpPr>
          <p:nvPr>
            <p:ph type="title"/>
          </p:nvPr>
        </p:nvSpPr>
        <p:spPr>
          <a:xfrm>
            <a:off x="635000" y="2921000"/>
            <a:ext cx="889000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200" spc="-105">
                <a:solidFill>
                  <a:srgbClr val="0B1A33"/>
                </a:solidFill>
                <a:latin typeface="Noto Sans Light"/>
              </a:rPr>
              <a:t>“Write like an engineer explaining their work to a colleague they respect. Short sentences. Concrete nouns. No superlatives.”</a:t>
            </a:r>
          </a:p>
        </p:txBody>
      </p:sp>
      <p:sp>
        <p:nvSpPr>
          <p:cNvPr id="9" name="Attribution"/>
          <p:cNvSpPr>
            <a:spLocks noGrp="1"/>
          </p:cNvSpPr>
          <p:nvPr>
            <p:ph type="body" idx="10"/>
          </p:nvPr>
        </p:nvSpPr>
        <p:spPr>
          <a:xfrm>
            <a:off x="635000" y="5715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 spc="120" cap="all">
                <a:solidFill>
                  <a:srgbClr val="0B1A33"/>
                </a:solidFill>
                <a:latin typeface="Noto Sans Mono"/>
              </a:rPr>
              <a:t>FEINSCHLIFF. DESIGN SYSTEM · VOICE GUIDELINE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End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5715000" y="2413000"/>
            <a:ext cx="762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itle"/>
          <p:cNvSpPr>
            <a:spLocks noGrp="1"/>
          </p:cNvSpPr>
          <p:nvPr>
            <p:ph type="title"/>
          </p:nvPr>
        </p:nvSpPr>
        <p:spPr>
          <a:xfrm>
            <a:off x="635000" y="2667000"/>
            <a:ext cx="10922000" cy="1778000"/>
          </a:xfrm>
        </p:spPr>
        <p:txBody>
          <a:bodyPr lIns="0" tIns="0" rIns="0" bIns="0" wrap="square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000" spc="-350">
                <a:solidFill>
                  <a:srgbClr val="0B1A33"/>
                </a:solidFill>
                <a:latin typeface="Noto Sans Light"/>
              </a:rPr>
              <a:t>Thank you.</a:t>
            </a:r>
          </a:p>
        </p:txBody>
      </p:sp>
      <p:sp>
        <p:nvSpPr>
          <p:cNvPr id="9" name="Caption"/>
          <p:cNvSpPr>
            <a:spLocks noGrp="1"/>
          </p:cNvSpPr>
          <p:nvPr>
            <p:ph type="body" idx="10"/>
          </p:nvPr>
        </p:nvSpPr>
        <p:spPr>
          <a:xfrm>
            <a:off x="635000" y="4572000"/>
            <a:ext cx="10922000" cy="2540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FEINSCHLIFF. DESIGN SYSTEM · V1.0 · 2026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Graphic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GRAPHICAL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SHARE OF REVENUE BY REGION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EMEA still leads; NAM closing the gap.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0400" y="3219450"/>
            <a:ext cx="5435600" cy="317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3676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30400" y="3727450"/>
            <a:ext cx="2101850" cy="3175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4184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30400" y="4235450"/>
            <a:ext cx="965200" cy="317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000" y="4692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30400" y="4743450"/>
            <a:ext cx="260350" cy="317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5200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ar 1 Label"/>
          <p:cNvSpPr>
            <a:spLocks noGrp="1"/>
          </p:cNvSpPr>
          <p:nvPr>
            <p:ph type="body" idx="20"/>
          </p:nvPr>
        </p:nvSpPr>
        <p:spPr>
          <a:xfrm>
            <a:off x="635000" y="3289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EMEA</a:t>
            </a:r>
          </a:p>
        </p:txBody>
      </p:sp>
      <p:sp>
        <p:nvSpPr>
          <p:cNvPr id="19" name="Bar 1 Value"/>
          <p:cNvSpPr>
            <a:spLocks noGrp="1"/>
          </p:cNvSpPr>
          <p:nvPr>
            <p:ph type="body" idx="21"/>
          </p:nvPr>
        </p:nvSpPr>
        <p:spPr>
          <a:xfrm>
            <a:off x="10795000" y="3289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62%</a:t>
            </a:r>
          </a:p>
        </p:txBody>
      </p:sp>
      <p:sp>
        <p:nvSpPr>
          <p:cNvPr id="20" name="Bar 2 Label"/>
          <p:cNvSpPr>
            <a:spLocks noGrp="1"/>
          </p:cNvSpPr>
          <p:nvPr>
            <p:ph type="body" idx="24"/>
          </p:nvPr>
        </p:nvSpPr>
        <p:spPr>
          <a:xfrm>
            <a:off x="635000" y="3797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NAM</a:t>
            </a:r>
          </a:p>
        </p:txBody>
      </p:sp>
      <p:sp>
        <p:nvSpPr>
          <p:cNvPr id="21" name="Bar 2 Value"/>
          <p:cNvSpPr>
            <a:spLocks noGrp="1"/>
          </p:cNvSpPr>
          <p:nvPr>
            <p:ph type="body" idx="25"/>
          </p:nvPr>
        </p:nvSpPr>
        <p:spPr>
          <a:xfrm>
            <a:off x="10795000" y="3797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24%</a:t>
            </a:r>
          </a:p>
        </p:txBody>
      </p:sp>
      <p:sp>
        <p:nvSpPr>
          <p:cNvPr id="22" name="Bar 3 Label"/>
          <p:cNvSpPr>
            <a:spLocks noGrp="1"/>
          </p:cNvSpPr>
          <p:nvPr>
            <p:ph type="body" idx="28"/>
          </p:nvPr>
        </p:nvSpPr>
        <p:spPr>
          <a:xfrm>
            <a:off x="635000" y="4305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APAC</a:t>
            </a:r>
          </a:p>
        </p:txBody>
      </p:sp>
      <p:sp>
        <p:nvSpPr>
          <p:cNvPr id="23" name="Bar 3 Value"/>
          <p:cNvSpPr>
            <a:spLocks noGrp="1"/>
          </p:cNvSpPr>
          <p:nvPr>
            <p:ph type="body" idx="29"/>
          </p:nvPr>
        </p:nvSpPr>
        <p:spPr>
          <a:xfrm>
            <a:off x="10795000" y="4305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11%</a:t>
            </a:r>
          </a:p>
        </p:txBody>
      </p:sp>
      <p:sp>
        <p:nvSpPr>
          <p:cNvPr id="24" name="Bar 4 Label"/>
          <p:cNvSpPr>
            <a:spLocks noGrp="1"/>
          </p:cNvSpPr>
          <p:nvPr>
            <p:ph type="body" idx="32"/>
          </p:nvPr>
        </p:nvSpPr>
        <p:spPr>
          <a:xfrm>
            <a:off x="635000" y="4813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LATAM</a:t>
            </a:r>
          </a:p>
        </p:txBody>
      </p:sp>
      <p:sp>
        <p:nvSpPr>
          <p:cNvPr id="25" name="Bar 4 Value"/>
          <p:cNvSpPr>
            <a:spLocks noGrp="1"/>
          </p:cNvSpPr>
          <p:nvPr>
            <p:ph type="body" idx="33"/>
          </p:nvPr>
        </p:nvSpPr>
        <p:spPr>
          <a:xfrm>
            <a:off x="10795000" y="4813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3%</a:t>
            </a:r>
          </a:p>
        </p:txBody>
      </p:sp>
      <p:sp>
        <p:nvSpPr>
          <p:cNvPr id="26" name="Source"/>
          <p:cNvSpPr>
            <a:spLocks noGrp="1"/>
          </p:cNvSpPr>
          <p:nvPr>
            <p:ph type="body" idx="60"/>
          </p:nvPr>
        </p:nvSpPr>
        <p:spPr>
          <a:xfrm>
            <a:off x="635000" y="62865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FIGURE 01 · SAMPLE DATA, Q3 FY25 · N = €14.1 BN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Action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MCK · ACTION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Kicker"/>
          <p:cNvSpPr>
            <a:spLocks noGrp="1"/>
          </p:cNvSpPr>
          <p:nvPr>
            <p:ph type="body" idx="10"/>
          </p:nvPr>
        </p:nvSpPr>
        <p:spPr>
          <a:xfrm>
            <a:off x="635000" y="1397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ACTION-TITLE LAYOUT</a:t>
            </a:r>
          </a:p>
        </p:txBody>
      </p:sp>
      <p:sp>
        <p:nvSpPr>
          <p:cNvPr id="8" name="Action Title"/>
          <p:cNvSpPr>
            <a:spLocks noGrp="1"/>
          </p:cNvSpPr>
          <p:nvPr>
            <p:ph type="title"/>
          </p:nvPr>
        </p:nvSpPr>
        <p:spPr>
          <a:xfrm>
            <a:off x="635000" y="1714500"/>
            <a:ext cx="109220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spc="-80">
                <a:solidFill>
                  <a:srgbClr val="0B1A33"/>
                </a:solidFill>
                <a:latin typeface="Noto Sans Medium"/>
              </a:rPr>
              <a:t>Adopting the new platform will lift per-account active time by ~18% within two release cycles.</a:t>
            </a:r>
          </a:p>
        </p:txBody>
      </p:sp>
      <p:sp>
        <p:nvSpPr>
          <p:cNvPr id="9" name="Supporting Body"/>
          <p:cNvSpPr>
            <a:spLocks noGrp="1"/>
          </p:cNvSpPr>
          <p:nvPr>
            <p:ph type="body" idx="11"/>
          </p:nvPr>
        </p:nvSpPr>
        <p:spPr>
          <a:xfrm>
            <a:off x="635000" y="3810000"/>
            <a:ext cx="5207000" cy="2159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In the regional pilot, accounts on the updated platform opened the app 2.3× more often and ran guided sessions 41% more per week.</a:t>
            </a:r>
          </a:p>
        </p:txBody>
      </p:sp>
      <p:sp>
        <p:nvSpPr>
          <p:cNvPr id="10" name="KPI 1 Value"/>
          <p:cNvSpPr>
            <a:spLocks noGrp="1"/>
          </p:cNvSpPr>
          <p:nvPr>
            <p:ph type="body" idx="20"/>
          </p:nvPr>
        </p:nvSpPr>
        <p:spPr>
          <a:xfrm>
            <a:off x="6350000" y="3810000"/>
            <a:ext cx="1841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+18</a:t>
            </a:r>
          </a:p>
        </p:txBody>
      </p:sp>
      <p:sp>
        <p:nvSpPr>
          <p:cNvPr id="11" name="KPI 1 Unit"/>
          <p:cNvSpPr>
            <a:spLocks noGrp="1"/>
          </p:cNvSpPr>
          <p:nvPr>
            <p:ph type="body" idx="21"/>
          </p:nvPr>
        </p:nvSpPr>
        <p:spPr>
          <a:xfrm>
            <a:off x="8191500" y="3810000"/>
            <a:ext cx="635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12" name="KPI 1 Key"/>
          <p:cNvSpPr>
            <a:spLocks noGrp="1"/>
          </p:cNvSpPr>
          <p:nvPr>
            <p:ph type="body" idx="22"/>
          </p:nvPr>
        </p:nvSpPr>
        <p:spPr>
          <a:xfrm>
            <a:off x="6350000" y="4800600"/>
            <a:ext cx="2476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ACTIVE TIME / WEEK</a:t>
            </a:r>
          </a:p>
        </p:txBody>
      </p:sp>
      <p:sp>
        <p:nvSpPr>
          <p:cNvPr id="13" name="KPI 1 Delta"/>
          <p:cNvSpPr>
            <a:spLocks noGrp="1"/>
          </p:cNvSpPr>
          <p:nvPr>
            <p:ph type="body" idx="23"/>
          </p:nvPr>
        </p:nvSpPr>
        <p:spPr>
          <a:xfrm>
            <a:off x="6350000" y="5003800"/>
            <a:ext cx="2476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vs. prior platform</a:t>
            </a:r>
          </a:p>
        </p:txBody>
      </p:sp>
      <p:sp>
        <p:nvSpPr>
          <p:cNvPr id="14" name="KPI 2 Value"/>
          <p:cNvSpPr>
            <a:spLocks noGrp="1"/>
          </p:cNvSpPr>
          <p:nvPr>
            <p:ph type="body" idx="24"/>
          </p:nvPr>
        </p:nvSpPr>
        <p:spPr>
          <a:xfrm>
            <a:off x="9080500" y="3810000"/>
            <a:ext cx="1841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2.3</a:t>
            </a:r>
          </a:p>
        </p:txBody>
      </p:sp>
      <p:sp>
        <p:nvSpPr>
          <p:cNvPr id="15" name="KPI 2 Unit"/>
          <p:cNvSpPr>
            <a:spLocks noGrp="1"/>
          </p:cNvSpPr>
          <p:nvPr>
            <p:ph type="body" idx="25"/>
          </p:nvPr>
        </p:nvSpPr>
        <p:spPr>
          <a:xfrm>
            <a:off x="10922000" y="3810000"/>
            <a:ext cx="635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×</a:t>
            </a:r>
          </a:p>
        </p:txBody>
      </p:sp>
      <p:sp>
        <p:nvSpPr>
          <p:cNvPr id="16" name="KPI 2 Key"/>
          <p:cNvSpPr>
            <a:spLocks noGrp="1"/>
          </p:cNvSpPr>
          <p:nvPr>
            <p:ph type="body" idx="26"/>
          </p:nvPr>
        </p:nvSpPr>
        <p:spPr>
          <a:xfrm>
            <a:off x="9080500" y="4800600"/>
            <a:ext cx="2476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APP OPEN RATE</a:t>
            </a:r>
          </a:p>
        </p:txBody>
      </p:sp>
      <p:sp>
        <p:nvSpPr>
          <p:cNvPr id="17" name="KPI 2 Delta"/>
          <p:cNvSpPr>
            <a:spLocks noGrp="1"/>
          </p:cNvSpPr>
          <p:nvPr>
            <p:ph type="body" idx="27"/>
          </p:nvPr>
        </p:nvSpPr>
        <p:spPr>
          <a:xfrm>
            <a:off x="9080500" y="5003800"/>
            <a:ext cx="2476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trailing 30 days</a:t>
            </a:r>
          </a:p>
        </p:txBody>
      </p:sp>
      <p:sp>
        <p:nvSpPr>
          <p:cNvPr id="18" name="Source"/>
          <p:cNvSpPr>
            <a:spLocks noGrp="1"/>
          </p:cNvSpPr>
          <p:nvPr>
            <p:ph type="body" idx="60"/>
          </p:nvPr>
        </p:nvSpPr>
        <p:spPr>
          <a:xfrm>
            <a:off x="635000" y="62865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PLATFORM TELEMETRY, JUN–DEC 2025 · N = 142K ACCOUNTS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Horizontal Bulle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HORIZONTAL BULLETS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CONTEXT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Three forces pull the 2026 roadmap: regulation, margin, and shared software.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3700" y="2895600"/>
            <a:ext cx="6350" cy="3962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9250" y="2895600"/>
            <a:ext cx="6350" cy="3962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ol1 Counter"/>
          <p:cNvSpPr>
            <a:spLocks noGrp="1"/>
          </p:cNvSpPr>
          <p:nvPr>
            <p:ph type="body" idx="20"/>
          </p:nvPr>
        </p:nvSpPr>
        <p:spPr>
          <a:xfrm>
            <a:off x="635000" y="2921000"/>
            <a:ext cx="33845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 · REGULATION</a:t>
            </a:r>
          </a:p>
        </p:txBody>
      </p:sp>
      <p:sp>
        <p:nvSpPr>
          <p:cNvPr id="13" name="Col1 Heading"/>
          <p:cNvSpPr>
            <a:spLocks noGrp="1"/>
          </p:cNvSpPr>
          <p:nvPr>
            <p:ph type="body" idx="21"/>
          </p:nvPr>
        </p:nvSpPr>
        <p:spPr>
          <a:xfrm>
            <a:off x="635000" y="3251200"/>
            <a:ext cx="3384550" cy="825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Energy and repair rules are tightening across EMEA.</a:t>
            </a:r>
          </a:p>
        </p:txBody>
      </p:sp>
      <p:sp>
        <p:nvSpPr>
          <p:cNvPr id="14" name="Col1 Bullets"/>
          <p:cNvSpPr>
            <a:spLocks noGrp="1"/>
          </p:cNvSpPr>
          <p:nvPr>
            <p:ph type="body" idx="22"/>
          </p:nvPr>
        </p:nvSpPr>
        <p:spPr>
          <a:xfrm>
            <a:off x="635000" y="4191000"/>
            <a:ext cx="338455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EU Ecodesign 2027 raises minimum efficiency one full class.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Right-to-repair mandates in DE, FR, NL by end of 2026.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Refrigerant phase-down accelerates for commercial lines.</a:t>
            </a:r>
          </a:p>
        </p:txBody>
      </p:sp>
      <p:sp>
        <p:nvSpPr>
          <p:cNvPr id="15" name="Col2 Counter"/>
          <p:cNvSpPr>
            <a:spLocks noGrp="1"/>
          </p:cNvSpPr>
          <p:nvPr>
            <p:ph type="body" idx="24"/>
          </p:nvPr>
        </p:nvSpPr>
        <p:spPr>
          <a:xfrm>
            <a:off x="4400550" y="2921000"/>
            <a:ext cx="33845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 · MARGIN</a:t>
            </a:r>
          </a:p>
        </p:txBody>
      </p:sp>
      <p:sp>
        <p:nvSpPr>
          <p:cNvPr id="16" name="Col2 Heading"/>
          <p:cNvSpPr>
            <a:spLocks noGrp="1"/>
          </p:cNvSpPr>
          <p:nvPr>
            <p:ph type="body" idx="25"/>
          </p:nvPr>
        </p:nvSpPr>
        <p:spPr>
          <a:xfrm>
            <a:off x="4400550" y="3251200"/>
            <a:ext cx="3384550" cy="825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Component cost is stable but service cost is climbing.</a:t>
            </a:r>
          </a:p>
        </p:txBody>
      </p:sp>
      <p:sp>
        <p:nvSpPr>
          <p:cNvPr id="17" name="Col2 Bullets"/>
          <p:cNvSpPr>
            <a:spLocks noGrp="1"/>
          </p:cNvSpPr>
          <p:nvPr>
            <p:ph type="body" idx="26"/>
          </p:nvPr>
        </p:nvSpPr>
        <p:spPr>
          <a:xfrm>
            <a:off x="4400550" y="4191000"/>
            <a:ext cx="338455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Field-service visits up 7% YoY on premium products.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Warranty reserve exceeds plan in 3 of 5 product lines.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Remote-diagnosis deflection saves an average 38 EUR / visit.</a:t>
            </a:r>
          </a:p>
        </p:txBody>
      </p:sp>
      <p:sp>
        <p:nvSpPr>
          <p:cNvPr id="18" name="Col3 Counter"/>
          <p:cNvSpPr>
            <a:spLocks noGrp="1"/>
          </p:cNvSpPr>
          <p:nvPr>
            <p:ph type="body" idx="28"/>
          </p:nvPr>
        </p:nvSpPr>
        <p:spPr>
          <a:xfrm>
            <a:off x="8166100" y="2921000"/>
            <a:ext cx="33845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 · PLATFORM</a:t>
            </a:r>
          </a:p>
        </p:txBody>
      </p:sp>
      <p:sp>
        <p:nvSpPr>
          <p:cNvPr id="19" name="Col3 Heading"/>
          <p:cNvSpPr>
            <a:spLocks noGrp="1"/>
          </p:cNvSpPr>
          <p:nvPr>
            <p:ph type="body" idx="29"/>
          </p:nvPr>
        </p:nvSpPr>
        <p:spPr>
          <a:xfrm>
            <a:off x="8166100" y="3251200"/>
            <a:ext cx="3384550" cy="825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The platform is becoming the product, not an add-on.</a:t>
            </a:r>
          </a:p>
        </p:txBody>
      </p:sp>
      <p:sp>
        <p:nvSpPr>
          <p:cNvPr id="20" name="Col3 Bullets"/>
          <p:cNvSpPr>
            <a:spLocks noGrp="1"/>
          </p:cNvSpPr>
          <p:nvPr>
            <p:ph type="body" idx="30"/>
          </p:nvPr>
        </p:nvSpPr>
        <p:spPr>
          <a:xfrm>
            <a:off x="8166100" y="4191000"/>
            <a:ext cx="338455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New SKUs must ship with the platform from day one.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One update path cuts firmware maintenance headcount 22%.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Shared telemetry unlocks usage-driven feature priority.</a:t>
            </a:r>
          </a:p>
        </p:txBody>
      </p:sp>
      <p:sp>
        <p:nvSpPr>
          <p:cNvPr id="21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STRATEGY REVIEW, Q4 2025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Vertical Bulle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VERTICAL BULLETS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889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143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PLAN OF RECORD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1397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Five moves define the first half: consolidate, instrument, retire, pilot, publish.</a:t>
            </a:r>
          </a:p>
        </p:txBody>
      </p:sp>
      <p:sp>
        <p:nvSpPr>
          <p:cNvPr id="10" name="Lede"/>
          <p:cNvSpPr>
            <a:spLocks noGrp="1"/>
          </p:cNvSpPr>
          <p:nvPr>
            <p:ph type="body" idx="11"/>
          </p:nvPr>
        </p:nvSpPr>
        <p:spPr>
          <a:xfrm>
            <a:off x="635000" y="2286000"/>
            <a:ext cx="109220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Each move is owned by a single VP and reviewed at the monthly operating meeting — progress is measured against a metric, not an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" y="2984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w 1 Counter"/>
          <p:cNvSpPr>
            <a:spLocks noGrp="1"/>
          </p:cNvSpPr>
          <p:nvPr>
            <p:ph type="body" idx="20"/>
          </p:nvPr>
        </p:nvSpPr>
        <p:spPr>
          <a:xfrm>
            <a:off x="635000" y="316230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01 / 06</a:t>
            </a:r>
          </a:p>
        </p:txBody>
      </p:sp>
      <p:sp>
        <p:nvSpPr>
          <p:cNvPr id="13" name="Row 1 Heading"/>
          <p:cNvSpPr>
            <a:spLocks noGrp="1"/>
          </p:cNvSpPr>
          <p:nvPr>
            <p:ph type="body" idx="21"/>
          </p:nvPr>
        </p:nvSpPr>
        <p:spPr>
          <a:xfrm>
            <a:off x="1676400" y="312420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Consolidate the firmware stack.</a:t>
            </a:r>
          </a:p>
        </p:txBody>
      </p:sp>
      <p:sp>
        <p:nvSpPr>
          <p:cNvPr id="14" name="Row 1 Body"/>
          <p:cNvSpPr>
            <a:spLocks noGrp="1"/>
          </p:cNvSpPr>
          <p:nvPr>
            <p:ph type="body" idx="22"/>
          </p:nvPr>
        </p:nvSpPr>
        <p:spPr>
          <a:xfrm>
            <a:off x="4495800" y="314960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Move the remaining three product lines onto the unified OS core by end of Q2.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000" y="35242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w 2 Counter"/>
          <p:cNvSpPr>
            <a:spLocks noGrp="1"/>
          </p:cNvSpPr>
          <p:nvPr>
            <p:ph type="body" idx="23"/>
          </p:nvPr>
        </p:nvSpPr>
        <p:spPr>
          <a:xfrm>
            <a:off x="635000" y="370205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02 / 06</a:t>
            </a:r>
          </a:p>
        </p:txBody>
      </p:sp>
      <p:sp>
        <p:nvSpPr>
          <p:cNvPr id="17" name="Row 2 Heading"/>
          <p:cNvSpPr>
            <a:spLocks noGrp="1"/>
          </p:cNvSpPr>
          <p:nvPr>
            <p:ph type="body" idx="24"/>
          </p:nvPr>
        </p:nvSpPr>
        <p:spPr>
          <a:xfrm>
            <a:off x="1676400" y="366395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Instrument every SKU.</a:t>
            </a:r>
          </a:p>
        </p:txBody>
      </p:sp>
      <p:sp>
        <p:nvSpPr>
          <p:cNvPr id="18" name="Row 2 Body"/>
          <p:cNvSpPr>
            <a:spLocks noGrp="1"/>
          </p:cNvSpPr>
          <p:nvPr>
            <p:ph type="body" idx="25"/>
          </p:nvPr>
        </p:nvSpPr>
        <p:spPr>
          <a:xfrm>
            <a:off x="4495800" y="368935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Every production unit leaving the factory reports health and usage by default.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4064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w 3 Counter"/>
          <p:cNvSpPr>
            <a:spLocks noGrp="1"/>
          </p:cNvSpPr>
          <p:nvPr>
            <p:ph type="body" idx="26"/>
          </p:nvPr>
        </p:nvSpPr>
        <p:spPr>
          <a:xfrm>
            <a:off x="635000" y="424180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03 / 06</a:t>
            </a:r>
          </a:p>
        </p:txBody>
      </p:sp>
      <p:sp>
        <p:nvSpPr>
          <p:cNvPr id="21" name="Row 3 Heading"/>
          <p:cNvSpPr>
            <a:spLocks noGrp="1"/>
          </p:cNvSpPr>
          <p:nvPr>
            <p:ph type="body" idx="27"/>
          </p:nvPr>
        </p:nvSpPr>
        <p:spPr>
          <a:xfrm>
            <a:off x="1676400" y="420370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Retire the legacy app.</a:t>
            </a:r>
          </a:p>
        </p:txBody>
      </p:sp>
      <p:sp>
        <p:nvSpPr>
          <p:cNvPr id="22" name="Row 3 Body"/>
          <p:cNvSpPr>
            <a:spLocks noGrp="1"/>
          </p:cNvSpPr>
          <p:nvPr>
            <p:ph type="body" idx="28"/>
          </p:nvPr>
        </p:nvSpPr>
        <p:spPr>
          <a:xfrm>
            <a:off x="4495800" y="422910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Archive the legacy companion app once the new platform reaches 70% coverage.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000" y="46037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w 4 Counter"/>
          <p:cNvSpPr>
            <a:spLocks noGrp="1"/>
          </p:cNvSpPr>
          <p:nvPr>
            <p:ph type="body" idx="29"/>
          </p:nvPr>
        </p:nvSpPr>
        <p:spPr>
          <a:xfrm>
            <a:off x="635000" y="478155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04 / 06</a:t>
            </a:r>
          </a:p>
        </p:txBody>
      </p:sp>
      <p:sp>
        <p:nvSpPr>
          <p:cNvPr id="25" name="Row 4 Heading"/>
          <p:cNvSpPr>
            <a:spLocks noGrp="1"/>
          </p:cNvSpPr>
          <p:nvPr>
            <p:ph type="body" idx="30"/>
          </p:nvPr>
        </p:nvSpPr>
        <p:spPr>
          <a:xfrm>
            <a:off x="1676400" y="474345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Pilot guided sessions.</a:t>
            </a:r>
          </a:p>
        </p:txBody>
      </p:sp>
      <p:sp>
        <p:nvSpPr>
          <p:cNvPr id="26" name="Row 4 Body"/>
          <p:cNvSpPr>
            <a:spLocks noGrp="1"/>
          </p:cNvSpPr>
          <p:nvPr>
            <p:ph type="body" idx="31"/>
          </p:nvPr>
        </p:nvSpPr>
        <p:spPr>
          <a:xfrm>
            <a:off x="4495800" y="476885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Run a two-thousand-customer test of the adaptive programme across three regions.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000" y="5143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w 5 Counter"/>
          <p:cNvSpPr>
            <a:spLocks noGrp="1"/>
          </p:cNvSpPr>
          <p:nvPr>
            <p:ph type="body" idx="32"/>
          </p:nvPr>
        </p:nvSpPr>
        <p:spPr>
          <a:xfrm>
            <a:off x="635000" y="532130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05 / 06</a:t>
            </a:r>
          </a:p>
        </p:txBody>
      </p:sp>
      <p:sp>
        <p:nvSpPr>
          <p:cNvPr id="29" name="Row 5 Heading"/>
          <p:cNvSpPr>
            <a:spLocks noGrp="1"/>
          </p:cNvSpPr>
          <p:nvPr>
            <p:ph type="body" idx="33"/>
          </p:nvPr>
        </p:nvSpPr>
        <p:spPr>
          <a:xfrm>
            <a:off x="1676400" y="528320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Publish the API.</a:t>
            </a:r>
          </a:p>
        </p:txBody>
      </p:sp>
      <p:sp>
        <p:nvSpPr>
          <p:cNvPr id="30" name="Row 5 Body"/>
          <p:cNvSpPr>
            <a:spLocks noGrp="1"/>
          </p:cNvSpPr>
          <p:nvPr>
            <p:ph type="body" idx="34"/>
          </p:nvPr>
        </p:nvSpPr>
        <p:spPr>
          <a:xfrm>
            <a:off x="4495800" y="530860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Open the developer preview to partners at the end of H1.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" y="56832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w 6 Counter"/>
          <p:cNvSpPr>
            <a:spLocks noGrp="1"/>
          </p:cNvSpPr>
          <p:nvPr>
            <p:ph type="body" idx="35"/>
          </p:nvPr>
        </p:nvSpPr>
        <p:spPr>
          <a:xfrm>
            <a:off x="635000" y="586105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06 / 06</a:t>
            </a:r>
          </a:p>
        </p:txBody>
      </p:sp>
      <p:sp>
        <p:nvSpPr>
          <p:cNvPr id="33" name="Row 6 Heading"/>
          <p:cNvSpPr>
            <a:spLocks noGrp="1"/>
          </p:cNvSpPr>
          <p:nvPr>
            <p:ph type="body" idx="36"/>
          </p:nvPr>
        </p:nvSpPr>
        <p:spPr>
          <a:xfrm>
            <a:off x="1676400" y="582295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Review monthly.</a:t>
            </a:r>
          </a:p>
        </p:txBody>
      </p:sp>
      <p:sp>
        <p:nvSpPr>
          <p:cNvPr id="34" name="Row 6 Body"/>
          <p:cNvSpPr>
            <a:spLocks noGrp="1"/>
          </p:cNvSpPr>
          <p:nvPr>
            <p:ph type="body" idx="37"/>
          </p:nvPr>
        </p:nvSpPr>
        <p:spPr>
          <a:xfrm>
            <a:off x="4495800" y="584835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Each move is owned by one VP and reviewed at the monthly operating meeting.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000" y="6223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upporting Note"/>
          <p:cNvSpPr>
            <a:spLocks noGrp="1"/>
          </p:cNvSpPr>
          <p:nvPr>
            <p:ph type="body" idx="12"/>
          </p:nvPr>
        </p:nvSpPr>
        <p:spPr>
          <a:xfrm>
            <a:off x="635000" y="64135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WORK THAT DOES NOT SUPPORT ONE OF THESE MOVES IS EXPLICITLY DESCOPED, NOT PAUSED.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2×2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2×2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PRIORITISATION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Invest in the top-right quadrant first: high impact, low lift.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78000" y="2984500"/>
            <a:ext cx="4318000" cy="17145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6475" y="2984500"/>
            <a:ext cx="19050" cy="34290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78000" y="4689475"/>
            <a:ext cx="8636000" cy="190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65300" y="2984500"/>
            <a:ext cx="12700" cy="34417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65300" y="6413500"/>
            <a:ext cx="8648700" cy="127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1701800" y="2857500"/>
            <a:ext cx="127000" cy="127000"/>
          </a:xfrm>
          <a:prstGeom prst="triangle">
            <a:avLst/>
          </a:prstGeom>
          <a:solidFill>
            <a:srgbClr val="2D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Triangle 15"/>
          <p:cNvSpPr/>
          <p:nvPr/>
        </p:nvSpPr>
        <p:spPr>
          <a:xfrm rot="16200000">
            <a:off x="10414000" y="6356350"/>
            <a:ext cx="127000" cy="127000"/>
          </a:xfrm>
          <a:prstGeom prst="rtTriangle">
            <a:avLst/>
          </a:prstGeom>
          <a:solidFill>
            <a:srgbClr val="2D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8000" y="65278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98">
                <a:solidFill>
                  <a:srgbClr val="2D3A52"/>
                </a:solidFill>
                <a:latin typeface="Noto Sans Mono"/>
              </a:rPr>
              <a:t>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6000" y="65278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98">
                <a:solidFill>
                  <a:srgbClr val="2D3A52"/>
                </a:solidFill>
                <a:latin typeface="Noto Sans Mono"/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5700" y="62738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98">
                <a:solidFill>
                  <a:srgbClr val="2D3A52"/>
                </a:solidFill>
                <a:latin typeface="Noto Sans Mono"/>
              </a:rPr>
              <a:t>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5700" y="29845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98">
                <a:solidFill>
                  <a:srgbClr val="2D3A52"/>
                </a:solidFill>
                <a:latin typeface="Noto Sans Mono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5800" y="31623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Q1 · HIGH IMPACT · LOW LIFT</a:t>
            </a:r>
          </a:p>
        </p:txBody>
      </p:sp>
      <p:sp>
        <p:nvSpPr>
          <p:cNvPr id="22" name="Cell1 Label"/>
          <p:cNvSpPr>
            <a:spLocks noGrp="1"/>
          </p:cNvSpPr>
          <p:nvPr>
            <p:ph type="body" idx="20"/>
          </p:nvPr>
        </p:nvSpPr>
        <p:spPr>
          <a:xfrm>
            <a:off x="1955800" y="33655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Guided sessions on the flagship line.</a:t>
            </a:r>
          </a:p>
        </p:txBody>
      </p:sp>
      <p:sp>
        <p:nvSpPr>
          <p:cNvPr id="23" name="Cell1 Body"/>
          <p:cNvSpPr>
            <a:spLocks noGrp="1"/>
          </p:cNvSpPr>
          <p:nvPr>
            <p:ph type="body" idx="21"/>
          </p:nvPr>
        </p:nvSpPr>
        <p:spPr>
          <a:xfrm>
            <a:off x="1955800" y="39243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"/>
              </a:rPr>
              <a:t>Ships on existing hardware; telemetry already collected; known user need.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3800" y="31623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Q2 · HIGH IMPACT · HIGH LIFT</a:t>
            </a:r>
          </a:p>
        </p:txBody>
      </p:sp>
      <p:sp>
        <p:nvSpPr>
          <p:cNvPr id="25" name="Cell2 Label"/>
          <p:cNvSpPr>
            <a:spLocks noGrp="1"/>
          </p:cNvSpPr>
          <p:nvPr>
            <p:ph type="body" idx="24"/>
          </p:nvPr>
        </p:nvSpPr>
        <p:spPr>
          <a:xfrm>
            <a:off x="6273800" y="33655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Full remote diagnosis across every product line.</a:t>
            </a:r>
          </a:p>
        </p:txBody>
      </p:sp>
      <p:sp>
        <p:nvSpPr>
          <p:cNvPr id="26" name="Cell2 Body"/>
          <p:cNvSpPr>
            <a:spLocks noGrp="1"/>
          </p:cNvSpPr>
          <p:nvPr>
            <p:ph type="body" idx="25"/>
          </p:nvPr>
        </p:nvSpPr>
        <p:spPr>
          <a:xfrm>
            <a:off x="6273800" y="39243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Large prize; requires firmware convergence and a new field-service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5800" y="48768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Q3 · LOW IMPACT · LOW LIFT</a:t>
            </a:r>
          </a:p>
        </p:txBody>
      </p:sp>
      <p:sp>
        <p:nvSpPr>
          <p:cNvPr id="28" name="Cell3 Label"/>
          <p:cNvSpPr>
            <a:spLocks noGrp="1"/>
          </p:cNvSpPr>
          <p:nvPr>
            <p:ph type="body" idx="28"/>
          </p:nvPr>
        </p:nvSpPr>
        <p:spPr>
          <a:xfrm>
            <a:off x="1955800" y="50800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Cosmetic refresh of onboarding.</a:t>
            </a:r>
          </a:p>
        </p:txBody>
      </p:sp>
      <p:sp>
        <p:nvSpPr>
          <p:cNvPr id="29" name="Cell3 Body"/>
          <p:cNvSpPr>
            <a:spLocks noGrp="1"/>
          </p:cNvSpPr>
          <p:nvPr>
            <p:ph type="body" idx="29"/>
          </p:nvPr>
        </p:nvSpPr>
        <p:spPr>
          <a:xfrm>
            <a:off x="1955800" y="56388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Cheap to do; metrics rarely move meaningfully.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3800" y="48768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Q4 · LOW IMPACT · HIGH LIFT</a:t>
            </a:r>
          </a:p>
        </p:txBody>
      </p:sp>
      <p:sp>
        <p:nvSpPr>
          <p:cNvPr id="31" name="Cell4 Label"/>
          <p:cNvSpPr>
            <a:spLocks noGrp="1"/>
          </p:cNvSpPr>
          <p:nvPr>
            <p:ph type="body" idx="32"/>
          </p:nvPr>
        </p:nvSpPr>
        <p:spPr>
          <a:xfrm>
            <a:off x="6273800" y="50800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Voice control expansion.</a:t>
            </a:r>
          </a:p>
        </p:txBody>
      </p:sp>
      <p:sp>
        <p:nvSpPr>
          <p:cNvPr id="32" name="Cell4 Body"/>
          <p:cNvSpPr>
            <a:spLocks noGrp="1"/>
          </p:cNvSpPr>
          <p:nvPr>
            <p:ph type="body" idx="33"/>
          </p:nvPr>
        </p:nvSpPr>
        <p:spPr>
          <a:xfrm>
            <a:off x="6273800" y="56388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Significant engineering and QA cost; adoption has plateaued.</a:t>
            </a:r>
          </a:p>
        </p:txBody>
      </p:sp>
      <p:sp>
        <p:nvSpPr>
          <p:cNvPr id="33" name="X Axis Title"/>
          <p:cNvSpPr>
            <a:spLocks noGrp="1"/>
          </p:cNvSpPr>
          <p:nvPr>
            <p:ph type="body" idx="41"/>
          </p:nvPr>
        </p:nvSpPr>
        <p:spPr>
          <a:xfrm>
            <a:off x="1778000" y="6769100"/>
            <a:ext cx="8636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EFFORT TO SHIP</a:t>
            </a:r>
          </a:p>
        </p:txBody>
      </p:sp>
      <p:sp>
        <p:nvSpPr>
          <p:cNvPr id="34" name="Y Axis Title"/>
          <p:cNvSpPr>
            <a:spLocks noGrp="1"/>
          </p:cNvSpPr>
          <p:nvPr>
            <p:ph type="body" idx="42"/>
          </p:nvPr>
        </p:nvSpPr>
        <p:spPr>
          <a:xfrm>
            <a:off x="762000" y="2984500"/>
            <a:ext cx="508000" cy="3429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P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C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Waterfal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WATERFALL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REVENUE BRIDGE · EUR BN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Revenue grows 5.1% YoY; platform and services offset a mild decline in legacy 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526626"/>
            <a:ext cx="1429657" cy="2315374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51957" y="3526626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15457" y="3526626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78957" y="3526626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17057" y="3422952"/>
            <a:ext cx="1429657" cy="103673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34014" y="3422952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97514" y="3422952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1014" y="3422952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99114" y="3353837"/>
            <a:ext cx="1429657" cy="69116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16071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79571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43071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81171" y="3302000"/>
            <a:ext cx="1429657" cy="51837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98129" y="3302000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61629" y="3302000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25129" y="3302000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63229" y="3302000"/>
            <a:ext cx="1429657" cy="51837"/>
          </a:xfrm>
          <a:prstGeom prst="rect">
            <a:avLst/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0186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43686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07186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45286" y="3353837"/>
            <a:ext cx="1429657" cy="34558"/>
          </a:xfrm>
          <a:prstGeom prst="rect">
            <a:avLst/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62243" y="3388395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25743" y="3388395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9243" y="3388395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27343" y="3405673"/>
            <a:ext cx="1429657" cy="2436327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000" y="5842000"/>
            <a:ext cx="1092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Bar 1 Value"/>
          <p:cNvSpPr>
            <a:spLocks noGrp="1"/>
          </p:cNvSpPr>
          <p:nvPr>
            <p:ph type="body" idx="20"/>
          </p:nvPr>
        </p:nvSpPr>
        <p:spPr>
          <a:xfrm>
            <a:off x="584200" y="327025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0B1A33"/>
                </a:solidFill>
                <a:latin typeface="Noto Sans Mono"/>
              </a:rPr>
              <a:t>13.4</a:t>
            </a:r>
          </a:p>
        </p:txBody>
      </p:sp>
      <p:sp>
        <p:nvSpPr>
          <p:cNvPr id="37" name="Bar 1 Label"/>
          <p:cNvSpPr>
            <a:spLocks noGrp="1"/>
          </p:cNvSpPr>
          <p:nvPr>
            <p:ph type="body" idx="21"/>
          </p:nvPr>
        </p:nvSpPr>
        <p:spPr>
          <a:xfrm>
            <a:off x="5588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FY24 BASE</a:t>
            </a:r>
          </a:p>
        </p:txBody>
      </p:sp>
      <p:sp>
        <p:nvSpPr>
          <p:cNvPr id="38" name="Bar 2 Value"/>
          <p:cNvSpPr>
            <a:spLocks noGrp="1"/>
          </p:cNvSpPr>
          <p:nvPr>
            <p:ph type="body" idx="24"/>
          </p:nvPr>
        </p:nvSpPr>
        <p:spPr>
          <a:xfrm>
            <a:off x="2165350" y="316865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+0.6</a:t>
            </a:r>
          </a:p>
        </p:txBody>
      </p:sp>
      <p:sp>
        <p:nvSpPr>
          <p:cNvPr id="39" name="Bar 2 Label"/>
          <p:cNvSpPr>
            <a:spLocks noGrp="1"/>
          </p:cNvSpPr>
          <p:nvPr>
            <p:ph type="body" idx="25"/>
          </p:nvPr>
        </p:nvSpPr>
        <p:spPr>
          <a:xfrm>
            <a:off x="213995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CONSUMER</a:t>
            </a:r>
          </a:p>
        </p:txBody>
      </p:sp>
      <p:sp>
        <p:nvSpPr>
          <p:cNvPr id="40" name="Bar 3 Value"/>
          <p:cNvSpPr>
            <a:spLocks noGrp="1"/>
          </p:cNvSpPr>
          <p:nvPr>
            <p:ph type="body" idx="28"/>
          </p:nvPr>
        </p:nvSpPr>
        <p:spPr>
          <a:xfrm>
            <a:off x="3746500" y="30988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+0.4</a:t>
            </a:r>
          </a:p>
        </p:txBody>
      </p:sp>
      <p:sp>
        <p:nvSpPr>
          <p:cNvPr id="41" name="Bar 3 Label"/>
          <p:cNvSpPr>
            <a:spLocks noGrp="1"/>
          </p:cNvSpPr>
          <p:nvPr>
            <p:ph type="body" idx="29"/>
          </p:nvPr>
        </p:nvSpPr>
        <p:spPr>
          <a:xfrm>
            <a:off x="37211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PLATFORM</a:t>
            </a:r>
          </a:p>
        </p:txBody>
      </p:sp>
      <p:sp>
        <p:nvSpPr>
          <p:cNvPr id="42" name="Bar 4 Value"/>
          <p:cNvSpPr>
            <a:spLocks noGrp="1"/>
          </p:cNvSpPr>
          <p:nvPr>
            <p:ph type="body" idx="32"/>
          </p:nvPr>
        </p:nvSpPr>
        <p:spPr>
          <a:xfrm>
            <a:off x="5327650" y="30480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+0.3</a:t>
            </a:r>
          </a:p>
        </p:txBody>
      </p:sp>
      <p:sp>
        <p:nvSpPr>
          <p:cNvPr id="43" name="Bar 4 Label"/>
          <p:cNvSpPr>
            <a:spLocks noGrp="1"/>
          </p:cNvSpPr>
          <p:nvPr>
            <p:ph type="body" idx="33"/>
          </p:nvPr>
        </p:nvSpPr>
        <p:spPr>
          <a:xfrm>
            <a:off x="530225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SERVICES</a:t>
            </a:r>
          </a:p>
        </p:txBody>
      </p:sp>
      <p:sp>
        <p:nvSpPr>
          <p:cNvPr id="44" name="Bar 5 Value"/>
          <p:cNvSpPr>
            <a:spLocks noGrp="1"/>
          </p:cNvSpPr>
          <p:nvPr>
            <p:ph type="body" idx="36"/>
          </p:nvPr>
        </p:nvSpPr>
        <p:spPr>
          <a:xfrm>
            <a:off x="6908800" y="30480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−0.3</a:t>
            </a:r>
          </a:p>
        </p:txBody>
      </p:sp>
      <p:sp>
        <p:nvSpPr>
          <p:cNvPr id="45" name="Bar 5 Label"/>
          <p:cNvSpPr>
            <a:spLocks noGrp="1"/>
          </p:cNvSpPr>
          <p:nvPr>
            <p:ph type="body" idx="37"/>
          </p:nvPr>
        </p:nvSpPr>
        <p:spPr>
          <a:xfrm>
            <a:off x="68834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LEGACY</a:t>
            </a:r>
          </a:p>
        </p:txBody>
      </p:sp>
      <p:sp>
        <p:nvSpPr>
          <p:cNvPr id="46" name="Bar 6 Value"/>
          <p:cNvSpPr>
            <a:spLocks noGrp="1"/>
          </p:cNvSpPr>
          <p:nvPr>
            <p:ph type="body" idx="40"/>
          </p:nvPr>
        </p:nvSpPr>
        <p:spPr>
          <a:xfrm>
            <a:off x="8489950" y="30988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−0.2</a:t>
            </a:r>
          </a:p>
        </p:txBody>
      </p:sp>
      <p:sp>
        <p:nvSpPr>
          <p:cNvPr id="47" name="Bar 6 Label"/>
          <p:cNvSpPr>
            <a:spLocks noGrp="1"/>
          </p:cNvSpPr>
          <p:nvPr>
            <p:ph type="body" idx="41"/>
          </p:nvPr>
        </p:nvSpPr>
        <p:spPr>
          <a:xfrm>
            <a:off x="846455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FX</a:t>
            </a:r>
          </a:p>
        </p:txBody>
      </p:sp>
      <p:sp>
        <p:nvSpPr>
          <p:cNvPr id="48" name="Bar 7 Value"/>
          <p:cNvSpPr>
            <a:spLocks noGrp="1"/>
          </p:cNvSpPr>
          <p:nvPr>
            <p:ph type="body" idx="44"/>
          </p:nvPr>
        </p:nvSpPr>
        <p:spPr>
          <a:xfrm>
            <a:off x="10071100" y="31496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0B1A33"/>
                </a:solidFill>
                <a:latin typeface="Noto Sans Mono"/>
              </a:rPr>
              <a:t>14.1</a:t>
            </a:r>
          </a:p>
        </p:txBody>
      </p:sp>
      <p:sp>
        <p:nvSpPr>
          <p:cNvPr id="49" name="Bar 7 Label"/>
          <p:cNvSpPr>
            <a:spLocks noGrp="1"/>
          </p:cNvSpPr>
          <p:nvPr>
            <p:ph type="body" idx="45"/>
          </p:nvPr>
        </p:nvSpPr>
        <p:spPr>
          <a:xfrm>
            <a:off x="100457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FY25 TOTAL</a:t>
            </a:r>
          </a:p>
        </p:txBody>
      </p:sp>
      <p:sp>
        <p:nvSpPr>
          <p:cNvPr id="50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SAMPLE DATA, FY25 PRELIMINARY · EUR BN · VARIANCES ROUNDED TO 0.1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PROCESS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DELIVERY SEQUENCE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Five stages · pilot highlights the current phase.</a:t>
            </a:r>
          </a:p>
        </p:txBody>
      </p:sp>
      <p:sp>
        <p:nvSpPr>
          <p:cNvPr id="10" name="Pentagon 9"/>
          <p:cNvSpPr/>
          <p:nvPr/>
        </p:nvSpPr>
        <p:spPr>
          <a:xfrm>
            <a:off x="635000" y="3429000"/>
            <a:ext cx="2326640" cy="2413000"/>
          </a:xfrm>
          <a:prstGeom prst="homePlate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2783840" y="3429000"/>
            <a:ext cx="2326640" cy="2413000"/>
          </a:xfrm>
          <a:prstGeom prst="chevron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4932680" y="3429000"/>
            <a:ext cx="2326640" cy="241300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7081520" y="3429000"/>
            <a:ext cx="2326640" cy="2413000"/>
          </a:xfrm>
          <a:prstGeom prst="chevron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vron 13"/>
          <p:cNvSpPr/>
          <p:nvPr/>
        </p:nvSpPr>
        <p:spPr>
          <a:xfrm>
            <a:off x="9230360" y="3429000"/>
            <a:ext cx="2326640" cy="2413000"/>
          </a:xfrm>
          <a:prstGeom prst="chevron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ge 1 Counter"/>
          <p:cNvSpPr>
            <a:spLocks noGrp="1"/>
          </p:cNvSpPr>
          <p:nvPr>
            <p:ph type="body" idx="20"/>
          </p:nvPr>
        </p:nvSpPr>
        <p:spPr>
          <a:xfrm>
            <a:off x="838200" y="3683000"/>
            <a:ext cx="1841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01</a:t>
            </a:r>
          </a:p>
        </p:txBody>
      </p:sp>
      <p:sp>
        <p:nvSpPr>
          <p:cNvPr id="16" name="Stage 1 Heading"/>
          <p:cNvSpPr>
            <a:spLocks noGrp="1"/>
          </p:cNvSpPr>
          <p:nvPr>
            <p:ph type="body" idx="21"/>
          </p:nvPr>
        </p:nvSpPr>
        <p:spPr>
          <a:xfrm>
            <a:off x="838200" y="4013200"/>
            <a:ext cx="18415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Frame</a:t>
            </a:r>
          </a:p>
        </p:txBody>
      </p:sp>
      <p:sp>
        <p:nvSpPr>
          <p:cNvPr id="17" name="Stage 1 Body"/>
          <p:cNvSpPr>
            <a:spLocks noGrp="1"/>
          </p:cNvSpPr>
          <p:nvPr>
            <p:ph type="body" idx="22"/>
          </p:nvPr>
        </p:nvSpPr>
        <p:spPr>
          <a:xfrm>
            <a:off x="838200" y="4508500"/>
            <a:ext cx="18415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Clarify the problem and the one outcome that matters.</a:t>
            </a:r>
          </a:p>
        </p:txBody>
      </p:sp>
      <p:sp>
        <p:nvSpPr>
          <p:cNvPr id="18" name="Stage 2 Counter"/>
          <p:cNvSpPr>
            <a:spLocks noGrp="1"/>
          </p:cNvSpPr>
          <p:nvPr>
            <p:ph type="body" idx="24"/>
          </p:nvPr>
        </p:nvSpPr>
        <p:spPr>
          <a:xfrm>
            <a:off x="3162300" y="3683000"/>
            <a:ext cx="16637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02</a:t>
            </a:r>
          </a:p>
        </p:txBody>
      </p:sp>
      <p:sp>
        <p:nvSpPr>
          <p:cNvPr id="19" name="Stage 2 Heading"/>
          <p:cNvSpPr>
            <a:spLocks noGrp="1"/>
          </p:cNvSpPr>
          <p:nvPr>
            <p:ph type="body" idx="25"/>
          </p:nvPr>
        </p:nvSpPr>
        <p:spPr>
          <a:xfrm>
            <a:off x="3162300" y="4013200"/>
            <a:ext cx="16637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Prototype</a:t>
            </a:r>
          </a:p>
        </p:txBody>
      </p:sp>
      <p:sp>
        <p:nvSpPr>
          <p:cNvPr id="20" name="Stage 2 Body"/>
          <p:cNvSpPr>
            <a:spLocks noGrp="1"/>
          </p:cNvSpPr>
          <p:nvPr>
            <p:ph type="body" idx="26"/>
          </p:nvPr>
        </p:nvSpPr>
        <p:spPr>
          <a:xfrm>
            <a:off x="3162300" y="4508500"/>
            <a:ext cx="16637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Build the thin vertical slice end-to-end.</a:t>
            </a:r>
          </a:p>
        </p:txBody>
      </p:sp>
      <p:sp>
        <p:nvSpPr>
          <p:cNvPr id="21" name="Stage 3 Counter"/>
          <p:cNvSpPr>
            <a:spLocks noGrp="1"/>
          </p:cNvSpPr>
          <p:nvPr>
            <p:ph type="body" idx="28"/>
          </p:nvPr>
        </p:nvSpPr>
        <p:spPr>
          <a:xfrm>
            <a:off x="5499100" y="3683000"/>
            <a:ext cx="1473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03</a:t>
            </a:r>
          </a:p>
        </p:txBody>
      </p:sp>
      <p:sp>
        <p:nvSpPr>
          <p:cNvPr id="22" name="Stage 3 Heading"/>
          <p:cNvSpPr>
            <a:spLocks noGrp="1"/>
          </p:cNvSpPr>
          <p:nvPr>
            <p:ph type="body" idx="29"/>
          </p:nvPr>
        </p:nvSpPr>
        <p:spPr>
          <a:xfrm>
            <a:off x="5499100" y="4013200"/>
            <a:ext cx="14732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Pilot</a:t>
            </a:r>
          </a:p>
        </p:txBody>
      </p:sp>
      <p:sp>
        <p:nvSpPr>
          <p:cNvPr id="23" name="Stage 3 Body"/>
          <p:cNvSpPr>
            <a:spLocks noGrp="1"/>
          </p:cNvSpPr>
          <p:nvPr>
            <p:ph type="body" idx="30"/>
          </p:nvPr>
        </p:nvSpPr>
        <p:spPr>
          <a:xfrm>
            <a:off x="5499100" y="4508500"/>
            <a:ext cx="14732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"/>
              </a:rPr>
              <a:t>Run it with real users on real data.</a:t>
            </a:r>
          </a:p>
        </p:txBody>
      </p:sp>
      <p:sp>
        <p:nvSpPr>
          <p:cNvPr id="24" name="Stage 4 Counter"/>
          <p:cNvSpPr>
            <a:spLocks noGrp="1"/>
          </p:cNvSpPr>
          <p:nvPr>
            <p:ph type="body" idx="32"/>
          </p:nvPr>
        </p:nvSpPr>
        <p:spPr>
          <a:xfrm>
            <a:off x="7461250" y="3683000"/>
            <a:ext cx="16637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04</a:t>
            </a:r>
          </a:p>
        </p:txBody>
      </p:sp>
      <p:sp>
        <p:nvSpPr>
          <p:cNvPr id="25" name="Stage 4 Heading"/>
          <p:cNvSpPr>
            <a:spLocks noGrp="1"/>
          </p:cNvSpPr>
          <p:nvPr>
            <p:ph type="body" idx="33"/>
          </p:nvPr>
        </p:nvSpPr>
        <p:spPr>
          <a:xfrm>
            <a:off x="7461250" y="4013200"/>
            <a:ext cx="16637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Harden</a:t>
            </a:r>
          </a:p>
        </p:txBody>
      </p:sp>
      <p:sp>
        <p:nvSpPr>
          <p:cNvPr id="26" name="Stage 4 Body"/>
          <p:cNvSpPr>
            <a:spLocks noGrp="1"/>
          </p:cNvSpPr>
          <p:nvPr>
            <p:ph type="body" idx="34"/>
          </p:nvPr>
        </p:nvSpPr>
        <p:spPr>
          <a:xfrm>
            <a:off x="7461250" y="4508500"/>
            <a:ext cx="16637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Fix what the pilot surfaces; add observability.</a:t>
            </a:r>
          </a:p>
        </p:txBody>
      </p:sp>
      <p:sp>
        <p:nvSpPr>
          <p:cNvPr id="27" name="Stage 5 Counter"/>
          <p:cNvSpPr>
            <a:spLocks noGrp="1"/>
          </p:cNvSpPr>
          <p:nvPr>
            <p:ph type="body" idx="36"/>
          </p:nvPr>
        </p:nvSpPr>
        <p:spPr>
          <a:xfrm>
            <a:off x="9607550" y="3683000"/>
            <a:ext cx="16637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05</a:t>
            </a:r>
          </a:p>
        </p:txBody>
      </p:sp>
      <p:sp>
        <p:nvSpPr>
          <p:cNvPr id="28" name="Stage 5 Heading"/>
          <p:cNvSpPr>
            <a:spLocks noGrp="1"/>
          </p:cNvSpPr>
          <p:nvPr>
            <p:ph type="body" idx="37"/>
          </p:nvPr>
        </p:nvSpPr>
        <p:spPr>
          <a:xfrm>
            <a:off x="9607550" y="4013200"/>
            <a:ext cx="16637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Scale</a:t>
            </a:r>
          </a:p>
        </p:txBody>
      </p:sp>
      <p:sp>
        <p:nvSpPr>
          <p:cNvPr id="29" name="Stage 5 Body"/>
          <p:cNvSpPr>
            <a:spLocks noGrp="1"/>
          </p:cNvSpPr>
          <p:nvPr>
            <p:ph type="body" idx="38"/>
          </p:nvPr>
        </p:nvSpPr>
        <p:spPr>
          <a:xfrm>
            <a:off x="9607550" y="4508500"/>
            <a:ext cx="16637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Roll out to remaining regions and SKUs.</a:t>
            </a:r>
          </a:p>
        </p:txBody>
      </p:sp>
      <p:sp>
        <p:nvSpPr>
          <p:cNvPr id="30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DELIVERY PLAN · WK 1–18 · PILOT CURRENTLY IN FLIGHT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Stacked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DATA · REVENUE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MIX · FY21–FY25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Platform revenue is the fastest-growing share; legacy hardware is flat in absolute terms.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5715000"/>
            <a:ext cx="838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4699000"/>
            <a:ext cx="952500" cy="10160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400" y="5137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4191000"/>
            <a:ext cx="952500" cy="5080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4375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000" y="3937000"/>
            <a:ext cx="952500" cy="2540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400" y="3994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000" y="3873500"/>
            <a:ext cx="952500" cy="635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89200" y="4711700"/>
            <a:ext cx="952500" cy="1003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51435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9200" y="4152900"/>
            <a:ext cx="952500" cy="5588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43624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89200" y="3886200"/>
            <a:ext cx="952500" cy="2667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4600" y="39497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89200" y="3784600"/>
            <a:ext cx="952500" cy="101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4724400"/>
            <a:ext cx="952500" cy="990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8800" y="51498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140200"/>
            <a:ext cx="952500" cy="584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8800" y="43624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848100"/>
            <a:ext cx="952500" cy="2921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8800" y="39243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3695700"/>
            <a:ext cx="952500" cy="152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7600" y="4737100"/>
            <a:ext cx="952500" cy="9779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3000" y="51562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7600" y="4114800"/>
            <a:ext cx="952500" cy="622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3000" y="43561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7600" y="3810000"/>
            <a:ext cx="952500" cy="3048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23000" y="38925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7600" y="3568700"/>
            <a:ext cx="952500" cy="2413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23000" y="36195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51800" y="4762500"/>
            <a:ext cx="952500" cy="952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77200" y="51689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51800" y="4102100"/>
            <a:ext cx="952500" cy="660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77200" y="43624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4.2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51800" y="3771900"/>
            <a:ext cx="952500" cy="3302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77200" y="3867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2.1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51800" y="3441700"/>
            <a:ext cx="952500" cy="3302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77200" y="35369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1.4</a:t>
            </a:r>
          </a:p>
        </p:txBody>
      </p:sp>
      <p:sp>
        <p:nvSpPr>
          <p:cNvPr id="48" name="Bar 1 Total"/>
          <p:cNvSpPr>
            <a:spLocks noGrp="1"/>
          </p:cNvSpPr>
          <p:nvPr>
            <p:ph type="body" idx="30"/>
          </p:nvPr>
        </p:nvSpPr>
        <p:spPr>
          <a:xfrm>
            <a:off x="6350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11.9</a:t>
            </a:r>
          </a:p>
        </p:txBody>
      </p:sp>
      <p:sp>
        <p:nvSpPr>
          <p:cNvPr id="49" name="Bar 1 Label"/>
          <p:cNvSpPr>
            <a:spLocks noGrp="1"/>
          </p:cNvSpPr>
          <p:nvPr>
            <p:ph type="body" idx="20"/>
          </p:nvPr>
        </p:nvSpPr>
        <p:spPr>
          <a:xfrm>
            <a:off x="6350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FY21</a:t>
            </a:r>
          </a:p>
        </p:txBody>
      </p:sp>
      <p:sp>
        <p:nvSpPr>
          <p:cNvPr id="50" name="Bar 2 Total"/>
          <p:cNvSpPr>
            <a:spLocks noGrp="1"/>
          </p:cNvSpPr>
          <p:nvPr>
            <p:ph type="body" idx="31"/>
          </p:nvPr>
        </p:nvSpPr>
        <p:spPr>
          <a:xfrm>
            <a:off x="24892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12.4</a:t>
            </a:r>
          </a:p>
        </p:txBody>
      </p:sp>
      <p:sp>
        <p:nvSpPr>
          <p:cNvPr id="51" name="Bar 2 Label"/>
          <p:cNvSpPr>
            <a:spLocks noGrp="1"/>
          </p:cNvSpPr>
          <p:nvPr>
            <p:ph type="body" idx="21"/>
          </p:nvPr>
        </p:nvSpPr>
        <p:spPr>
          <a:xfrm>
            <a:off x="24892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FY22</a:t>
            </a:r>
          </a:p>
        </p:txBody>
      </p:sp>
      <p:sp>
        <p:nvSpPr>
          <p:cNvPr id="52" name="Bar 3 Total"/>
          <p:cNvSpPr>
            <a:spLocks noGrp="1"/>
          </p:cNvSpPr>
          <p:nvPr>
            <p:ph type="body" idx="32"/>
          </p:nvPr>
        </p:nvSpPr>
        <p:spPr>
          <a:xfrm>
            <a:off x="43434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12.9</a:t>
            </a:r>
          </a:p>
        </p:txBody>
      </p:sp>
      <p:sp>
        <p:nvSpPr>
          <p:cNvPr id="53" name="Bar 3 Label"/>
          <p:cNvSpPr>
            <a:spLocks noGrp="1"/>
          </p:cNvSpPr>
          <p:nvPr>
            <p:ph type="body" idx="22"/>
          </p:nvPr>
        </p:nvSpPr>
        <p:spPr>
          <a:xfrm>
            <a:off x="43434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FY23</a:t>
            </a:r>
          </a:p>
        </p:txBody>
      </p:sp>
      <p:sp>
        <p:nvSpPr>
          <p:cNvPr id="54" name="Bar 4 Total"/>
          <p:cNvSpPr>
            <a:spLocks noGrp="1"/>
          </p:cNvSpPr>
          <p:nvPr>
            <p:ph type="body" idx="33"/>
          </p:nvPr>
        </p:nvSpPr>
        <p:spPr>
          <a:xfrm>
            <a:off x="61976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13.4</a:t>
            </a:r>
          </a:p>
        </p:txBody>
      </p:sp>
      <p:sp>
        <p:nvSpPr>
          <p:cNvPr id="55" name="Bar 4 Label"/>
          <p:cNvSpPr>
            <a:spLocks noGrp="1"/>
          </p:cNvSpPr>
          <p:nvPr>
            <p:ph type="body" idx="23"/>
          </p:nvPr>
        </p:nvSpPr>
        <p:spPr>
          <a:xfrm>
            <a:off x="61976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FY24</a:t>
            </a:r>
          </a:p>
        </p:txBody>
      </p:sp>
      <p:sp>
        <p:nvSpPr>
          <p:cNvPr id="56" name="Bar 5 Total"/>
          <p:cNvSpPr>
            <a:spLocks noGrp="1"/>
          </p:cNvSpPr>
          <p:nvPr>
            <p:ph type="body" idx="34"/>
          </p:nvPr>
        </p:nvSpPr>
        <p:spPr>
          <a:xfrm>
            <a:off x="80518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14.1</a:t>
            </a:r>
          </a:p>
        </p:txBody>
      </p:sp>
      <p:sp>
        <p:nvSpPr>
          <p:cNvPr id="57" name="Bar 5 Label"/>
          <p:cNvSpPr>
            <a:spLocks noGrp="1"/>
          </p:cNvSpPr>
          <p:nvPr>
            <p:ph type="body" idx="24"/>
          </p:nvPr>
        </p:nvSpPr>
        <p:spPr>
          <a:xfrm>
            <a:off x="80518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FY25</a:t>
            </a:r>
          </a:p>
        </p:txBody>
      </p:sp>
      <p:sp>
        <p:nvSpPr>
          <p:cNvPr id="58" name="Legend Title"/>
          <p:cNvSpPr>
            <a:spLocks noGrp="1"/>
          </p:cNvSpPr>
          <p:nvPr>
            <p:ph type="body" idx="39"/>
          </p:nvPr>
        </p:nvSpPr>
        <p:spPr>
          <a:xfrm>
            <a:off x="9525000" y="32385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98" cap="all">
                <a:solidFill>
                  <a:srgbClr val="0B1A33"/>
                </a:solidFill>
                <a:latin typeface="Noto Sans Mono"/>
              </a:rPr>
              <a:t>SEGMENT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525000" y="3479800"/>
            <a:ext cx="114300" cy="114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Legend 1 Name"/>
          <p:cNvSpPr>
            <a:spLocks noGrp="1"/>
          </p:cNvSpPr>
          <p:nvPr>
            <p:ph type="body" idx="40"/>
          </p:nvPr>
        </p:nvSpPr>
        <p:spPr>
          <a:xfrm>
            <a:off x="9728200" y="34544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Legacy hardware</a:t>
            </a:r>
          </a:p>
        </p:txBody>
      </p:sp>
      <p:sp>
        <p:nvSpPr>
          <p:cNvPr id="61" name="Legend 1 Change"/>
          <p:cNvSpPr>
            <a:spLocks noGrp="1"/>
          </p:cNvSpPr>
          <p:nvPr>
            <p:ph type="body" idx="41"/>
          </p:nvPr>
        </p:nvSpPr>
        <p:spPr>
          <a:xfrm>
            <a:off x="9728200" y="36068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−6% · 5y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25000" y="3835400"/>
            <a:ext cx="114300" cy="114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Legend 2 Name"/>
          <p:cNvSpPr>
            <a:spLocks noGrp="1"/>
          </p:cNvSpPr>
          <p:nvPr>
            <p:ph type="body" idx="42"/>
          </p:nvPr>
        </p:nvSpPr>
        <p:spPr>
          <a:xfrm>
            <a:off x="9728200" y="38100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Consumer products</a:t>
            </a:r>
          </a:p>
        </p:txBody>
      </p:sp>
      <p:sp>
        <p:nvSpPr>
          <p:cNvPr id="64" name="Legend 2 Change"/>
          <p:cNvSpPr>
            <a:spLocks noGrp="1"/>
          </p:cNvSpPr>
          <p:nvPr>
            <p:ph type="body" idx="43"/>
          </p:nvPr>
        </p:nvSpPr>
        <p:spPr>
          <a:xfrm>
            <a:off x="9728200" y="39624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+31% · 5y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25000" y="4191000"/>
            <a:ext cx="114300" cy="1143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Legend 3 Name"/>
          <p:cNvSpPr>
            <a:spLocks noGrp="1"/>
          </p:cNvSpPr>
          <p:nvPr>
            <p:ph type="body" idx="44"/>
          </p:nvPr>
        </p:nvSpPr>
        <p:spPr>
          <a:xfrm>
            <a:off x="9728200" y="41656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Commercial</a:t>
            </a:r>
          </a:p>
        </p:txBody>
      </p:sp>
      <p:sp>
        <p:nvSpPr>
          <p:cNvPr id="67" name="Legend 3 Change"/>
          <p:cNvSpPr>
            <a:spLocks noGrp="1"/>
          </p:cNvSpPr>
          <p:nvPr>
            <p:ph type="body" idx="45"/>
          </p:nvPr>
        </p:nvSpPr>
        <p:spPr>
          <a:xfrm>
            <a:off x="9728200" y="43180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+31% · 5y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525000" y="4546600"/>
            <a:ext cx="114300" cy="1143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Legend 4 Name"/>
          <p:cNvSpPr>
            <a:spLocks noGrp="1"/>
          </p:cNvSpPr>
          <p:nvPr>
            <p:ph type="body" idx="46"/>
          </p:nvPr>
        </p:nvSpPr>
        <p:spPr>
          <a:xfrm>
            <a:off x="9728200" y="45212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Platform &amp; services</a:t>
            </a:r>
          </a:p>
        </p:txBody>
      </p:sp>
      <p:sp>
        <p:nvSpPr>
          <p:cNvPr id="70" name="Legend 4 Change"/>
          <p:cNvSpPr>
            <a:spLocks noGrp="1"/>
          </p:cNvSpPr>
          <p:nvPr>
            <p:ph type="body" idx="47"/>
          </p:nvPr>
        </p:nvSpPr>
        <p:spPr>
          <a:xfrm>
            <a:off x="9728200" y="46736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+367% · 5y</a:t>
            </a:r>
          </a:p>
        </p:txBody>
      </p:sp>
      <p:sp>
        <p:nvSpPr>
          <p:cNvPr id="71" name="Source"/>
          <p:cNvSpPr>
            <a:spLocks noGrp="1"/>
          </p:cNvSpPr>
          <p:nvPr>
            <p:ph type="body" idx="60"/>
          </p:nvPr>
        </p:nvSpPr>
        <p:spPr>
          <a:xfrm>
            <a:off x="635000" y="6286500"/>
            <a:ext cx="838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SAMPLE DATA · EUR BN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FY25 PRELIMINARY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Across five product lines, only the two flagship lines beat both revenue and margin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263900"/>
            <a:ext cx="10922000" cy="127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381190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000" y="435038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488886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000" y="542734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000" y="596582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ader 1"/>
          <p:cNvSpPr>
            <a:spLocks noGrp="1"/>
          </p:cNvSpPr>
          <p:nvPr>
            <p:ph type="body" idx="20"/>
          </p:nvPr>
        </p:nvSpPr>
        <p:spPr>
          <a:xfrm>
            <a:off x="787400" y="3035300"/>
            <a:ext cx="1981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PRODUCT LINE</a:t>
            </a:r>
          </a:p>
        </p:txBody>
      </p:sp>
      <p:sp>
        <p:nvSpPr>
          <p:cNvPr id="17" name="Header 2"/>
          <p:cNvSpPr>
            <a:spLocks noGrp="1"/>
          </p:cNvSpPr>
          <p:nvPr>
            <p:ph type="body" idx="21"/>
          </p:nvPr>
        </p:nvSpPr>
        <p:spPr>
          <a:xfrm>
            <a:off x="3073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REVENUE · €M</a:t>
            </a:r>
          </a:p>
        </p:txBody>
      </p:sp>
      <p:sp>
        <p:nvSpPr>
          <p:cNvPr id="18" name="Header 3"/>
          <p:cNvSpPr>
            <a:spLocks noGrp="1"/>
          </p:cNvSpPr>
          <p:nvPr>
            <p:ph type="body" idx="22"/>
          </p:nvPr>
        </p:nvSpPr>
        <p:spPr>
          <a:xfrm>
            <a:off x="5232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VS. PLAN</a:t>
            </a:r>
          </a:p>
        </p:txBody>
      </p:sp>
      <p:sp>
        <p:nvSpPr>
          <p:cNvPr id="19" name="Header 4"/>
          <p:cNvSpPr>
            <a:spLocks noGrp="1"/>
          </p:cNvSpPr>
          <p:nvPr>
            <p:ph type="body" idx="23"/>
          </p:nvPr>
        </p:nvSpPr>
        <p:spPr>
          <a:xfrm>
            <a:off x="7391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MARGIN</a:t>
            </a:r>
          </a:p>
        </p:txBody>
      </p:sp>
      <p:sp>
        <p:nvSpPr>
          <p:cNvPr id="20" name="Header 5"/>
          <p:cNvSpPr>
            <a:spLocks noGrp="1"/>
          </p:cNvSpPr>
          <p:nvPr>
            <p:ph type="body" idx="24"/>
          </p:nvPr>
        </p:nvSpPr>
        <p:spPr>
          <a:xfrm>
            <a:off x="9550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VS. PLAN</a:t>
            </a:r>
          </a:p>
        </p:txBody>
      </p:sp>
      <p:sp>
        <p:nvSpPr>
          <p:cNvPr id="21" name="Row 1 Label"/>
          <p:cNvSpPr>
            <a:spLocks noGrp="1"/>
          </p:cNvSpPr>
          <p:nvPr>
            <p:ph type="body" idx="30"/>
          </p:nvPr>
        </p:nvSpPr>
        <p:spPr>
          <a:xfrm>
            <a:off x="787400" y="339090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Flagship A</a:t>
            </a:r>
          </a:p>
        </p:txBody>
      </p:sp>
      <p:sp>
        <p:nvSpPr>
          <p:cNvPr id="22" name="Row 2 Label"/>
          <p:cNvSpPr>
            <a:spLocks noGrp="1"/>
          </p:cNvSpPr>
          <p:nvPr>
            <p:ph type="body" idx="31"/>
          </p:nvPr>
        </p:nvSpPr>
        <p:spPr>
          <a:xfrm>
            <a:off x="787400" y="392938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Pro line</a:t>
            </a:r>
          </a:p>
        </p:txBody>
      </p:sp>
      <p:sp>
        <p:nvSpPr>
          <p:cNvPr id="23" name="Row 3 Label"/>
          <p:cNvSpPr>
            <a:spLocks noGrp="1"/>
          </p:cNvSpPr>
          <p:nvPr>
            <p:ph type="body" idx="32"/>
          </p:nvPr>
        </p:nvSpPr>
        <p:spPr>
          <a:xfrm>
            <a:off x="787400" y="446786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Standard line</a:t>
            </a:r>
          </a:p>
        </p:txBody>
      </p:sp>
      <p:sp>
        <p:nvSpPr>
          <p:cNvPr id="24" name="Row 4 Label"/>
          <p:cNvSpPr>
            <a:spLocks noGrp="1"/>
          </p:cNvSpPr>
          <p:nvPr>
            <p:ph type="body" idx="33"/>
          </p:nvPr>
        </p:nvSpPr>
        <p:spPr>
          <a:xfrm>
            <a:off x="787400" y="500634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Compact line</a:t>
            </a:r>
          </a:p>
        </p:txBody>
      </p:sp>
      <p:sp>
        <p:nvSpPr>
          <p:cNvPr id="25" name="Row 5 Label"/>
          <p:cNvSpPr>
            <a:spLocks noGrp="1"/>
          </p:cNvSpPr>
          <p:nvPr>
            <p:ph type="body" idx="34"/>
          </p:nvPr>
        </p:nvSpPr>
        <p:spPr>
          <a:xfrm>
            <a:off x="787400" y="554482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Accessories</a:t>
            </a:r>
          </a:p>
        </p:txBody>
      </p:sp>
      <p:sp>
        <p:nvSpPr>
          <p:cNvPr id="26" name="Cell r1c1"/>
          <p:cNvSpPr>
            <a:spLocks noGrp="1"/>
          </p:cNvSpPr>
          <p:nvPr>
            <p:ph type="body" idx="40"/>
          </p:nvPr>
        </p:nvSpPr>
        <p:spPr>
          <a:xfrm>
            <a:off x="3073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3,240</a:t>
            </a:r>
          </a:p>
        </p:txBody>
      </p:sp>
      <p:sp>
        <p:nvSpPr>
          <p:cNvPr id="27" name="Cell r1c2"/>
          <p:cNvSpPr>
            <a:spLocks noGrp="1"/>
          </p:cNvSpPr>
          <p:nvPr>
            <p:ph type="body" idx="41"/>
          </p:nvPr>
        </p:nvSpPr>
        <p:spPr>
          <a:xfrm>
            <a:off x="5232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+3.8%</a:t>
            </a:r>
          </a:p>
        </p:txBody>
      </p:sp>
      <p:sp>
        <p:nvSpPr>
          <p:cNvPr id="28" name="Cell r1c3"/>
          <p:cNvSpPr>
            <a:spLocks noGrp="1"/>
          </p:cNvSpPr>
          <p:nvPr>
            <p:ph type="body" idx="42"/>
          </p:nvPr>
        </p:nvSpPr>
        <p:spPr>
          <a:xfrm>
            <a:off x="7391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14.2%</a:t>
            </a:r>
          </a:p>
        </p:txBody>
      </p:sp>
      <p:sp>
        <p:nvSpPr>
          <p:cNvPr id="29" name="Cell r1c4"/>
          <p:cNvSpPr>
            <a:spLocks noGrp="1"/>
          </p:cNvSpPr>
          <p:nvPr>
            <p:ph type="body" idx="43"/>
          </p:nvPr>
        </p:nvSpPr>
        <p:spPr>
          <a:xfrm>
            <a:off x="9550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+0.6 pt</a:t>
            </a:r>
          </a:p>
        </p:txBody>
      </p:sp>
      <p:sp>
        <p:nvSpPr>
          <p:cNvPr id="30" name="Cell r2c1"/>
          <p:cNvSpPr>
            <a:spLocks noGrp="1"/>
          </p:cNvSpPr>
          <p:nvPr>
            <p:ph type="body" idx="44"/>
          </p:nvPr>
        </p:nvSpPr>
        <p:spPr>
          <a:xfrm>
            <a:off x="3073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2,910</a:t>
            </a:r>
          </a:p>
        </p:txBody>
      </p:sp>
      <p:sp>
        <p:nvSpPr>
          <p:cNvPr id="31" name="Cell r2c2"/>
          <p:cNvSpPr>
            <a:spLocks noGrp="1"/>
          </p:cNvSpPr>
          <p:nvPr>
            <p:ph type="body" idx="45"/>
          </p:nvPr>
        </p:nvSpPr>
        <p:spPr>
          <a:xfrm>
            <a:off x="5232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+2.2%</a:t>
            </a:r>
          </a:p>
        </p:txBody>
      </p:sp>
      <p:sp>
        <p:nvSpPr>
          <p:cNvPr id="32" name="Cell r2c3"/>
          <p:cNvSpPr>
            <a:spLocks noGrp="1"/>
          </p:cNvSpPr>
          <p:nvPr>
            <p:ph type="body" idx="46"/>
          </p:nvPr>
        </p:nvSpPr>
        <p:spPr>
          <a:xfrm>
            <a:off x="7391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13.5%</a:t>
            </a:r>
          </a:p>
        </p:txBody>
      </p:sp>
      <p:sp>
        <p:nvSpPr>
          <p:cNvPr id="33" name="Cell r2c4"/>
          <p:cNvSpPr>
            <a:spLocks noGrp="1"/>
          </p:cNvSpPr>
          <p:nvPr>
            <p:ph type="body" idx="47"/>
          </p:nvPr>
        </p:nvSpPr>
        <p:spPr>
          <a:xfrm>
            <a:off x="9550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+0.4 pt</a:t>
            </a:r>
          </a:p>
        </p:txBody>
      </p:sp>
      <p:sp>
        <p:nvSpPr>
          <p:cNvPr id="34" name="Cell r3c1"/>
          <p:cNvSpPr>
            <a:spLocks noGrp="1"/>
          </p:cNvSpPr>
          <p:nvPr>
            <p:ph type="body" idx="48"/>
          </p:nvPr>
        </p:nvSpPr>
        <p:spPr>
          <a:xfrm>
            <a:off x="3073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3,480</a:t>
            </a:r>
          </a:p>
        </p:txBody>
      </p:sp>
      <p:sp>
        <p:nvSpPr>
          <p:cNvPr id="35" name="Cell r3c2"/>
          <p:cNvSpPr>
            <a:spLocks noGrp="1"/>
          </p:cNvSpPr>
          <p:nvPr>
            <p:ph type="body" idx="49"/>
          </p:nvPr>
        </p:nvSpPr>
        <p:spPr>
          <a:xfrm>
            <a:off x="5232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+0.3%</a:t>
            </a:r>
          </a:p>
        </p:txBody>
      </p:sp>
      <p:sp>
        <p:nvSpPr>
          <p:cNvPr id="36" name="Cell r3c3"/>
          <p:cNvSpPr>
            <a:spLocks noGrp="1"/>
          </p:cNvSpPr>
          <p:nvPr>
            <p:ph type="body" idx="50"/>
          </p:nvPr>
        </p:nvSpPr>
        <p:spPr>
          <a:xfrm>
            <a:off x="7391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11.1%</a:t>
            </a:r>
          </a:p>
        </p:txBody>
      </p:sp>
      <p:sp>
        <p:nvSpPr>
          <p:cNvPr id="37" name="Cell r3c4"/>
          <p:cNvSpPr>
            <a:spLocks noGrp="1"/>
          </p:cNvSpPr>
          <p:nvPr>
            <p:ph type="body" idx="51"/>
          </p:nvPr>
        </p:nvSpPr>
        <p:spPr>
          <a:xfrm>
            <a:off x="9550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−0.2 pt</a:t>
            </a:r>
          </a:p>
        </p:txBody>
      </p:sp>
      <p:sp>
        <p:nvSpPr>
          <p:cNvPr id="38" name="Cell r4c1"/>
          <p:cNvSpPr>
            <a:spLocks noGrp="1"/>
          </p:cNvSpPr>
          <p:nvPr>
            <p:ph type="body" idx="52"/>
          </p:nvPr>
        </p:nvSpPr>
        <p:spPr>
          <a:xfrm>
            <a:off x="3073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2,610</a:t>
            </a:r>
          </a:p>
        </p:txBody>
      </p:sp>
      <p:sp>
        <p:nvSpPr>
          <p:cNvPr id="39" name="Cell r4c2"/>
          <p:cNvSpPr>
            <a:spLocks noGrp="1"/>
          </p:cNvSpPr>
          <p:nvPr>
            <p:ph type="body" idx="53"/>
          </p:nvPr>
        </p:nvSpPr>
        <p:spPr>
          <a:xfrm>
            <a:off x="5232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−0.9%</a:t>
            </a:r>
          </a:p>
        </p:txBody>
      </p:sp>
      <p:sp>
        <p:nvSpPr>
          <p:cNvPr id="40" name="Cell r4c3"/>
          <p:cNvSpPr>
            <a:spLocks noGrp="1"/>
          </p:cNvSpPr>
          <p:nvPr>
            <p:ph type="body" idx="54"/>
          </p:nvPr>
        </p:nvSpPr>
        <p:spPr>
          <a:xfrm>
            <a:off x="7391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10.4%</a:t>
            </a:r>
          </a:p>
        </p:txBody>
      </p:sp>
      <p:sp>
        <p:nvSpPr>
          <p:cNvPr id="41" name="Cell r4c4"/>
          <p:cNvSpPr>
            <a:spLocks noGrp="1"/>
          </p:cNvSpPr>
          <p:nvPr>
            <p:ph type="body" idx="55"/>
          </p:nvPr>
        </p:nvSpPr>
        <p:spPr>
          <a:xfrm>
            <a:off x="9550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−0.3 pt</a:t>
            </a:r>
          </a:p>
        </p:txBody>
      </p:sp>
      <p:sp>
        <p:nvSpPr>
          <p:cNvPr id="42" name="Cell r5c1"/>
          <p:cNvSpPr>
            <a:spLocks noGrp="1"/>
          </p:cNvSpPr>
          <p:nvPr>
            <p:ph type="body" idx="56"/>
          </p:nvPr>
        </p:nvSpPr>
        <p:spPr>
          <a:xfrm>
            <a:off x="3073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1,860</a:t>
            </a:r>
          </a:p>
        </p:txBody>
      </p:sp>
      <p:sp>
        <p:nvSpPr>
          <p:cNvPr id="43" name="Cell r5c2"/>
          <p:cNvSpPr>
            <a:spLocks noGrp="1"/>
          </p:cNvSpPr>
          <p:nvPr>
            <p:ph type="body" idx="57"/>
          </p:nvPr>
        </p:nvSpPr>
        <p:spPr>
          <a:xfrm>
            <a:off x="5232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−1.4%</a:t>
            </a:r>
          </a:p>
        </p:txBody>
      </p:sp>
      <p:sp>
        <p:nvSpPr>
          <p:cNvPr id="44" name="Cell r5c3"/>
          <p:cNvSpPr>
            <a:spLocks noGrp="1"/>
          </p:cNvSpPr>
          <p:nvPr>
            <p:ph type="body" idx="58"/>
          </p:nvPr>
        </p:nvSpPr>
        <p:spPr>
          <a:xfrm>
            <a:off x="7391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9.2%</a:t>
            </a:r>
          </a:p>
        </p:txBody>
      </p:sp>
      <p:sp>
        <p:nvSpPr>
          <p:cNvPr id="45" name="Cell r5c4"/>
          <p:cNvSpPr>
            <a:spLocks noGrp="1"/>
          </p:cNvSpPr>
          <p:nvPr>
            <p:ph type="body" idx="59"/>
          </p:nvPr>
        </p:nvSpPr>
        <p:spPr>
          <a:xfrm>
            <a:off x="9550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−0.7 pt</a:t>
            </a:r>
          </a:p>
        </p:txBody>
      </p:sp>
      <p:sp>
        <p:nvSpPr>
          <p:cNvPr id="46" name="Source"/>
          <p:cNvSpPr>
            <a:spLocks noGrp="1"/>
          </p:cNvSpPr>
          <p:nvPr>
            <p:ph type="body" idx="60"/>
          </p:nvPr>
        </p:nvSpPr>
        <p:spPr>
          <a:xfrm>
            <a:off x="635000" y="6223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SAMPLE DATA, FY25 PRELIMINARY · EUR M · PLAN SET OCT 2024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PYRAMID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CUSTOMER VALUE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Three tiers of value: a solid product, an honest relationship, a measured experience.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2497667" y="3048000"/>
            <a:ext cx="1608667" cy="1083733"/>
          </a:xfrm>
          <a:prstGeom prst="triangle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693333" y="4157133"/>
            <a:ext cx="3217334" cy="1083734"/>
          </a:xfrm>
          <a:custGeom>
            <a:avLst/>
            <a:gdLst/>
            <a:ahLst/>
            <a:cxnLst/>
            <a:rect l="l" t="t" r="r" b="b"/>
            <a:pathLst>
              <a:path w="3217334" h="1083734">
                <a:moveTo>
                  <a:pt x="804334" y="0"/>
                </a:moveTo>
                <a:lnTo>
                  <a:pt x="2413000" y="0"/>
                </a:lnTo>
                <a:lnTo>
                  <a:pt x="3217334" y="1083734"/>
                </a:lnTo>
                <a:lnTo>
                  <a:pt x="0" y="1083734"/>
                </a:lnTo>
                <a:close/>
              </a:path>
            </a:pathLst>
          </a:cu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889000" y="5266267"/>
            <a:ext cx="4826000" cy="1083733"/>
          </a:xfrm>
          <a:custGeom>
            <a:avLst/>
            <a:gdLst/>
            <a:ahLst/>
            <a:cxnLst/>
            <a:rect l="l" t="t" r="r" b="b"/>
            <a:pathLst>
              <a:path w="4826000" h="1083733">
                <a:moveTo>
                  <a:pt x="804333" y="0"/>
                </a:moveTo>
                <a:lnTo>
                  <a:pt x="4021667" y="0"/>
                </a:lnTo>
                <a:lnTo>
                  <a:pt x="4826000" y="1083733"/>
                </a:lnTo>
                <a:lnTo>
                  <a:pt x="0" y="1083733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ier 1 Label"/>
          <p:cNvSpPr>
            <a:spLocks noGrp="1"/>
          </p:cNvSpPr>
          <p:nvPr>
            <p:ph type="body" idx="20"/>
          </p:nvPr>
        </p:nvSpPr>
        <p:spPr>
          <a:xfrm>
            <a:off x="4206875" y="3448050"/>
            <a:ext cx="21590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A measured experience.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0000" y="30480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ier 1 Counter"/>
          <p:cNvSpPr>
            <a:spLocks noGrp="1"/>
          </p:cNvSpPr>
          <p:nvPr>
            <p:ph type="body" idx="22"/>
          </p:nvPr>
        </p:nvSpPr>
        <p:spPr>
          <a:xfrm>
            <a:off x="6350000" y="3149600"/>
            <a:ext cx="5207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03 · MEANING</a:t>
            </a:r>
          </a:p>
        </p:txBody>
      </p:sp>
      <p:sp>
        <p:nvSpPr>
          <p:cNvPr id="16" name="Tier 1 Body"/>
          <p:cNvSpPr>
            <a:spLocks noGrp="1"/>
          </p:cNvSpPr>
          <p:nvPr>
            <p:ph type="body" idx="21"/>
          </p:nvPr>
        </p:nvSpPr>
        <p:spPr>
          <a:xfrm>
            <a:off x="6350000" y="3352800"/>
            <a:ext cx="5207000" cy="7239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Time given back; one less thing to think about.</a:t>
            </a:r>
          </a:p>
        </p:txBody>
      </p:sp>
      <p:sp>
        <p:nvSpPr>
          <p:cNvPr id="17" name="Tier 2 Label"/>
          <p:cNvSpPr>
            <a:spLocks noGrp="1"/>
          </p:cNvSpPr>
          <p:nvPr>
            <p:ph type="body" idx="24"/>
          </p:nvPr>
        </p:nvSpPr>
        <p:spPr>
          <a:xfrm>
            <a:off x="1797050" y="4552950"/>
            <a:ext cx="3009900" cy="279400"/>
          </a:xfrm>
        </p:spPr>
        <p:txBody>
          <a:bodyPr lIns="0" tIns="0" rIns="0" bIns="0" wrap="square" anchor="t"/>
          <a:lstStyle/>
          <a:p>
            <a:pPr marL="0" indent="0" algn="ctr">
              <a:lnSpc>
                <a:spcPct val="114999"/>
              </a:lnSpc>
              <a:buNone/>
            </a:pPr>
            <a:r>
              <a:rPr lang="en-US" sz="1400" spc="-17">
                <a:solidFill>
                  <a:srgbClr val="FFFFFF"/>
                </a:solidFill>
                <a:latin typeface="Noto Sans Medium"/>
              </a:rPr>
              <a:t>An honest relationship.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0" y="41529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ier 2 Counter"/>
          <p:cNvSpPr>
            <a:spLocks noGrp="1"/>
          </p:cNvSpPr>
          <p:nvPr>
            <p:ph type="body" idx="26"/>
          </p:nvPr>
        </p:nvSpPr>
        <p:spPr>
          <a:xfrm>
            <a:off x="6350000" y="4254500"/>
            <a:ext cx="5207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02 · TRUST</a:t>
            </a:r>
          </a:p>
        </p:txBody>
      </p:sp>
      <p:sp>
        <p:nvSpPr>
          <p:cNvPr id="20" name="Tier 2 Body"/>
          <p:cNvSpPr>
            <a:spLocks noGrp="1"/>
          </p:cNvSpPr>
          <p:nvPr>
            <p:ph type="body" idx="25"/>
          </p:nvPr>
        </p:nvSpPr>
        <p:spPr>
          <a:xfrm>
            <a:off x="6350000" y="4457700"/>
            <a:ext cx="5207000" cy="7239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The product tells you the truth about itself — status, usage, when to act.</a:t>
            </a:r>
          </a:p>
        </p:txBody>
      </p:sp>
      <p:sp>
        <p:nvSpPr>
          <p:cNvPr id="21" name="Tier 3 Label"/>
          <p:cNvSpPr>
            <a:spLocks noGrp="1"/>
          </p:cNvSpPr>
          <p:nvPr>
            <p:ph type="body" idx="28"/>
          </p:nvPr>
        </p:nvSpPr>
        <p:spPr>
          <a:xfrm>
            <a:off x="990600" y="5664200"/>
            <a:ext cx="4622800" cy="279400"/>
          </a:xfrm>
        </p:spPr>
        <p:txBody>
          <a:bodyPr lIns="0" tIns="0" rIns="0" bIns="0" wrap="square" anchor="t"/>
          <a:lstStyle/>
          <a:p>
            <a:pPr marL="0" indent="0" algn="ctr">
              <a:lnSpc>
                <a:spcPct val="114999"/>
              </a:lnSpc>
              <a:buNone/>
            </a:pPr>
            <a:r>
              <a:rPr lang="en-US" sz="1400" spc="-17">
                <a:solidFill>
                  <a:srgbClr val="FFFFFF"/>
                </a:solidFill>
                <a:latin typeface="Noto Sans Medium"/>
              </a:rPr>
              <a:t>A solid product.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0" y="526415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er 3 Counter"/>
          <p:cNvSpPr>
            <a:spLocks noGrp="1"/>
          </p:cNvSpPr>
          <p:nvPr>
            <p:ph type="body" idx="30"/>
          </p:nvPr>
        </p:nvSpPr>
        <p:spPr>
          <a:xfrm>
            <a:off x="6350000" y="5365750"/>
            <a:ext cx="5207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01 · FOUNDATION</a:t>
            </a:r>
          </a:p>
        </p:txBody>
      </p:sp>
      <p:sp>
        <p:nvSpPr>
          <p:cNvPr id="24" name="Tier 3 Body"/>
          <p:cNvSpPr>
            <a:spLocks noGrp="1"/>
          </p:cNvSpPr>
          <p:nvPr>
            <p:ph type="body" idx="29"/>
          </p:nvPr>
        </p:nvSpPr>
        <p:spPr>
          <a:xfrm>
            <a:off x="6350000" y="5568950"/>
            <a:ext cx="5207000" cy="7239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Things that work, for years, in any context — solid, reliable, supportable.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Key Takeaways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FFFFFF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FFFFFF"/>
                </a:solidFill>
                <a:latin typeface="Noto Sans Mono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FFFFFF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FFFFFF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cker"/>
          <p:cNvSpPr>
            <a:spLocks noGrp="1"/>
          </p:cNvSpPr>
          <p:nvPr>
            <p:ph type="body" idx="10"/>
          </p:nvPr>
        </p:nvSpPr>
        <p:spPr>
          <a:xfrm>
            <a:off x="635000" y="14224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KEY TAKEAWAYS</a:t>
            </a:r>
          </a:p>
        </p:txBody>
      </p:sp>
      <p:sp>
        <p:nvSpPr>
          <p:cNvPr id="9" name="Action Title"/>
          <p:cNvSpPr>
            <a:spLocks noGrp="1"/>
          </p:cNvSpPr>
          <p:nvPr>
            <p:ph type="title"/>
          </p:nvPr>
        </p:nvSpPr>
        <p:spPr>
          <a:xfrm>
            <a:off x="635000" y="1727200"/>
            <a:ext cx="109220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50" b="1" spc="-28">
                <a:solidFill>
                  <a:srgbClr val="FFFFFF"/>
                </a:solidFill>
                <a:latin typeface="Noto Sans"/>
              </a:rPr>
              <a:t>Three things to remember: platform first, measure the experience, write plainly.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ard 1 Counter"/>
          <p:cNvSpPr>
            <a:spLocks noGrp="1"/>
          </p:cNvSpPr>
          <p:nvPr>
            <p:ph type="body" idx="20"/>
          </p:nvPr>
        </p:nvSpPr>
        <p:spPr>
          <a:xfrm>
            <a:off x="6350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12" name="Card 1 Heading"/>
          <p:cNvSpPr>
            <a:spLocks noGrp="1"/>
          </p:cNvSpPr>
          <p:nvPr>
            <p:ph type="body" idx="21"/>
          </p:nvPr>
        </p:nvSpPr>
        <p:spPr>
          <a:xfrm>
            <a:off x="6350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Platform first.</a:t>
            </a:r>
          </a:p>
        </p:txBody>
      </p:sp>
      <p:sp>
        <p:nvSpPr>
          <p:cNvPr id="13" name="Card 1 Body"/>
          <p:cNvSpPr>
            <a:spLocks noGrp="1"/>
          </p:cNvSpPr>
          <p:nvPr>
            <p:ph type="body" idx="22"/>
          </p:nvPr>
        </p:nvSpPr>
        <p:spPr>
          <a:xfrm>
            <a:off x="6350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Every new SKU ships on the unified OS core from the first production run. No line-specific forks after Q2.</a:t>
            </a:r>
          </a:p>
        </p:txBody>
      </p:sp>
      <p:sp>
        <p:nvSpPr>
          <p:cNvPr id="14" name="Card 1 Owner"/>
          <p:cNvSpPr>
            <a:spLocks noGrp="1"/>
          </p:cNvSpPr>
          <p:nvPr>
            <p:ph type="body" idx="23"/>
          </p:nvPr>
        </p:nvSpPr>
        <p:spPr>
          <a:xfrm>
            <a:off x="6350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PLATFORM VP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36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ard 2 Counter"/>
          <p:cNvSpPr>
            <a:spLocks noGrp="1"/>
          </p:cNvSpPr>
          <p:nvPr>
            <p:ph type="body" idx="24"/>
          </p:nvPr>
        </p:nvSpPr>
        <p:spPr>
          <a:xfrm>
            <a:off x="34036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17" name="Card 2 Heading"/>
          <p:cNvSpPr>
            <a:spLocks noGrp="1"/>
          </p:cNvSpPr>
          <p:nvPr>
            <p:ph type="body" idx="25"/>
          </p:nvPr>
        </p:nvSpPr>
        <p:spPr>
          <a:xfrm>
            <a:off x="34036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Measure the experience.</a:t>
            </a:r>
          </a:p>
        </p:txBody>
      </p:sp>
      <p:sp>
        <p:nvSpPr>
          <p:cNvPr id="18" name="Card 2 Body"/>
          <p:cNvSpPr>
            <a:spLocks noGrp="1"/>
          </p:cNvSpPr>
          <p:nvPr>
            <p:ph type="body" idx="26"/>
          </p:nvPr>
        </p:nvSpPr>
        <p:spPr>
          <a:xfrm>
            <a:off x="34036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Telemetry is the product, not an add-on. Every feature must ship with the metric that proves it worked.</a:t>
            </a:r>
          </a:p>
        </p:txBody>
      </p:sp>
      <p:sp>
        <p:nvSpPr>
          <p:cNvPr id="19" name="Card 2 Owner"/>
          <p:cNvSpPr>
            <a:spLocks noGrp="1"/>
          </p:cNvSpPr>
          <p:nvPr>
            <p:ph type="body" idx="27"/>
          </p:nvPr>
        </p:nvSpPr>
        <p:spPr>
          <a:xfrm>
            <a:off x="34036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DATA LEAD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rd 3 Counter"/>
          <p:cNvSpPr>
            <a:spLocks noGrp="1"/>
          </p:cNvSpPr>
          <p:nvPr>
            <p:ph type="body" idx="28"/>
          </p:nvPr>
        </p:nvSpPr>
        <p:spPr>
          <a:xfrm>
            <a:off x="61722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22" name="Card 3 Heading"/>
          <p:cNvSpPr>
            <a:spLocks noGrp="1"/>
          </p:cNvSpPr>
          <p:nvPr>
            <p:ph type="body" idx="29"/>
          </p:nvPr>
        </p:nvSpPr>
        <p:spPr>
          <a:xfrm>
            <a:off x="61722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Write plainly.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30"/>
          </p:nvPr>
        </p:nvSpPr>
        <p:spPr>
          <a:xfrm>
            <a:off x="61722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Release notes, app copy, service sheets — all authored in the Feinschliff voice. Short sentences. Concrete nouns.</a:t>
            </a:r>
          </a:p>
        </p:txBody>
      </p:sp>
      <p:sp>
        <p:nvSpPr>
          <p:cNvPr id="24" name="Card 3 Owner"/>
          <p:cNvSpPr>
            <a:spLocks noGrp="1"/>
          </p:cNvSpPr>
          <p:nvPr>
            <p:ph type="body" idx="31"/>
          </p:nvPr>
        </p:nvSpPr>
        <p:spPr>
          <a:xfrm>
            <a:off x="61722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CONTENT LEAD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408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ard 4 Counter"/>
          <p:cNvSpPr>
            <a:spLocks noGrp="1"/>
          </p:cNvSpPr>
          <p:nvPr>
            <p:ph type="body" idx="32"/>
          </p:nvPr>
        </p:nvSpPr>
        <p:spPr>
          <a:xfrm>
            <a:off x="89408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04</a:t>
            </a:r>
          </a:p>
        </p:txBody>
      </p:sp>
      <p:sp>
        <p:nvSpPr>
          <p:cNvPr id="27" name="Card 4 Heading"/>
          <p:cNvSpPr>
            <a:spLocks noGrp="1"/>
          </p:cNvSpPr>
          <p:nvPr>
            <p:ph type="body" idx="33"/>
          </p:nvPr>
        </p:nvSpPr>
        <p:spPr>
          <a:xfrm>
            <a:off x="89408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Ship weekly.</a:t>
            </a:r>
          </a:p>
        </p:txBody>
      </p:sp>
      <p:sp>
        <p:nvSpPr>
          <p:cNvPr id="28" name="Card 4 Body"/>
          <p:cNvSpPr>
            <a:spLocks noGrp="1"/>
          </p:cNvSpPr>
          <p:nvPr>
            <p:ph type="body" idx="34"/>
          </p:nvPr>
        </p:nvSpPr>
        <p:spPr>
          <a:xfrm>
            <a:off x="89408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Every squad cuts a release every week; anything that can't be weekly is a platform bug to be retired.</a:t>
            </a:r>
          </a:p>
        </p:txBody>
      </p:sp>
      <p:sp>
        <p:nvSpPr>
          <p:cNvPr id="29" name="Card 4 Owner"/>
          <p:cNvSpPr>
            <a:spLocks noGrp="1"/>
          </p:cNvSpPr>
          <p:nvPr>
            <p:ph type="body" idx="35"/>
          </p:nvPr>
        </p:nvSpPr>
        <p:spPr>
          <a:xfrm>
            <a:off x="89408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ENG DIRECTOR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Executive 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889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143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EXECUTIVE SUMMARY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1397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Four insights, three next steps — the 2026 plan on one page.</a:t>
            </a:r>
          </a:p>
        </p:txBody>
      </p:sp>
      <p:sp>
        <p:nvSpPr>
          <p:cNvPr id="10" name="Lede"/>
          <p:cNvSpPr>
            <a:spLocks noGrp="1"/>
          </p:cNvSpPr>
          <p:nvPr>
            <p:ph type="body" idx="11"/>
          </p:nvPr>
        </p:nvSpPr>
        <p:spPr>
          <a:xfrm>
            <a:off x="635000" y="2286000"/>
            <a:ext cx="109220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Platform economics turned in FY25 — active use per account grew while cloud cost fell. Convert that signal into the 2026 commitments below.</a:t>
            </a:r>
          </a:p>
        </p:txBody>
      </p:sp>
      <p:sp>
        <p:nvSpPr>
          <p:cNvPr id="11" name="Col1 Label"/>
          <p:cNvSpPr>
            <a:spLocks noGrp="1"/>
          </p:cNvSpPr>
          <p:nvPr>
            <p:ph type="body" idx="20"/>
          </p:nvPr>
        </p:nvSpPr>
        <p:spPr>
          <a:xfrm>
            <a:off x="635000" y="3175000"/>
            <a:ext cx="5207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112" cap="all">
                <a:solidFill>
                  <a:srgbClr val="C9A24A"/>
                </a:solidFill>
                <a:latin typeface="Noto Sans Mono"/>
              </a:rPr>
              <a:t>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000" y="33782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3543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ol1 Item1 Heading"/>
          <p:cNvSpPr>
            <a:spLocks noGrp="1"/>
          </p:cNvSpPr>
          <p:nvPr>
            <p:ph type="body" idx="21"/>
          </p:nvPr>
        </p:nvSpPr>
        <p:spPr>
          <a:xfrm>
            <a:off x="787400" y="3479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Platform share is compounding.</a:t>
            </a:r>
          </a:p>
        </p:txBody>
      </p:sp>
      <p:sp>
        <p:nvSpPr>
          <p:cNvPr id="15" name="Col1 Item1 Body"/>
          <p:cNvSpPr>
            <a:spLocks noGrp="1"/>
          </p:cNvSpPr>
          <p:nvPr>
            <p:ph type="body" idx="22"/>
          </p:nvPr>
        </p:nvSpPr>
        <p:spPr>
          <a:xfrm>
            <a:off x="787400" y="3695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Platform and services are the fastest-growing revenue line; legacy hardware is flat in absolute terms.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4051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ol1 Item2 Heading"/>
          <p:cNvSpPr>
            <a:spLocks noGrp="1"/>
          </p:cNvSpPr>
          <p:nvPr>
            <p:ph type="body" idx="23"/>
          </p:nvPr>
        </p:nvSpPr>
        <p:spPr>
          <a:xfrm>
            <a:off x="787400" y="3987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First-run pairing is the biggest leak.</a:t>
            </a:r>
          </a:p>
        </p:txBody>
      </p:sp>
      <p:sp>
        <p:nvSpPr>
          <p:cNvPr id="18" name="Col1 Item2 Body"/>
          <p:cNvSpPr>
            <a:spLocks noGrp="1"/>
          </p:cNvSpPr>
          <p:nvPr>
            <p:ph type="body" idx="24"/>
          </p:nvPr>
        </p:nvSpPr>
        <p:spPr>
          <a:xfrm>
            <a:off x="787400" y="4203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One in three buyers never pairs the product — fixable in firmware and the quickest lift to 90-day activation.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4559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ol1 Item3 Heading"/>
          <p:cNvSpPr>
            <a:spLocks noGrp="1"/>
          </p:cNvSpPr>
          <p:nvPr>
            <p:ph type="body" idx="25"/>
          </p:nvPr>
        </p:nvSpPr>
        <p:spPr>
          <a:xfrm>
            <a:off x="787400" y="4495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Telemetry is now default-on.</a:t>
            </a:r>
          </a:p>
        </p:txBody>
      </p:sp>
      <p:sp>
        <p:nvSpPr>
          <p:cNvPr id="21" name="Col1 Item3 Body"/>
          <p:cNvSpPr>
            <a:spLocks noGrp="1"/>
          </p:cNvSpPr>
          <p:nvPr>
            <p:ph type="body" idx="26"/>
          </p:nvPr>
        </p:nvSpPr>
        <p:spPr>
          <a:xfrm>
            <a:off x="787400" y="4711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Every production unit reports usage and health from day one; the data contract is locked and versioned.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" y="5067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ol1 Item4 Heading"/>
          <p:cNvSpPr>
            <a:spLocks noGrp="1"/>
          </p:cNvSpPr>
          <p:nvPr>
            <p:ph type="body" idx="27"/>
          </p:nvPr>
        </p:nvSpPr>
        <p:spPr>
          <a:xfrm>
            <a:off x="787400" y="5003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Hybrid platform beats build-vs-buy.</a:t>
            </a:r>
          </a:p>
        </p:txBody>
      </p:sp>
      <p:sp>
        <p:nvSpPr>
          <p:cNvPr id="24" name="Col1 Item4 Body"/>
          <p:cNvSpPr>
            <a:spLocks noGrp="1"/>
          </p:cNvSpPr>
          <p:nvPr>
            <p:ph type="body" idx="28"/>
          </p:nvPr>
        </p:nvSpPr>
        <p:spPr>
          <a:xfrm>
            <a:off x="787400" y="5219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Core in-house, cloud and ML partner-operated — wins on speed and control without the full build-out.</a:t>
            </a:r>
          </a:p>
        </p:txBody>
      </p:sp>
      <p:sp>
        <p:nvSpPr>
          <p:cNvPr id="25" name="Col2 Label"/>
          <p:cNvSpPr>
            <a:spLocks noGrp="1"/>
          </p:cNvSpPr>
          <p:nvPr>
            <p:ph type="body" idx="30"/>
          </p:nvPr>
        </p:nvSpPr>
        <p:spPr>
          <a:xfrm>
            <a:off x="6350000" y="3175000"/>
            <a:ext cx="5207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112" cap="all">
                <a:solidFill>
                  <a:srgbClr val="C9A24A"/>
                </a:solidFill>
                <a:latin typeface="Noto Sans Mono"/>
              </a:rPr>
              <a:t>NEXT STEPS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0" y="33782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0000" y="3543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l2 Item1 Heading"/>
          <p:cNvSpPr>
            <a:spLocks noGrp="1"/>
          </p:cNvSpPr>
          <p:nvPr>
            <p:ph type="body" idx="31"/>
          </p:nvPr>
        </p:nvSpPr>
        <p:spPr>
          <a:xfrm>
            <a:off x="6502400" y="3479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Consolidate firmware across SKUs.</a:t>
            </a:r>
          </a:p>
        </p:txBody>
      </p:sp>
      <p:sp>
        <p:nvSpPr>
          <p:cNvPr id="29" name="Col2 Item1 Body"/>
          <p:cNvSpPr>
            <a:spLocks noGrp="1"/>
          </p:cNvSpPr>
          <p:nvPr>
            <p:ph type="body" idx="32"/>
          </p:nvPr>
        </p:nvSpPr>
        <p:spPr>
          <a:xfrm>
            <a:off x="6502400" y="3695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Retire the last two forks; every line onto the shared OS core by end of Q2.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0000" y="4051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ol2 Item2 Heading"/>
          <p:cNvSpPr>
            <a:spLocks noGrp="1"/>
          </p:cNvSpPr>
          <p:nvPr>
            <p:ph type="body" idx="33"/>
          </p:nvPr>
        </p:nvSpPr>
        <p:spPr>
          <a:xfrm>
            <a:off x="6502400" y="3987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Ship the pairing-flow fix.</a:t>
            </a:r>
          </a:p>
        </p:txBody>
      </p:sp>
      <p:sp>
        <p:nvSpPr>
          <p:cNvPr id="32" name="Col2 Item2 Body"/>
          <p:cNvSpPr>
            <a:spLocks noGrp="1"/>
          </p:cNvSpPr>
          <p:nvPr>
            <p:ph type="body" idx="34"/>
          </p:nvPr>
        </p:nvSpPr>
        <p:spPr>
          <a:xfrm>
            <a:off x="6502400" y="4203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Firmware patch for mixed-SSID routers lands in the Q1 release, with instrumentation on first-try success.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0000" y="4559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ol2 Item3 Heading"/>
          <p:cNvSpPr>
            <a:spLocks noGrp="1"/>
          </p:cNvSpPr>
          <p:nvPr>
            <p:ph type="body" idx="35"/>
          </p:nvPr>
        </p:nvSpPr>
        <p:spPr>
          <a:xfrm>
            <a:off x="6502400" y="4495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Open the developer API preview.</a:t>
            </a:r>
          </a:p>
        </p:txBody>
      </p:sp>
      <p:sp>
        <p:nvSpPr>
          <p:cNvPr id="35" name="Col2 Item3 Body"/>
          <p:cNvSpPr>
            <a:spLocks noGrp="1"/>
          </p:cNvSpPr>
          <p:nvPr>
            <p:ph type="body" idx="36"/>
          </p:nvPr>
        </p:nvSpPr>
        <p:spPr>
          <a:xfrm>
            <a:off x="6502400" y="4711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Partner preview end of H1, GA at year-end — 30 design partners already signed.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0000" y="5067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ol2 Item4 Heading"/>
          <p:cNvSpPr>
            <a:spLocks noGrp="1"/>
          </p:cNvSpPr>
          <p:nvPr>
            <p:ph type="body" idx="37"/>
          </p:nvPr>
        </p:nvSpPr>
        <p:spPr>
          <a:xfrm>
            <a:off x="6502400" y="5003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Lock the hybrid platform deal.</a:t>
            </a:r>
          </a:p>
        </p:txBody>
      </p:sp>
      <p:sp>
        <p:nvSpPr>
          <p:cNvPr id="38" name="Col2 Item4 Body"/>
          <p:cNvSpPr>
            <a:spLocks noGrp="1"/>
          </p:cNvSpPr>
          <p:nvPr>
            <p:ph type="body" idx="38"/>
          </p:nvPr>
        </p:nvSpPr>
        <p:spPr>
          <a:xfrm>
            <a:off x="6502400" y="5219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Finalise cloud and ML vendor terms; platform group staffed and chartered for a Q2 kick-off.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000" y="5778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5000" y="6286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KPI 1 Value"/>
          <p:cNvSpPr>
            <a:spLocks noGrp="1"/>
          </p:cNvSpPr>
          <p:nvPr>
            <p:ph type="body" idx="50"/>
          </p:nvPr>
        </p:nvSpPr>
        <p:spPr>
          <a:xfrm>
            <a:off x="787400" y="5842000"/>
            <a:ext cx="1016000" cy="381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+43</a:t>
            </a:r>
          </a:p>
        </p:txBody>
      </p:sp>
      <p:sp>
        <p:nvSpPr>
          <p:cNvPr id="42" name="KPI 1 Unit"/>
          <p:cNvSpPr>
            <a:spLocks noGrp="1"/>
          </p:cNvSpPr>
          <p:nvPr>
            <p:ph type="body" idx="51"/>
          </p:nvPr>
        </p:nvSpPr>
        <p:spPr>
          <a:xfrm>
            <a:off x="1803400" y="5842000"/>
            <a:ext cx="381000" cy="381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43" name="KPI 1 Key"/>
          <p:cNvSpPr>
            <a:spLocks noGrp="1"/>
          </p:cNvSpPr>
          <p:nvPr>
            <p:ph type="body" idx="52"/>
          </p:nvPr>
        </p:nvSpPr>
        <p:spPr>
          <a:xfrm>
            <a:off x="2286000" y="5981700"/>
            <a:ext cx="1835150" cy="1651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ACTIVE TIME · 5Y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73550" y="5829300"/>
            <a:ext cx="6350" cy="406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KPI 2 Value"/>
          <p:cNvSpPr>
            <a:spLocks noGrp="1"/>
          </p:cNvSpPr>
          <p:nvPr>
            <p:ph type="body" idx="53"/>
          </p:nvPr>
        </p:nvSpPr>
        <p:spPr>
          <a:xfrm>
            <a:off x="4425950" y="5842000"/>
            <a:ext cx="1016000" cy="381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14</a:t>
            </a:r>
          </a:p>
        </p:txBody>
      </p:sp>
      <p:sp>
        <p:nvSpPr>
          <p:cNvPr id="46" name="KPI 2 Unit"/>
          <p:cNvSpPr>
            <a:spLocks noGrp="1"/>
          </p:cNvSpPr>
          <p:nvPr>
            <p:ph type="body" idx="54"/>
          </p:nvPr>
        </p:nvSpPr>
        <p:spPr>
          <a:xfrm>
            <a:off x="5441950" y="5842000"/>
            <a:ext cx="381000" cy="381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 bn</a:t>
            </a:r>
          </a:p>
        </p:txBody>
      </p:sp>
      <p:sp>
        <p:nvSpPr>
          <p:cNvPr id="47" name="KPI 2 Key"/>
          <p:cNvSpPr>
            <a:spLocks noGrp="1"/>
          </p:cNvSpPr>
          <p:nvPr>
            <p:ph type="body" idx="55"/>
          </p:nvPr>
        </p:nvSpPr>
        <p:spPr>
          <a:xfrm>
            <a:off x="5924550" y="5981700"/>
            <a:ext cx="1835150" cy="1651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REVENUE · EUR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12100" y="5829300"/>
            <a:ext cx="6350" cy="406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KPI 3 Value"/>
          <p:cNvSpPr>
            <a:spLocks noGrp="1"/>
          </p:cNvSpPr>
          <p:nvPr>
            <p:ph type="body" idx="56"/>
          </p:nvPr>
        </p:nvSpPr>
        <p:spPr>
          <a:xfrm>
            <a:off x="8064500" y="5842000"/>
            <a:ext cx="1016000" cy="381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95</a:t>
            </a:r>
          </a:p>
        </p:txBody>
      </p:sp>
      <p:sp>
        <p:nvSpPr>
          <p:cNvPr id="50" name="KPI 3 Unit"/>
          <p:cNvSpPr>
            <a:spLocks noGrp="1"/>
          </p:cNvSpPr>
          <p:nvPr>
            <p:ph type="body" idx="57"/>
          </p:nvPr>
        </p:nvSpPr>
        <p:spPr>
          <a:xfrm>
            <a:off x="9080500" y="5842000"/>
            <a:ext cx="381000" cy="381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51" name="KPI 3 Key"/>
          <p:cNvSpPr>
            <a:spLocks noGrp="1"/>
          </p:cNvSpPr>
          <p:nvPr>
            <p:ph type="body" idx="58"/>
          </p:nvPr>
        </p:nvSpPr>
        <p:spPr>
          <a:xfrm>
            <a:off x="9563100" y="5981700"/>
            <a:ext cx="1835150" cy="1651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TELEMETRY OPT-IN</a:t>
            </a:r>
          </a:p>
        </p:txBody>
      </p:sp>
      <p:sp>
        <p:nvSpPr>
          <p:cNvPr id="52" name="Source"/>
          <p:cNvSpPr>
            <a:spLocks noGrp="1"/>
          </p:cNvSpPr>
          <p:nvPr>
            <p:ph type="body" idx="60"/>
          </p:nvPr>
        </p:nvSpPr>
        <p:spPr>
          <a:xfrm>
            <a:off x="635000" y="6477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SAMPLE DATA, FY25 PRELIMINARY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Line Char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LINE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PER-ACCOUNT METRICS, FY21–FY25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Per-account active time grew 43% while cloud cost per account declined — platform economics are turning.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5835650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0600" y="5194300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000" y="5127625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0600" y="4486275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00" y="4419600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0600" y="3778250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00" y="3711575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150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0600" y="3070225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000" y="3003550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0600" y="5899150"/>
            <a:ext cx="7797800" cy="127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90600" y="3299968"/>
            <a:ext cx="7797800" cy="792988"/>
          </a:xfrm>
          <a:custGeom>
            <a:avLst/>
            <a:gdLst/>
            <a:ahLst/>
            <a:cxnLst/>
            <a:rect l="l" t="t" r="r" b="b"/>
            <a:pathLst>
              <a:path w="7797800" h="792988">
                <a:moveTo>
                  <a:pt x="0" y="792988"/>
                </a:moveTo>
                <a:lnTo>
                  <a:pt x="1949450" y="651383"/>
                </a:lnTo>
                <a:lnTo>
                  <a:pt x="3898900" y="311531"/>
                </a:lnTo>
                <a:lnTo>
                  <a:pt x="5848350" y="127444"/>
                </a:lnTo>
                <a:lnTo>
                  <a:pt x="7797800" y="0"/>
                </a:lnTo>
              </a:path>
            </a:pathLst>
          </a:custGeom>
          <a:noFill/>
          <a:ln w="19050">
            <a:solidFill>
              <a:srgbClr val="C9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50" y="4061206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908300" y="3919601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57750" y="3579749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07200" y="3395662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56650" y="3268218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0600" y="3356610"/>
            <a:ext cx="7797800" cy="1557655"/>
          </a:xfrm>
          <a:custGeom>
            <a:avLst/>
            <a:gdLst/>
            <a:ahLst/>
            <a:cxnLst/>
            <a:rect l="l" t="t" r="r" b="b"/>
            <a:pathLst>
              <a:path w="7797800" h="1557655">
                <a:moveTo>
                  <a:pt x="0" y="0"/>
                </a:moveTo>
                <a:lnTo>
                  <a:pt x="1949450" y="169926"/>
                </a:lnTo>
                <a:lnTo>
                  <a:pt x="3898900" y="566420"/>
                </a:lnTo>
                <a:lnTo>
                  <a:pt x="5848350" y="1062038"/>
                </a:lnTo>
                <a:lnTo>
                  <a:pt x="7797800" y="1557655"/>
                </a:lnTo>
              </a:path>
            </a:pathLst>
          </a:custGeom>
          <a:noFill/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850" y="3324860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908300" y="3494786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57750" y="3891280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07200" y="4386898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756650" y="4882515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X label 1"/>
          <p:cNvSpPr>
            <a:spLocks noGrp="1"/>
          </p:cNvSpPr>
          <p:nvPr>
            <p:ph type="body" idx="20"/>
          </p:nvPr>
        </p:nvSpPr>
        <p:spPr>
          <a:xfrm>
            <a:off x="67310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FY21</a:t>
            </a:r>
          </a:p>
        </p:txBody>
      </p:sp>
      <p:sp>
        <p:nvSpPr>
          <p:cNvPr id="33" name="X label 2"/>
          <p:cNvSpPr>
            <a:spLocks noGrp="1"/>
          </p:cNvSpPr>
          <p:nvPr>
            <p:ph type="body" idx="21"/>
          </p:nvPr>
        </p:nvSpPr>
        <p:spPr>
          <a:xfrm>
            <a:off x="262255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FY22</a:t>
            </a:r>
          </a:p>
        </p:txBody>
      </p:sp>
      <p:sp>
        <p:nvSpPr>
          <p:cNvPr id="34" name="X label 3"/>
          <p:cNvSpPr>
            <a:spLocks noGrp="1"/>
          </p:cNvSpPr>
          <p:nvPr>
            <p:ph type="body" idx="22"/>
          </p:nvPr>
        </p:nvSpPr>
        <p:spPr>
          <a:xfrm>
            <a:off x="457200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FY23</a:t>
            </a:r>
          </a:p>
        </p:txBody>
      </p:sp>
      <p:sp>
        <p:nvSpPr>
          <p:cNvPr id="35" name="X label 4"/>
          <p:cNvSpPr>
            <a:spLocks noGrp="1"/>
          </p:cNvSpPr>
          <p:nvPr>
            <p:ph type="body" idx="23"/>
          </p:nvPr>
        </p:nvSpPr>
        <p:spPr>
          <a:xfrm>
            <a:off x="652145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FY24</a:t>
            </a:r>
          </a:p>
        </p:txBody>
      </p:sp>
      <p:sp>
        <p:nvSpPr>
          <p:cNvPr id="36" name="X label 5"/>
          <p:cNvSpPr>
            <a:spLocks noGrp="1"/>
          </p:cNvSpPr>
          <p:nvPr>
            <p:ph type="body" idx="24"/>
          </p:nvPr>
        </p:nvSpPr>
        <p:spPr>
          <a:xfrm>
            <a:off x="847090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3244850"/>
            <a:ext cx="114300" cy="381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eries 1 Name"/>
          <p:cNvSpPr>
            <a:spLocks noGrp="1"/>
          </p:cNvSpPr>
          <p:nvPr>
            <p:ph type="body" idx="30"/>
          </p:nvPr>
        </p:nvSpPr>
        <p:spPr>
          <a:xfrm>
            <a:off x="9372600" y="3175000"/>
            <a:ext cx="2032000" cy="177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 Medium"/>
              </a:rPr>
              <a:t>Active time per account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3498850"/>
            <a:ext cx="114300" cy="381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eries 2 Name"/>
          <p:cNvSpPr>
            <a:spLocks noGrp="1"/>
          </p:cNvSpPr>
          <p:nvPr>
            <p:ph type="body" idx="31"/>
          </p:nvPr>
        </p:nvSpPr>
        <p:spPr>
          <a:xfrm>
            <a:off x="9372600" y="3429000"/>
            <a:ext cx="2032000" cy="177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 Medium"/>
              </a:rPr>
              <a:t>Cloud cost per account</a:t>
            </a:r>
          </a:p>
        </p:txBody>
      </p:sp>
      <p:sp>
        <p:nvSpPr>
          <p:cNvPr id="41" name="Source / caption"/>
          <p:cNvSpPr>
            <a:spLocks noGrp="1"/>
          </p:cNvSpPr>
          <p:nvPr>
            <p:ph type="body" idx="40"/>
          </p:nvPr>
        </p:nvSpPr>
        <p:spPr>
          <a:xfrm>
            <a:off x="635000" y="631825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FEINSCHLIFF ANALYTICS, N = 2.4M ACCOUNTS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Score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PORTFOLIO HEALTH · FY25 Q3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Four of five workstreams are on track; developer API slips into Q4 and data-platform integration is off the critical path.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270250"/>
            <a:ext cx="109220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082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8157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7232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6307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000" y="397827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000" y="468312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538797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2100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1175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0250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9325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921000" y="409575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111750" y="409575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02500" y="409575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93250" y="409575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921000" y="480060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111750" y="480060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02500" y="480060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3250" y="480060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21000" y="550545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11750" y="550545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02500" y="550545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93250" y="550545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olumn 1 Header"/>
          <p:cNvSpPr>
            <a:spLocks noGrp="1"/>
          </p:cNvSpPr>
          <p:nvPr>
            <p:ph type="body" idx="20"/>
          </p:nvPr>
        </p:nvSpPr>
        <p:spPr>
          <a:xfrm>
            <a:off x="292100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Q1 FY25</a:t>
            </a:r>
          </a:p>
        </p:txBody>
      </p:sp>
      <p:sp>
        <p:nvSpPr>
          <p:cNvPr id="35" name="Column 2 Header"/>
          <p:cNvSpPr>
            <a:spLocks noGrp="1"/>
          </p:cNvSpPr>
          <p:nvPr>
            <p:ph type="body" idx="21"/>
          </p:nvPr>
        </p:nvSpPr>
        <p:spPr>
          <a:xfrm>
            <a:off x="511175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Q2 FY25</a:t>
            </a:r>
          </a:p>
        </p:txBody>
      </p:sp>
      <p:sp>
        <p:nvSpPr>
          <p:cNvPr id="36" name="Column 3 Header"/>
          <p:cNvSpPr>
            <a:spLocks noGrp="1"/>
          </p:cNvSpPr>
          <p:nvPr>
            <p:ph type="body" idx="22"/>
          </p:nvPr>
        </p:nvSpPr>
        <p:spPr>
          <a:xfrm>
            <a:off x="730250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Q3 FY25</a:t>
            </a:r>
          </a:p>
        </p:txBody>
      </p:sp>
      <p:sp>
        <p:nvSpPr>
          <p:cNvPr id="37" name="Column 4 Header"/>
          <p:cNvSpPr>
            <a:spLocks noGrp="1"/>
          </p:cNvSpPr>
          <p:nvPr>
            <p:ph type="body" idx="23"/>
          </p:nvPr>
        </p:nvSpPr>
        <p:spPr>
          <a:xfrm>
            <a:off x="949325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Q4 FY25</a:t>
            </a:r>
          </a:p>
        </p:txBody>
      </p:sp>
      <p:sp>
        <p:nvSpPr>
          <p:cNvPr id="38" name="Row 1 Label"/>
          <p:cNvSpPr>
            <a:spLocks noGrp="1"/>
          </p:cNvSpPr>
          <p:nvPr>
            <p:ph type="body" idx="30"/>
          </p:nvPr>
        </p:nvSpPr>
        <p:spPr>
          <a:xfrm>
            <a:off x="762000" y="350202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Firmware consolidation</a:t>
            </a:r>
          </a:p>
        </p:txBody>
      </p:sp>
      <p:sp>
        <p:nvSpPr>
          <p:cNvPr id="39" name="Row 2 Label"/>
          <p:cNvSpPr>
            <a:spLocks noGrp="1"/>
          </p:cNvSpPr>
          <p:nvPr>
            <p:ph type="body" idx="31"/>
          </p:nvPr>
        </p:nvSpPr>
        <p:spPr>
          <a:xfrm>
            <a:off x="762000" y="420687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Default-on telemetry</a:t>
            </a:r>
          </a:p>
        </p:txBody>
      </p:sp>
      <p:sp>
        <p:nvSpPr>
          <p:cNvPr id="40" name="Row 3 Label"/>
          <p:cNvSpPr>
            <a:spLocks noGrp="1"/>
          </p:cNvSpPr>
          <p:nvPr>
            <p:ph type="body" idx="32"/>
          </p:nvPr>
        </p:nvSpPr>
        <p:spPr>
          <a:xfrm>
            <a:off x="762000" y="491172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Developer API</a:t>
            </a:r>
          </a:p>
        </p:txBody>
      </p:sp>
      <p:sp>
        <p:nvSpPr>
          <p:cNvPr id="41" name="Row 4 Label"/>
          <p:cNvSpPr>
            <a:spLocks noGrp="1"/>
          </p:cNvSpPr>
          <p:nvPr>
            <p:ph type="body" idx="33"/>
          </p:nvPr>
        </p:nvSpPr>
        <p:spPr>
          <a:xfrm>
            <a:off x="762000" y="561657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Data-platform integration</a:t>
            </a:r>
          </a:p>
        </p:txBody>
      </p:sp>
      <p:sp>
        <p:nvSpPr>
          <p:cNvPr id="42" name="Cell r1c1"/>
          <p:cNvSpPr>
            <a:spLocks noGrp="1"/>
          </p:cNvSpPr>
          <p:nvPr>
            <p:ph type="body" idx="40"/>
          </p:nvPr>
        </p:nvSpPr>
        <p:spPr>
          <a:xfrm>
            <a:off x="311150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Cutover · 62%</a:t>
            </a:r>
          </a:p>
        </p:txBody>
      </p:sp>
      <p:sp>
        <p:nvSpPr>
          <p:cNvPr id="43" name="Cell r1c2"/>
          <p:cNvSpPr>
            <a:spLocks noGrp="1"/>
          </p:cNvSpPr>
          <p:nvPr>
            <p:ph type="body" idx="41"/>
          </p:nvPr>
        </p:nvSpPr>
        <p:spPr>
          <a:xfrm>
            <a:off x="530225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Cutover · 100%</a:t>
            </a:r>
          </a:p>
        </p:txBody>
      </p:sp>
      <p:sp>
        <p:nvSpPr>
          <p:cNvPr id="44" name="Cell r1c3"/>
          <p:cNvSpPr>
            <a:spLocks noGrp="1"/>
          </p:cNvSpPr>
          <p:nvPr>
            <p:ph type="body" idx="42"/>
          </p:nvPr>
        </p:nvSpPr>
        <p:spPr>
          <a:xfrm>
            <a:off x="749300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Shipped</a:t>
            </a:r>
          </a:p>
        </p:txBody>
      </p:sp>
      <p:sp>
        <p:nvSpPr>
          <p:cNvPr id="45" name="Cell r1c4"/>
          <p:cNvSpPr>
            <a:spLocks noGrp="1"/>
          </p:cNvSpPr>
          <p:nvPr>
            <p:ph type="body" idx="43"/>
          </p:nvPr>
        </p:nvSpPr>
        <p:spPr>
          <a:xfrm>
            <a:off x="968375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Stable</a:t>
            </a:r>
          </a:p>
        </p:txBody>
      </p:sp>
      <p:sp>
        <p:nvSpPr>
          <p:cNvPr id="46" name="Cell r2c1"/>
          <p:cNvSpPr>
            <a:spLocks noGrp="1"/>
          </p:cNvSpPr>
          <p:nvPr>
            <p:ph type="body" idx="45"/>
          </p:nvPr>
        </p:nvSpPr>
        <p:spPr>
          <a:xfrm>
            <a:off x="311150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Pilot factories</a:t>
            </a:r>
          </a:p>
        </p:txBody>
      </p:sp>
      <p:sp>
        <p:nvSpPr>
          <p:cNvPr id="47" name="Cell r2c2"/>
          <p:cNvSpPr>
            <a:spLocks noGrp="1"/>
          </p:cNvSpPr>
          <p:nvPr>
            <p:ph type="body" idx="46"/>
          </p:nvPr>
        </p:nvSpPr>
        <p:spPr>
          <a:xfrm>
            <a:off x="530225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Rollout 40%</a:t>
            </a:r>
          </a:p>
        </p:txBody>
      </p:sp>
      <p:sp>
        <p:nvSpPr>
          <p:cNvPr id="48" name="Cell r2c3"/>
          <p:cNvSpPr>
            <a:spLocks noGrp="1"/>
          </p:cNvSpPr>
          <p:nvPr>
            <p:ph type="body" idx="47"/>
          </p:nvPr>
        </p:nvSpPr>
        <p:spPr>
          <a:xfrm>
            <a:off x="749300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Rollout 85%</a:t>
            </a:r>
          </a:p>
        </p:txBody>
      </p:sp>
      <p:sp>
        <p:nvSpPr>
          <p:cNvPr id="49" name="Cell r2c4"/>
          <p:cNvSpPr>
            <a:spLocks noGrp="1"/>
          </p:cNvSpPr>
          <p:nvPr>
            <p:ph type="body" idx="48"/>
          </p:nvPr>
        </p:nvSpPr>
        <p:spPr>
          <a:xfrm>
            <a:off x="968375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Default-on</a:t>
            </a:r>
          </a:p>
        </p:txBody>
      </p:sp>
      <p:sp>
        <p:nvSpPr>
          <p:cNvPr id="50" name="Cell r3c1"/>
          <p:cNvSpPr>
            <a:spLocks noGrp="1"/>
          </p:cNvSpPr>
          <p:nvPr>
            <p:ph type="body" idx="50"/>
          </p:nvPr>
        </p:nvSpPr>
        <p:spPr>
          <a:xfrm>
            <a:off x="311150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Design only</a:t>
            </a:r>
          </a:p>
        </p:txBody>
      </p:sp>
      <p:sp>
        <p:nvSpPr>
          <p:cNvPr id="51" name="Cell r3c2"/>
          <p:cNvSpPr>
            <a:spLocks noGrp="1"/>
          </p:cNvSpPr>
          <p:nvPr>
            <p:ph type="body" idx="51"/>
          </p:nvPr>
        </p:nvSpPr>
        <p:spPr>
          <a:xfrm>
            <a:off x="530225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Preview private</a:t>
            </a:r>
          </a:p>
        </p:txBody>
      </p:sp>
      <p:sp>
        <p:nvSpPr>
          <p:cNvPr id="52" name="Cell r3c3"/>
          <p:cNvSpPr>
            <a:spLocks noGrp="1"/>
          </p:cNvSpPr>
          <p:nvPr>
            <p:ph type="body" idx="52"/>
          </p:nvPr>
        </p:nvSpPr>
        <p:spPr>
          <a:xfrm>
            <a:off x="749300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Preview public</a:t>
            </a:r>
          </a:p>
        </p:txBody>
      </p:sp>
      <p:sp>
        <p:nvSpPr>
          <p:cNvPr id="53" name="Cell r3c4"/>
          <p:cNvSpPr>
            <a:spLocks noGrp="1"/>
          </p:cNvSpPr>
          <p:nvPr>
            <p:ph type="body" idx="53"/>
          </p:nvPr>
        </p:nvSpPr>
        <p:spPr>
          <a:xfrm>
            <a:off x="968375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GA → Q4 slip</a:t>
            </a:r>
          </a:p>
        </p:txBody>
      </p:sp>
      <p:sp>
        <p:nvSpPr>
          <p:cNvPr id="54" name="Cell r4c1"/>
          <p:cNvSpPr>
            <a:spLocks noGrp="1"/>
          </p:cNvSpPr>
          <p:nvPr>
            <p:ph type="body" idx="55"/>
          </p:nvPr>
        </p:nvSpPr>
        <p:spPr>
          <a:xfrm>
            <a:off x="311150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Scope locked</a:t>
            </a:r>
          </a:p>
        </p:txBody>
      </p:sp>
      <p:sp>
        <p:nvSpPr>
          <p:cNvPr id="55" name="Cell r4c2"/>
          <p:cNvSpPr>
            <a:spLocks noGrp="1"/>
          </p:cNvSpPr>
          <p:nvPr>
            <p:ph type="body" idx="56"/>
          </p:nvPr>
        </p:nvSpPr>
        <p:spPr>
          <a:xfrm>
            <a:off x="530225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Vendor delay</a:t>
            </a:r>
          </a:p>
        </p:txBody>
      </p:sp>
      <p:sp>
        <p:nvSpPr>
          <p:cNvPr id="56" name="Cell r4c3"/>
          <p:cNvSpPr>
            <a:spLocks noGrp="1"/>
          </p:cNvSpPr>
          <p:nvPr>
            <p:ph type="body" idx="57"/>
          </p:nvPr>
        </p:nvSpPr>
        <p:spPr>
          <a:xfrm>
            <a:off x="749300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Off plan</a:t>
            </a:r>
          </a:p>
        </p:txBody>
      </p:sp>
      <p:sp>
        <p:nvSpPr>
          <p:cNvPr id="57" name="Cell r4c4"/>
          <p:cNvSpPr>
            <a:spLocks noGrp="1"/>
          </p:cNvSpPr>
          <p:nvPr>
            <p:ph type="body" idx="58"/>
          </p:nvPr>
        </p:nvSpPr>
        <p:spPr>
          <a:xfrm>
            <a:off x="968375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Re-baseline</a:t>
            </a:r>
          </a:p>
        </p:txBody>
      </p:sp>
      <p:sp>
        <p:nvSpPr>
          <p:cNvPr id="58" name="Oval 57"/>
          <p:cNvSpPr/>
          <p:nvPr/>
        </p:nvSpPr>
        <p:spPr>
          <a:xfrm>
            <a:off x="8496300" y="6235700"/>
            <a:ext cx="88900" cy="889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48700" y="6210300"/>
            <a:ext cx="698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ON TRACK</a:t>
            </a:r>
          </a:p>
        </p:txBody>
      </p:sp>
      <p:sp>
        <p:nvSpPr>
          <p:cNvPr id="60" name="Oval 59"/>
          <p:cNvSpPr/>
          <p:nvPr/>
        </p:nvSpPr>
        <p:spPr>
          <a:xfrm>
            <a:off x="9601200" y="6235700"/>
            <a:ext cx="88900" cy="889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53600" y="6210300"/>
            <a:ext cx="698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AT RISK</a:t>
            </a:r>
          </a:p>
        </p:txBody>
      </p:sp>
      <p:sp>
        <p:nvSpPr>
          <p:cNvPr id="62" name="Oval 61"/>
          <p:cNvSpPr/>
          <p:nvPr/>
        </p:nvSpPr>
        <p:spPr>
          <a:xfrm>
            <a:off x="10706100" y="6235700"/>
            <a:ext cx="88900" cy="889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858500" y="6210300"/>
            <a:ext cx="698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OFF TRACK</a:t>
            </a:r>
          </a:p>
        </p:txBody>
      </p:sp>
      <p:sp>
        <p:nvSpPr>
          <p:cNvPr id="64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PROGRAMME BOARD · FY25 Q3 STATUS REVIEW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Gant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GANTT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WORKSTREAMS — FY25 DELIVERY PLAN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Firmware consolidation lands in Q2; the developer API goes GA in Q4, dependent on telemetry rollout.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94250" y="2921000"/>
            <a:ext cx="6350" cy="3048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8500" y="2921000"/>
            <a:ext cx="6350" cy="3048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302750" y="2921000"/>
            <a:ext cx="6350" cy="3048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3225800"/>
            <a:ext cx="1092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94250" y="3225800"/>
            <a:ext cx="6350" cy="2032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48500" y="3225800"/>
            <a:ext cx="6350" cy="2032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02750" y="3225800"/>
            <a:ext cx="6350" cy="2032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78100" y="3390900"/>
            <a:ext cx="4432300" cy="177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6765925" y="3422650"/>
            <a:ext cx="114300" cy="114300"/>
          </a:xfrm>
          <a:prstGeom prst="diamond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000" y="37338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78100" y="3898900"/>
            <a:ext cx="6686550" cy="1778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8794750" y="3930650"/>
            <a:ext cx="114300" cy="114300"/>
          </a:xfrm>
          <a:prstGeom prst="diamond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000" y="42418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32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08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84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0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7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13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89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65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41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18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94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70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46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22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99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75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1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7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03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80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56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32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08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84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61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37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13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89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965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086600" y="4406900"/>
            <a:ext cx="4432300" cy="177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5000" y="47498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32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908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84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60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37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13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9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5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1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18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594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70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46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22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899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975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51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27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03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280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56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432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08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584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661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737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813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89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65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86600" y="4914900"/>
            <a:ext cx="2178050" cy="1778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340850" y="4914900"/>
            <a:ext cx="2178050" cy="177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iamond 84"/>
          <p:cNvSpPr/>
          <p:nvPr/>
        </p:nvSpPr>
        <p:spPr>
          <a:xfrm>
            <a:off x="11274425" y="4946650"/>
            <a:ext cx="114300" cy="114300"/>
          </a:xfrm>
          <a:prstGeom prst="diamond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35000" y="5257800"/>
            <a:ext cx="1092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Period 1"/>
          <p:cNvSpPr>
            <a:spLocks noGrp="1"/>
          </p:cNvSpPr>
          <p:nvPr>
            <p:ph type="body" idx="20"/>
          </p:nvPr>
        </p:nvSpPr>
        <p:spPr>
          <a:xfrm>
            <a:off x="260350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Q1 · PLAN</a:t>
            </a:r>
          </a:p>
        </p:txBody>
      </p:sp>
      <p:sp>
        <p:nvSpPr>
          <p:cNvPr id="88" name="Period 2"/>
          <p:cNvSpPr>
            <a:spLocks noGrp="1"/>
          </p:cNvSpPr>
          <p:nvPr>
            <p:ph type="body" idx="21"/>
          </p:nvPr>
        </p:nvSpPr>
        <p:spPr>
          <a:xfrm>
            <a:off x="485775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Q2 · BUILD</a:t>
            </a:r>
          </a:p>
        </p:txBody>
      </p:sp>
      <p:sp>
        <p:nvSpPr>
          <p:cNvPr id="89" name="Period 3"/>
          <p:cNvSpPr>
            <a:spLocks noGrp="1"/>
          </p:cNvSpPr>
          <p:nvPr>
            <p:ph type="body" idx="22"/>
          </p:nvPr>
        </p:nvSpPr>
        <p:spPr>
          <a:xfrm>
            <a:off x="711200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Q3 · PILOT</a:t>
            </a:r>
          </a:p>
        </p:txBody>
      </p:sp>
      <p:sp>
        <p:nvSpPr>
          <p:cNvPr id="90" name="Period 4"/>
          <p:cNvSpPr>
            <a:spLocks noGrp="1"/>
          </p:cNvSpPr>
          <p:nvPr>
            <p:ph type="body" idx="23"/>
          </p:nvPr>
        </p:nvSpPr>
        <p:spPr>
          <a:xfrm>
            <a:off x="936625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Q4 · SCALE</a:t>
            </a:r>
          </a:p>
        </p:txBody>
      </p:sp>
      <p:sp>
        <p:nvSpPr>
          <p:cNvPr id="91" name="Lane 1 Label"/>
          <p:cNvSpPr>
            <a:spLocks noGrp="1"/>
          </p:cNvSpPr>
          <p:nvPr>
            <p:ph type="body" idx="30"/>
          </p:nvPr>
        </p:nvSpPr>
        <p:spPr>
          <a:xfrm>
            <a:off x="698500" y="3289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FIRMWARE CONSOLIDATION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PLATFORM</a:t>
            </a:r>
          </a:p>
        </p:txBody>
      </p:sp>
      <p:sp>
        <p:nvSpPr>
          <p:cNvPr id="92" name="Lane 2 Label"/>
          <p:cNvSpPr>
            <a:spLocks noGrp="1"/>
          </p:cNvSpPr>
          <p:nvPr>
            <p:ph type="body" idx="31"/>
          </p:nvPr>
        </p:nvSpPr>
        <p:spPr>
          <a:xfrm>
            <a:off x="698500" y="3797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DEFAULT-ON TELEMETRY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DATA</a:t>
            </a:r>
          </a:p>
        </p:txBody>
      </p:sp>
      <p:sp>
        <p:nvSpPr>
          <p:cNvPr id="93" name="Lane 3 Label"/>
          <p:cNvSpPr>
            <a:spLocks noGrp="1"/>
          </p:cNvSpPr>
          <p:nvPr>
            <p:ph type="body" idx="32"/>
          </p:nvPr>
        </p:nvSpPr>
        <p:spPr>
          <a:xfrm>
            <a:off x="698500" y="4305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REGIONAL PILOT · 2,000 CUSTOMERS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CONSUMER</a:t>
            </a:r>
          </a:p>
        </p:txBody>
      </p:sp>
      <p:sp>
        <p:nvSpPr>
          <p:cNvPr id="94" name="Lane 4 Label"/>
          <p:cNvSpPr>
            <a:spLocks noGrp="1"/>
          </p:cNvSpPr>
          <p:nvPr>
            <p:ph type="body" idx="33"/>
          </p:nvPr>
        </p:nvSpPr>
        <p:spPr>
          <a:xfrm>
            <a:off x="698500" y="4813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DEVELOPER API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PLATFORM</a:t>
            </a:r>
          </a:p>
        </p:txBody>
      </p:sp>
      <p:sp>
        <p:nvSpPr>
          <p:cNvPr id="95" name="Lane 1 Bar 1 Label"/>
          <p:cNvSpPr>
            <a:spLocks noGrp="1"/>
          </p:cNvSpPr>
          <p:nvPr>
            <p:ph type="body" idx="40"/>
          </p:nvPr>
        </p:nvSpPr>
        <p:spPr>
          <a:xfrm>
            <a:off x="2628900" y="3390900"/>
            <a:ext cx="433070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CUTOVER · ALL SKUS</a:t>
            </a:r>
          </a:p>
        </p:txBody>
      </p:sp>
      <p:sp>
        <p:nvSpPr>
          <p:cNvPr id="96" name="Lane 2 Bar 1 Label"/>
          <p:cNvSpPr>
            <a:spLocks noGrp="1"/>
          </p:cNvSpPr>
          <p:nvPr>
            <p:ph type="body" idx="43"/>
          </p:nvPr>
        </p:nvSpPr>
        <p:spPr>
          <a:xfrm>
            <a:off x="2628900" y="3898900"/>
            <a:ext cx="658495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FFFFFF"/>
                </a:solidFill>
                <a:latin typeface="Noto Sans Mono"/>
              </a:rPr>
              <a:t>FACTORY ROLLOUT</a:t>
            </a:r>
          </a:p>
        </p:txBody>
      </p:sp>
      <p:sp>
        <p:nvSpPr>
          <p:cNvPr id="97" name="Lane 3 Bar 2 Label"/>
          <p:cNvSpPr>
            <a:spLocks noGrp="1"/>
          </p:cNvSpPr>
          <p:nvPr>
            <p:ph type="body" idx="47"/>
          </p:nvPr>
        </p:nvSpPr>
        <p:spPr>
          <a:xfrm>
            <a:off x="7137400" y="4406900"/>
            <a:ext cx="433070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INSTRUMENTED STUDY</a:t>
            </a:r>
          </a:p>
        </p:txBody>
      </p:sp>
      <p:sp>
        <p:nvSpPr>
          <p:cNvPr id="98" name="Lane 4 Bar 2 Label"/>
          <p:cNvSpPr>
            <a:spLocks noGrp="1"/>
          </p:cNvSpPr>
          <p:nvPr>
            <p:ph type="body" idx="50"/>
          </p:nvPr>
        </p:nvSpPr>
        <p:spPr>
          <a:xfrm>
            <a:off x="7137400" y="4914900"/>
            <a:ext cx="207645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FFFFFF"/>
                </a:solidFill>
                <a:latin typeface="Noto Sans Mono"/>
              </a:rPr>
              <a:t>PREVIEW</a:t>
            </a:r>
          </a:p>
        </p:txBody>
      </p:sp>
      <p:sp>
        <p:nvSpPr>
          <p:cNvPr id="99" name="Lane 4 Bar 3 Label"/>
          <p:cNvSpPr>
            <a:spLocks noGrp="1"/>
          </p:cNvSpPr>
          <p:nvPr>
            <p:ph type="body" idx="51"/>
          </p:nvPr>
        </p:nvSpPr>
        <p:spPr>
          <a:xfrm>
            <a:off x="9391650" y="4914900"/>
            <a:ext cx="207645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GA</a:t>
            </a:r>
          </a:p>
        </p:txBody>
      </p:sp>
      <p:sp>
        <p:nvSpPr>
          <p:cNvPr id="100" name="Source / caption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COMMITTED · CRITICAL PATH · DEPENDENCY WINDOW · MILESTONE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APP ACTIVATION FUNNEL · Q4 FY25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One in three buyers never pairs their product — first-run setup is the largest and most fixable drop-off.</a:t>
            </a:r>
          </a:p>
        </p:txBody>
      </p:sp>
      <p:sp>
        <p:nvSpPr>
          <p:cNvPr id="10" name="Freeform 9"/>
          <p:cNvSpPr/>
          <p:nvPr/>
        </p:nvSpPr>
        <p:spPr>
          <a:xfrm>
            <a:off x="635000" y="3048000"/>
            <a:ext cx="3048000" cy="774700"/>
          </a:xfrm>
          <a:custGeom>
            <a:avLst/>
            <a:gdLst/>
            <a:ahLst/>
            <a:cxnLst/>
            <a:rect l="l" t="t" r="r" b="b"/>
            <a:pathLst>
              <a:path w="3048000" h="774700">
                <a:moveTo>
                  <a:pt x="0" y="0"/>
                </a:moveTo>
                <a:lnTo>
                  <a:pt x="3048000" y="0"/>
                </a:lnTo>
                <a:lnTo>
                  <a:pt x="277812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904875" y="3848100"/>
            <a:ext cx="2508250" cy="774700"/>
          </a:xfrm>
          <a:custGeom>
            <a:avLst/>
            <a:gdLst/>
            <a:ahLst/>
            <a:cxnLst/>
            <a:rect l="l" t="t" r="r" b="b"/>
            <a:pathLst>
              <a:path w="2508250" h="774700">
                <a:moveTo>
                  <a:pt x="0" y="0"/>
                </a:moveTo>
                <a:lnTo>
                  <a:pt x="2508250" y="0"/>
                </a:lnTo>
                <a:lnTo>
                  <a:pt x="223837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74750" y="4648200"/>
            <a:ext cx="1968500" cy="774700"/>
          </a:xfrm>
          <a:custGeom>
            <a:avLst/>
            <a:gdLst/>
            <a:ahLst/>
            <a:cxnLst/>
            <a:rect l="l" t="t" r="r" b="b"/>
            <a:pathLst>
              <a:path w="1968500" h="774700">
                <a:moveTo>
                  <a:pt x="0" y="0"/>
                </a:moveTo>
                <a:lnTo>
                  <a:pt x="1968500" y="0"/>
                </a:lnTo>
                <a:lnTo>
                  <a:pt x="169862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444625" y="5448300"/>
            <a:ext cx="1428750" cy="774700"/>
          </a:xfrm>
          <a:custGeom>
            <a:avLst/>
            <a:gdLst/>
            <a:ahLst/>
            <a:cxnLst/>
            <a:rect l="l" t="t" r="r" b="b"/>
            <a:pathLst>
              <a:path w="1428750" h="774700">
                <a:moveTo>
                  <a:pt x="0" y="0"/>
                </a:moveTo>
                <a:lnTo>
                  <a:pt x="1428750" y="0"/>
                </a:lnTo>
                <a:lnTo>
                  <a:pt x="115887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7000" y="30480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ge 1 Name"/>
          <p:cNvSpPr>
            <a:spLocks noGrp="1"/>
          </p:cNvSpPr>
          <p:nvPr>
            <p:ph type="body" idx="20"/>
          </p:nvPr>
        </p:nvSpPr>
        <p:spPr>
          <a:xfrm>
            <a:off x="3937000" y="31242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Product sold</a:t>
            </a:r>
          </a:p>
        </p:txBody>
      </p:sp>
      <p:sp>
        <p:nvSpPr>
          <p:cNvPr id="16" name="Stage 1 Detail"/>
          <p:cNvSpPr>
            <a:spLocks noGrp="1"/>
          </p:cNvSpPr>
          <p:nvPr>
            <p:ph type="body" idx="21"/>
          </p:nvPr>
        </p:nvSpPr>
        <p:spPr>
          <a:xfrm>
            <a:off x="3937000" y="33655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Shipment, any SKU</a:t>
            </a:r>
          </a:p>
        </p:txBody>
      </p:sp>
      <p:sp>
        <p:nvSpPr>
          <p:cNvPr id="17" name="Stage 1 Volume"/>
          <p:cNvSpPr>
            <a:spLocks noGrp="1"/>
          </p:cNvSpPr>
          <p:nvPr>
            <p:ph type="body" idx="22"/>
          </p:nvPr>
        </p:nvSpPr>
        <p:spPr>
          <a:xfrm>
            <a:off x="6096000" y="31242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2.4 M</a:t>
            </a:r>
          </a:p>
        </p:txBody>
      </p:sp>
      <p:sp>
        <p:nvSpPr>
          <p:cNvPr id="18" name="Stage 1 Rate"/>
          <p:cNvSpPr>
            <a:spLocks noGrp="1"/>
          </p:cNvSpPr>
          <p:nvPr>
            <p:ph type="body" idx="23"/>
          </p:nvPr>
        </p:nvSpPr>
        <p:spPr>
          <a:xfrm>
            <a:off x="6096000" y="34290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7000" y="38481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age 2 Name"/>
          <p:cNvSpPr>
            <a:spLocks noGrp="1"/>
          </p:cNvSpPr>
          <p:nvPr>
            <p:ph type="body" idx="24"/>
          </p:nvPr>
        </p:nvSpPr>
        <p:spPr>
          <a:xfrm>
            <a:off x="3937000" y="39243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App installed</a:t>
            </a:r>
          </a:p>
        </p:txBody>
      </p:sp>
      <p:sp>
        <p:nvSpPr>
          <p:cNvPr id="21" name="Stage 2 Detail"/>
          <p:cNvSpPr>
            <a:spLocks noGrp="1"/>
          </p:cNvSpPr>
          <p:nvPr>
            <p:ph type="body" idx="25"/>
          </p:nvPr>
        </p:nvSpPr>
        <p:spPr>
          <a:xfrm>
            <a:off x="3937000" y="41656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Within 30 days of purchase</a:t>
            </a:r>
          </a:p>
        </p:txBody>
      </p:sp>
      <p:sp>
        <p:nvSpPr>
          <p:cNvPr id="22" name="Stage 2 Volume"/>
          <p:cNvSpPr>
            <a:spLocks noGrp="1"/>
          </p:cNvSpPr>
          <p:nvPr>
            <p:ph type="body" idx="26"/>
          </p:nvPr>
        </p:nvSpPr>
        <p:spPr>
          <a:xfrm>
            <a:off x="6096000" y="39243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2.0 M</a:t>
            </a:r>
          </a:p>
        </p:txBody>
      </p:sp>
      <p:sp>
        <p:nvSpPr>
          <p:cNvPr id="23" name="Stage 2 Rate"/>
          <p:cNvSpPr>
            <a:spLocks noGrp="1"/>
          </p:cNvSpPr>
          <p:nvPr>
            <p:ph type="body" idx="27"/>
          </p:nvPr>
        </p:nvSpPr>
        <p:spPr>
          <a:xfrm>
            <a:off x="6096000" y="42291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84%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7000" y="46482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age 3 Name"/>
          <p:cNvSpPr>
            <a:spLocks noGrp="1"/>
          </p:cNvSpPr>
          <p:nvPr>
            <p:ph type="body" idx="28"/>
          </p:nvPr>
        </p:nvSpPr>
        <p:spPr>
          <a:xfrm>
            <a:off x="3937000" y="47244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Product paired</a:t>
            </a:r>
          </a:p>
        </p:txBody>
      </p:sp>
      <p:sp>
        <p:nvSpPr>
          <p:cNvPr id="26" name="Stage 3 Detail"/>
          <p:cNvSpPr>
            <a:spLocks noGrp="1"/>
          </p:cNvSpPr>
          <p:nvPr>
            <p:ph type="body" idx="29"/>
          </p:nvPr>
        </p:nvSpPr>
        <p:spPr>
          <a:xfrm>
            <a:off x="3937000" y="49657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First-run setup completed</a:t>
            </a:r>
          </a:p>
        </p:txBody>
      </p:sp>
      <p:sp>
        <p:nvSpPr>
          <p:cNvPr id="27" name="Stage 3 Volume"/>
          <p:cNvSpPr>
            <a:spLocks noGrp="1"/>
          </p:cNvSpPr>
          <p:nvPr>
            <p:ph type="body" idx="30"/>
          </p:nvPr>
        </p:nvSpPr>
        <p:spPr>
          <a:xfrm>
            <a:off x="6096000" y="47244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1.5 M</a:t>
            </a:r>
          </a:p>
        </p:txBody>
      </p:sp>
      <p:sp>
        <p:nvSpPr>
          <p:cNvPr id="28" name="Stage 3 Rate"/>
          <p:cNvSpPr>
            <a:spLocks noGrp="1"/>
          </p:cNvSpPr>
          <p:nvPr>
            <p:ph type="body" idx="31"/>
          </p:nvPr>
        </p:nvSpPr>
        <p:spPr>
          <a:xfrm>
            <a:off x="6096000" y="50292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62%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7000" y="54483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age 4 Name"/>
          <p:cNvSpPr>
            <a:spLocks noGrp="1"/>
          </p:cNvSpPr>
          <p:nvPr>
            <p:ph type="body" idx="32"/>
          </p:nvPr>
        </p:nvSpPr>
        <p:spPr>
          <a:xfrm>
            <a:off x="3937000" y="55245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Active at 90 days</a:t>
            </a:r>
          </a:p>
        </p:txBody>
      </p:sp>
      <p:sp>
        <p:nvSpPr>
          <p:cNvPr id="31" name="Stage 4 Detail"/>
          <p:cNvSpPr>
            <a:spLocks noGrp="1"/>
          </p:cNvSpPr>
          <p:nvPr>
            <p:ph type="body" idx="33"/>
          </p:nvPr>
        </p:nvSpPr>
        <p:spPr>
          <a:xfrm>
            <a:off x="3937000" y="57658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≥4 cycles in last month</a:t>
            </a:r>
          </a:p>
        </p:txBody>
      </p:sp>
      <p:sp>
        <p:nvSpPr>
          <p:cNvPr id="32" name="Stage 4 Volume"/>
          <p:cNvSpPr>
            <a:spLocks noGrp="1"/>
          </p:cNvSpPr>
          <p:nvPr>
            <p:ph type="body" idx="34"/>
          </p:nvPr>
        </p:nvSpPr>
        <p:spPr>
          <a:xfrm>
            <a:off x="6096000" y="55245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870 K</a:t>
            </a:r>
          </a:p>
        </p:txBody>
      </p:sp>
      <p:sp>
        <p:nvSpPr>
          <p:cNvPr id="33" name="Stage 4 Rate"/>
          <p:cNvSpPr>
            <a:spLocks noGrp="1"/>
          </p:cNvSpPr>
          <p:nvPr>
            <p:ph type="body" idx="35"/>
          </p:nvPr>
        </p:nvSpPr>
        <p:spPr>
          <a:xfrm>
            <a:off x="6096000" y="58293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36%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3000" y="3048000"/>
            <a:ext cx="4064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ropoff 1 Pct"/>
          <p:cNvSpPr>
            <a:spLocks noGrp="1"/>
          </p:cNvSpPr>
          <p:nvPr>
            <p:ph type="body" idx="50"/>
          </p:nvPr>
        </p:nvSpPr>
        <p:spPr>
          <a:xfrm>
            <a:off x="7493000" y="3149600"/>
            <a:ext cx="4064000" cy="3556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2300" spc="-46">
                <a:solidFill>
                  <a:srgbClr val="C9A24A"/>
                </a:solidFill>
                <a:latin typeface="Noto Sans Light"/>
              </a:rPr>
              <a:t>−22 pt</a:t>
            </a:r>
          </a:p>
        </p:txBody>
      </p:sp>
      <p:sp>
        <p:nvSpPr>
          <p:cNvPr id="36" name="Dropoff 1 Label"/>
          <p:cNvSpPr>
            <a:spLocks noGrp="1"/>
          </p:cNvSpPr>
          <p:nvPr>
            <p:ph type="body" idx="51"/>
          </p:nvPr>
        </p:nvSpPr>
        <p:spPr>
          <a:xfrm>
            <a:off x="7493000" y="3530600"/>
            <a:ext cx="4064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TRIAL → ACTIVATE</a:t>
            </a:r>
          </a:p>
        </p:txBody>
      </p:sp>
      <p:sp>
        <p:nvSpPr>
          <p:cNvPr id="37" name="Dropoff 1 Body"/>
          <p:cNvSpPr>
            <a:spLocks noGrp="1"/>
          </p:cNvSpPr>
          <p:nvPr>
            <p:ph type="body" idx="52"/>
          </p:nvPr>
        </p:nvSpPr>
        <p:spPr>
          <a:xfrm>
            <a:off x="7493000" y="3733800"/>
            <a:ext cx="40640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>
                <a:solidFill>
                  <a:srgbClr val="2D3A52"/>
                </a:solidFill>
                <a:latin typeface="Noto Sans"/>
              </a:rPr>
              <a:t>Activation fails on mixed-SSID routers and Wi-Fi 6 backward compatibility. Fix is scoped for Q1.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3000" y="4140200"/>
            <a:ext cx="4064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ropoff 2 Pct"/>
          <p:cNvSpPr>
            <a:spLocks noGrp="1"/>
          </p:cNvSpPr>
          <p:nvPr>
            <p:ph type="body" idx="54"/>
          </p:nvPr>
        </p:nvSpPr>
        <p:spPr>
          <a:xfrm>
            <a:off x="7493000" y="4241800"/>
            <a:ext cx="4064000" cy="3556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2300" spc="-46">
                <a:solidFill>
                  <a:srgbClr val="C9A24A"/>
                </a:solidFill>
                <a:latin typeface="Noto Sans Light"/>
              </a:rPr>
              <a:t>−14 pt</a:t>
            </a:r>
          </a:p>
        </p:txBody>
      </p:sp>
      <p:sp>
        <p:nvSpPr>
          <p:cNvPr id="40" name="Dropoff 2 Label"/>
          <p:cNvSpPr>
            <a:spLocks noGrp="1"/>
          </p:cNvSpPr>
          <p:nvPr>
            <p:ph type="body" idx="55"/>
          </p:nvPr>
        </p:nvSpPr>
        <p:spPr>
          <a:xfrm>
            <a:off x="7493000" y="4622800"/>
            <a:ext cx="4064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FEATURE → 90D ACTIVE</a:t>
            </a:r>
          </a:p>
        </p:txBody>
      </p:sp>
      <p:sp>
        <p:nvSpPr>
          <p:cNvPr id="41" name="Dropoff 2 Body"/>
          <p:cNvSpPr>
            <a:spLocks noGrp="1"/>
          </p:cNvSpPr>
          <p:nvPr>
            <p:ph type="body" idx="56"/>
          </p:nvPr>
        </p:nvSpPr>
        <p:spPr>
          <a:xfrm>
            <a:off x="7493000" y="4826000"/>
            <a:ext cx="40640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>
                <a:solidFill>
                  <a:srgbClr val="2D3A52"/>
                </a:solidFill>
                <a:latin typeface="Noto Sans"/>
              </a:rPr>
              <a:t>Users try one session then default to the panel. Cadence nudges in-app are live in Q2.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93000" y="5232400"/>
            <a:ext cx="4064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ropoff 3 Pct"/>
          <p:cNvSpPr>
            <a:spLocks noGrp="1"/>
          </p:cNvSpPr>
          <p:nvPr>
            <p:ph type="body" idx="58"/>
          </p:nvPr>
        </p:nvSpPr>
        <p:spPr>
          <a:xfrm>
            <a:off x="7493000" y="5334000"/>
            <a:ext cx="4064000" cy="3556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endParaRPr lang="en-US"/>
          </a:p>
        </p:txBody>
      </p:sp>
      <p:sp>
        <p:nvSpPr>
          <p:cNvPr id="44" name="Dropoff 3 Label"/>
          <p:cNvSpPr>
            <a:spLocks noGrp="1"/>
          </p:cNvSpPr>
          <p:nvPr>
            <p:ph type="body" idx="59"/>
          </p:nvPr>
        </p:nvSpPr>
        <p:spPr>
          <a:xfrm>
            <a:off x="7493000" y="5715000"/>
            <a:ext cx="4064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endParaRPr lang="en-US"/>
          </a:p>
        </p:txBody>
      </p:sp>
      <p:sp>
        <p:nvSpPr>
          <p:cNvPr id="45" name="Dropoff 3 Body"/>
          <p:cNvSpPr>
            <a:spLocks noGrp="1"/>
          </p:cNvSpPr>
          <p:nvPr>
            <p:ph type="body" idx="60"/>
          </p:nvPr>
        </p:nvSpPr>
        <p:spPr>
          <a:xfrm>
            <a:off x="7493000" y="5918200"/>
            <a:ext cx="40640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endParaRPr 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Ven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VENN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WHERE THE THREE BUSINESSES MEET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The connected platform is the intersection — only the integrated brand has the product, the platform, and the service relationship.</a:t>
            </a:r>
          </a:p>
        </p:txBody>
      </p:sp>
      <p:sp>
        <p:nvSpPr>
          <p:cNvPr id="10" name="Oval 9"/>
          <p:cNvSpPr/>
          <p:nvPr/>
        </p:nvSpPr>
        <p:spPr>
          <a:xfrm>
            <a:off x="1587500" y="3238500"/>
            <a:ext cx="2159000" cy="2159000"/>
          </a:xfrm>
          <a:prstGeom prst="ellipse">
            <a:avLst/>
          </a:prstGeom>
          <a:solidFill>
            <a:srgbClr val="C9A24A">
              <a:alpha val="50000"/>
            </a:srgbClr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11500" y="3238500"/>
            <a:ext cx="2159000" cy="2159000"/>
          </a:xfrm>
          <a:prstGeom prst="ellipse">
            <a:avLst/>
          </a:prstGeom>
          <a:solidFill>
            <a:srgbClr val="0B1A33">
              <a:alpha val="50000"/>
            </a:srgbClr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49500" y="4381500"/>
            <a:ext cx="2159000" cy="2159000"/>
          </a:xfrm>
          <a:prstGeom prst="ellipse">
            <a:avLst/>
          </a:prstGeom>
          <a:solidFill>
            <a:srgbClr val="2D3A52">
              <a:alpha val="50000"/>
            </a:srgbClr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98800" y="4400550"/>
            <a:ext cx="660400" cy="660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et A Name"/>
          <p:cNvSpPr>
            <a:spLocks noGrp="1"/>
          </p:cNvSpPr>
          <p:nvPr>
            <p:ph type="body" idx="20"/>
          </p:nvPr>
        </p:nvSpPr>
        <p:spPr>
          <a:xfrm>
            <a:off x="1016000" y="3594100"/>
            <a:ext cx="1524000" cy="1651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CONSUMER</a:t>
            </a:r>
          </a:p>
        </p:txBody>
      </p:sp>
      <p:sp>
        <p:nvSpPr>
          <p:cNvPr id="15" name="Set A Subtitle"/>
          <p:cNvSpPr>
            <a:spLocks noGrp="1"/>
          </p:cNvSpPr>
          <p:nvPr>
            <p:ph type="body" idx="21"/>
          </p:nvPr>
        </p:nvSpPr>
        <p:spPr>
          <a:xfrm>
            <a:off x="1016000" y="3784600"/>
            <a:ext cx="1524000" cy="1397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Product + brand</a:t>
            </a:r>
          </a:p>
        </p:txBody>
      </p:sp>
      <p:sp>
        <p:nvSpPr>
          <p:cNvPr id="16" name="Set B Name"/>
          <p:cNvSpPr>
            <a:spLocks noGrp="1"/>
          </p:cNvSpPr>
          <p:nvPr>
            <p:ph type="body" idx="24"/>
          </p:nvPr>
        </p:nvSpPr>
        <p:spPr>
          <a:xfrm>
            <a:off x="4318000" y="3594100"/>
            <a:ext cx="1524000" cy="1651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PLATFORM</a:t>
            </a:r>
          </a:p>
        </p:txBody>
      </p:sp>
      <p:sp>
        <p:nvSpPr>
          <p:cNvPr id="17" name="Set B Subtitle"/>
          <p:cNvSpPr>
            <a:spLocks noGrp="1"/>
          </p:cNvSpPr>
          <p:nvPr>
            <p:ph type="body" idx="25"/>
          </p:nvPr>
        </p:nvSpPr>
        <p:spPr>
          <a:xfrm>
            <a:off x="4318000" y="3784600"/>
            <a:ext cx="1524000" cy="1397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Firmware + API</a:t>
            </a:r>
          </a:p>
        </p:txBody>
      </p:sp>
      <p:sp>
        <p:nvSpPr>
          <p:cNvPr id="18" name="Set C Name"/>
          <p:cNvSpPr>
            <a:spLocks noGrp="1"/>
          </p:cNvSpPr>
          <p:nvPr>
            <p:ph type="body" idx="28"/>
          </p:nvPr>
        </p:nvSpPr>
        <p:spPr>
          <a:xfrm>
            <a:off x="2667000" y="6038850"/>
            <a:ext cx="1524000" cy="1651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SERVICES</a:t>
            </a:r>
          </a:p>
        </p:txBody>
      </p:sp>
      <p:sp>
        <p:nvSpPr>
          <p:cNvPr id="19" name="Set C Subtitle"/>
          <p:cNvSpPr>
            <a:spLocks noGrp="1"/>
          </p:cNvSpPr>
          <p:nvPr>
            <p:ph type="body" idx="29"/>
          </p:nvPr>
        </p:nvSpPr>
        <p:spPr>
          <a:xfrm>
            <a:off x="2667000" y="6229350"/>
            <a:ext cx="1524000" cy="1397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Install · repair</a:t>
            </a:r>
          </a:p>
        </p:txBody>
      </p:sp>
      <p:sp>
        <p:nvSpPr>
          <p:cNvPr id="20" name="Intersection AB"/>
          <p:cNvSpPr>
            <a:spLocks noGrp="1"/>
          </p:cNvSpPr>
          <p:nvPr>
            <p:ph type="body" idx="30"/>
          </p:nvPr>
        </p:nvSpPr>
        <p:spPr>
          <a:xfrm>
            <a:off x="2667000" y="4159250"/>
            <a:ext cx="1524000" cy="254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Smart product</a:t>
            </a:r>
          </a:p>
        </p:txBody>
      </p:sp>
      <p:sp>
        <p:nvSpPr>
          <p:cNvPr id="21" name="Intersection AC"/>
          <p:cNvSpPr>
            <a:spLocks noGrp="1"/>
          </p:cNvSpPr>
          <p:nvPr>
            <p:ph type="body" idx="31"/>
          </p:nvPr>
        </p:nvSpPr>
        <p:spPr>
          <a:xfrm>
            <a:off x="1905000" y="4826000"/>
            <a:ext cx="1524000" cy="254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In-home install</a:t>
            </a:r>
          </a:p>
        </p:txBody>
      </p:sp>
      <p:sp>
        <p:nvSpPr>
          <p:cNvPr id="22" name="Intersection BC"/>
          <p:cNvSpPr>
            <a:spLocks noGrp="1"/>
          </p:cNvSpPr>
          <p:nvPr>
            <p:ph type="body" idx="32"/>
          </p:nvPr>
        </p:nvSpPr>
        <p:spPr>
          <a:xfrm>
            <a:off x="3429000" y="4826000"/>
            <a:ext cx="1524000" cy="254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Remote diagnostics</a:t>
            </a:r>
          </a:p>
        </p:txBody>
      </p:sp>
      <p:sp>
        <p:nvSpPr>
          <p:cNvPr id="23" name="Center Intersection"/>
          <p:cNvSpPr>
            <a:spLocks noGrp="1"/>
          </p:cNvSpPr>
          <p:nvPr>
            <p:ph type="body" idx="33"/>
          </p:nvPr>
        </p:nvSpPr>
        <p:spPr>
          <a:xfrm>
            <a:off x="2921000" y="4578350"/>
            <a:ext cx="1016000" cy="3048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b="1" spc="-4">
                <a:solidFill>
                  <a:srgbClr val="0B1A33"/>
                </a:solidFill>
                <a:latin typeface="Noto Sans"/>
              </a:rPr>
              <a:t>Connected platform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292100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tem 1 Counter"/>
          <p:cNvSpPr>
            <a:spLocks noGrp="1"/>
          </p:cNvSpPr>
          <p:nvPr>
            <p:ph type="body" idx="40"/>
          </p:nvPr>
        </p:nvSpPr>
        <p:spPr>
          <a:xfrm>
            <a:off x="6858000" y="299720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01 · CONSUMER × PLATFORM</a:t>
            </a:r>
          </a:p>
        </p:txBody>
      </p:sp>
      <p:sp>
        <p:nvSpPr>
          <p:cNvPr id="26" name="Item 1 Heading"/>
          <p:cNvSpPr>
            <a:spLocks noGrp="1"/>
          </p:cNvSpPr>
          <p:nvPr>
            <p:ph type="body" idx="41"/>
          </p:nvPr>
        </p:nvSpPr>
        <p:spPr>
          <a:xfrm>
            <a:off x="6858000" y="317500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Smart product</a:t>
            </a:r>
          </a:p>
        </p:txBody>
      </p:sp>
      <p:sp>
        <p:nvSpPr>
          <p:cNvPr id="27" name="Item 1 Body"/>
          <p:cNvSpPr>
            <a:spLocks noGrp="1"/>
          </p:cNvSpPr>
          <p:nvPr>
            <p:ph type="body" idx="42"/>
          </p:nvPr>
        </p:nvSpPr>
        <p:spPr>
          <a:xfrm>
            <a:off x="6858000" y="342900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Firmware turns the object into an addressable node — the basis for every service we layer on top.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380365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tem 2 Counter"/>
          <p:cNvSpPr>
            <a:spLocks noGrp="1"/>
          </p:cNvSpPr>
          <p:nvPr>
            <p:ph type="body" idx="44"/>
          </p:nvPr>
        </p:nvSpPr>
        <p:spPr>
          <a:xfrm>
            <a:off x="6858000" y="387985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02 · PLATFORM × SERVICES</a:t>
            </a:r>
          </a:p>
        </p:txBody>
      </p:sp>
      <p:sp>
        <p:nvSpPr>
          <p:cNvPr id="30" name="Item 2 Heading"/>
          <p:cNvSpPr>
            <a:spLocks noGrp="1"/>
          </p:cNvSpPr>
          <p:nvPr>
            <p:ph type="body" idx="45"/>
          </p:nvPr>
        </p:nvSpPr>
        <p:spPr>
          <a:xfrm>
            <a:off x="6858000" y="405765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Remote diagnostics</a:t>
            </a:r>
          </a:p>
        </p:txBody>
      </p:sp>
      <p:sp>
        <p:nvSpPr>
          <p:cNvPr id="31" name="Item 2 Body"/>
          <p:cNvSpPr>
            <a:spLocks noGrp="1"/>
          </p:cNvSpPr>
          <p:nvPr>
            <p:ph type="body" idx="46"/>
          </p:nvPr>
        </p:nvSpPr>
        <p:spPr>
          <a:xfrm>
            <a:off x="6858000" y="431165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Telemetry lets service pre-triage a call; first-time-fix rate rises, truck rolls fall.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468630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Item 3 Counter"/>
          <p:cNvSpPr>
            <a:spLocks noGrp="1"/>
          </p:cNvSpPr>
          <p:nvPr>
            <p:ph type="body" idx="48"/>
          </p:nvPr>
        </p:nvSpPr>
        <p:spPr>
          <a:xfrm>
            <a:off x="6858000" y="476250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03 · CONSUMER × SERVICES</a:t>
            </a:r>
          </a:p>
        </p:txBody>
      </p:sp>
      <p:sp>
        <p:nvSpPr>
          <p:cNvPr id="34" name="Item 3 Heading"/>
          <p:cNvSpPr>
            <a:spLocks noGrp="1"/>
          </p:cNvSpPr>
          <p:nvPr>
            <p:ph type="body" idx="49"/>
          </p:nvPr>
        </p:nvSpPr>
        <p:spPr>
          <a:xfrm>
            <a:off x="6858000" y="494030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In-home install</a:t>
            </a:r>
          </a:p>
        </p:txBody>
      </p:sp>
      <p:sp>
        <p:nvSpPr>
          <p:cNvPr id="35" name="Item 3 Body"/>
          <p:cNvSpPr>
            <a:spLocks noGrp="1"/>
          </p:cNvSpPr>
          <p:nvPr>
            <p:ph type="body" idx="50"/>
          </p:nvPr>
        </p:nvSpPr>
        <p:spPr>
          <a:xfrm>
            <a:off x="6858000" y="519430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Existing service relationship carries trust; we extend it into the subscription tier.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5568950"/>
            <a:ext cx="4699000" cy="127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tem 4 Counter"/>
          <p:cNvSpPr>
            <a:spLocks noGrp="1"/>
          </p:cNvSpPr>
          <p:nvPr>
            <p:ph type="body" idx="52"/>
          </p:nvPr>
        </p:nvSpPr>
        <p:spPr>
          <a:xfrm>
            <a:off x="6858000" y="564515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CENTER</a:t>
            </a:r>
          </a:p>
        </p:txBody>
      </p:sp>
      <p:sp>
        <p:nvSpPr>
          <p:cNvPr id="38" name="Item 4 Heading"/>
          <p:cNvSpPr>
            <a:spLocks noGrp="1"/>
          </p:cNvSpPr>
          <p:nvPr>
            <p:ph type="body" idx="53"/>
          </p:nvPr>
        </p:nvSpPr>
        <p:spPr>
          <a:xfrm>
            <a:off x="6858000" y="582295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Connected platform</a:t>
            </a:r>
          </a:p>
        </p:txBody>
      </p:sp>
      <p:sp>
        <p:nvSpPr>
          <p:cNvPr id="39" name="Item 4 Body"/>
          <p:cNvSpPr>
            <a:spLocks noGrp="1"/>
          </p:cNvSpPr>
          <p:nvPr>
            <p:ph type="body" idx="54"/>
          </p:nvPr>
        </p:nvSpPr>
        <p:spPr>
          <a:xfrm>
            <a:off x="6858000" y="607695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Only Feinschliff sits in all three sets at scale — the moat no single-category competitor can cross.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5000" y="1587500"/>
            <a:ext cx="10922000" cy="4318000"/>
          </a:xfrm>
          <a:prstGeom prst="rect">
            <a:avLst/>
          </a:prstGeom>
          <a:solidFill>
            <a:srgbClr val="D6D1C2"/>
          </a:solidFill>
          <a:ln w="6350">
            <a:solidFill>
              <a:srgbClr val="A9B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08">
                <a:solidFill>
                  <a:srgbClr val="2D3A52"/>
                </a:solidFill>
                <a:latin typeface="Noto Sans Mono"/>
              </a:rPr>
              <a:t>DIAGRAM · FILL VIA /DECK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762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1016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DIAGRAM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1238250"/>
            <a:ext cx="10922000" cy="317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spc="-37">
                <a:solidFill>
                  <a:srgbClr val="0B1A33"/>
                </a:solidFill>
                <a:latin typeface="Noto Sans Light"/>
              </a:rPr>
              <a:t>Architectural overview goes here.</a:t>
            </a:r>
          </a:p>
        </p:txBody>
      </p:sp>
      <p:sp>
        <p:nvSpPr>
          <p:cNvPr id="12" name="Caption"/>
          <p:cNvSpPr>
            <a:spLocks noGrp="1"/>
          </p:cNvSpPr>
          <p:nvPr>
            <p:ph type="body" idx="11"/>
          </p:nvPr>
        </p:nvSpPr>
        <p:spPr>
          <a:xfrm>
            <a:off x="635000" y="6064250"/>
            <a:ext cx="10922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Caption · source, figure number, etc.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Tech Radar · Full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DROP TECH-RADAR PNG (RADAR-ENGINE RENDER)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V-Mod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V-MODEL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Kicker"/>
          <p:cNvSpPr>
            <a:spLocks noGrp="1"/>
          </p:cNvSpPr>
          <p:nvPr>
            <p:ph type="body" idx="11"/>
          </p:nvPr>
        </p:nvSpPr>
        <p:spPr>
          <a:xfrm>
            <a:off x="635000" y="1143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VERIFICATION · VALIDATION</a:t>
            </a:r>
          </a:p>
        </p:txBody>
      </p:sp>
      <p:sp>
        <p:nvSpPr>
          <p:cNvPr id="8" name="Action Title"/>
          <p:cNvSpPr>
            <a:spLocks noGrp="1"/>
          </p:cNvSpPr>
          <p:nvPr>
            <p:ph type="title"/>
          </p:nvPr>
        </p:nvSpPr>
        <p:spPr>
          <a:xfrm>
            <a:off x="635000" y="1397000"/>
            <a:ext cx="109220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2600" spc="-39">
                <a:solidFill>
                  <a:srgbClr val="0B1A33"/>
                </a:solidFill>
                <a:latin typeface="Noto Sans Medium"/>
              </a:rPr>
              <a:t>Every design step on the left has a matching test on the right — the V-model pairs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28003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6000" y="28003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06000" y="28003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150600" y="28003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62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8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14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90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67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19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95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71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48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124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76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52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29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05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81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33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10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86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62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38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91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67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19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95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48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24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00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76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53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105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81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257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334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10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62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38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15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91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67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943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19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96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72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48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24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00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77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53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629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705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781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58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34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10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86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62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239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315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391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467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43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620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696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848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924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01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077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153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29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305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382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458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534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610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86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763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839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915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991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067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144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220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96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72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25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01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677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753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829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461000" y="30289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286000" y="34734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286000" y="34734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636000" y="34734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880600" y="34734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556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632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708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784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860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937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13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089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165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241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318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394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470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546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622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699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775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851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27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003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0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156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232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308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384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461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537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13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689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765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842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918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994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070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146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223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299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375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451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527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6604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680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756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832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908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985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061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7137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13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7289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66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442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518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594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7670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747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823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899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975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051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8128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8204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8280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356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432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509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585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461000" y="37020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556000" y="41465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556000" y="41465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66000" y="41465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8610600" y="41465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826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902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978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054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130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5207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5283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5359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5435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5511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588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5664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5740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5816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892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969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045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121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197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6273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6350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6426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6502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578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6654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6731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807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883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959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035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112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188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264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340600" y="4448175"/>
            <a:ext cx="254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461000" y="43751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4191000" y="48196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4191000" y="48196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6731000" y="48196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975600" y="48196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5461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5537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56134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56896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57658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5842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918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9944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60706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61468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6223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6299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3754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4516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5278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604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680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5461000" y="50482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4826000" y="5543550"/>
            <a:ext cx="2540000" cy="5461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4826000" y="5543550"/>
            <a:ext cx="2540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Pair 1 L Counter"/>
          <p:cNvSpPr>
            <a:spLocks noGrp="1"/>
          </p:cNvSpPr>
          <p:nvPr>
            <p:ph type="body" idx="20"/>
          </p:nvPr>
        </p:nvSpPr>
        <p:spPr>
          <a:xfrm>
            <a:off x="1130300" y="29019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01</a:t>
            </a:r>
          </a:p>
        </p:txBody>
      </p:sp>
      <p:sp>
        <p:nvSpPr>
          <p:cNvPr id="250" name="Pair 1 L Title"/>
          <p:cNvSpPr>
            <a:spLocks noGrp="1"/>
          </p:cNvSpPr>
          <p:nvPr>
            <p:ph type="body" idx="21"/>
          </p:nvPr>
        </p:nvSpPr>
        <p:spPr>
          <a:xfrm>
            <a:off x="1130300" y="30543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Requirement gathering</a:t>
            </a:r>
          </a:p>
        </p:txBody>
      </p:sp>
      <p:sp>
        <p:nvSpPr>
          <p:cNvPr id="251" name="Pair 1 R Counter"/>
          <p:cNvSpPr>
            <a:spLocks noGrp="1"/>
          </p:cNvSpPr>
          <p:nvPr>
            <p:ph type="body" idx="22"/>
          </p:nvPr>
        </p:nvSpPr>
        <p:spPr>
          <a:xfrm>
            <a:off x="10020300" y="29019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01</a:t>
            </a:r>
          </a:p>
        </p:txBody>
      </p:sp>
      <p:sp>
        <p:nvSpPr>
          <p:cNvPr id="252" name="Pair 1 R Title"/>
          <p:cNvSpPr>
            <a:spLocks noGrp="1"/>
          </p:cNvSpPr>
          <p:nvPr>
            <p:ph type="body" idx="23"/>
          </p:nvPr>
        </p:nvSpPr>
        <p:spPr>
          <a:xfrm>
            <a:off x="10020300" y="30543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Acceptance testing</a:t>
            </a:r>
          </a:p>
        </p:txBody>
      </p:sp>
      <p:sp>
        <p:nvSpPr>
          <p:cNvPr id="253" name="Pair 1 Connector"/>
          <p:cNvSpPr>
            <a:spLocks noGrp="1"/>
          </p:cNvSpPr>
          <p:nvPr>
            <p:ph type="body" idx="24"/>
          </p:nvPr>
        </p:nvSpPr>
        <p:spPr>
          <a:xfrm>
            <a:off x="5511800" y="30543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ACCEPTANCE PLAN</a:t>
            </a:r>
          </a:p>
        </p:txBody>
      </p:sp>
      <p:sp>
        <p:nvSpPr>
          <p:cNvPr id="254" name="Pair 2 L Counter"/>
          <p:cNvSpPr>
            <a:spLocks noGrp="1"/>
          </p:cNvSpPr>
          <p:nvPr>
            <p:ph type="body" idx="25"/>
          </p:nvPr>
        </p:nvSpPr>
        <p:spPr>
          <a:xfrm>
            <a:off x="2400300" y="35750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02</a:t>
            </a:r>
          </a:p>
        </p:txBody>
      </p:sp>
      <p:sp>
        <p:nvSpPr>
          <p:cNvPr id="255" name="Pair 2 L Title"/>
          <p:cNvSpPr>
            <a:spLocks noGrp="1"/>
          </p:cNvSpPr>
          <p:nvPr>
            <p:ph type="body" idx="26"/>
          </p:nvPr>
        </p:nvSpPr>
        <p:spPr>
          <a:xfrm>
            <a:off x="2400300" y="37274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System analysis</a:t>
            </a:r>
          </a:p>
        </p:txBody>
      </p:sp>
      <p:sp>
        <p:nvSpPr>
          <p:cNvPr id="256" name="Pair 2 R Counter"/>
          <p:cNvSpPr>
            <a:spLocks noGrp="1"/>
          </p:cNvSpPr>
          <p:nvPr>
            <p:ph type="body" idx="27"/>
          </p:nvPr>
        </p:nvSpPr>
        <p:spPr>
          <a:xfrm>
            <a:off x="8750300" y="35750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02</a:t>
            </a:r>
          </a:p>
        </p:txBody>
      </p:sp>
      <p:sp>
        <p:nvSpPr>
          <p:cNvPr id="257" name="Pair 2 R Title"/>
          <p:cNvSpPr>
            <a:spLocks noGrp="1"/>
          </p:cNvSpPr>
          <p:nvPr>
            <p:ph type="body" idx="28"/>
          </p:nvPr>
        </p:nvSpPr>
        <p:spPr>
          <a:xfrm>
            <a:off x="8750300" y="37274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System testing</a:t>
            </a:r>
          </a:p>
        </p:txBody>
      </p:sp>
      <p:sp>
        <p:nvSpPr>
          <p:cNvPr id="258" name="Pair 2 Connector"/>
          <p:cNvSpPr>
            <a:spLocks noGrp="1"/>
          </p:cNvSpPr>
          <p:nvPr>
            <p:ph type="body" idx="29"/>
          </p:nvPr>
        </p:nvSpPr>
        <p:spPr>
          <a:xfrm>
            <a:off x="5511800" y="37274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SYSTEM TEST PLAN</a:t>
            </a:r>
          </a:p>
        </p:txBody>
      </p:sp>
      <p:sp>
        <p:nvSpPr>
          <p:cNvPr id="259" name="Pair 3 L Counter"/>
          <p:cNvSpPr>
            <a:spLocks noGrp="1"/>
          </p:cNvSpPr>
          <p:nvPr>
            <p:ph type="body" idx="30"/>
          </p:nvPr>
        </p:nvSpPr>
        <p:spPr>
          <a:xfrm>
            <a:off x="3670300" y="42481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03</a:t>
            </a:r>
          </a:p>
        </p:txBody>
      </p:sp>
      <p:sp>
        <p:nvSpPr>
          <p:cNvPr id="260" name="Pair 3 L Title"/>
          <p:cNvSpPr>
            <a:spLocks noGrp="1"/>
          </p:cNvSpPr>
          <p:nvPr>
            <p:ph type="body" idx="31"/>
          </p:nvPr>
        </p:nvSpPr>
        <p:spPr>
          <a:xfrm>
            <a:off x="3670300" y="44005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Software design</a:t>
            </a:r>
          </a:p>
        </p:txBody>
      </p:sp>
      <p:sp>
        <p:nvSpPr>
          <p:cNvPr id="261" name="Pair 3 R Counter"/>
          <p:cNvSpPr>
            <a:spLocks noGrp="1"/>
          </p:cNvSpPr>
          <p:nvPr>
            <p:ph type="body" idx="32"/>
          </p:nvPr>
        </p:nvSpPr>
        <p:spPr>
          <a:xfrm>
            <a:off x="7480300" y="42481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03</a:t>
            </a:r>
          </a:p>
        </p:txBody>
      </p:sp>
      <p:sp>
        <p:nvSpPr>
          <p:cNvPr id="262" name="Pair 3 R Title"/>
          <p:cNvSpPr>
            <a:spLocks noGrp="1"/>
          </p:cNvSpPr>
          <p:nvPr>
            <p:ph type="body" idx="33"/>
          </p:nvPr>
        </p:nvSpPr>
        <p:spPr>
          <a:xfrm>
            <a:off x="7480300" y="44005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Integration testing</a:t>
            </a:r>
          </a:p>
        </p:txBody>
      </p:sp>
      <p:sp>
        <p:nvSpPr>
          <p:cNvPr id="263" name="Pair 3 Connector"/>
          <p:cNvSpPr>
            <a:spLocks noGrp="1"/>
          </p:cNvSpPr>
          <p:nvPr>
            <p:ph type="body" idx="34"/>
          </p:nvPr>
        </p:nvSpPr>
        <p:spPr>
          <a:xfrm>
            <a:off x="5511800" y="44005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INTEGRATION</a:t>
            </a:r>
          </a:p>
        </p:txBody>
      </p:sp>
      <p:sp>
        <p:nvSpPr>
          <p:cNvPr id="264" name="Pair 4 L Counter"/>
          <p:cNvSpPr>
            <a:spLocks noGrp="1"/>
          </p:cNvSpPr>
          <p:nvPr>
            <p:ph type="body" idx="35"/>
          </p:nvPr>
        </p:nvSpPr>
        <p:spPr>
          <a:xfrm>
            <a:off x="4305300" y="49212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04</a:t>
            </a:r>
          </a:p>
        </p:txBody>
      </p:sp>
      <p:sp>
        <p:nvSpPr>
          <p:cNvPr id="265" name="Pair 4 L Title"/>
          <p:cNvSpPr>
            <a:spLocks noGrp="1"/>
          </p:cNvSpPr>
          <p:nvPr>
            <p:ph type="body" idx="36"/>
          </p:nvPr>
        </p:nvSpPr>
        <p:spPr>
          <a:xfrm>
            <a:off x="4305300" y="50736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Module design</a:t>
            </a:r>
          </a:p>
        </p:txBody>
      </p:sp>
      <p:sp>
        <p:nvSpPr>
          <p:cNvPr id="266" name="Pair 4 R Counter"/>
          <p:cNvSpPr>
            <a:spLocks noGrp="1"/>
          </p:cNvSpPr>
          <p:nvPr>
            <p:ph type="body" idx="37"/>
          </p:nvPr>
        </p:nvSpPr>
        <p:spPr>
          <a:xfrm>
            <a:off x="6845300" y="49212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04</a:t>
            </a:r>
          </a:p>
        </p:txBody>
      </p:sp>
      <p:sp>
        <p:nvSpPr>
          <p:cNvPr id="267" name="Pair 4 R Title"/>
          <p:cNvSpPr>
            <a:spLocks noGrp="1"/>
          </p:cNvSpPr>
          <p:nvPr>
            <p:ph type="body" idx="38"/>
          </p:nvPr>
        </p:nvSpPr>
        <p:spPr>
          <a:xfrm>
            <a:off x="6845300" y="50736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Unit testing</a:t>
            </a:r>
          </a:p>
        </p:txBody>
      </p:sp>
      <p:sp>
        <p:nvSpPr>
          <p:cNvPr id="268" name="Pair 4 Connector"/>
          <p:cNvSpPr>
            <a:spLocks noGrp="1"/>
          </p:cNvSpPr>
          <p:nvPr>
            <p:ph type="body" idx="39"/>
          </p:nvPr>
        </p:nvSpPr>
        <p:spPr>
          <a:xfrm>
            <a:off x="5511800" y="50736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UNIT TESTS</a:t>
            </a:r>
          </a:p>
        </p:txBody>
      </p:sp>
      <p:sp>
        <p:nvSpPr>
          <p:cNvPr id="269" name="Pivot Counter"/>
          <p:cNvSpPr>
            <a:spLocks noGrp="1"/>
          </p:cNvSpPr>
          <p:nvPr>
            <p:ph type="body" idx="40"/>
          </p:nvPr>
        </p:nvSpPr>
        <p:spPr>
          <a:xfrm>
            <a:off x="4826000" y="5645150"/>
            <a:ext cx="2540000" cy="1270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600" spc="84" cap="all">
                <a:solidFill>
                  <a:srgbClr val="C9A24A"/>
                </a:solidFill>
                <a:latin typeface="Noto Sans Mono"/>
              </a:rPr>
              <a:t>PIVOT</a:t>
            </a:r>
          </a:p>
        </p:txBody>
      </p:sp>
      <p:sp>
        <p:nvSpPr>
          <p:cNvPr id="270" name="Pivot Title"/>
          <p:cNvSpPr>
            <a:spLocks noGrp="1"/>
          </p:cNvSpPr>
          <p:nvPr>
            <p:ph type="body" idx="41"/>
          </p:nvPr>
        </p:nvSpPr>
        <p:spPr>
          <a:xfrm>
            <a:off x="4826000" y="5797550"/>
            <a:ext cx="2540000" cy="2540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-13">
                <a:solidFill>
                  <a:srgbClr val="FFFFFF"/>
                </a:solidFill>
                <a:latin typeface="Noto Sans Medium"/>
              </a:rPr>
              <a:t>Coding &amp; implementation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title accent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Feinschliff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showcase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Layout · title ink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FFFFFF"/>
                </a:solidFill>
                <a:latin typeface="Noto Sans Light"/>
              </a:rPr>
              <a:t>Title slide,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FFFFFF"/>
                </a:solidFill>
                <a:latin typeface="Noto Sans Light"/>
              </a:rPr>
              <a:t>dark variant.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title +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Title with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a picture.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Full-bleed image on the right half, title stacked on the left. Logo and page meta sit on top.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Agenda placeholder.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01 / 06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01.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02 / 06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02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02.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03 / 06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03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03.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04 / 06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04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04.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05 / 06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05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05.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06 / 06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06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chapter accent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01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Chapter.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Layout · chapter ink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02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Chapter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&amp; Picture.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KPI grid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numbers.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Metric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1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Metric 2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2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Metric 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3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Metric 4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2-column cards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Two columns.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 · Column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Lead sentence for the first column.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 line two.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 · Column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Lead sentence for the second column.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 line two.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3-column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Three columns.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Column one.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the first column.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Column two.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the second column.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Column three.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the third column.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4-column cards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Four columns.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Q1 · Phase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Lead sentence for phase one.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Q2 · Phase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Lead sentence for phase two.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Q3 · Phase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Lead sentence for phase three.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Q4 · Phase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Lead sentence for phase four.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text +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Text paired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with a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picture.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Body copy on one side, image frame on the other. Replace via /deck.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full-bleed cover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3600" spc="-108">
                <a:solidFill>
                  <a:srgbClr val="0B1A33"/>
                </a:solidFill>
                <a:latin typeface="Noto Sans Light"/>
              </a:rPr>
              <a:t>An image does</a:t>
            </a:r>
          </a:p>
          <a:p>
            <a:pPr marL="0" indent="0" algn="l">
              <a:buNone/>
            </a:pPr>
            <a:r>
              <a:rPr lang="en-US" sz="3600" spc="-108">
                <a:solidFill>
                  <a:srgbClr val="0B1A33"/>
                </a:solidFill>
                <a:latin typeface="Noto Sans Light"/>
              </a:rPr>
              <a:t>the talking.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bar chart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from the chart.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62%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B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24%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C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11%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D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3%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components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UI library preview.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200" spc="-105">
                <a:solidFill>
                  <a:srgbClr val="0B1A33"/>
                </a:solidFill>
                <a:latin typeface="Noto Sans Light"/>
              </a:rPr>
              <a:t>“A short, memorable line that earns its full slide.”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000" spc="120" cap="all">
                <a:solidFill>
                  <a:srgbClr val="0B1A33"/>
                </a:solidFill>
                <a:latin typeface="Noto Sans Mono"/>
              </a:rPr>
              <a:t>Attribution · placeholder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000" spc="-350">
                <a:solidFill>
                  <a:srgbClr val="0B1A33"/>
                </a:solidFill>
                <a:latin typeface="Noto Sans Light"/>
              </a:rPr>
              <a:t>Thank you.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Feinschliff · v0.1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funnel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funnel drop-off.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Stage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Description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100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100%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Stage 2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Description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84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84%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Stage 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Description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62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62%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Stage 4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Description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36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36%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5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2300" spc="-46">
                <a:solidFill>
                  <a:srgbClr val="C9A24A"/>
                </a:solidFill>
                <a:latin typeface="Noto Sans Light"/>
              </a:rPr>
              <a:t>−22 pt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5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Stage 1 → 2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5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>
                <a:solidFill>
                  <a:srgbClr val="2D3A52"/>
                </a:solidFill>
                <a:latin typeface="Noto Sans"/>
              </a:rPr>
              <a:t>Annotation explaining the largest drop-off.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5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2300" spc="-46">
                <a:solidFill>
                  <a:srgbClr val="C9A24A"/>
                </a:solidFill>
                <a:latin typeface="Noto Sans Light"/>
              </a:rPr>
              <a:t>−14 pt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5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Stage 3 → 4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idx="56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>
                <a:solidFill>
                  <a:srgbClr val="2D3A52"/>
                </a:solidFill>
                <a:latin typeface="Noto Sans"/>
              </a:rPr>
              <a:t>Annotation explaining the secondary drop-off.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line chart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from the trend over time.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P1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P2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P3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P4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P5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 Medium"/>
              </a:rPr>
              <a:t>Series A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 Medium"/>
              </a:rPr>
              <a:t>Series B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waterfall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bridge.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200">
                <a:solidFill>
                  <a:srgbClr val="0B1A33"/>
                </a:solidFill>
                <a:latin typeface="Noto Sans Mono"/>
              </a:rPr>
              <a:t>13.4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Base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+0.6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Step 1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+0.4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Step 2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Step 3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−0.3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Step 4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−0.2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Step 5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200">
                <a:solidFill>
                  <a:srgbClr val="0B1A33"/>
                </a:solidFill>
                <a:latin typeface="Noto Sans Mono"/>
              </a:rPr>
              <a:t>14.1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Total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stacked bar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mix over time.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11.9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P1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12.4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P2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12.9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P3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13.4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P4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14.1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P5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Series A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−6% · 5y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Series B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+31% · 5y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Series C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+31% · 5y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Series D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+367% · 5y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2×2 matrix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prioritisation.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Top-right item.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"/>
              </a:rPr>
              <a:t>High-impact, low-effort initiative.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Top-left item.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High-impact, high-effort initiative.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Bottom-right item.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Low-impact, low-effort initiative.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Bottom-left item.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Low-impact, high-effort initiative.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Effort to ship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p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c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Gantt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delivery plan.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Q1 · Plan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Q2 · Build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Q3 · Pilot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Q4 · Scale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Workstream 1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Team A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Workstream 2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Team B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Workstream 3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Team C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Workstream 4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Team D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Milestone 1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FFFFFF"/>
                </a:solidFill>
                <a:latin typeface="Noto Sans Mono"/>
              </a:rPr>
              <a:t>Milestone 2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Milestone 3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5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FFFFFF"/>
                </a:solidFill>
                <a:latin typeface="Noto Sans Mono"/>
              </a:rPr>
              <a:t>Preview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5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GA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Committed · Critical path · Dependency window · Milestone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Venn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intersection of three sets.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Set 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Description A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Set B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Description B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Set C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Description C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Overlap A∩B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Overlap B∩C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Overlap A∩C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b="1" spc="-4">
                <a:solidFill>
                  <a:srgbClr val="0B1A33"/>
                </a:solidFill>
                <a:latin typeface="Noto Sans"/>
              </a:rPr>
              <a:t>Center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700" b="1" spc="-4">
                <a:solidFill>
                  <a:srgbClr val="0B1A33"/>
                </a:solidFill>
                <a:latin typeface="Noto Sans"/>
              </a:rPr>
              <a:t>A∩B∩C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01 · A × B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Overlap label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Description of the A × B intersection.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02 · B × C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Overlap label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Description of the B × C intersection.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4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03 · A × C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49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Overlap label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50"/>
          </p:nvPr>
        </p:nvSpPr>
        <p:spPr/>
        <p:txBody>
          <a:bodyPr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Description of the A × C intersection.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5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Center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53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Triple overlap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idx="54"/>
          </p:nvPr>
        </p:nvSpPr>
        <p:spPr/>
        <p:txBody>
          <a:bodyPr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Description of the central intersection.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scorecard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portfolio health.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P1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P2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P3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P4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Workstream 1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Workstream 2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Workstream 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Workstream 4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Annotation for cell P3 / row 1.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48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Annotation for cell P3 / row 2.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53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Annotation for cell P3 / row 3.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58"/>
          </p:nvPr>
        </p:nvSpPr>
        <p:spPr/>
        <p:txBody>
          <a:bodyPr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Annotation for cell P3 / row 4.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pyramid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value hierarchy.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Apex line.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03 · Apex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the top tier.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lnSpc>
                <a:spcPct val="114999"/>
              </a:lnSpc>
              <a:buNone/>
            </a:pPr>
            <a:r>
              <a:rPr lang="en-US" sz="1400" spc="-17">
                <a:solidFill>
                  <a:srgbClr val="FFFFFF"/>
                </a:solidFill>
                <a:latin typeface="Noto Sans Medium"/>
              </a:rPr>
              <a:t>Middle line.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02 · Middle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the middle tier.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ctr">
              <a:lnSpc>
                <a:spcPct val="114999"/>
              </a:lnSpc>
              <a:buNone/>
            </a:pPr>
            <a:r>
              <a:rPr lang="en-US" sz="1400" spc="-17">
                <a:solidFill>
                  <a:srgbClr val="FFFFFF"/>
                </a:solidFill>
                <a:latin typeface="Noto Sans Medium"/>
              </a:rPr>
              <a:t>Base line.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01 · Foundation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the base tier.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process flow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Five stages, one highlighted as active.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Stage 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stage 1.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Stage 2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stage 2.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03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Stage 3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"/>
              </a:rPr>
              <a:t>Description for stage 3.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04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Stage 4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stage 4.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05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Stage 5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Description for stage 5.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graphical bars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from the chart.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62%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B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24%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C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11%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Bar D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3%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Layout · action title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spc="-80">
                <a:solidFill>
                  <a:srgbClr val="0B1A33"/>
                </a:solidFill>
                <a:latin typeface="Noto Sans Medium"/>
              </a:rPr>
              <a:t>Full-sentence takeaway that states the recommendation directly.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Supporting paragraph that explains the evidence behind the recommendation in two or three sentences.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+18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KPI label 1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1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2.3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×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KPI label 2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Caption 2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horizontal bullets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Three structured takeaways across one row.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Heading 1.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1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2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3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Heading 2.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1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2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3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Heading 3.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1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2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Bullet 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vertical bullets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Six numbered rows, plan-of-record style.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Subtitle line one.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01 / 06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01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01.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02 / 06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02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02.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03 / 06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03.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04 / 06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04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04.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05 / 06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05.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06 / 06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Item 06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for item 06.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Subtitle line two.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table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Headline takeaway about the table data.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Column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Column 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Column 3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Column 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Column 5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Row 1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Row 2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Row 3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Row 4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Row 5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48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49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50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idx="51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idx="52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53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54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9" name="Text Placeholder 28"/>
          <p:cNvSpPr>
            <a:spLocks noGrp="1"/>
          </p:cNvSpPr>
          <p:nvPr>
            <p:ph type="body" idx="55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0" name="Text Placeholder 29"/>
          <p:cNvSpPr>
            <a:spLocks noGrp="1"/>
          </p:cNvSpPr>
          <p:nvPr>
            <p:ph type="body" idx="56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1" name="Text Placeholder 30"/>
          <p:cNvSpPr>
            <a:spLocks noGrp="1"/>
          </p:cNvSpPr>
          <p:nvPr>
            <p:ph type="body" idx="57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58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3" name="Text Placeholder 32"/>
          <p:cNvSpPr>
            <a:spLocks noGrp="1"/>
          </p:cNvSpPr>
          <p:nvPr>
            <p:ph type="body" idx="59"/>
          </p:nvPr>
        </p:nvSpPr>
        <p:spPr/>
        <p:txBody>
          <a:bodyPr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Layout · key takeaways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50" b="1" spc="-28">
                <a:solidFill>
                  <a:srgbClr val="FFFFFF"/>
                </a:solidFill>
                <a:latin typeface="Noto Sans"/>
              </a:rPr>
              <a:t>Three things to remember from this section.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Takeaway 1.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One- or two-sentence elaboration of the first takeaway.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Role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Takeaway 2.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One- or two-sentence elaboration of the second takeaway.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Role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Takeaway 3.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One- or two-sentence elaboration of the third takeaway.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Role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executive summary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One-line summary statement that frames the entire deck.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Two-to-three-sentence paragraph that elaborates on the headline and points to the supporting evidence.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112" cap="all">
                <a:solidFill>
                  <a:srgbClr val="C9A24A"/>
                </a:solidFill>
                <a:latin typeface="Noto Sans Mono"/>
              </a:rPr>
              <a:t>Insights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Insight 1.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insight 1.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Insight 2.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insight 2.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Insight 3.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insight 3.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Insight 4.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insight 4.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112" cap="all">
                <a:solidFill>
                  <a:srgbClr val="C9A24A"/>
                </a:solidFill>
                <a:latin typeface="Noto Sans Mono"/>
              </a:rPr>
              <a:t>Next steps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Next step 1.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next step 1.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Next step 2.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next step 2.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Next step 3.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next step 3.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Next step 4.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Description of next step 4.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50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+5.1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5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idx="52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KPI label 1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idx="53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2.4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54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M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5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KPI label 2</a:t>
            </a:r>
          </a:p>
        </p:txBody>
      </p:sp>
      <p:sp>
        <p:nvSpPr>
          <p:cNvPr id="29" name="Text Placeholder 28"/>
          <p:cNvSpPr>
            <a:spLocks noGrp="1"/>
          </p:cNvSpPr>
          <p:nvPr>
            <p:ph type="body" idx="56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37</a:t>
            </a:r>
          </a:p>
        </p:txBody>
      </p:sp>
      <p:sp>
        <p:nvSpPr>
          <p:cNvPr id="30" name="Text Placeholder 29"/>
          <p:cNvSpPr>
            <a:spLocks noGrp="1"/>
          </p:cNvSpPr>
          <p:nvPr>
            <p:ph type="body" idx="57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/>
            </a:r>
          </a:p>
        </p:txBody>
      </p:sp>
      <p:sp>
        <p:nvSpPr>
          <p:cNvPr id="31" name="Text Placeholder 30"/>
          <p:cNvSpPr>
            <a:spLocks noGrp="1"/>
          </p:cNvSpPr>
          <p:nvPr>
            <p:ph type="body" idx="58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KPI label 3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6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placeholder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Verification · Validation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2600" spc="-39">
                <a:solidFill>
                  <a:srgbClr val="0B1A33"/>
                </a:solidFill>
                <a:latin typeface="Noto Sans Medium"/>
              </a:rPr>
              <a:t>Every design step on the left has a matching test on the right.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Requirement gathering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01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Acceptance testing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Acceptance plan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02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System analysis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02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System testing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System test plan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03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Software design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Integration testing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Integration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04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Module design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04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Unit testing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Unit tests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600" spc="84" cap="all">
                <a:solidFill>
                  <a:srgbClr val="C9A24A"/>
                </a:solidFill>
                <a:latin typeface="Noto Sans Mono"/>
              </a:rPr>
              <a:t>Pivot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1100" spc="-13">
                <a:solidFill>
                  <a:srgbClr val="FFFFFF"/>
                </a:solidFill>
                <a:latin typeface="Noto Sans Medium"/>
              </a:rPr>
              <a:t>Coding &amp; implementation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einschliff">
      <a:dk1>
        <a:sysClr val="windowText" lastClr="0B1A33"/>
      </a:dk1>
      <a:lt1>
        <a:sysClr val="window" lastClr="FFFFFF"/>
      </a:lt1>
      <a:dk2>
        <a:srgbClr val="0B1A33"/>
      </a:dk2>
      <a:lt2>
        <a:srgbClr val="FAF8F3"/>
      </a:lt2>
      <a:accent1>
        <a:srgbClr val="C9A24A"/>
      </a:accent1>
      <a:accent2>
        <a:srgbClr val="E4C27A"/>
      </a:accent2>
      <a:accent3>
        <a:srgbClr val="2D3A52"/>
      </a:accent3>
      <a:accent4>
        <a:srgbClr val="5A6478"/>
      </a:accent4>
      <a:accent5>
        <a:srgbClr val="A9BCD6"/>
      </a:accent5>
      <a:accent6>
        <a:srgbClr val="D6D1C2"/>
      </a:accent6>
      <a:hlink>
        <a:srgbClr val="8A6F2E"/>
      </a:hlink>
      <a:folHlink>
        <a:srgbClr val="C9A24A"/>
      </a:folHlink>
    </a:clrScheme>
    <a:fontScheme name="Feinschliff">
      <a:majorFont>
        <a:latin typeface="Noto Sans" panose="020B0604020202020204"/>
        <a:ea typeface=""/>
        <a:cs typeface=""/>
      </a:majorFont>
      <a:minorFont>
        <a:latin typeface="Noto Sans" panose="020B060402020202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