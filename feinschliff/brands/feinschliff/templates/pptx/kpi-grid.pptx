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Feinschliff · Title · Accent">
    <p:bg>
      <p:bgPr>
        <a:solidFill>
          <a:srgbClr val="C9A2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FEINSCHLIFF. DESIGN SYSTEM ·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31623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34417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A SHOWCASE OF THE FEINSCHLIFF 2026 SYSTEM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3784600"/>
            <a:ext cx="10922000" cy="2032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8000" spc="-280">
                <a:solidFill>
                  <a:srgbClr val="0B1A33"/>
                </a:solidFill>
                <a:latin typeface="Noto Sans Light"/>
              </a:rPr>
              <a:t>Feinschliff</a:t>
            </a:r>
          </a:p>
          <a:p>
            <a:pPr marL="0" indent="0" algn="l">
              <a:lnSpc>
                <a:spcPct val="95000"/>
              </a:lnSpc>
              <a:buNone/>
            </a:pPr>
            <a:r>
              <a:rPr lang="en-US" sz="8000" spc="-280">
                <a:solidFill>
                  <a:srgbClr val="0B1A33"/>
                </a:solidFill>
                <a:latin typeface="Noto Sans Light"/>
              </a:rPr>
              <a:t>showcase deck.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Feinschliff · Title · Ink">
    <p:bg>
      <p:bgPr>
        <a:solidFill>
          <a:srgbClr val="0B1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FFFFFF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FFFFFF"/>
                </a:solidFill>
                <a:latin typeface="Noto Sans Mono"/>
              </a:rPr>
              <a:t>FEINSCHLIFF. DESIGN SYSTEM ·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FFFFFF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FFFFFF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FFFFFF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3162300"/>
            <a:ext cx="508000" cy="254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34417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TITLE SLIDE · INK VARIANT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3784600"/>
            <a:ext cx="10922000" cy="2032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8000" spc="-280">
                <a:solidFill>
                  <a:srgbClr val="FFFFFF"/>
                </a:solidFill>
                <a:latin typeface="Noto Sans Light"/>
              </a:rPr>
              <a:t>The same wordmark</a:t>
            </a:r>
          </a:p>
          <a:p>
            <a:pPr marL="0" indent="0" algn="l">
              <a:lnSpc>
                <a:spcPct val="95000"/>
              </a:lnSpc>
              <a:buNone/>
            </a:pPr>
            <a:r>
              <a:rPr lang="en-US" sz="8000" spc="-280">
                <a:solidFill>
                  <a:srgbClr val="FFFFFF"/>
                </a:solidFill>
                <a:latin typeface="Noto Sans Light"/>
              </a:rPr>
              <a:t>in a darker room.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Feinschliff · Title + Pictur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pattFill prst="wdDnDiag">
            <a:fgClr>
              <a:srgbClr val="D6D1C2"/>
            </a:fgClr>
            <a:bgClr>
              <a:srgbClr val="FAF8F3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spc="90">
                <a:solidFill>
                  <a:srgbClr val="2D3A52"/>
                </a:solidFill>
                <a:latin typeface="Noto Sans Mono"/>
              </a:rPr>
              <a:t>PRODUCT SHOT · 16:9</a:t>
            </a:r>
          </a:p>
        </p:txBody>
      </p:sp>
      <p:sp>
        <p:nvSpPr>
          <p:cNvPr id="4" name="Freeform 3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TITLE + PICTURE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9" name="Rectangle 8"/>
          <p:cNvSpPr/>
          <p:nvPr/>
        </p:nvSpPr>
        <p:spPr>
          <a:xfrm>
            <a:off x="635000" y="28575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yebrow"/>
          <p:cNvSpPr>
            <a:spLocks noGrp="1"/>
          </p:cNvSpPr>
          <p:nvPr>
            <p:ph type="body" idx="10"/>
          </p:nvPr>
        </p:nvSpPr>
        <p:spPr>
          <a:xfrm>
            <a:off x="635000" y="3136900"/>
            <a:ext cx="5207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03 · TITLE + PICTURE</a:t>
            </a:r>
          </a:p>
        </p:txBody>
      </p:sp>
      <p:sp>
        <p:nvSpPr>
          <p:cNvPr id="11" name="Title"/>
          <p:cNvSpPr>
            <a:spLocks noGrp="1"/>
          </p:cNvSpPr>
          <p:nvPr>
            <p:ph type="title"/>
          </p:nvPr>
        </p:nvSpPr>
        <p:spPr>
          <a:xfrm>
            <a:off x="635000" y="3454400"/>
            <a:ext cx="5207000" cy="1651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Pair a title</a:t>
            </a:r>
          </a:p>
          <a:p>
            <a:pPr marL="0" indent="0" algn="l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with a product.</a:t>
            </a:r>
          </a:p>
        </p:txBody>
      </p:sp>
      <p:sp>
        <p:nvSpPr>
          <p:cNvPr id="12" name="Body"/>
          <p:cNvSpPr>
            <a:spLocks noGrp="1"/>
          </p:cNvSpPr>
          <p:nvPr>
            <p:ph type="body" idx="11"/>
          </p:nvPr>
        </p:nvSpPr>
        <p:spPr>
          <a:xfrm>
            <a:off x="635000" y="5207000"/>
            <a:ext cx="4953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>
                <a:solidFill>
                  <a:srgbClr val="2D3A52"/>
                </a:solidFill>
                <a:latin typeface="Noto Sans"/>
              </a:rPr>
              <a:t>Full-bleed image on the right half, title stacked on the left. The logo and page meta sit on top, unchanged.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Feinschliff · 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397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ONLY TITLE LAYOUT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1651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800" spc="-56">
                <a:solidFill>
                  <a:srgbClr val="0B1A33"/>
                </a:solidFill>
                <a:latin typeface="Noto Sans Light"/>
              </a:rPr>
              <a:t>What we'll cover.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2667000"/>
            <a:ext cx="5461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w 1 Num"/>
          <p:cNvSpPr>
            <a:spLocks noGrp="1"/>
          </p:cNvSpPr>
          <p:nvPr>
            <p:ph type="body" idx="20"/>
          </p:nvPr>
        </p:nvSpPr>
        <p:spPr>
          <a:xfrm>
            <a:off x="635000" y="2755900"/>
            <a:ext cx="698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01 / 06</a:t>
            </a:r>
          </a:p>
        </p:txBody>
      </p:sp>
      <p:sp>
        <p:nvSpPr>
          <p:cNvPr id="12" name="Row 1 Title"/>
          <p:cNvSpPr>
            <a:spLocks noGrp="1"/>
          </p:cNvSpPr>
          <p:nvPr>
            <p:ph type="body" idx="21"/>
          </p:nvPr>
        </p:nvSpPr>
        <p:spPr>
          <a:xfrm>
            <a:off x="1397000" y="2730500"/>
            <a:ext cx="4699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Brand mark</a:t>
            </a:r>
          </a:p>
        </p:txBody>
      </p:sp>
      <p:sp>
        <p:nvSpPr>
          <p:cNvPr id="13" name="Row 1 Desc"/>
          <p:cNvSpPr>
            <a:spLocks noGrp="1"/>
          </p:cNvSpPr>
          <p:nvPr>
            <p:ph type="body" idx="22"/>
          </p:nvPr>
        </p:nvSpPr>
        <p:spPr>
          <a:xfrm>
            <a:off x="1397000" y="2997200"/>
            <a:ext cx="4699000" cy="2032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Wordmark, contrast, clear space.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0000" y="2667000"/>
            <a:ext cx="5461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w 2 Num"/>
          <p:cNvSpPr>
            <a:spLocks noGrp="1"/>
          </p:cNvSpPr>
          <p:nvPr>
            <p:ph type="body" idx="23"/>
          </p:nvPr>
        </p:nvSpPr>
        <p:spPr>
          <a:xfrm>
            <a:off x="6350000" y="2755900"/>
            <a:ext cx="698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02 / 06</a:t>
            </a:r>
          </a:p>
        </p:txBody>
      </p:sp>
      <p:sp>
        <p:nvSpPr>
          <p:cNvPr id="16" name="Row 2 Title"/>
          <p:cNvSpPr>
            <a:spLocks noGrp="1"/>
          </p:cNvSpPr>
          <p:nvPr>
            <p:ph type="body" idx="24"/>
          </p:nvPr>
        </p:nvSpPr>
        <p:spPr>
          <a:xfrm>
            <a:off x="7112000" y="2730500"/>
            <a:ext cx="4699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Colour</a:t>
            </a:r>
          </a:p>
        </p:txBody>
      </p:sp>
      <p:sp>
        <p:nvSpPr>
          <p:cNvPr id="17" name="Row 2 Desc"/>
          <p:cNvSpPr>
            <a:spLocks noGrp="1"/>
          </p:cNvSpPr>
          <p:nvPr>
            <p:ph type="body" idx="25"/>
          </p:nvPr>
        </p:nvSpPr>
        <p:spPr>
          <a:xfrm>
            <a:off x="7112000" y="2997200"/>
            <a:ext cx="4699000" cy="2032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One orange, seven neutrals.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000" y="3378200"/>
            <a:ext cx="5461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w 3 Num"/>
          <p:cNvSpPr>
            <a:spLocks noGrp="1"/>
          </p:cNvSpPr>
          <p:nvPr>
            <p:ph type="body" idx="26"/>
          </p:nvPr>
        </p:nvSpPr>
        <p:spPr>
          <a:xfrm>
            <a:off x="635000" y="3467100"/>
            <a:ext cx="698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03 / 06</a:t>
            </a:r>
          </a:p>
        </p:txBody>
      </p:sp>
      <p:sp>
        <p:nvSpPr>
          <p:cNvPr id="20" name="Row 3 Title"/>
          <p:cNvSpPr>
            <a:spLocks noGrp="1"/>
          </p:cNvSpPr>
          <p:nvPr>
            <p:ph type="body" idx="27"/>
          </p:nvPr>
        </p:nvSpPr>
        <p:spPr>
          <a:xfrm>
            <a:off x="1397000" y="3441700"/>
            <a:ext cx="4699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Type</a:t>
            </a:r>
          </a:p>
        </p:txBody>
      </p:sp>
      <p:sp>
        <p:nvSpPr>
          <p:cNvPr id="21" name="Row 3 Desc"/>
          <p:cNvSpPr>
            <a:spLocks noGrp="1"/>
          </p:cNvSpPr>
          <p:nvPr>
            <p:ph type="body" idx="28"/>
          </p:nvPr>
        </p:nvSpPr>
        <p:spPr>
          <a:xfrm>
            <a:off x="1397000" y="3708400"/>
            <a:ext cx="4699000" cy="2032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Noto Sans, 28pt titles.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0000" y="3378200"/>
            <a:ext cx="5461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w 4 Num"/>
          <p:cNvSpPr>
            <a:spLocks noGrp="1"/>
          </p:cNvSpPr>
          <p:nvPr>
            <p:ph type="body" idx="29"/>
          </p:nvPr>
        </p:nvSpPr>
        <p:spPr>
          <a:xfrm>
            <a:off x="6350000" y="3467100"/>
            <a:ext cx="698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04 / 06</a:t>
            </a:r>
          </a:p>
        </p:txBody>
      </p:sp>
      <p:sp>
        <p:nvSpPr>
          <p:cNvPr id="24" name="Row 4 Title"/>
          <p:cNvSpPr>
            <a:spLocks noGrp="1"/>
          </p:cNvSpPr>
          <p:nvPr>
            <p:ph type="body" idx="30"/>
          </p:nvPr>
        </p:nvSpPr>
        <p:spPr>
          <a:xfrm>
            <a:off x="7112000" y="3441700"/>
            <a:ext cx="4699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Layouts</a:t>
            </a:r>
          </a:p>
        </p:txBody>
      </p:sp>
      <p:sp>
        <p:nvSpPr>
          <p:cNvPr id="25" name="Row 4 Desc"/>
          <p:cNvSpPr>
            <a:spLocks noGrp="1"/>
          </p:cNvSpPr>
          <p:nvPr>
            <p:ph type="body" idx="31"/>
          </p:nvPr>
        </p:nvSpPr>
        <p:spPr>
          <a:xfrm>
            <a:off x="7112000" y="3708400"/>
            <a:ext cx="4699000" cy="2032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Chapter, content, picture, data.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000" y="4089400"/>
            <a:ext cx="5461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w 5 Num"/>
          <p:cNvSpPr>
            <a:spLocks noGrp="1"/>
          </p:cNvSpPr>
          <p:nvPr>
            <p:ph type="body" idx="32"/>
          </p:nvPr>
        </p:nvSpPr>
        <p:spPr>
          <a:xfrm>
            <a:off x="635000" y="4178300"/>
            <a:ext cx="698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05 / 06</a:t>
            </a:r>
          </a:p>
        </p:txBody>
      </p:sp>
      <p:sp>
        <p:nvSpPr>
          <p:cNvPr id="28" name="Row 5 Title"/>
          <p:cNvSpPr>
            <a:spLocks noGrp="1"/>
          </p:cNvSpPr>
          <p:nvPr>
            <p:ph type="body" idx="33"/>
          </p:nvPr>
        </p:nvSpPr>
        <p:spPr>
          <a:xfrm>
            <a:off x="1397000" y="4152900"/>
            <a:ext cx="4699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Components</a:t>
            </a:r>
          </a:p>
        </p:txBody>
      </p:sp>
      <p:sp>
        <p:nvSpPr>
          <p:cNvPr id="29" name="Row 5 Desc"/>
          <p:cNvSpPr>
            <a:spLocks noGrp="1"/>
          </p:cNvSpPr>
          <p:nvPr>
            <p:ph type="body" idx="34"/>
          </p:nvPr>
        </p:nvSpPr>
        <p:spPr>
          <a:xfrm>
            <a:off x="1397000" y="4419600"/>
            <a:ext cx="4699000" cy="2032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Buttons, chips, KPIs, rules.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0000" y="4089400"/>
            <a:ext cx="5461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w 6 Num"/>
          <p:cNvSpPr>
            <a:spLocks noGrp="1"/>
          </p:cNvSpPr>
          <p:nvPr>
            <p:ph type="body" idx="35"/>
          </p:nvPr>
        </p:nvSpPr>
        <p:spPr>
          <a:xfrm>
            <a:off x="6350000" y="4178300"/>
            <a:ext cx="698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06 / 06</a:t>
            </a:r>
          </a:p>
        </p:txBody>
      </p:sp>
      <p:sp>
        <p:nvSpPr>
          <p:cNvPr id="32" name="Row 6 Title"/>
          <p:cNvSpPr>
            <a:spLocks noGrp="1"/>
          </p:cNvSpPr>
          <p:nvPr>
            <p:ph type="body" idx="36"/>
          </p:nvPr>
        </p:nvSpPr>
        <p:spPr>
          <a:xfrm>
            <a:off x="7112000" y="4152900"/>
            <a:ext cx="4699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Voice</a:t>
            </a:r>
          </a:p>
        </p:txBody>
      </p:sp>
      <p:sp>
        <p:nvSpPr>
          <p:cNvPr id="33" name="Row 6 Desc"/>
          <p:cNvSpPr>
            <a:spLocks noGrp="1"/>
          </p:cNvSpPr>
          <p:nvPr>
            <p:ph type="body" idx="37"/>
          </p:nvPr>
        </p:nvSpPr>
        <p:spPr>
          <a:xfrm>
            <a:off x="7112000" y="4419600"/>
            <a:ext cx="4699000" cy="2032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Quiet confidence.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Feinschliff · Chapter · Accent">
    <p:bg>
      <p:bgPr>
        <a:solidFill>
          <a:srgbClr val="C9A2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CHAPTER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TextBox 6"/>
          <p:cNvSpPr txBox="1"/>
          <p:nvPr/>
        </p:nvSpPr>
        <p:spPr>
          <a:xfrm>
            <a:off x="6985000" y="4953000"/>
            <a:ext cx="5080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5000"/>
              </a:lnSpc>
            </a:pPr>
            <a:r>
              <a:rPr sz="11000" spc="-440" b="0">
                <a:solidFill>
                  <a:srgbClr val="0B1A33">
                    <a:alpha val="22000"/>
                  </a:srgbClr>
                </a:solidFill>
                <a:latin typeface="Noto Sans Light"/>
              </a:rPr>
              <a:t>01 / 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" y="31623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yebrow"/>
          <p:cNvSpPr>
            <a:spLocks noGrp="1"/>
          </p:cNvSpPr>
          <p:nvPr>
            <p:ph type="body" idx="10"/>
          </p:nvPr>
        </p:nvSpPr>
        <p:spPr>
          <a:xfrm>
            <a:off x="635000" y="34417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CHAPTER OPENER · ORANGE</a:t>
            </a:r>
          </a:p>
        </p:txBody>
      </p:sp>
      <p:sp>
        <p:nvSpPr>
          <p:cNvPr id="10" name="Title"/>
          <p:cNvSpPr>
            <a:spLocks noGrp="1"/>
          </p:cNvSpPr>
          <p:nvPr>
            <p:ph type="title"/>
          </p:nvPr>
        </p:nvSpPr>
        <p:spPr>
          <a:xfrm>
            <a:off x="635000" y="3784600"/>
            <a:ext cx="8255000" cy="2032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8000" spc="-280">
                <a:solidFill>
                  <a:srgbClr val="0B1A33"/>
                </a:solidFill>
                <a:latin typeface="Noto Sans Light"/>
              </a:rPr>
              <a:t>01</a:t>
            </a:r>
          </a:p>
          <a:p>
            <a:pPr marL="0" indent="0" algn="l">
              <a:lnSpc>
                <a:spcPct val="95000"/>
              </a:lnSpc>
              <a:buNone/>
            </a:pPr>
            <a:r>
              <a:rPr lang="en-US" sz="8000" spc="-280">
                <a:solidFill>
                  <a:srgbClr val="0B1A33"/>
                </a:solidFill>
                <a:latin typeface="Noto Sans Light"/>
              </a:rPr>
              <a:t>Brand.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Feinschliff · Chapter · Ink + Picture">
    <p:bg>
      <p:bgPr>
        <a:solidFill>
          <a:srgbClr val="0B1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pattFill prst="wdDnDiag">
            <a:fgClr>
              <a:srgbClr val="1A1A1A"/>
            </a:fgClr>
            <a:bgClr>
              <a:srgbClr val="222222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spc="90">
                <a:solidFill>
                  <a:srgbClr val="5A6478"/>
                </a:solidFill>
                <a:latin typeface="Noto Sans Mono"/>
              </a:rPr>
              <a:t>EDITORIAL IMAGE · 16:9</a:t>
            </a:r>
          </a:p>
        </p:txBody>
      </p:sp>
      <p:sp>
        <p:nvSpPr>
          <p:cNvPr id="4" name="Freeform 3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FFFFFF"/>
                </a:solidFill>
                <a:latin typeface="Noto Sans Medium"/>
              </a:rPr>
              <a:t>FEINSCHLIFF.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FFFFFF"/>
                </a:solidFill>
                <a:latin typeface="Noto Sans Mono"/>
              </a:rPr>
              <a:t>CHAPTER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FFFFFF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FFFFFF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FFFFFF"/>
                </a:solidFill>
                <a:latin typeface="Noto Sans Mono"/>
              </a:rPr>
              <a:t>1</a:t>
            </a:fld>
          </a:p>
        </p:txBody>
      </p:sp>
      <p:sp>
        <p:nvSpPr>
          <p:cNvPr id="9" name="Rectangle 8"/>
          <p:cNvSpPr/>
          <p:nvPr/>
        </p:nvSpPr>
        <p:spPr>
          <a:xfrm>
            <a:off x="635000" y="2794000"/>
            <a:ext cx="508000" cy="254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yebrow"/>
          <p:cNvSpPr>
            <a:spLocks noGrp="1"/>
          </p:cNvSpPr>
          <p:nvPr>
            <p:ph type="body" idx="10"/>
          </p:nvPr>
        </p:nvSpPr>
        <p:spPr>
          <a:xfrm>
            <a:off x="635000" y="3073400"/>
            <a:ext cx="5207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CHAPTER OPENER · INK</a:t>
            </a:r>
          </a:p>
        </p:txBody>
      </p:sp>
      <p:sp>
        <p:nvSpPr>
          <p:cNvPr id="11" name="Title"/>
          <p:cNvSpPr>
            <a:spLocks noGrp="1"/>
          </p:cNvSpPr>
          <p:nvPr>
            <p:ph type="title"/>
          </p:nvPr>
        </p:nvSpPr>
        <p:spPr>
          <a:xfrm>
            <a:off x="635000" y="3429000"/>
            <a:ext cx="5207000" cy="2286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6000" spc="-180">
                <a:solidFill>
                  <a:srgbClr val="FFFFFF"/>
                </a:solidFill>
                <a:latin typeface="Noto Sans Light"/>
              </a:rPr>
              <a:t>02</a:t>
            </a:r>
          </a:p>
          <a:p>
            <a:pPr marL="0" indent="0" algn="l">
              <a:buNone/>
            </a:pPr>
            <a:r>
              <a:rPr lang="en-US" sz="6000" spc="-180">
                <a:solidFill>
                  <a:srgbClr val="FFFFFF"/>
                </a:solidFill>
                <a:latin typeface="Noto Sans Light"/>
              </a:rPr>
              <a:t>Colour</a:t>
            </a:r>
          </a:p>
          <a:p>
            <a:pPr marL="0" indent="0" algn="l">
              <a:buNone/>
            </a:pPr>
            <a:r>
              <a:rPr lang="en-US" sz="6000" spc="-180">
                <a:solidFill>
                  <a:srgbClr val="FFFFFF"/>
                </a:solidFill>
                <a:latin typeface="Noto Sans Light"/>
              </a:rPr>
              <a:t>&amp; Type.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KPI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COMPANY ·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FIGURES AT A GLANCE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Feinschliff in numbers.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429000"/>
            <a:ext cx="6350" cy="1651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000" y="342900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000" y="507365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65500" y="3429000"/>
            <a:ext cx="6350" cy="1651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KPI 1 Key"/>
          <p:cNvSpPr>
            <a:spLocks noGrp="1"/>
          </p:cNvSpPr>
          <p:nvPr>
            <p:ph type="body" idx="20"/>
          </p:nvPr>
        </p:nvSpPr>
        <p:spPr>
          <a:xfrm>
            <a:off x="889000" y="4635500"/>
            <a:ext cx="2222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EMPLOYEES</a:t>
            </a:r>
          </a:p>
        </p:txBody>
      </p:sp>
      <p:sp>
        <p:nvSpPr>
          <p:cNvPr id="15" name="KPI 1 Delta"/>
          <p:cNvSpPr>
            <a:spLocks noGrp="1"/>
          </p:cNvSpPr>
          <p:nvPr>
            <p:ph type="body" idx="21"/>
          </p:nvPr>
        </p:nvSpPr>
        <p:spPr>
          <a:xfrm>
            <a:off x="889000" y="4826000"/>
            <a:ext cx="2222500" cy="1651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>
                <a:solidFill>
                  <a:srgbClr val="8A6F2E"/>
                </a:solidFill>
                <a:latin typeface="Noto Sans Mono"/>
              </a:rPr>
              <a:t>+3% YoY</a:t>
            </a:r>
          </a:p>
        </p:txBody>
      </p:sp>
      <p:sp>
        <p:nvSpPr>
          <p:cNvPr id="16" name="KPI 1 Value"/>
          <p:cNvSpPr>
            <a:spLocks noGrp="1"/>
          </p:cNvSpPr>
          <p:nvPr>
            <p:ph type="body" idx="30"/>
          </p:nvPr>
        </p:nvSpPr>
        <p:spPr>
          <a:xfrm>
            <a:off x="889000" y="3657600"/>
            <a:ext cx="1206500" cy="889000"/>
          </a:xfrm>
        </p:spPr>
        <p:txBody>
          <a:bodyPr lIns="0" tIns="0" rIns="0" bIns="0" wrap="square" anchor="b"/>
          <a:lstStyle/>
          <a:p>
            <a:pPr marL="0" indent="0" algn="r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62</a:t>
            </a:r>
          </a:p>
        </p:txBody>
      </p:sp>
      <p:sp>
        <p:nvSpPr>
          <p:cNvPr id="17" name="KPI 1 Unit"/>
          <p:cNvSpPr>
            <a:spLocks noGrp="1"/>
          </p:cNvSpPr>
          <p:nvPr>
            <p:ph type="body" idx="31"/>
          </p:nvPr>
        </p:nvSpPr>
        <p:spPr>
          <a:xfrm>
            <a:off x="2095500" y="3657600"/>
            <a:ext cx="1016000" cy="8890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2000">
                <a:solidFill>
                  <a:srgbClr val="2D3A52"/>
                </a:solidFill>
                <a:latin typeface="Noto Sans"/>
              </a:rPr>
              <a:t>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65500" y="342900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65500" y="507365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0" y="3429000"/>
            <a:ext cx="6350" cy="1651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KPI 2 Key"/>
          <p:cNvSpPr>
            <a:spLocks noGrp="1"/>
          </p:cNvSpPr>
          <p:nvPr>
            <p:ph type="body" idx="22"/>
          </p:nvPr>
        </p:nvSpPr>
        <p:spPr>
          <a:xfrm>
            <a:off x="3619500" y="4635500"/>
            <a:ext cx="2222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REVENUE · EUR</a:t>
            </a:r>
          </a:p>
        </p:txBody>
      </p:sp>
      <p:sp>
        <p:nvSpPr>
          <p:cNvPr id="22" name="KPI 2 Delta"/>
          <p:cNvSpPr>
            <a:spLocks noGrp="1"/>
          </p:cNvSpPr>
          <p:nvPr>
            <p:ph type="body" idx="23"/>
          </p:nvPr>
        </p:nvSpPr>
        <p:spPr>
          <a:xfrm>
            <a:off x="3619500" y="4826000"/>
            <a:ext cx="2222500" cy="1651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>
                <a:solidFill>
                  <a:srgbClr val="8A6F2E"/>
                </a:solidFill>
                <a:latin typeface="Noto Sans Mono"/>
              </a:rPr>
              <a:t>+5.1% YoY</a:t>
            </a:r>
          </a:p>
        </p:txBody>
      </p:sp>
      <p:sp>
        <p:nvSpPr>
          <p:cNvPr id="23" name="KPI 2 Value"/>
          <p:cNvSpPr>
            <a:spLocks noGrp="1"/>
          </p:cNvSpPr>
          <p:nvPr>
            <p:ph type="body" idx="32"/>
          </p:nvPr>
        </p:nvSpPr>
        <p:spPr>
          <a:xfrm>
            <a:off x="3619500" y="3657600"/>
            <a:ext cx="1206500" cy="889000"/>
          </a:xfrm>
        </p:spPr>
        <p:txBody>
          <a:bodyPr lIns="0" tIns="0" rIns="0" bIns="0" wrap="square" anchor="b"/>
          <a:lstStyle/>
          <a:p>
            <a:pPr marL="0" indent="0" algn="r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14</a:t>
            </a:r>
          </a:p>
        </p:txBody>
      </p:sp>
      <p:sp>
        <p:nvSpPr>
          <p:cNvPr id="24" name="KPI 2 Unit"/>
          <p:cNvSpPr>
            <a:spLocks noGrp="1"/>
          </p:cNvSpPr>
          <p:nvPr>
            <p:ph type="body" idx="33"/>
          </p:nvPr>
        </p:nvSpPr>
        <p:spPr>
          <a:xfrm>
            <a:off x="4826000" y="3657600"/>
            <a:ext cx="1016000" cy="8890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2000">
                <a:solidFill>
                  <a:srgbClr val="2D3A52"/>
                </a:solidFill>
                <a:latin typeface="Noto Sans"/>
              </a:rPr>
              <a:t> bn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0" y="342900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96000" y="507365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26500" y="3429000"/>
            <a:ext cx="6350" cy="1651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KPI 3 Key"/>
          <p:cNvSpPr>
            <a:spLocks noGrp="1"/>
          </p:cNvSpPr>
          <p:nvPr>
            <p:ph type="body" idx="24"/>
          </p:nvPr>
        </p:nvSpPr>
        <p:spPr>
          <a:xfrm>
            <a:off x="6350000" y="4635500"/>
            <a:ext cx="2222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FACTORIES WORLDWIDE</a:t>
            </a:r>
          </a:p>
        </p:txBody>
      </p:sp>
      <p:sp>
        <p:nvSpPr>
          <p:cNvPr id="29" name="KPI 3 Delta"/>
          <p:cNvSpPr>
            <a:spLocks noGrp="1"/>
          </p:cNvSpPr>
          <p:nvPr>
            <p:ph type="body" idx="25"/>
          </p:nvPr>
        </p:nvSpPr>
        <p:spPr>
          <a:xfrm>
            <a:off x="6350000" y="4826000"/>
            <a:ext cx="2222500" cy="1651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>
                <a:solidFill>
                  <a:srgbClr val="8A6F2E"/>
                </a:solidFill>
                <a:latin typeface="Noto Sans Mono"/>
              </a:rPr>
              <a:t>8 regions</a:t>
            </a:r>
          </a:p>
        </p:txBody>
      </p:sp>
      <p:sp>
        <p:nvSpPr>
          <p:cNvPr id="30" name="KPI 3 Value"/>
          <p:cNvSpPr>
            <a:spLocks noGrp="1"/>
          </p:cNvSpPr>
          <p:nvPr>
            <p:ph type="body" idx="34"/>
          </p:nvPr>
        </p:nvSpPr>
        <p:spPr>
          <a:xfrm>
            <a:off x="6350000" y="3657600"/>
            <a:ext cx="1206500" cy="889000"/>
          </a:xfrm>
        </p:spPr>
        <p:txBody>
          <a:bodyPr lIns="0" tIns="0" rIns="0" bIns="0" wrap="square" anchor="b"/>
          <a:lstStyle/>
          <a:p>
            <a:pPr marL="0" indent="0" algn="r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40</a:t>
            </a:r>
          </a:p>
        </p:txBody>
      </p:sp>
      <p:sp>
        <p:nvSpPr>
          <p:cNvPr id="31" name="KPI 3 Unit"/>
          <p:cNvSpPr>
            <a:spLocks noGrp="1"/>
          </p:cNvSpPr>
          <p:nvPr>
            <p:ph type="body" idx="35"/>
          </p:nvPr>
        </p:nvSpPr>
        <p:spPr>
          <a:xfrm>
            <a:off x="7556500" y="3657600"/>
            <a:ext cx="1016000" cy="8890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8826500" y="342900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826500" y="507365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557000" y="3429000"/>
            <a:ext cx="6350" cy="1651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KPI 4 Key"/>
          <p:cNvSpPr>
            <a:spLocks noGrp="1"/>
          </p:cNvSpPr>
          <p:nvPr>
            <p:ph type="body" idx="26"/>
          </p:nvPr>
        </p:nvSpPr>
        <p:spPr>
          <a:xfrm>
            <a:off x="9080500" y="4635500"/>
            <a:ext cx="2222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GREEN ELECTRICITY</a:t>
            </a:r>
          </a:p>
        </p:txBody>
      </p:sp>
      <p:sp>
        <p:nvSpPr>
          <p:cNvPr id="36" name="KPI 4 Delta"/>
          <p:cNvSpPr>
            <a:spLocks noGrp="1"/>
          </p:cNvSpPr>
          <p:nvPr>
            <p:ph type="body" idx="27"/>
          </p:nvPr>
        </p:nvSpPr>
        <p:spPr>
          <a:xfrm>
            <a:off x="9080500" y="4826000"/>
            <a:ext cx="2222500" cy="1651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>
                <a:solidFill>
                  <a:srgbClr val="8A6F2E"/>
                </a:solidFill>
                <a:latin typeface="Noto Sans Mono"/>
              </a:rPr>
              <a:t>since 2020</a:t>
            </a:r>
          </a:p>
        </p:txBody>
      </p:sp>
      <p:sp>
        <p:nvSpPr>
          <p:cNvPr id="37" name="KPI 4 Value"/>
          <p:cNvSpPr>
            <a:spLocks noGrp="1"/>
          </p:cNvSpPr>
          <p:nvPr>
            <p:ph type="body" idx="36"/>
          </p:nvPr>
        </p:nvSpPr>
        <p:spPr>
          <a:xfrm>
            <a:off x="9080500" y="3657600"/>
            <a:ext cx="1206500" cy="889000"/>
          </a:xfrm>
        </p:spPr>
        <p:txBody>
          <a:bodyPr lIns="0" tIns="0" rIns="0" bIns="0" wrap="square" anchor="b"/>
          <a:lstStyle/>
          <a:p>
            <a:pPr marL="0" indent="0" algn="r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100</a:t>
            </a:r>
          </a:p>
        </p:txBody>
      </p:sp>
      <p:sp>
        <p:nvSpPr>
          <p:cNvPr id="38" name="KPI 4 Unit"/>
          <p:cNvSpPr>
            <a:spLocks noGrp="1"/>
          </p:cNvSpPr>
          <p:nvPr>
            <p:ph type="body" idx="37"/>
          </p:nvPr>
        </p:nvSpPr>
        <p:spPr>
          <a:xfrm>
            <a:off x="10287000" y="3657600"/>
            <a:ext cx="1016000" cy="8890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2000">
                <a:solidFill>
                  <a:srgbClr val="2D3A52"/>
                </a:solidFill>
                <a:latin typeface="Noto Sans"/>
              </a:rPr>
              <a:t>%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Feinschliff · 2-Column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LAYOUT · 2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TWO COLUMNS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Two halves, one frame.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175000"/>
            <a:ext cx="5308600" cy="3175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ol20 Number"/>
          <p:cNvSpPr>
            <a:spLocks noGrp="1"/>
          </p:cNvSpPr>
          <p:nvPr>
            <p:ph type="body" idx="20"/>
          </p:nvPr>
        </p:nvSpPr>
        <p:spPr>
          <a:xfrm>
            <a:off x="889000" y="3429000"/>
            <a:ext cx="48006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01 · CONSUMER</a:t>
            </a:r>
          </a:p>
        </p:txBody>
      </p:sp>
      <p:sp>
        <p:nvSpPr>
          <p:cNvPr id="12" name="Col20 Title"/>
          <p:cNvSpPr>
            <a:spLocks noGrp="1"/>
          </p:cNvSpPr>
          <p:nvPr>
            <p:ph type="body" idx="21"/>
          </p:nvPr>
        </p:nvSpPr>
        <p:spPr>
          <a:xfrm>
            <a:off x="889000" y="3708400"/>
            <a:ext cx="480060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Products designed around daily use, not corner-case specs.</a:t>
            </a:r>
          </a:p>
        </p:txBody>
      </p:sp>
      <p:sp>
        <p:nvSpPr>
          <p:cNvPr id="13" name="Col20 Body"/>
          <p:cNvSpPr>
            <a:spLocks noGrp="1"/>
          </p:cNvSpPr>
          <p:nvPr>
            <p:ph type="body" idx="22"/>
          </p:nvPr>
        </p:nvSpPr>
        <p:spPr>
          <a:xfrm>
            <a:off x="889000" y="4826000"/>
            <a:ext cx="4800600" cy="165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Ship features users actually touch — fewer modes, sharper defaults, faster onboarding.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8400" y="3175000"/>
            <a:ext cx="5308600" cy="3175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ol23 Number"/>
          <p:cNvSpPr>
            <a:spLocks noGrp="1"/>
          </p:cNvSpPr>
          <p:nvPr>
            <p:ph type="body" idx="23"/>
          </p:nvPr>
        </p:nvSpPr>
        <p:spPr>
          <a:xfrm>
            <a:off x="6502400" y="3429000"/>
            <a:ext cx="48006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02 · PLATFORM</a:t>
            </a:r>
          </a:p>
        </p:txBody>
      </p:sp>
      <p:sp>
        <p:nvSpPr>
          <p:cNvPr id="16" name="Col23 Title"/>
          <p:cNvSpPr>
            <a:spLocks noGrp="1"/>
          </p:cNvSpPr>
          <p:nvPr>
            <p:ph type="body" idx="24"/>
          </p:nvPr>
        </p:nvSpPr>
        <p:spPr>
          <a:xfrm>
            <a:off x="6502400" y="3708400"/>
            <a:ext cx="480060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A shared software backbone across every product we build.</a:t>
            </a:r>
          </a:p>
        </p:txBody>
      </p:sp>
      <p:sp>
        <p:nvSpPr>
          <p:cNvPr id="17" name="Col23 Body"/>
          <p:cNvSpPr>
            <a:spLocks noGrp="1"/>
          </p:cNvSpPr>
          <p:nvPr>
            <p:ph type="body" idx="25"/>
          </p:nvPr>
        </p:nvSpPr>
        <p:spPr>
          <a:xfrm>
            <a:off x="6502400" y="4826000"/>
            <a:ext cx="4800600" cy="165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One OS means one update path, one data contract, and one place to measure real-world usage.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Feinschliff · 3-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LAYOUT · 3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THREE PILLARS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Consumer, commercial, platform.</a:t>
            </a:r>
          </a:p>
        </p:txBody>
      </p:sp>
      <p:sp>
        <p:nvSpPr>
          <p:cNvPr id="10" name="Col20 Number"/>
          <p:cNvSpPr>
            <a:spLocks noGrp="1"/>
          </p:cNvSpPr>
          <p:nvPr>
            <p:ph type="body" idx="20"/>
          </p:nvPr>
        </p:nvSpPr>
        <p:spPr>
          <a:xfrm>
            <a:off x="635000" y="3175000"/>
            <a:ext cx="343535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01</a:t>
            </a:r>
          </a:p>
        </p:txBody>
      </p:sp>
      <p:sp>
        <p:nvSpPr>
          <p:cNvPr id="11" name="Col20 Title"/>
          <p:cNvSpPr>
            <a:spLocks noGrp="1"/>
          </p:cNvSpPr>
          <p:nvPr>
            <p:ph type="body" idx="21"/>
          </p:nvPr>
        </p:nvSpPr>
        <p:spPr>
          <a:xfrm>
            <a:off x="635000" y="3454400"/>
            <a:ext cx="343535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Consumer.</a:t>
            </a:r>
          </a:p>
        </p:txBody>
      </p:sp>
      <p:sp>
        <p:nvSpPr>
          <p:cNvPr id="12" name="Col20 Body"/>
          <p:cNvSpPr>
            <a:spLocks noGrp="1"/>
          </p:cNvSpPr>
          <p:nvPr>
            <p:ph type="body" idx="22"/>
          </p:nvPr>
        </p:nvSpPr>
        <p:spPr>
          <a:xfrm>
            <a:off x="635000" y="4572000"/>
            <a:ext cx="3435350" cy="165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Brand A, Brand B, Brand C, Brand D — placeholder column copy.</a:t>
            </a:r>
          </a:p>
        </p:txBody>
      </p:sp>
      <p:sp>
        <p:nvSpPr>
          <p:cNvPr id="13" name="Col23 Number"/>
          <p:cNvSpPr>
            <a:spLocks noGrp="1"/>
          </p:cNvSpPr>
          <p:nvPr>
            <p:ph type="body" idx="23"/>
          </p:nvPr>
        </p:nvSpPr>
        <p:spPr>
          <a:xfrm>
            <a:off x="4375150" y="3175000"/>
            <a:ext cx="343535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02</a:t>
            </a:r>
          </a:p>
        </p:txBody>
      </p:sp>
      <p:sp>
        <p:nvSpPr>
          <p:cNvPr id="14" name="Col23 Title"/>
          <p:cNvSpPr>
            <a:spLocks noGrp="1"/>
          </p:cNvSpPr>
          <p:nvPr>
            <p:ph type="body" idx="24"/>
          </p:nvPr>
        </p:nvSpPr>
        <p:spPr>
          <a:xfrm>
            <a:off x="4375150" y="3454400"/>
            <a:ext cx="343535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Commercial.</a:t>
            </a:r>
          </a:p>
        </p:txBody>
      </p:sp>
      <p:sp>
        <p:nvSpPr>
          <p:cNvPr id="15" name="Col23 Body"/>
          <p:cNvSpPr>
            <a:spLocks noGrp="1"/>
          </p:cNvSpPr>
          <p:nvPr>
            <p:ph type="body" idx="25"/>
          </p:nvPr>
        </p:nvSpPr>
        <p:spPr>
          <a:xfrm>
            <a:off x="4375150" y="4572000"/>
            <a:ext cx="3435350" cy="165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Products engineered for the commercial sector — hotels, retail, services, multi-site.</a:t>
            </a:r>
          </a:p>
        </p:txBody>
      </p:sp>
      <p:sp>
        <p:nvSpPr>
          <p:cNvPr id="16" name="Col26 Number"/>
          <p:cNvSpPr>
            <a:spLocks noGrp="1"/>
          </p:cNvSpPr>
          <p:nvPr>
            <p:ph type="body" idx="26"/>
          </p:nvPr>
        </p:nvSpPr>
        <p:spPr>
          <a:xfrm>
            <a:off x="8115300" y="3175000"/>
            <a:ext cx="343535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03</a:t>
            </a:r>
          </a:p>
        </p:txBody>
      </p:sp>
      <p:sp>
        <p:nvSpPr>
          <p:cNvPr id="17" name="Col26 Title"/>
          <p:cNvSpPr>
            <a:spLocks noGrp="1"/>
          </p:cNvSpPr>
          <p:nvPr>
            <p:ph type="body" idx="27"/>
          </p:nvPr>
        </p:nvSpPr>
        <p:spPr>
          <a:xfrm>
            <a:off x="8115300" y="3454400"/>
            <a:ext cx="343535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Platform.</a:t>
            </a:r>
          </a:p>
        </p:txBody>
      </p:sp>
      <p:sp>
        <p:nvSpPr>
          <p:cNvPr id="18" name="Col26 Body"/>
          <p:cNvSpPr>
            <a:spLocks noGrp="1"/>
          </p:cNvSpPr>
          <p:nvPr>
            <p:ph type="body" idx="28"/>
          </p:nvPr>
        </p:nvSpPr>
        <p:spPr>
          <a:xfrm>
            <a:off x="8115300" y="4572000"/>
            <a:ext cx="3435350" cy="165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Platform — the software layer shared across all of it.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Feinschliff · 4-Column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ROADMAP ·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PLAN, BUILD, PILOT, SCALE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The year, in four quarters.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175000"/>
            <a:ext cx="2654300" cy="2794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ol20 Number"/>
          <p:cNvSpPr>
            <a:spLocks noGrp="1"/>
          </p:cNvSpPr>
          <p:nvPr>
            <p:ph type="body" idx="20"/>
          </p:nvPr>
        </p:nvSpPr>
        <p:spPr>
          <a:xfrm>
            <a:off x="838200" y="3429000"/>
            <a:ext cx="22479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Q1 · PLAN</a:t>
            </a:r>
          </a:p>
        </p:txBody>
      </p:sp>
      <p:sp>
        <p:nvSpPr>
          <p:cNvPr id="12" name="Col20 Title"/>
          <p:cNvSpPr>
            <a:spLocks noGrp="1"/>
          </p:cNvSpPr>
          <p:nvPr>
            <p:ph type="body" idx="21"/>
          </p:nvPr>
        </p:nvSpPr>
        <p:spPr>
          <a:xfrm>
            <a:off x="838200" y="3708400"/>
            <a:ext cx="224790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7">
                <a:solidFill>
                  <a:srgbClr val="0B1A33"/>
                </a:solidFill>
                <a:latin typeface="Noto Sans Medium"/>
              </a:rPr>
              <a:t>Align the 2026 product roadmap across regions.</a:t>
            </a:r>
          </a:p>
        </p:txBody>
      </p:sp>
      <p:sp>
        <p:nvSpPr>
          <p:cNvPr id="13" name="Col20 Body"/>
          <p:cNvSpPr>
            <a:spLocks noGrp="1"/>
          </p:cNvSpPr>
          <p:nvPr>
            <p:ph type="body" idx="22"/>
          </p:nvPr>
        </p:nvSpPr>
        <p:spPr>
          <a:xfrm>
            <a:off x="838200" y="4826000"/>
            <a:ext cx="2247900" cy="165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Finalise priorities, staff crews, lock budget.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90900" y="3175000"/>
            <a:ext cx="2654300" cy="2794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ol23 Number"/>
          <p:cNvSpPr>
            <a:spLocks noGrp="1"/>
          </p:cNvSpPr>
          <p:nvPr>
            <p:ph type="body" idx="23"/>
          </p:nvPr>
        </p:nvSpPr>
        <p:spPr>
          <a:xfrm>
            <a:off x="3594100" y="3429000"/>
            <a:ext cx="22479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Q2 · BUILD</a:t>
            </a:r>
          </a:p>
        </p:txBody>
      </p:sp>
      <p:sp>
        <p:nvSpPr>
          <p:cNvPr id="16" name="Col23 Title"/>
          <p:cNvSpPr>
            <a:spLocks noGrp="1"/>
          </p:cNvSpPr>
          <p:nvPr>
            <p:ph type="body" idx="24"/>
          </p:nvPr>
        </p:nvSpPr>
        <p:spPr>
          <a:xfrm>
            <a:off x="3594100" y="3708400"/>
            <a:ext cx="224790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7">
                <a:solidFill>
                  <a:srgbClr val="0B1A33"/>
                </a:solidFill>
                <a:latin typeface="Noto Sans Medium"/>
              </a:rPr>
              <a:t>Ship the platform foundations and first feature set.</a:t>
            </a:r>
          </a:p>
        </p:txBody>
      </p:sp>
      <p:sp>
        <p:nvSpPr>
          <p:cNvPr id="17" name="Col23 Body"/>
          <p:cNvSpPr>
            <a:spLocks noGrp="1"/>
          </p:cNvSpPr>
          <p:nvPr>
            <p:ph type="body" idx="25"/>
          </p:nvPr>
        </p:nvSpPr>
        <p:spPr>
          <a:xfrm>
            <a:off x="3594100" y="4826000"/>
            <a:ext cx="2247900" cy="165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New OS core, updated Platform SDK.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6800" y="3175000"/>
            <a:ext cx="2654300" cy="2794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ol26 Number"/>
          <p:cNvSpPr>
            <a:spLocks noGrp="1"/>
          </p:cNvSpPr>
          <p:nvPr>
            <p:ph type="body" idx="26"/>
          </p:nvPr>
        </p:nvSpPr>
        <p:spPr>
          <a:xfrm>
            <a:off x="6350000" y="3429000"/>
            <a:ext cx="22479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Q3 · PILOT</a:t>
            </a:r>
          </a:p>
        </p:txBody>
      </p:sp>
      <p:sp>
        <p:nvSpPr>
          <p:cNvPr id="20" name="Col26 Title"/>
          <p:cNvSpPr>
            <a:spLocks noGrp="1"/>
          </p:cNvSpPr>
          <p:nvPr>
            <p:ph type="body" idx="27"/>
          </p:nvPr>
        </p:nvSpPr>
        <p:spPr>
          <a:xfrm>
            <a:off x="6350000" y="3708400"/>
            <a:ext cx="224790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7">
                <a:solidFill>
                  <a:srgbClr val="0B1A33"/>
                </a:solidFill>
                <a:latin typeface="Noto Sans Medium"/>
              </a:rPr>
              <a:t>Field-test with 2,000 customers across three regions.</a:t>
            </a:r>
          </a:p>
        </p:txBody>
      </p:sp>
      <p:sp>
        <p:nvSpPr>
          <p:cNvPr id="21" name="Col26 Body"/>
          <p:cNvSpPr>
            <a:spLocks noGrp="1"/>
          </p:cNvSpPr>
          <p:nvPr>
            <p:ph type="body" idx="28"/>
          </p:nvPr>
        </p:nvSpPr>
        <p:spPr>
          <a:xfrm>
            <a:off x="6350000" y="4826000"/>
            <a:ext cx="2247900" cy="165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Instrument, measure, iterate weekly.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2700" y="3175000"/>
            <a:ext cx="2654300" cy="2794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ol29 Number"/>
          <p:cNvSpPr>
            <a:spLocks noGrp="1"/>
          </p:cNvSpPr>
          <p:nvPr>
            <p:ph type="body" idx="29"/>
          </p:nvPr>
        </p:nvSpPr>
        <p:spPr>
          <a:xfrm>
            <a:off x="9105900" y="3429000"/>
            <a:ext cx="22479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Q4 · SCALE</a:t>
            </a:r>
          </a:p>
        </p:txBody>
      </p:sp>
      <p:sp>
        <p:nvSpPr>
          <p:cNvPr id="24" name="Col29 Title"/>
          <p:cNvSpPr>
            <a:spLocks noGrp="1"/>
          </p:cNvSpPr>
          <p:nvPr>
            <p:ph type="body" idx="30"/>
          </p:nvPr>
        </p:nvSpPr>
        <p:spPr>
          <a:xfrm>
            <a:off x="9105900" y="3708400"/>
            <a:ext cx="224790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7">
                <a:solidFill>
                  <a:srgbClr val="0B1A33"/>
                </a:solidFill>
                <a:latin typeface="Noto Sans Medium"/>
              </a:rPr>
              <a:t>Roll out globally with phased regional launches.</a:t>
            </a:r>
          </a:p>
        </p:txBody>
      </p:sp>
      <p:sp>
        <p:nvSpPr>
          <p:cNvPr id="25" name="Col29 Body"/>
          <p:cNvSpPr>
            <a:spLocks noGrp="1"/>
          </p:cNvSpPr>
          <p:nvPr>
            <p:ph type="body" idx="31"/>
          </p:nvPr>
        </p:nvSpPr>
        <p:spPr>
          <a:xfrm>
            <a:off x="9105900" y="4826000"/>
            <a:ext cx="2247900" cy="165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EMEA, then NAM, then APAC.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einschliff · Text + Pictur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604000" y="1270000"/>
            <a:ext cx="4953000" cy="4572000"/>
          </a:xfrm>
          <a:prstGeom prst="rect">
            <a:avLst/>
          </a:prstGeom>
          <a:pattFill prst="wdDnDiag">
            <a:fgClr>
              <a:srgbClr val="D6D1C2"/>
            </a:fgClr>
            <a:bgClr>
              <a:srgbClr val="FAF8F3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04000" y="1270000"/>
            <a:ext cx="4953000" cy="457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spc="90">
                <a:solidFill>
                  <a:srgbClr val="2D3A52"/>
                </a:solidFill>
                <a:latin typeface="Noto Sans Mono"/>
              </a:rPr>
              <a:t>PRODUCT HERO</a:t>
            </a:r>
          </a:p>
        </p:txBody>
      </p:sp>
      <p:sp>
        <p:nvSpPr>
          <p:cNvPr id="4" name="Freeform 3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LAYOUT · TEXT + PICTURE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9" name="Rectangle 8"/>
          <p:cNvSpPr/>
          <p:nvPr/>
        </p:nvSpPr>
        <p:spPr>
          <a:xfrm>
            <a:off x="635000" y="1270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yebrow"/>
          <p:cNvSpPr>
            <a:spLocks noGrp="1"/>
          </p:cNvSpPr>
          <p:nvPr>
            <p:ph type="body" idx="10"/>
          </p:nvPr>
        </p:nvSpPr>
        <p:spPr>
          <a:xfrm>
            <a:off x="635000" y="1524000"/>
            <a:ext cx="4826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FLAGSHIP · 2026</a:t>
            </a:r>
          </a:p>
        </p:txBody>
      </p:sp>
      <p:sp>
        <p:nvSpPr>
          <p:cNvPr id="11" name="Title"/>
          <p:cNvSpPr>
            <a:spLocks noGrp="1"/>
          </p:cNvSpPr>
          <p:nvPr>
            <p:ph type="title"/>
          </p:nvPr>
        </p:nvSpPr>
        <p:spPr>
          <a:xfrm>
            <a:off x="635000" y="1778000"/>
            <a:ext cx="4826000" cy="2413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A flagship that</a:t>
            </a:r>
          </a:p>
          <a:p>
            <a:pPr marL="0" indent="0" algn="l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learns the</a:t>
            </a:r>
          </a:p>
          <a:p>
            <a:pPr marL="0" indent="0" algn="l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user.</a:t>
            </a:r>
          </a:p>
        </p:txBody>
      </p:sp>
      <p:sp>
        <p:nvSpPr>
          <p:cNvPr id="12" name="Body"/>
          <p:cNvSpPr>
            <a:spLocks noGrp="1"/>
          </p:cNvSpPr>
          <p:nvPr>
            <p:ph type="body" idx="11"/>
          </p:nvPr>
        </p:nvSpPr>
        <p:spPr>
          <a:xfrm>
            <a:off x="635000" y="4445000"/>
            <a:ext cx="4572000" cy="889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>
                <a:solidFill>
                  <a:srgbClr val="2D3A52"/>
                </a:solidFill>
                <a:latin typeface="Noto Sans"/>
              </a:rPr>
              <a:t>Adaptive heat zones that calibrate to each pan automatically and hold their target to within 2 °C, across the whole surface.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000" y="5524500"/>
            <a:ext cx="1651000" cy="508000"/>
          </a:xfrm>
          <a:prstGeom prst="rect">
            <a:avLst/>
          </a:prstGeom>
          <a:solidFill>
            <a:srgbClr val="C9A24A"/>
          </a:solidFill>
          <a:ln w="12700">
            <a:solidFill>
              <a:srgbClr val="C9A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/>
          <a:lstStyle/>
          <a:p>
            <a:pPr algn="l"/>
            <a:r>
              <a:rPr sz="1100">
                <a:solidFill>
                  <a:srgbClr val="0B1A33"/>
                </a:solidFill>
                <a:latin typeface="Noto Sans Medium"/>
              </a:rPr>
              <a:t>Read the brief  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13000" y="5524500"/>
            <a:ext cx="1333500" cy="508000"/>
          </a:xfrm>
          <a:prstGeom prst="rect">
            <a:avLst/>
          </a:prstGeom>
          <a:noFill/>
          <a:ln w="12700">
            <a:solidFill>
              <a:srgbClr val="0B1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/>
          <a:lstStyle/>
          <a:p>
            <a:pPr algn="l"/>
            <a:r>
              <a:rPr sz="1100">
                <a:solidFill>
                  <a:srgbClr val="0B1A33"/>
                </a:solidFill>
                <a:latin typeface="Noto Sans Medium"/>
              </a:rPr>
              <a:t>Spec sheet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Full-bleed Cov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pattFill prst="wdDnDiag">
            <a:fgClr>
              <a:srgbClr val="D6D1C2"/>
            </a:fgClr>
            <a:bgClr>
              <a:srgbClr val="FAF8F3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spc="90">
                <a:solidFill>
                  <a:srgbClr val="2D3A52"/>
                </a:solidFill>
                <a:latin typeface="Noto Sans Mono"/>
              </a:rPr>
              <a:t>DROP COVER IMAGE</a:t>
            </a:r>
          </a:p>
        </p:txBody>
      </p:sp>
      <p:sp>
        <p:nvSpPr>
          <p:cNvPr id="4" name="Freeform 3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COVER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9" name="Rectangle 8"/>
          <p:cNvSpPr/>
          <p:nvPr/>
        </p:nvSpPr>
        <p:spPr>
          <a:xfrm>
            <a:off x="635000" y="4318000"/>
            <a:ext cx="5207000" cy="1778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89000" y="45212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Eyebrow"/>
          <p:cNvSpPr>
            <a:spLocks noGrp="1"/>
          </p:cNvSpPr>
          <p:nvPr>
            <p:ph type="body" idx="10"/>
          </p:nvPr>
        </p:nvSpPr>
        <p:spPr>
          <a:xfrm>
            <a:off x="889000" y="4749800"/>
            <a:ext cx="4699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FULL-BLEED COVER</a:t>
            </a:r>
          </a:p>
        </p:txBody>
      </p:sp>
      <p:sp>
        <p:nvSpPr>
          <p:cNvPr id="12" name="Title"/>
          <p:cNvSpPr>
            <a:spLocks noGrp="1"/>
          </p:cNvSpPr>
          <p:nvPr>
            <p:ph type="title"/>
          </p:nvPr>
        </p:nvSpPr>
        <p:spPr>
          <a:xfrm>
            <a:off x="889000" y="5016500"/>
            <a:ext cx="4699000" cy="1016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3600" spc="-108">
                <a:solidFill>
                  <a:srgbClr val="0B1A33"/>
                </a:solidFill>
                <a:latin typeface="Noto Sans Light"/>
              </a:rPr>
              <a:t>An image does</a:t>
            </a:r>
          </a:p>
          <a:p>
            <a:pPr marL="0" indent="0" algn="l">
              <a:buNone/>
            </a:pPr>
            <a:r>
              <a:rPr lang="en-US" sz="3600" spc="-108">
                <a:solidFill>
                  <a:srgbClr val="0B1A33"/>
                </a:solidFill>
                <a:latin typeface="Noto Sans Light"/>
              </a:rPr>
              <a:t>the talking.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Bar Char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DATA · Q3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SHARE OF REVENUE BY REGION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EMEA still leads; NAM closing the gap.</a:t>
            </a:r>
          </a:p>
        </p:txBody>
      </p:sp>
      <p:sp>
        <p:nvSpPr>
          <p:cNvPr id="10" name="Bar 1 Label"/>
          <p:cNvSpPr>
            <a:spLocks noGrp="1"/>
          </p:cNvSpPr>
          <p:nvPr>
            <p:ph type="body" idx="20"/>
          </p:nvPr>
        </p:nvSpPr>
        <p:spPr>
          <a:xfrm>
            <a:off x="635000" y="3429000"/>
            <a:ext cx="1524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EMEA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11400" y="3479800"/>
            <a:ext cx="8331200" cy="2032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11400" y="3479800"/>
            <a:ext cx="5162550" cy="2032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Bar 1 Value"/>
          <p:cNvSpPr>
            <a:spLocks noGrp="1"/>
          </p:cNvSpPr>
          <p:nvPr>
            <p:ph type="body" idx="21"/>
          </p:nvPr>
        </p:nvSpPr>
        <p:spPr>
          <a:xfrm>
            <a:off x="10795000" y="3467100"/>
            <a:ext cx="762000" cy="2032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62%</a:t>
            </a:r>
          </a:p>
        </p:txBody>
      </p:sp>
      <p:sp>
        <p:nvSpPr>
          <p:cNvPr id="14" name="Bar 2 Label"/>
          <p:cNvSpPr>
            <a:spLocks noGrp="1"/>
          </p:cNvSpPr>
          <p:nvPr>
            <p:ph type="body" idx="22"/>
          </p:nvPr>
        </p:nvSpPr>
        <p:spPr>
          <a:xfrm>
            <a:off x="635000" y="3937000"/>
            <a:ext cx="1524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NAM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11400" y="3987800"/>
            <a:ext cx="8331200" cy="2032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11400" y="3987800"/>
            <a:ext cx="2000250" cy="2032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Bar 2 Value"/>
          <p:cNvSpPr>
            <a:spLocks noGrp="1"/>
          </p:cNvSpPr>
          <p:nvPr>
            <p:ph type="body" idx="23"/>
          </p:nvPr>
        </p:nvSpPr>
        <p:spPr>
          <a:xfrm>
            <a:off x="10795000" y="3975100"/>
            <a:ext cx="762000" cy="2032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24%</a:t>
            </a:r>
          </a:p>
        </p:txBody>
      </p:sp>
      <p:sp>
        <p:nvSpPr>
          <p:cNvPr id="18" name="Bar 3 Label"/>
          <p:cNvSpPr>
            <a:spLocks noGrp="1"/>
          </p:cNvSpPr>
          <p:nvPr>
            <p:ph type="body" idx="24"/>
          </p:nvPr>
        </p:nvSpPr>
        <p:spPr>
          <a:xfrm>
            <a:off x="635000" y="4445000"/>
            <a:ext cx="1524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APAC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11400" y="4495800"/>
            <a:ext cx="8331200" cy="2032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11400" y="4495800"/>
            <a:ext cx="914400" cy="2032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Bar 3 Value"/>
          <p:cNvSpPr>
            <a:spLocks noGrp="1"/>
          </p:cNvSpPr>
          <p:nvPr>
            <p:ph type="body" idx="25"/>
          </p:nvPr>
        </p:nvSpPr>
        <p:spPr>
          <a:xfrm>
            <a:off x="10795000" y="4483100"/>
            <a:ext cx="762000" cy="2032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11%</a:t>
            </a:r>
          </a:p>
        </p:txBody>
      </p:sp>
      <p:sp>
        <p:nvSpPr>
          <p:cNvPr id="22" name="Bar 4 Label"/>
          <p:cNvSpPr>
            <a:spLocks noGrp="1"/>
          </p:cNvSpPr>
          <p:nvPr>
            <p:ph type="body" idx="26"/>
          </p:nvPr>
        </p:nvSpPr>
        <p:spPr>
          <a:xfrm>
            <a:off x="635000" y="4953000"/>
            <a:ext cx="1524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LATAM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11400" y="5003800"/>
            <a:ext cx="8331200" cy="2032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11400" y="5003800"/>
            <a:ext cx="247650" cy="2032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Bar 4 Value"/>
          <p:cNvSpPr>
            <a:spLocks noGrp="1"/>
          </p:cNvSpPr>
          <p:nvPr>
            <p:ph type="body" idx="27"/>
          </p:nvPr>
        </p:nvSpPr>
        <p:spPr>
          <a:xfrm>
            <a:off x="10795000" y="4991100"/>
            <a:ext cx="762000" cy="2032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3%</a:t>
            </a:r>
          </a:p>
        </p:txBody>
      </p:sp>
      <p:sp>
        <p:nvSpPr>
          <p:cNvPr id="26" name="Figure caption"/>
          <p:cNvSpPr>
            <a:spLocks noGrp="1"/>
          </p:cNvSpPr>
          <p:nvPr>
            <p:ph type="body" idx="40"/>
          </p:nvPr>
        </p:nvSpPr>
        <p:spPr>
          <a:xfrm>
            <a:off x="635000" y="5842000"/>
            <a:ext cx="10922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FIGURE 01 · SAMPLE DATA, Q3 FY25 · N = €14.1 BN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Components Showcas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UI KIT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UI LIBRARY PREVIEW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Flat, sharp, quiet components.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175000"/>
            <a:ext cx="5308600" cy="3175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9800" y="3479800"/>
            <a:ext cx="254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84">
                <a:solidFill>
                  <a:srgbClr val="0B1A33"/>
                </a:solidFill>
                <a:latin typeface="Noto Sans Mono"/>
              </a:rPr>
              <a:t>BUTTONS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800" y="3860800"/>
            <a:ext cx="1270000" cy="406400"/>
          </a:xfrm>
          <a:prstGeom prst="rect">
            <a:avLst/>
          </a:prstGeom>
          <a:solidFill>
            <a:srgbClr val="C9A24A"/>
          </a:solidFill>
          <a:ln w="12700">
            <a:solidFill>
              <a:srgbClr val="C9A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/>
          <a:lstStyle/>
          <a:p>
            <a:pPr algn="l"/>
            <a:r>
              <a:rPr sz="1100">
                <a:solidFill>
                  <a:srgbClr val="0B1A33"/>
                </a:solidFill>
                <a:latin typeface="Noto Sans Medium"/>
              </a:rPr>
              <a:t>Primary  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36800" y="3860800"/>
            <a:ext cx="1270000" cy="406400"/>
          </a:xfrm>
          <a:prstGeom prst="rect">
            <a:avLst/>
          </a:prstGeom>
          <a:solidFill>
            <a:srgbClr val="0B1A33"/>
          </a:solidFill>
          <a:ln w="12700">
            <a:solidFill>
              <a:srgbClr val="0B1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/>
          <a:lstStyle/>
          <a:p>
            <a:pPr algn="l"/>
            <a:r>
              <a:rPr sz="1100">
                <a:solidFill>
                  <a:srgbClr val="FFFFFF"/>
                </a:solidFill>
                <a:latin typeface="Noto Sans Medium"/>
              </a:rPr>
              <a:t>Default  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33800" y="3860800"/>
            <a:ext cx="1079500" cy="406400"/>
          </a:xfrm>
          <a:prstGeom prst="rect">
            <a:avLst/>
          </a:prstGeom>
          <a:noFill/>
          <a:ln w="12700">
            <a:solidFill>
              <a:srgbClr val="0B1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/>
          <a:lstStyle/>
          <a:p>
            <a:pPr algn="l"/>
            <a:r>
              <a:rPr sz="1100">
                <a:solidFill>
                  <a:srgbClr val="0B1A33"/>
                </a:solidFill>
                <a:latin typeface="Noto Sans Medium"/>
              </a:rPr>
              <a:t>Ghost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800" y="4622800"/>
            <a:ext cx="254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84">
                <a:solidFill>
                  <a:srgbClr val="0B1A33"/>
                </a:solidFill>
                <a:latin typeface="Noto Sans Mono"/>
              </a:rPr>
              <a:t>TAGS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800" y="4940300"/>
            <a:ext cx="1111250" cy="279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4300" rIns="114300"/>
          <a:lstStyle/>
          <a:p>
            <a:pPr algn="l"/>
            <a:r>
              <a:rPr sz="800" spc="80">
                <a:solidFill>
                  <a:srgbClr val="FFFFFF"/>
                </a:solidFill>
                <a:latin typeface="Noto Sans Mono"/>
              </a:rPr>
              <a:t>PRODUCTION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46300" y="4940300"/>
            <a:ext cx="889000" cy="2794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4300" rIns="114300"/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FEATURED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30550" y="4940300"/>
            <a:ext cx="571500" cy="279400"/>
          </a:xfrm>
          <a:prstGeom prst="rect">
            <a:avLst/>
          </a:prstGeom>
          <a:solidFill>
            <a:srgbClr val="E4C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4300" rIns="114300"/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BETA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97300" y="4940300"/>
            <a:ext cx="952500" cy="279400"/>
          </a:xfrm>
          <a:prstGeom prst="rect">
            <a:avLst/>
          </a:prstGeom>
          <a:noFill/>
          <a:ln w="6350">
            <a:solidFill>
              <a:srgbClr val="0B1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4300" rIns="114300"/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ARCHIVED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8400" y="3175000"/>
            <a:ext cx="5308600" cy="3175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3200" y="3479800"/>
            <a:ext cx="254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84">
                <a:solidFill>
                  <a:srgbClr val="0B1A33"/>
                </a:solidFill>
                <a:latin typeface="Noto Sans Mono"/>
              </a:rPr>
              <a:t>RULES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53200" y="3987800"/>
            <a:ext cx="355600" cy="635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3200" y="4076700"/>
            <a:ext cx="4699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70">
                <a:solidFill>
                  <a:srgbClr val="2D3A52"/>
                </a:solidFill>
                <a:latin typeface="Noto Sans Mono"/>
              </a:rPr>
              <a:t>SECTION · 56 × 1 · INK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53200" y="4622800"/>
            <a:ext cx="508000" cy="254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53200" y="4711700"/>
            <a:ext cx="4699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70">
                <a:solidFill>
                  <a:srgbClr val="2D3A52"/>
                </a:solidFill>
                <a:latin typeface="Noto Sans Mono"/>
              </a:rPr>
              <a:t>EMPHASIS · 80 × 4 · ORANGE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53200" y="5257800"/>
            <a:ext cx="4699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53200" y="5346700"/>
            <a:ext cx="4699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70">
                <a:solidFill>
                  <a:srgbClr val="2D3A52"/>
                </a:solidFill>
                <a:latin typeface="Noto Sans Mono"/>
              </a:rPr>
              <a:t>HAIRLINE · WIDTH × 1 · FOG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Quote">
    <p:bg>
      <p:bgPr>
        <a:solidFill>
          <a:srgbClr val="C9A2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VOICE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2667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Quote"/>
          <p:cNvSpPr>
            <a:spLocks noGrp="1"/>
          </p:cNvSpPr>
          <p:nvPr>
            <p:ph type="title"/>
          </p:nvPr>
        </p:nvSpPr>
        <p:spPr>
          <a:xfrm>
            <a:off x="635000" y="2921000"/>
            <a:ext cx="8890000" cy="2667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200" spc="-105">
                <a:solidFill>
                  <a:srgbClr val="0B1A33"/>
                </a:solidFill>
                <a:latin typeface="Noto Sans Light"/>
              </a:rPr>
              <a:t>“Write like an engineer explaining their work to a colleague they respect. Short sentences. Concrete nouns. No superlatives.”</a:t>
            </a:r>
          </a:p>
        </p:txBody>
      </p:sp>
      <p:sp>
        <p:nvSpPr>
          <p:cNvPr id="9" name="Attribution"/>
          <p:cNvSpPr>
            <a:spLocks noGrp="1"/>
          </p:cNvSpPr>
          <p:nvPr>
            <p:ph type="body" idx="10"/>
          </p:nvPr>
        </p:nvSpPr>
        <p:spPr>
          <a:xfrm>
            <a:off x="635000" y="5715000"/>
            <a:ext cx="10922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000" spc="120" cap="all">
                <a:solidFill>
                  <a:srgbClr val="0B1A33"/>
                </a:solidFill>
                <a:latin typeface="Noto Sans Mono"/>
              </a:rPr>
              <a:t>FEINSCHLIFF. DESIGN SYSTEM · VOICE GUIDELINE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End">
    <p:bg>
      <p:bgPr>
        <a:solidFill>
          <a:srgbClr val="C9A2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5715000" y="2413000"/>
            <a:ext cx="762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itle"/>
          <p:cNvSpPr>
            <a:spLocks noGrp="1"/>
          </p:cNvSpPr>
          <p:nvPr>
            <p:ph type="title"/>
          </p:nvPr>
        </p:nvSpPr>
        <p:spPr>
          <a:xfrm>
            <a:off x="635000" y="2667000"/>
            <a:ext cx="10922000" cy="1778000"/>
          </a:xfrm>
        </p:spPr>
        <p:txBody>
          <a:bodyPr lIns="0" tIns="0" rIns="0" bIns="0" wrap="square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0000" spc="-350">
                <a:solidFill>
                  <a:srgbClr val="0B1A33"/>
                </a:solidFill>
                <a:latin typeface="Noto Sans Light"/>
              </a:rPr>
              <a:t>Thank you.</a:t>
            </a:r>
          </a:p>
        </p:txBody>
      </p:sp>
      <p:sp>
        <p:nvSpPr>
          <p:cNvPr id="9" name="Caption"/>
          <p:cNvSpPr>
            <a:spLocks noGrp="1"/>
          </p:cNvSpPr>
          <p:nvPr>
            <p:ph type="body" idx="10"/>
          </p:nvPr>
        </p:nvSpPr>
        <p:spPr>
          <a:xfrm>
            <a:off x="635000" y="4572000"/>
            <a:ext cx="10922000" cy="2540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FEINSCHLIFF. DESIGN SYSTEM · V1.0 · 2026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Graphica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GRAPHICAL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SHARE OF REVENUE BY REGION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EMEA still leads; NAM closing the gap.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30400" y="3219450"/>
            <a:ext cx="5435600" cy="3175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000" y="367665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30400" y="3727450"/>
            <a:ext cx="2101850" cy="3175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000" y="418465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30400" y="4235450"/>
            <a:ext cx="965200" cy="3175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000" y="469265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30400" y="4743450"/>
            <a:ext cx="260350" cy="3175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000" y="520065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ar 1 Label"/>
          <p:cNvSpPr>
            <a:spLocks noGrp="1"/>
          </p:cNvSpPr>
          <p:nvPr>
            <p:ph type="body" idx="20"/>
          </p:nvPr>
        </p:nvSpPr>
        <p:spPr>
          <a:xfrm>
            <a:off x="635000" y="3289300"/>
            <a:ext cx="1143000" cy="1778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EMEA</a:t>
            </a:r>
          </a:p>
        </p:txBody>
      </p:sp>
      <p:sp>
        <p:nvSpPr>
          <p:cNvPr id="19" name="Bar 1 Value"/>
          <p:cNvSpPr>
            <a:spLocks noGrp="1"/>
          </p:cNvSpPr>
          <p:nvPr>
            <p:ph type="body" idx="21"/>
          </p:nvPr>
        </p:nvSpPr>
        <p:spPr>
          <a:xfrm>
            <a:off x="10795000" y="3289300"/>
            <a:ext cx="762000" cy="1778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62%</a:t>
            </a:r>
          </a:p>
        </p:txBody>
      </p:sp>
      <p:sp>
        <p:nvSpPr>
          <p:cNvPr id="20" name="Bar 2 Label"/>
          <p:cNvSpPr>
            <a:spLocks noGrp="1"/>
          </p:cNvSpPr>
          <p:nvPr>
            <p:ph type="body" idx="24"/>
          </p:nvPr>
        </p:nvSpPr>
        <p:spPr>
          <a:xfrm>
            <a:off x="635000" y="3797300"/>
            <a:ext cx="1143000" cy="1778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NAM</a:t>
            </a:r>
          </a:p>
        </p:txBody>
      </p:sp>
      <p:sp>
        <p:nvSpPr>
          <p:cNvPr id="21" name="Bar 2 Value"/>
          <p:cNvSpPr>
            <a:spLocks noGrp="1"/>
          </p:cNvSpPr>
          <p:nvPr>
            <p:ph type="body" idx="25"/>
          </p:nvPr>
        </p:nvSpPr>
        <p:spPr>
          <a:xfrm>
            <a:off x="10795000" y="3797300"/>
            <a:ext cx="762000" cy="1778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24%</a:t>
            </a:r>
          </a:p>
        </p:txBody>
      </p:sp>
      <p:sp>
        <p:nvSpPr>
          <p:cNvPr id="22" name="Bar 3 Label"/>
          <p:cNvSpPr>
            <a:spLocks noGrp="1"/>
          </p:cNvSpPr>
          <p:nvPr>
            <p:ph type="body" idx="28"/>
          </p:nvPr>
        </p:nvSpPr>
        <p:spPr>
          <a:xfrm>
            <a:off x="635000" y="4305300"/>
            <a:ext cx="1143000" cy="1778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APAC</a:t>
            </a:r>
          </a:p>
        </p:txBody>
      </p:sp>
      <p:sp>
        <p:nvSpPr>
          <p:cNvPr id="23" name="Bar 3 Value"/>
          <p:cNvSpPr>
            <a:spLocks noGrp="1"/>
          </p:cNvSpPr>
          <p:nvPr>
            <p:ph type="body" idx="29"/>
          </p:nvPr>
        </p:nvSpPr>
        <p:spPr>
          <a:xfrm>
            <a:off x="10795000" y="4305300"/>
            <a:ext cx="762000" cy="1778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11%</a:t>
            </a:r>
          </a:p>
        </p:txBody>
      </p:sp>
      <p:sp>
        <p:nvSpPr>
          <p:cNvPr id="24" name="Bar 4 Label"/>
          <p:cNvSpPr>
            <a:spLocks noGrp="1"/>
          </p:cNvSpPr>
          <p:nvPr>
            <p:ph type="body" idx="32"/>
          </p:nvPr>
        </p:nvSpPr>
        <p:spPr>
          <a:xfrm>
            <a:off x="635000" y="4813300"/>
            <a:ext cx="1143000" cy="1778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LATAM</a:t>
            </a:r>
          </a:p>
        </p:txBody>
      </p:sp>
      <p:sp>
        <p:nvSpPr>
          <p:cNvPr id="25" name="Bar 4 Value"/>
          <p:cNvSpPr>
            <a:spLocks noGrp="1"/>
          </p:cNvSpPr>
          <p:nvPr>
            <p:ph type="body" idx="33"/>
          </p:nvPr>
        </p:nvSpPr>
        <p:spPr>
          <a:xfrm>
            <a:off x="10795000" y="4813300"/>
            <a:ext cx="762000" cy="1778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3%</a:t>
            </a:r>
          </a:p>
        </p:txBody>
      </p:sp>
      <p:sp>
        <p:nvSpPr>
          <p:cNvPr id="26" name="Source"/>
          <p:cNvSpPr>
            <a:spLocks noGrp="1"/>
          </p:cNvSpPr>
          <p:nvPr>
            <p:ph type="body" idx="60"/>
          </p:nvPr>
        </p:nvSpPr>
        <p:spPr>
          <a:xfrm>
            <a:off x="635000" y="6286500"/>
            <a:ext cx="109220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FIGURE 01 · SAMPLE DATA, Q3 FY25 · N = €14.1 BN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Action 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MCK · ACTION TITLE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Kicker"/>
          <p:cNvSpPr>
            <a:spLocks noGrp="1"/>
          </p:cNvSpPr>
          <p:nvPr>
            <p:ph type="body" idx="10"/>
          </p:nvPr>
        </p:nvSpPr>
        <p:spPr>
          <a:xfrm>
            <a:off x="635000" y="1397000"/>
            <a:ext cx="10922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ACTION-TITLE LAYOUT</a:t>
            </a:r>
          </a:p>
        </p:txBody>
      </p:sp>
      <p:sp>
        <p:nvSpPr>
          <p:cNvPr id="8" name="Action Title"/>
          <p:cNvSpPr>
            <a:spLocks noGrp="1"/>
          </p:cNvSpPr>
          <p:nvPr>
            <p:ph type="title"/>
          </p:nvPr>
        </p:nvSpPr>
        <p:spPr>
          <a:xfrm>
            <a:off x="635000" y="1714500"/>
            <a:ext cx="10922000" cy="165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000" spc="-80">
                <a:solidFill>
                  <a:srgbClr val="0B1A33"/>
                </a:solidFill>
                <a:latin typeface="Noto Sans Medium"/>
              </a:rPr>
              <a:t>Adopting the new platform will lift per-account active time by ~18% within two release cycles.</a:t>
            </a:r>
          </a:p>
        </p:txBody>
      </p:sp>
      <p:sp>
        <p:nvSpPr>
          <p:cNvPr id="9" name="Supporting Body"/>
          <p:cNvSpPr>
            <a:spLocks noGrp="1"/>
          </p:cNvSpPr>
          <p:nvPr>
            <p:ph type="body" idx="11"/>
          </p:nvPr>
        </p:nvSpPr>
        <p:spPr>
          <a:xfrm>
            <a:off x="635000" y="3810000"/>
            <a:ext cx="5207000" cy="2159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>
                <a:solidFill>
                  <a:srgbClr val="2D3A52"/>
                </a:solidFill>
                <a:latin typeface="Noto Sans"/>
              </a:rPr>
              <a:t>In the regional pilot, accounts on the updated platform opened the app 2.3× more often and ran guided sessions 41% more per week.</a:t>
            </a:r>
          </a:p>
        </p:txBody>
      </p:sp>
      <p:sp>
        <p:nvSpPr>
          <p:cNvPr id="10" name="KPI 1 Value"/>
          <p:cNvSpPr>
            <a:spLocks noGrp="1"/>
          </p:cNvSpPr>
          <p:nvPr>
            <p:ph type="body" idx="20"/>
          </p:nvPr>
        </p:nvSpPr>
        <p:spPr>
          <a:xfrm>
            <a:off x="6350000" y="3810000"/>
            <a:ext cx="1841500" cy="889000"/>
          </a:xfrm>
        </p:spPr>
        <p:txBody>
          <a:bodyPr lIns="0" tIns="0" rIns="0" bIns="0" wrap="square" anchor="b"/>
          <a:lstStyle/>
          <a:p>
            <a:pPr marL="0" indent="0" algn="r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+18</a:t>
            </a:r>
          </a:p>
        </p:txBody>
      </p:sp>
      <p:sp>
        <p:nvSpPr>
          <p:cNvPr id="11" name="KPI 1 Unit"/>
          <p:cNvSpPr>
            <a:spLocks noGrp="1"/>
          </p:cNvSpPr>
          <p:nvPr>
            <p:ph type="body" idx="21"/>
          </p:nvPr>
        </p:nvSpPr>
        <p:spPr>
          <a:xfrm>
            <a:off x="8191500" y="3810000"/>
            <a:ext cx="635000" cy="8890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2000">
                <a:solidFill>
                  <a:srgbClr val="2D3A52"/>
                </a:solidFill>
                <a:latin typeface="Noto Sans"/>
              </a:rPr>
              <a:t>%</a:t>
            </a:r>
          </a:p>
        </p:txBody>
      </p:sp>
      <p:sp>
        <p:nvSpPr>
          <p:cNvPr id="12" name="KPI 1 Key"/>
          <p:cNvSpPr>
            <a:spLocks noGrp="1"/>
          </p:cNvSpPr>
          <p:nvPr>
            <p:ph type="body" idx="22"/>
          </p:nvPr>
        </p:nvSpPr>
        <p:spPr>
          <a:xfrm>
            <a:off x="6350000" y="4800600"/>
            <a:ext cx="2476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ACTIVE TIME / WEEK</a:t>
            </a:r>
          </a:p>
        </p:txBody>
      </p:sp>
      <p:sp>
        <p:nvSpPr>
          <p:cNvPr id="13" name="KPI 1 Delta"/>
          <p:cNvSpPr>
            <a:spLocks noGrp="1"/>
          </p:cNvSpPr>
          <p:nvPr>
            <p:ph type="body" idx="23"/>
          </p:nvPr>
        </p:nvSpPr>
        <p:spPr>
          <a:xfrm>
            <a:off x="6350000" y="5003800"/>
            <a:ext cx="2476500" cy="1651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>
                <a:solidFill>
                  <a:srgbClr val="8A6F2E"/>
                </a:solidFill>
                <a:latin typeface="Noto Sans Mono"/>
              </a:rPr>
              <a:t>vs. prior platform</a:t>
            </a:r>
          </a:p>
        </p:txBody>
      </p:sp>
      <p:sp>
        <p:nvSpPr>
          <p:cNvPr id="14" name="KPI 2 Value"/>
          <p:cNvSpPr>
            <a:spLocks noGrp="1"/>
          </p:cNvSpPr>
          <p:nvPr>
            <p:ph type="body" idx="24"/>
          </p:nvPr>
        </p:nvSpPr>
        <p:spPr>
          <a:xfrm>
            <a:off x="9080500" y="3810000"/>
            <a:ext cx="1841500" cy="889000"/>
          </a:xfrm>
        </p:spPr>
        <p:txBody>
          <a:bodyPr lIns="0" tIns="0" rIns="0" bIns="0" wrap="square" anchor="b"/>
          <a:lstStyle/>
          <a:p>
            <a:pPr marL="0" indent="0" algn="r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2.3</a:t>
            </a:r>
          </a:p>
        </p:txBody>
      </p:sp>
      <p:sp>
        <p:nvSpPr>
          <p:cNvPr id="15" name="KPI 2 Unit"/>
          <p:cNvSpPr>
            <a:spLocks noGrp="1"/>
          </p:cNvSpPr>
          <p:nvPr>
            <p:ph type="body" idx="25"/>
          </p:nvPr>
        </p:nvSpPr>
        <p:spPr>
          <a:xfrm>
            <a:off x="10922000" y="3810000"/>
            <a:ext cx="635000" cy="8890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2000">
                <a:solidFill>
                  <a:srgbClr val="2D3A52"/>
                </a:solidFill>
                <a:latin typeface="Noto Sans"/>
              </a:rPr>
              <a:t>×</a:t>
            </a:r>
          </a:p>
        </p:txBody>
      </p:sp>
      <p:sp>
        <p:nvSpPr>
          <p:cNvPr id="16" name="KPI 2 Key"/>
          <p:cNvSpPr>
            <a:spLocks noGrp="1"/>
          </p:cNvSpPr>
          <p:nvPr>
            <p:ph type="body" idx="26"/>
          </p:nvPr>
        </p:nvSpPr>
        <p:spPr>
          <a:xfrm>
            <a:off x="9080500" y="4800600"/>
            <a:ext cx="2476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APP OPEN RATE</a:t>
            </a:r>
          </a:p>
        </p:txBody>
      </p:sp>
      <p:sp>
        <p:nvSpPr>
          <p:cNvPr id="17" name="KPI 2 Delta"/>
          <p:cNvSpPr>
            <a:spLocks noGrp="1"/>
          </p:cNvSpPr>
          <p:nvPr>
            <p:ph type="body" idx="27"/>
          </p:nvPr>
        </p:nvSpPr>
        <p:spPr>
          <a:xfrm>
            <a:off x="9080500" y="5003800"/>
            <a:ext cx="2476500" cy="1651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>
                <a:solidFill>
                  <a:srgbClr val="8A6F2E"/>
                </a:solidFill>
                <a:latin typeface="Noto Sans Mono"/>
              </a:rPr>
              <a:t>trailing 30 days</a:t>
            </a:r>
          </a:p>
        </p:txBody>
      </p:sp>
      <p:sp>
        <p:nvSpPr>
          <p:cNvPr id="18" name="Source"/>
          <p:cNvSpPr>
            <a:spLocks noGrp="1"/>
          </p:cNvSpPr>
          <p:nvPr>
            <p:ph type="body" idx="60"/>
          </p:nvPr>
        </p:nvSpPr>
        <p:spPr>
          <a:xfrm>
            <a:off x="635000" y="6286500"/>
            <a:ext cx="109220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PLATFORM TELEMETRY, JUN–DEC 2025 · N = 142K ACCOUNTS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Horizontal Bullet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HORIZONTAL BULLETS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CONTEXT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Three forces pull the 2026 roadmap: regulation, margin, and shared software.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3700" y="2895600"/>
            <a:ext cx="6350" cy="39624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69250" y="2895600"/>
            <a:ext cx="6350" cy="39624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ol1 Counter"/>
          <p:cNvSpPr>
            <a:spLocks noGrp="1"/>
          </p:cNvSpPr>
          <p:nvPr>
            <p:ph type="body" idx="20"/>
          </p:nvPr>
        </p:nvSpPr>
        <p:spPr>
          <a:xfrm>
            <a:off x="635000" y="2921000"/>
            <a:ext cx="338455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01 · REGULATION</a:t>
            </a:r>
          </a:p>
        </p:txBody>
      </p:sp>
      <p:sp>
        <p:nvSpPr>
          <p:cNvPr id="13" name="Col1 Heading"/>
          <p:cNvSpPr>
            <a:spLocks noGrp="1"/>
          </p:cNvSpPr>
          <p:nvPr>
            <p:ph type="body" idx="21"/>
          </p:nvPr>
        </p:nvSpPr>
        <p:spPr>
          <a:xfrm>
            <a:off x="635000" y="3251200"/>
            <a:ext cx="3384550" cy="8255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Energy and repair rules are tightening across EMEA.</a:t>
            </a:r>
          </a:p>
        </p:txBody>
      </p:sp>
      <p:sp>
        <p:nvSpPr>
          <p:cNvPr id="14" name="Col1 Bullets"/>
          <p:cNvSpPr>
            <a:spLocks noGrp="1"/>
          </p:cNvSpPr>
          <p:nvPr>
            <p:ph type="body" idx="22"/>
          </p:nvPr>
        </p:nvSpPr>
        <p:spPr>
          <a:xfrm>
            <a:off x="635000" y="4191000"/>
            <a:ext cx="3384550" cy="2667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EU Ecodesign 2027 raises minimum efficiency one full class.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Right-to-repair mandates in DE, FR, NL by end of 2026.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Refrigerant phase-down accelerates for commercial lines.</a:t>
            </a:r>
          </a:p>
        </p:txBody>
      </p:sp>
      <p:sp>
        <p:nvSpPr>
          <p:cNvPr id="15" name="Col2 Counter"/>
          <p:cNvSpPr>
            <a:spLocks noGrp="1"/>
          </p:cNvSpPr>
          <p:nvPr>
            <p:ph type="body" idx="24"/>
          </p:nvPr>
        </p:nvSpPr>
        <p:spPr>
          <a:xfrm>
            <a:off x="4400550" y="2921000"/>
            <a:ext cx="338455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02 · MARGIN</a:t>
            </a:r>
          </a:p>
        </p:txBody>
      </p:sp>
      <p:sp>
        <p:nvSpPr>
          <p:cNvPr id="16" name="Col2 Heading"/>
          <p:cNvSpPr>
            <a:spLocks noGrp="1"/>
          </p:cNvSpPr>
          <p:nvPr>
            <p:ph type="body" idx="25"/>
          </p:nvPr>
        </p:nvSpPr>
        <p:spPr>
          <a:xfrm>
            <a:off x="4400550" y="3251200"/>
            <a:ext cx="3384550" cy="8255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Component cost is stable but service cost is climbing.</a:t>
            </a:r>
          </a:p>
        </p:txBody>
      </p:sp>
      <p:sp>
        <p:nvSpPr>
          <p:cNvPr id="17" name="Col2 Bullets"/>
          <p:cNvSpPr>
            <a:spLocks noGrp="1"/>
          </p:cNvSpPr>
          <p:nvPr>
            <p:ph type="body" idx="26"/>
          </p:nvPr>
        </p:nvSpPr>
        <p:spPr>
          <a:xfrm>
            <a:off x="4400550" y="4191000"/>
            <a:ext cx="3384550" cy="2667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Field-service visits up 7% YoY on premium products.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Warranty reserve exceeds plan in 3 of 5 product lines.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Remote-diagnosis deflection saves an average 38 EUR / visit.</a:t>
            </a:r>
          </a:p>
        </p:txBody>
      </p:sp>
      <p:sp>
        <p:nvSpPr>
          <p:cNvPr id="18" name="Col3 Counter"/>
          <p:cNvSpPr>
            <a:spLocks noGrp="1"/>
          </p:cNvSpPr>
          <p:nvPr>
            <p:ph type="body" idx="28"/>
          </p:nvPr>
        </p:nvSpPr>
        <p:spPr>
          <a:xfrm>
            <a:off x="8166100" y="2921000"/>
            <a:ext cx="338455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03 · PLATFORM</a:t>
            </a:r>
          </a:p>
        </p:txBody>
      </p:sp>
      <p:sp>
        <p:nvSpPr>
          <p:cNvPr id="19" name="Col3 Heading"/>
          <p:cNvSpPr>
            <a:spLocks noGrp="1"/>
          </p:cNvSpPr>
          <p:nvPr>
            <p:ph type="body" idx="29"/>
          </p:nvPr>
        </p:nvSpPr>
        <p:spPr>
          <a:xfrm>
            <a:off x="8166100" y="3251200"/>
            <a:ext cx="3384550" cy="8255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The platform is becoming the product, not an add-on.</a:t>
            </a:r>
          </a:p>
        </p:txBody>
      </p:sp>
      <p:sp>
        <p:nvSpPr>
          <p:cNvPr id="20" name="Col3 Bullets"/>
          <p:cNvSpPr>
            <a:spLocks noGrp="1"/>
          </p:cNvSpPr>
          <p:nvPr>
            <p:ph type="body" idx="30"/>
          </p:nvPr>
        </p:nvSpPr>
        <p:spPr>
          <a:xfrm>
            <a:off x="8166100" y="4191000"/>
            <a:ext cx="3384550" cy="2667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New SKUs must ship with the platform from day one.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One update path cuts firmware maintenance headcount 22%.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Shared telemetry unlocks usage-driven feature priority.</a:t>
            </a:r>
          </a:p>
        </p:txBody>
      </p:sp>
      <p:sp>
        <p:nvSpPr>
          <p:cNvPr id="21" name="Source"/>
          <p:cNvSpPr>
            <a:spLocks noGrp="1"/>
          </p:cNvSpPr>
          <p:nvPr>
            <p:ph type="body" idx="60"/>
          </p:nvPr>
        </p:nvSpPr>
        <p:spPr>
          <a:xfrm>
            <a:off x="635000" y="6350000"/>
            <a:ext cx="10922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SOURCE · STRATEGY REVIEW, Q4 2025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Vertical Bullet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VERTICAL BULLETS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889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143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PLAN OF RECORD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1397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Five moves define the first half: consolidate, instrument, retire, pilot, publish.</a:t>
            </a:r>
          </a:p>
        </p:txBody>
      </p:sp>
      <p:sp>
        <p:nvSpPr>
          <p:cNvPr id="10" name="Lede"/>
          <p:cNvSpPr>
            <a:spLocks noGrp="1"/>
          </p:cNvSpPr>
          <p:nvPr>
            <p:ph type="body" idx="11"/>
          </p:nvPr>
        </p:nvSpPr>
        <p:spPr>
          <a:xfrm>
            <a:off x="635000" y="2286000"/>
            <a:ext cx="10922000" cy="508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00">
                <a:solidFill>
                  <a:srgbClr val="2D3A52"/>
                </a:solidFill>
                <a:latin typeface="Noto Sans"/>
              </a:rPr>
              <a:t>Each move is owned by a single VP and reviewed at the monthly operating meeting — progress is measured against a metric, not an output.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000" y="29845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w 1 Counter"/>
          <p:cNvSpPr>
            <a:spLocks noGrp="1"/>
          </p:cNvSpPr>
          <p:nvPr>
            <p:ph type="body" idx="20"/>
          </p:nvPr>
        </p:nvSpPr>
        <p:spPr>
          <a:xfrm>
            <a:off x="635000" y="3162300"/>
            <a:ext cx="889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01 / 06</a:t>
            </a:r>
          </a:p>
        </p:txBody>
      </p:sp>
      <p:sp>
        <p:nvSpPr>
          <p:cNvPr id="13" name="Row 1 Heading"/>
          <p:cNvSpPr>
            <a:spLocks noGrp="1"/>
          </p:cNvSpPr>
          <p:nvPr>
            <p:ph type="body" idx="21"/>
          </p:nvPr>
        </p:nvSpPr>
        <p:spPr>
          <a:xfrm>
            <a:off x="1676400" y="3124200"/>
            <a:ext cx="2667000" cy="3048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Consolidate the firmware stack.</a:t>
            </a:r>
          </a:p>
        </p:txBody>
      </p:sp>
      <p:sp>
        <p:nvSpPr>
          <p:cNvPr id="14" name="Row 1 Body"/>
          <p:cNvSpPr>
            <a:spLocks noGrp="1"/>
          </p:cNvSpPr>
          <p:nvPr>
            <p:ph type="body" idx="22"/>
          </p:nvPr>
        </p:nvSpPr>
        <p:spPr>
          <a:xfrm>
            <a:off x="4495800" y="3149600"/>
            <a:ext cx="7061200" cy="4381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Move the remaining three product lines onto the unified OS core by end of Q2.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000" y="352425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w 2 Counter"/>
          <p:cNvSpPr>
            <a:spLocks noGrp="1"/>
          </p:cNvSpPr>
          <p:nvPr>
            <p:ph type="body" idx="23"/>
          </p:nvPr>
        </p:nvSpPr>
        <p:spPr>
          <a:xfrm>
            <a:off x="635000" y="3702050"/>
            <a:ext cx="889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02 / 06</a:t>
            </a:r>
          </a:p>
        </p:txBody>
      </p:sp>
      <p:sp>
        <p:nvSpPr>
          <p:cNvPr id="17" name="Row 2 Heading"/>
          <p:cNvSpPr>
            <a:spLocks noGrp="1"/>
          </p:cNvSpPr>
          <p:nvPr>
            <p:ph type="body" idx="24"/>
          </p:nvPr>
        </p:nvSpPr>
        <p:spPr>
          <a:xfrm>
            <a:off x="1676400" y="3663950"/>
            <a:ext cx="2667000" cy="3048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Instrument every SKU.</a:t>
            </a:r>
          </a:p>
        </p:txBody>
      </p:sp>
      <p:sp>
        <p:nvSpPr>
          <p:cNvPr id="18" name="Row 2 Body"/>
          <p:cNvSpPr>
            <a:spLocks noGrp="1"/>
          </p:cNvSpPr>
          <p:nvPr>
            <p:ph type="body" idx="25"/>
          </p:nvPr>
        </p:nvSpPr>
        <p:spPr>
          <a:xfrm>
            <a:off x="4495800" y="3689350"/>
            <a:ext cx="7061200" cy="4381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Every production unit leaving the factory reports health and usage by default.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000" y="4064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w 3 Counter"/>
          <p:cNvSpPr>
            <a:spLocks noGrp="1"/>
          </p:cNvSpPr>
          <p:nvPr>
            <p:ph type="body" idx="26"/>
          </p:nvPr>
        </p:nvSpPr>
        <p:spPr>
          <a:xfrm>
            <a:off x="635000" y="4241800"/>
            <a:ext cx="889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03 / 06</a:t>
            </a:r>
          </a:p>
        </p:txBody>
      </p:sp>
      <p:sp>
        <p:nvSpPr>
          <p:cNvPr id="21" name="Row 3 Heading"/>
          <p:cNvSpPr>
            <a:spLocks noGrp="1"/>
          </p:cNvSpPr>
          <p:nvPr>
            <p:ph type="body" idx="27"/>
          </p:nvPr>
        </p:nvSpPr>
        <p:spPr>
          <a:xfrm>
            <a:off x="1676400" y="4203700"/>
            <a:ext cx="2667000" cy="3048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Retire the legacy app.</a:t>
            </a:r>
          </a:p>
        </p:txBody>
      </p:sp>
      <p:sp>
        <p:nvSpPr>
          <p:cNvPr id="22" name="Row 3 Body"/>
          <p:cNvSpPr>
            <a:spLocks noGrp="1"/>
          </p:cNvSpPr>
          <p:nvPr>
            <p:ph type="body" idx="28"/>
          </p:nvPr>
        </p:nvSpPr>
        <p:spPr>
          <a:xfrm>
            <a:off x="4495800" y="4229100"/>
            <a:ext cx="7061200" cy="4381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Archive the legacy companion app once the new platform reaches 70% coverage.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000" y="460375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w 4 Counter"/>
          <p:cNvSpPr>
            <a:spLocks noGrp="1"/>
          </p:cNvSpPr>
          <p:nvPr>
            <p:ph type="body" idx="29"/>
          </p:nvPr>
        </p:nvSpPr>
        <p:spPr>
          <a:xfrm>
            <a:off x="635000" y="4781550"/>
            <a:ext cx="889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04 / 06</a:t>
            </a:r>
          </a:p>
        </p:txBody>
      </p:sp>
      <p:sp>
        <p:nvSpPr>
          <p:cNvPr id="25" name="Row 4 Heading"/>
          <p:cNvSpPr>
            <a:spLocks noGrp="1"/>
          </p:cNvSpPr>
          <p:nvPr>
            <p:ph type="body" idx="30"/>
          </p:nvPr>
        </p:nvSpPr>
        <p:spPr>
          <a:xfrm>
            <a:off x="1676400" y="4743450"/>
            <a:ext cx="2667000" cy="3048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Pilot guided sessions.</a:t>
            </a:r>
          </a:p>
        </p:txBody>
      </p:sp>
      <p:sp>
        <p:nvSpPr>
          <p:cNvPr id="26" name="Row 4 Body"/>
          <p:cNvSpPr>
            <a:spLocks noGrp="1"/>
          </p:cNvSpPr>
          <p:nvPr>
            <p:ph type="body" idx="31"/>
          </p:nvPr>
        </p:nvSpPr>
        <p:spPr>
          <a:xfrm>
            <a:off x="4495800" y="4768850"/>
            <a:ext cx="7061200" cy="4381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Run a two-thousand-customer test of the adaptive programme across three regions.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000" y="51435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w 5 Counter"/>
          <p:cNvSpPr>
            <a:spLocks noGrp="1"/>
          </p:cNvSpPr>
          <p:nvPr>
            <p:ph type="body" idx="32"/>
          </p:nvPr>
        </p:nvSpPr>
        <p:spPr>
          <a:xfrm>
            <a:off x="635000" y="5321300"/>
            <a:ext cx="889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05 / 06</a:t>
            </a:r>
          </a:p>
        </p:txBody>
      </p:sp>
      <p:sp>
        <p:nvSpPr>
          <p:cNvPr id="29" name="Row 5 Heading"/>
          <p:cNvSpPr>
            <a:spLocks noGrp="1"/>
          </p:cNvSpPr>
          <p:nvPr>
            <p:ph type="body" idx="33"/>
          </p:nvPr>
        </p:nvSpPr>
        <p:spPr>
          <a:xfrm>
            <a:off x="1676400" y="5283200"/>
            <a:ext cx="2667000" cy="3048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Publish the API.</a:t>
            </a:r>
          </a:p>
        </p:txBody>
      </p:sp>
      <p:sp>
        <p:nvSpPr>
          <p:cNvPr id="30" name="Row 5 Body"/>
          <p:cNvSpPr>
            <a:spLocks noGrp="1"/>
          </p:cNvSpPr>
          <p:nvPr>
            <p:ph type="body" idx="34"/>
          </p:nvPr>
        </p:nvSpPr>
        <p:spPr>
          <a:xfrm>
            <a:off x="4495800" y="5308600"/>
            <a:ext cx="7061200" cy="4381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Open the developer preview to partners at the end of H1.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000" y="568325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w 6 Counter"/>
          <p:cNvSpPr>
            <a:spLocks noGrp="1"/>
          </p:cNvSpPr>
          <p:nvPr>
            <p:ph type="body" idx="35"/>
          </p:nvPr>
        </p:nvSpPr>
        <p:spPr>
          <a:xfrm>
            <a:off x="635000" y="5861050"/>
            <a:ext cx="889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06 / 06</a:t>
            </a:r>
          </a:p>
        </p:txBody>
      </p:sp>
      <p:sp>
        <p:nvSpPr>
          <p:cNvPr id="33" name="Row 6 Heading"/>
          <p:cNvSpPr>
            <a:spLocks noGrp="1"/>
          </p:cNvSpPr>
          <p:nvPr>
            <p:ph type="body" idx="36"/>
          </p:nvPr>
        </p:nvSpPr>
        <p:spPr>
          <a:xfrm>
            <a:off x="1676400" y="5822950"/>
            <a:ext cx="2667000" cy="3048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Review monthly.</a:t>
            </a:r>
          </a:p>
        </p:txBody>
      </p:sp>
      <p:sp>
        <p:nvSpPr>
          <p:cNvPr id="34" name="Row 6 Body"/>
          <p:cNvSpPr>
            <a:spLocks noGrp="1"/>
          </p:cNvSpPr>
          <p:nvPr>
            <p:ph type="body" idx="37"/>
          </p:nvPr>
        </p:nvSpPr>
        <p:spPr>
          <a:xfrm>
            <a:off x="4495800" y="5848350"/>
            <a:ext cx="7061200" cy="4381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Each move is owned by one VP and reviewed at the monthly operating meeting.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000" y="6223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upporting Note"/>
          <p:cNvSpPr>
            <a:spLocks noGrp="1"/>
          </p:cNvSpPr>
          <p:nvPr>
            <p:ph type="body" idx="12"/>
          </p:nvPr>
        </p:nvSpPr>
        <p:spPr>
          <a:xfrm>
            <a:off x="635000" y="6413500"/>
            <a:ext cx="10922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WORK THAT DOES NOT SUPPORT ONE OF THESE MOVES IS EXPLICITLY DESCOPED, NOT PAUSED.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2×2 Matrix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2×2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PRIORITISATION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Invest in the top-right quadrant first: high impact, low lift.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78000" y="2984500"/>
            <a:ext cx="4318000" cy="17145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6475" y="2984500"/>
            <a:ext cx="19050" cy="342900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78000" y="4689475"/>
            <a:ext cx="8636000" cy="190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65300" y="2984500"/>
            <a:ext cx="12700" cy="344170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65300" y="6413500"/>
            <a:ext cx="8648700" cy="1270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1701800" y="2857500"/>
            <a:ext cx="127000" cy="127000"/>
          </a:xfrm>
          <a:prstGeom prst="triangle">
            <a:avLst/>
          </a:prstGeom>
          <a:solidFill>
            <a:srgbClr val="2D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Triangle 15"/>
          <p:cNvSpPr/>
          <p:nvPr/>
        </p:nvSpPr>
        <p:spPr>
          <a:xfrm rot="16200000">
            <a:off x="10414000" y="6356350"/>
            <a:ext cx="127000" cy="127000"/>
          </a:xfrm>
          <a:prstGeom prst="rtTriangle">
            <a:avLst/>
          </a:prstGeom>
          <a:solidFill>
            <a:srgbClr val="2D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78000" y="6527800"/>
            <a:ext cx="50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98">
                <a:solidFill>
                  <a:srgbClr val="2D3A52"/>
                </a:solidFill>
                <a:latin typeface="Noto Sans Mono"/>
              </a:rPr>
              <a:t>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06000" y="6527800"/>
            <a:ext cx="50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98">
                <a:solidFill>
                  <a:srgbClr val="2D3A52"/>
                </a:solidFill>
                <a:latin typeface="Noto Sans Mono"/>
              </a:rPr>
              <a:t>HIGH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5700" y="6273800"/>
            <a:ext cx="50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98">
                <a:solidFill>
                  <a:srgbClr val="2D3A52"/>
                </a:solidFill>
                <a:latin typeface="Noto Sans Mono"/>
              </a:rPr>
              <a:t>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5700" y="2984500"/>
            <a:ext cx="50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98">
                <a:solidFill>
                  <a:srgbClr val="2D3A52"/>
                </a:solidFill>
                <a:latin typeface="Noto Sans Mono"/>
              </a:rPr>
              <a:t>HIGH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55800" y="3162300"/>
            <a:ext cx="39624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84">
                <a:solidFill>
                  <a:srgbClr val="0B1A33"/>
                </a:solidFill>
                <a:latin typeface="Noto Sans Mono"/>
              </a:rPr>
              <a:t>Q1 · HIGH IMPACT · LOW LIFT</a:t>
            </a:r>
          </a:p>
        </p:txBody>
      </p:sp>
      <p:sp>
        <p:nvSpPr>
          <p:cNvPr id="22" name="Cell1 Label"/>
          <p:cNvSpPr>
            <a:spLocks noGrp="1"/>
          </p:cNvSpPr>
          <p:nvPr>
            <p:ph type="body" idx="20"/>
          </p:nvPr>
        </p:nvSpPr>
        <p:spPr>
          <a:xfrm>
            <a:off x="1955800" y="3365500"/>
            <a:ext cx="3962400" cy="508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Guided sessions on the flagship line.</a:t>
            </a:r>
          </a:p>
        </p:txBody>
      </p:sp>
      <p:sp>
        <p:nvSpPr>
          <p:cNvPr id="23" name="Cell1 Body"/>
          <p:cNvSpPr>
            <a:spLocks noGrp="1"/>
          </p:cNvSpPr>
          <p:nvPr>
            <p:ph type="body" idx="21"/>
          </p:nvPr>
        </p:nvSpPr>
        <p:spPr>
          <a:xfrm>
            <a:off x="1955800" y="3924300"/>
            <a:ext cx="3962400" cy="711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00">
                <a:solidFill>
                  <a:srgbClr val="0B1A33"/>
                </a:solidFill>
                <a:latin typeface="Noto Sans"/>
              </a:rPr>
              <a:t>Ships on existing hardware; telemetry already collected; known user need.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3800" y="3162300"/>
            <a:ext cx="39624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84">
                <a:solidFill>
                  <a:srgbClr val="2D3A52"/>
                </a:solidFill>
                <a:latin typeface="Noto Sans Mono"/>
              </a:rPr>
              <a:t>Q2 · HIGH IMPACT · HIGH LIFT</a:t>
            </a:r>
          </a:p>
        </p:txBody>
      </p:sp>
      <p:sp>
        <p:nvSpPr>
          <p:cNvPr id="25" name="Cell2 Label"/>
          <p:cNvSpPr>
            <a:spLocks noGrp="1"/>
          </p:cNvSpPr>
          <p:nvPr>
            <p:ph type="body" idx="24"/>
          </p:nvPr>
        </p:nvSpPr>
        <p:spPr>
          <a:xfrm>
            <a:off x="6273800" y="3365500"/>
            <a:ext cx="3962400" cy="508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Full remote diagnosis across every product line.</a:t>
            </a:r>
          </a:p>
        </p:txBody>
      </p:sp>
      <p:sp>
        <p:nvSpPr>
          <p:cNvPr id="26" name="Cell2 Body"/>
          <p:cNvSpPr>
            <a:spLocks noGrp="1"/>
          </p:cNvSpPr>
          <p:nvPr>
            <p:ph type="body" idx="25"/>
          </p:nvPr>
        </p:nvSpPr>
        <p:spPr>
          <a:xfrm>
            <a:off x="6273800" y="3924300"/>
            <a:ext cx="3962400" cy="711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00">
                <a:solidFill>
                  <a:srgbClr val="2D3A52"/>
                </a:solidFill>
                <a:latin typeface="Noto Sans"/>
              </a:rPr>
              <a:t>Large prize; requires firmware convergence and a new field-service workflow.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5800" y="4876800"/>
            <a:ext cx="39624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84">
                <a:solidFill>
                  <a:srgbClr val="2D3A52"/>
                </a:solidFill>
                <a:latin typeface="Noto Sans Mono"/>
              </a:rPr>
              <a:t>Q3 · LOW IMPACT · LOW LIFT</a:t>
            </a:r>
          </a:p>
        </p:txBody>
      </p:sp>
      <p:sp>
        <p:nvSpPr>
          <p:cNvPr id="28" name="Cell3 Label"/>
          <p:cNvSpPr>
            <a:spLocks noGrp="1"/>
          </p:cNvSpPr>
          <p:nvPr>
            <p:ph type="body" idx="28"/>
          </p:nvPr>
        </p:nvSpPr>
        <p:spPr>
          <a:xfrm>
            <a:off x="1955800" y="5080000"/>
            <a:ext cx="3962400" cy="508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Cosmetic refresh of onboarding.</a:t>
            </a:r>
          </a:p>
        </p:txBody>
      </p:sp>
      <p:sp>
        <p:nvSpPr>
          <p:cNvPr id="29" name="Cell3 Body"/>
          <p:cNvSpPr>
            <a:spLocks noGrp="1"/>
          </p:cNvSpPr>
          <p:nvPr>
            <p:ph type="body" idx="29"/>
          </p:nvPr>
        </p:nvSpPr>
        <p:spPr>
          <a:xfrm>
            <a:off x="1955800" y="5638800"/>
            <a:ext cx="3962400" cy="711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00">
                <a:solidFill>
                  <a:srgbClr val="2D3A52"/>
                </a:solidFill>
                <a:latin typeface="Noto Sans"/>
              </a:rPr>
              <a:t>Cheap to do; metrics rarely move meaningfully.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3800" y="4876800"/>
            <a:ext cx="39624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84">
                <a:solidFill>
                  <a:srgbClr val="2D3A52"/>
                </a:solidFill>
                <a:latin typeface="Noto Sans Mono"/>
              </a:rPr>
              <a:t>Q4 · LOW IMPACT · HIGH LIFT</a:t>
            </a:r>
          </a:p>
        </p:txBody>
      </p:sp>
      <p:sp>
        <p:nvSpPr>
          <p:cNvPr id="31" name="Cell4 Label"/>
          <p:cNvSpPr>
            <a:spLocks noGrp="1"/>
          </p:cNvSpPr>
          <p:nvPr>
            <p:ph type="body" idx="32"/>
          </p:nvPr>
        </p:nvSpPr>
        <p:spPr>
          <a:xfrm>
            <a:off x="6273800" y="5080000"/>
            <a:ext cx="3962400" cy="508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Voice control expansion.</a:t>
            </a:r>
          </a:p>
        </p:txBody>
      </p:sp>
      <p:sp>
        <p:nvSpPr>
          <p:cNvPr id="32" name="Cell4 Body"/>
          <p:cNvSpPr>
            <a:spLocks noGrp="1"/>
          </p:cNvSpPr>
          <p:nvPr>
            <p:ph type="body" idx="33"/>
          </p:nvPr>
        </p:nvSpPr>
        <p:spPr>
          <a:xfrm>
            <a:off x="6273800" y="5638800"/>
            <a:ext cx="3962400" cy="711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00">
                <a:solidFill>
                  <a:srgbClr val="2D3A52"/>
                </a:solidFill>
                <a:latin typeface="Noto Sans"/>
              </a:rPr>
              <a:t>Significant engineering and QA cost; adoption has plateaued.</a:t>
            </a:r>
          </a:p>
        </p:txBody>
      </p:sp>
      <p:sp>
        <p:nvSpPr>
          <p:cNvPr id="33" name="X Axis Title"/>
          <p:cNvSpPr>
            <a:spLocks noGrp="1"/>
          </p:cNvSpPr>
          <p:nvPr>
            <p:ph type="body" idx="41"/>
          </p:nvPr>
        </p:nvSpPr>
        <p:spPr>
          <a:xfrm>
            <a:off x="1778000" y="6769100"/>
            <a:ext cx="8636000" cy="152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EFFORT TO SHIP</a:t>
            </a:r>
          </a:p>
        </p:txBody>
      </p:sp>
      <p:sp>
        <p:nvSpPr>
          <p:cNvPr id="34" name="Y Axis Title"/>
          <p:cNvSpPr>
            <a:spLocks noGrp="1"/>
          </p:cNvSpPr>
          <p:nvPr>
            <p:ph type="body" idx="42"/>
          </p:nvPr>
        </p:nvSpPr>
        <p:spPr>
          <a:xfrm>
            <a:off x="762000" y="2984500"/>
            <a:ext cx="508000" cy="3429000"/>
          </a:xfrm>
        </p:spPr>
        <p:txBody>
          <a:bodyPr lIns="0" tIns="0" rIns="0" bIns="0" wrap="square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P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C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T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Waterfal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WATERFALL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REVENUE BRIDGE · EUR BN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Revenue grows 5.1% YoY; platform and services offset a mild decline in legacy lines.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526626"/>
            <a:ext cx="1429657" cy="2315374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51957" y="3526626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15457" y="3526626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78957" y="3526626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17057" y="3422952"/>
            <a:ext cx="1429657" cy="103673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34014" y="3422952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97514" y="3422952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61014" y="3422952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99114" y="3353837"/>
            <a:ext cx="1429657" cy="69116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16071" y="3353837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79571" y="3353837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43071" y="3353837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81171" y="3302000"/>
            <a:ext cx="1429657" cy="51837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98129" y="3302000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61629" y="3302000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25129" y="3302000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63229" y="3302000"/>
            <a:ext cx="1429657" cy="51837"/>
          </a:xfrm>
          <a:prstGeom prst="rect">
            <a:avLst/>
          </a:prstGeom>
          <a:solidFill>
            <a:srgbClr val="5A6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80186" y="3353837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43686" y="3353837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507186" y="3353837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45286" y="3353837"/>
            <a:ext cx="1429657" cy="34558"/>
          </a:xfrm>
          <a:prstGeom prst="rect">
            <a:avLst/>
          </a:prstGeom>
          <a:solidFill>
            <a:srgbClr val="5A6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962243" y="3388395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25743" y="3388395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89243" y="3388395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127343" y="3405673"/>
            <a:ext cx="1429657" cy="2436327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5000" y="5842000"/>
            <a:ext cx="10922000" cy="635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Bar 1 Value"/>
          <p:cNvSpPr>
            <a:spLocks noGrp="1"/>
          </p:cNvSpPr>
          <p:nvPr>
            <p:ph type="body" idx="20"/>
          </p:nvPr>
        </p:nvSpPr>
        <p:spPr>
          <a:xfrm>
            <a:off x="584200" y="3270250"/>
            <a:ext cx="1530350" cy="1778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0B1A33"/>
                </a:solidFill>
                <a:latin typeface="Noto Sans Mono"/>
              </a:rPr>
              <a:t>13.4</a:t>
            </a:r>
          </a:p>
        </p:txBody>
      </p:sp>
      <p:sp>
        <p:nvSpPr>
          <p:cNvPr id="37" name="Bar 1 Label"/>
          <p:cNvSpPr>
            <a:spLocks noGrp="1"/>
          </p:cNvSpPr>
          <p:nvPr>
            <p:ph type="body" idx="21"/>
          </p:nvPr>
        </p:nvSpPr>
        <p:spPr>
          <a:xfrm>
            <a:off x="558800" y="5981700"/>
            <a:ext cx="1581150" cy="279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FY24 BASE</a:t>
            </a:r>
          </a:p>
        </p:txBody>
      </p:sp>
      <p:sp>
        <p:nvSpPr>
          <p:cNvPr id="38" name="Bar 2 Value"/>
          <p:cNvSpPr>
            <a:spLocks noGrp="1"/>
          </p:cNvSpPr>
          <p:nvPr>
            <p:ph type="body" idx="24"/>
          </p:nvPr>
        </p:nvSpPr>
        <p:spPr>
          <a:xfrm>
            <a:off x="2165350" y="3168650"/>
            <a:ext cx="1530350" cy="1778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+0.6</a:t>
            </a:r>
          </a:p>
        </p:txBody>
      </p:sp>
      <p:sp>
        <p:nvSpPr>
          <p:cNvPr id="39" name="Bar 2 Label"/>
          <p:cNvSpPr>
            <a:spLocks noGrp="1"/>
          </p:cNvSpPr>
          <p:nvPr>
            <p:ph type="body" idx="25"/>
          </p:nvPr>
        </p:nvSpPr>
        <p:spPr>
          <a:xfrm>
            <a:off x="2139950" y="5981700"/>
            <a:ext cx="1581150" cy="279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CONSUMER</a:t>
            </a:r>
          </a:p>
        </p:txBody>
      </p:sp>
      <p:sp>
        <p:nvSpPr>
          <p:cNvPr id="40" name="Bar 3 Value"/>
          <p:cNvSpPr>
            <a:spLocks noGrp="1"/>
          </p:cNvSpPr>
          <p:nvPr>
            <p:ph type="body" idx="28"/>
          </p:nvPr>
        </p:nvSpPr>
        <p:spPr>
          <a:xfrm>
            <a:off x="3746500" y="3098800"/>
            <a:ext cx="1530350" cy="1778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+0.4</a:t>
            </a:r>
          </a:p>
        </p:txBody>
      </p:sp>
      <p:sp>
        <p:nvSpPr>
          <p:cNvPr id="41" name="Bar 3 Label"/>
          <p:cNvSpPr>
            <a:spLocks noGrp="1"/>
          </p:cNvSpPr>
          <p:nvPr>
            <p:ph type="body" idx="29"/>
          </p:nvPr>
        </p:nvSpPr>
        <p:spPr>
          <a:xfrm>
            <a:off x="3721100" y="5981700"/>
            <a:ext cx="1581150" cy="279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PLATFORM</a:t>
            </a:r>
          </a:p>
        </p:txBody>
      </p:sp>
      <p:sp>
        <p:nvSpPr>
          <p:cNvPr id="42" name="Bar 4 Value"/>
          <p:cNvSpPr>
            <a:spLocks noGrp="1"/>
          </p:cNvSpPr>
          <p:nvPr>
            <p:ph type="body" idx="32"/>
          </p:nvPr>
        </p:nvSpPr>
        <p:spPr>
          <a:xfrm>
            <a:off x="5327650" y="3048000"/>
            <a:ext cx="1530350" cy="1778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+0.3</a:t>
            </a:r>
          </a:p>
        </p:txBody>
      </p:sp>
      <p:sp>
        <p:nvSpPr>
          <p:cNvPr id="43" name="Bar 4 Label"/>
          <p:cNvSpPr>
            <a:spLocks noGrp="1"/>
          </p:cNvSpPr>
          <p:nvPr>
            <p:ph type="body" idx="33"/>
          </p:nvPr>
        </p:nvSpPr>
        <p:spPr>
          <a:xfrm>
            <a:off x="5302250" y="5981700"/>
            <a:ext cx="1581150" cy="279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SERVICES</a:t>
            </a:r>
          </a:p>
        </p:txBody>
      </p:sp>
      <p:sp>
        <p:nvSpPr>
          <p:cNvPr id="44" name="Bar 5 Value"/>
          <p:cNvSpPr>
            <a:spLocks noGrp="1"/>
          </p:cNvSpPr>
          <p:nvPr>
            <p:ph type="body" idx="36"/>
          </p:nvPr>
        </p:nvSpPr>
        <p:spPr>
          <a:xfrm>
            <a:off x="6908800" y="3048000"/>
            <a:ext cx="1530350" cy="1778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−0.3</a:t>
            </a:r>
          </a:p>
        </p:txBody>
      </p:sp>
      <p:sp>
        <p:nvSpPr>
          <p:cNvPr id="45" name="Bar 5 Label"/>
          <p:cNvSpPr>
            <a:spLocks noGrp="1"/>
          </p:cNvSpPr>
          <p:nvPr>
            <p:ph type="body" idx="37"/>
          </p:nvPr>
        </p:nvSpPr>
        <p:spPr>
          <a:xfrm>
            <a:off x="6883400" y="5981700"/>
            <a:ext cx="1581150" cy="279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LEGACY</a:t>
            </a:r>
          </a:p>
        </p:txBody>
      </p:sp>
      <p:sp>
        <p:nvSpPr>
          <p:cNvPr id="46" name="Bar 6 Value"/>
          <p:cNvSpPr>
            <a:spLocks noGrp="1"/>
          </p:cNvSpPr>
          <p:nvPr>
            <p:ph type="body" idx="40"/>
          </p:nvPr>
        </p:nvSpPr>
        <p:spPr>
          <a:xfrm>
            <a:off x="8489950" y="3098800"/>
            <a:ext cx="1530350" cy="1778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−0.2</a:t>
            </a:r>
          </a:p>
        </p:txBody>
      </p:sp>
      <p:sp>
        <p:nvSpPr>
          <p:cNvPr id="47" name="Bar 6 Label"/>
          <p:cNvSpPr>
            <a:spLocks noGrp="1"/>
          </p:cNvSpPr>
          <p:nvPr>
            <p:ph type="body" idx="41"/>
          </p:nvPr>
        </p:nvSpPr>
        <p:spPr>
          <a:xfrm>
            <a:off x="8464550" y="5981700"/>
            <a:ext cx="1581150" cy="279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FX</a:t>
            </a:r>
          </a:p>
        </p:txBody>
      </p:sp>
      <p:sp>
        <p:nvSpPr>
          <p:cNvPr id="48" name="Bar 7 Value"/>
          <p:cNvSpPr>
            <a:spLocks noGrp="1"/>
          </p:cNvSpPr>
          <p:nvPr>
            <p:ph type="body" idx="44"/>
          </p:nvPr>
        </p:nvSpPr>
        <p:spPr>
          <a:xfrm>
            <a:off x="10071100" y="3149600"/>
            <a:ext cx="1530350" cy="1778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0B1A33"/>
                </a:solidFill>
                <a:latin typeface="Noto Sans Mono"/>
              </a:rPr>
              <a:t>14.1</a:t>
            </a:r>
          </a:p>
        </p:txBody>
      </p:sp>
      <p:sp>
        <p:nvSpPr>
          <p:cNvPr id="49" name="Bar 7 Label"/>
          <p:cNvSpPr>
            <a:spLocks noGrp="1"/>
          </p:cNvSpPr>
          <p:nvPr>
            <p:ph type="body" idx="45"/>
          </p:nvPr>
        </p:nvSpPr>
        <p:spPr>
          <a:xfrm>
            <a:off x="10045700" y="5981700"/>
            <a:ext cx="1581150" cy="279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FY25 TOTAL</a:t>
            </a:r>
          </a:p>
        </p:txBody>
      </p:sp>
      <p:sp>
        <p:nvSpPr>
          <p:cNvPr id="50" name="Source"/>
          <p:cNvSpPr>
            <a:spLocks noGrp="1"/>
          </p:cNvSpPr>
          <p:nvPr>
            <p:ph type="body" idx="60"/>
          </p:nvPr>
        </p:nvSpPr>
        <p:spPr>
          <a:xfrm>
            <a:off x="635000" y="6350000"/>
            <a:ext cx="109220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SAMPLE DATA, FY25 PRELIMINARY · EUR BN · VARIANCES ROUNDED TO 0.1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PROCESS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DELIVERY SEQUENCE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Five stages · pilot highlights the current phase.</a:t>
            </a:r>
          </a:p>
        </p:txBody>
      </p:sp>
      <p:sp>
        <p:nvSpPr>
          <p:cNvPr id="10" name="Pentagon 9"/>
          <p:cNvSpPr/>
          <p:nvPr/>
        </p:nvSpPr>
        <p:spPr>
          <a:xfrm>
            <a:off x="635000" y="3429000"/>
            <a:ext cx="2326640" cy="2413000"/>
          </a:xfrm>
          <a:prstGeom prst="homePlate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evron 10"/>
          <p:cNvSpPr/>
          <p:nvPr/>
        </p:nvSpPr>
        <p:spPr>
          <a:xfrm>
            <a:off x="2783840" y="3429000"/>
            <a:ext cx="2326640" cy="2413000"/>
          </a:xfrm>
          <a:prstGeom prst="chevron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evron 11"/>
          <p:cNvSpPr/>
          <p:nvPr/>
        </p:nvSpPr>
        <p:spPr>
          <a:xfrm>
            <a:off x="4932680" y="3429000"/>
            <a:ext cx="2326640" cy="2413000"/>
          </a:xfrm>
          <a:prstGeom prst="chevron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7081520" y="3429000"/>
            <a:ext cx="2326640" cy="2413000"/>
          </a:xfrm>
          <a:prstGeom prst="chevron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evron 13"/>
          <p:cNvSpPr/>
          <p:nvPr/>
        </p:nvSpPr>
        <p:spPr>
          <a:xfrm>
            <a:off x="9230360" y="3429000"/>
            <a:ext cx="2326640" cy="2413000"/>
          </a:xfrm>
          <a:prstGeom prst="chevron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tage 1 Counter"/>
          <p:cNvSpPr>
            <a:spLocks noGrp="1"/>
          </p:cNvSpPr>
          <p:nvPr>
            <p:ph type="body" idx="20"/>
          </p:nvPr>
        </p:nvSpPr>
        <p:spPr>
          <a:xfrm>
            <a:off x="838200" y="3683000"/>
            <a:ext cx="1841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8A6F2E"/>
                </a:solidFill>
                <a:latin typeface="Noto Sans Mono"/>
              </a:rPr>
              <a:t>01</a:t>
            </a:r>
          </a:p>
        </p:txBody>
      </p:sp>
      <p:sp>
        <p:nvSpPr>
          <p:cNvPr id="16" name="Stage 1 Heading"/>
          <p:cNvSpPr>
            <a:spLocks noGrp="1"/>
          </p:cNvSpPr>
          <p:nvPr>
            <p:ph type="body" idx="21"/>
          </p:nvPr>
        </p:nvSpPr>
        <p:spPr>
          <a:xfrm>
            <a:off x="838200" y="4013200"/>
            <a:ext cx="1841500" cy="38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Frame</a:t>
            </a:r>
          </a:p>
        </p:txBody>
      </p:sp>
      <p:sp>
        <p:nvSpPr>
          <p:cNvPr id="17" name="Stage 1 Body"/>
          <p:cNvSpPr>
            <a:spLocks noGrp="1"/>
          </p:cNvSpPr>
          <p:nvPr>
            <p:ph type="body" idx="22"/>
          </p:nvPr>
        </p:nvSpPr>
        <p:spPr>
          <a:xfrm>
            <a:off x="838200" y="4508500"/>
            <a:ext cx="1841500" cy="1143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Clarify the problem and the one outcome that matters.</a:t>
            </a:r>
          </a:p>
        </p:txBody>
      </p:sp>
      <p:sp>
        <p:nvSpPr>
          <p:cNvPr id="18" name="Stage 2 Counter"/>
          <p:cNvSpPr>
            <a:spLocks noGrp="1"/>
          </p:cNvSpPr>
          <p:nvPr>
            <p:ph type="body" idx="24"/>
          </p:nvPr>
        </p:nvSpPr>
        <p:spPr>
          <a:xfrm>
            <a:off x="3162300" y="3683000"/>
            <a:ext cx="16637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8A6F2E"/>
                </a:solidFill>
                <a:latin typeface="Noto Sans Mono"/>
              </a:rPr>
              <a:t>02</a:t>
            </a:r>
          </a:p>
        </p:txBody>
      </p:sp>
      <p:sp>
        <p:nvSpPr>
          <p:cNvPr id="19" name="Stage 2 Heading"/>
          <p:cNvSpPr>
            <a:spLocks noGrp="1"/>
          </p:cNvSpPr>
          <p:nvPr>
            <p:ph type="body" idx="25"/>
          </p:nvPr>
        </p:nvSpPr>
        <p:spPr>
          <a:xfrm>
            <a:off x="3162300" y="4013200"/>
            <a:ext cx="1663700" cy="38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Prototype</a:t>
            </a:r>
          </a:p>
        </p:txBody>
      </p:sp>
      <p:sp>
        <p:nvSpPr>
          <p:cNvPr id="20" name="Stage 2 Body"/>
          <p:cNvSpPr>
            <a:spLocks noGrp="1"/>
          </p:cNvSpPr>
          <p:nvPr>
            <p:ph type="body" idx="26"/>
          </p:nvPr>
        </p:nvSpPr>
        <p:spPr>
          <a:xfrm>
            <a:off x="3162300" y="4508500"/>
            <a:ext cx="1663700" cy="1143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Build the thin vertical slice end-to-end.</a:t>
            </a:r>
          </a:p>
        </p:txBody>
      </p:sp>
      <p:sp>
        <p:nvSpPr>
          <p:cNvPr id="21" name="Stage 3 Counter"/>
          <p:cNvSpPr>
            <a:spLocks noGrp="1"/>
          </p:cNvSpPr>
          <p:nvPr>
            <p:ph type="body" idx="28"/>
          </p:nvPr>
        </p:nvSpPr>
        <p:spPr>
          <a:xfrm>
            <a:off x="5499100" y="3683000"/>
            <a:ext cx="14732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0B1A33"/>
                </a:solidFill>
                <a:latin typeface="Noto Sans Mono"/>
              </a:rPr>
              <a:t>03</a:t>
            </a:r>
          </a:p>
        </p:txBody>
      </p:sp>
      <p:sp>
        <p:nvSpPr>
          <p:cNvPr id="22" name="Stage 3 Heading"/>
          <p:cNvSpPr>
            <a:spLocks noGrp="1"/>
          </p:cNvSpPr>
          <p:nvPr>
            <p:ph type="body" idx="29"/>
          </p:nvPr>
        </p:nvSpPr>
        <p:spPr>
          <a:xfrm>
            <a:off x="5499100" y="4013200"/>
            <a:ext cx="1473200" cy="38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Pilot</a:t>
            </a:r>
          </a:p>
        </p:txBody>
      </p:sp>
      <p:sp>
        <p:nvSpPr>
          <p:cNvPr id="23" name="Stage 3 Body"/>
          <p:cNvSpPr>
            <a:spLocks noGrp="1"/>
          </p:cNvSpPr>
          <p:nvPr>
            <p:ph type="body" idx="30"/>
          </p:nvPr>
        </p:nvSpPr>
        <p:spPr>
          <a:xfrm>
            <a:off x="5499100" y="4508500"/>
            <a:ext cx="1473200" cy="1143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"/>
              </a:rPr>
              <a:t>Run it with real users on real data.</a:t>
            </a:r>
          </a:p>
        </p:txBody>
      </p:sp>
      <p:sp>
        <p:nvSpPr>
          <p:cNvPr id="24" name="Stage 4 Counter"/>
          <p:cNvSpPr>
            <a:spLocks noGrp="1"/>
          </p:cNvSpPr>
          <p:nvPr>
            <p:ph type="body" idx="32"/>
          </p:nvPr>
        </p:nvSpPr>
        <p:spPr>
          <a:xfrm>
            <a:off x="7461250" y="3683000"/>
            <a:ext cx="16637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8A6F2E"/>
                </a:solidFill>
                <a:latin typeface="Noto Sans Mono"/>
              </a:rPr>
              <a:t>04</a:t>
            </a:r>
          </a:p>
        </p:txBody>
      </p:sp>
      <p:sp>
        <p:nvSpPr>
          <p:cNvPr id="25" name="Stage 4 Heading"/>
          <p:cNvSpPr>
            <a:spLocks noGrp="1"/>
          </p:cNvSpPr>
          <p:nvPr>
            <p:ph type="body" idx="33"/>
          </p:nvPr>
        </p:nvSpPr>
        <p:spPr>
          <a:xfrm>
            <a:off x="7461250" y="4013200"/>
            <a:ext cx="1663700" cy="38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Harden</a:t>
            </a:r>
          </a:p>
        </p:txBody>
      </p:sp>
      <p:sp>
        <p:nvSpPr>
          <p:cNvPr id="26" name="Stage 4 Body"/>
          <p:cNvSpPr>
            <a:spLocks noGrp="1"/>
          </p:cNvSpPr>
          <p:nvPr>
            <p:ph type="body" idx="34"/>
          </p:nvPr>
        </p:nvSpPr>
        <p:spPr>
          <a:xfrm>
            <a:off x="7461250" y="4508500"/>
            <a:ext cx="1663700" cy="1143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Fix what the pilot surfaces; add observability.</a:t>
            </a:r>
          </a:p>
        </p:txBody>
      </p:sp>
      <p:sp>
        <p:nvSpPr>
          <p:cNvPr id="27" name="Stage 5 Counter"/>
          <p:cNvSpPr>
            <a:spLocks noGrp="1"/>
          </p:cNvSpPr>
          <p:nvPr>
            <p:ph type="body" idx="36"/>
          </p:nvPr>
        </p:nvSpPr>
        <p:spPr>
          <a:xfrm>
            <a:off x="9607550" y="3683000"/>
            <a:ext cx="16637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8A6F2E"/>
                </a:solidFill>
                <a:latin typeface="Noto Sans Mono"/>
              </a:rPr>
              <a:t>05</a:t>
            </a:r>
          </a:p>
        </p:txBody>
      </p:sp>
      <p:sp>
        <p:nvSpPr>
          <p:cNvPr id="28" name="Stage 5 Heading"/>
          <p:cNvSpPr>
            <a:spLocks noGrp="1"/>
          </p:cNvSpPr>
          <p:nvPr>
            <p:ph type="body" idx="37"/>
          </p:nvPr>
        </p:nvSpPr>
        <p:spPr>
          <a:xfrm>
            <a:off x="9607550" y="4013200"/>
            <a:ext cx="1663700" cy="38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Scale</a:t>
            </a:r>
          </a:p>
        </p:txBody>
      </p:sp>
      <p:sp>
        <p:nvSpPr>
          <p:cNvPr id="29" name="Stage 5 Body"/>
          <p:cNvSpPr>
            <a:spLocks noGrp="1"/>
          </p:cNvSpPr>
          <p:nvPr>
            <p:ph type="body" idx="38"/>
          </p:nvPr>
        </p:nvSpPr>
        <p:spPr>
          <a:xfrm>
            <a:off x="9607550" y="4508500"/>
            <a:ext cx="1663700" cy="1143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Roll out to remaining regions and SKUs.</a:t>
            </a:r>
          </a:p>
        </p:txBody>
      </p:sp>
      <p:sp>
        <p:nvSpPr>
          <p:cNvPr id="30" name="Source"/>
          <p:cNvSpPr>
            <a:spLocks noGrp="1"/>
          </p:cNvSpPr>
          <p:nvPr>
            <p:ph type="body" idx="60"/>
          </p:nvPr>
        </p:nvSpPr>
        <p:spPr>
          <a:xfrm>
            <a:off x="635000" y="6350000"/>
            <a:ext cx="10922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SOURCE · DELIVERY PLAN · WK 1–18 · PILOT CURRENTLY IN FLIGHT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Stacked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DATA · REVENUE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MIX · FY21–FY25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Platform revenue is the fastest-growing share; legacy hardware is flat in absolute terms.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5715000"/>
            <a:ext cx="8382000" cy="635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000" y="4699000"/>
            <a:ext cx="952500" cy="10160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400" y="513715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6.8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000" y="4191000"/>
            <a:ext cx="952500" cy="5080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400" y="437515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3.2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000" y="3937000"/>
            <a:ext cx="952500" cy="25400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400" y="399415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1.6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000" y="3873500"/>
            <a:ext cx="952500" cy="635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89200" y="4711700"/>
            <a:ext cx="952500" cy="10033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14600" y="514350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6.7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89200" y="4152900"/>
            <a:ext cx="952500" cy="5588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14600" y="436245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3.5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89200" y="3886200"/>
            <a:ext cx="952500" cy="26670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14600" y="394970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1.7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89200" y="3784600"/>
            <a:ext cx="952500" cy="1016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43400" y="4724400"/>
            <a:ext cx="952500" cy="9906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8800" y="514985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6.6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4140200"/>
            <a:ext cx="952500" cy="5842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68800" y="436245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3.7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43400" y="3848100"/>
            <a:ext cx="952500" cy="29210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68800" y="392430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1.8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3695700"/>
            <a:ext cx="952500" cy="1524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97600" y="4737100"/>
            <a:ext cx="952500" cy="9779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23000" y="515620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6.5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97600" y="4114800"/>
            <a:ext cx="952500" cy="6223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23000" y="435610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3.9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97600" y="3810000"/>
            <a:ext cx="952500" cy="30480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23000" y="389255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1.9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7600" y="3568700"/>
            <a:ext cx="952500" cy="2413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23000" y="361950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1.1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51800" y="4762500"/>
            <a:ext cx="952500" cy="9525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77200" y="516890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6.4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51800" y="4102100"/>
            <a:ext cx="952500" cy="660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77200" y="436245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4.2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51800" y="3771900"/>
            <a:ext cx="952500" cy="33020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77200" y="386715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2.1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51800" y="3441700"/>
            <a:ext cx="952500" cy="3302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77200" y="353695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1.4</a:t>
            </a:r>
          </a:p>
        </p:txBody>
      </p:sp>
      <p:sp>
        <p:nvSpPr>
          <p:cNvPr id="48" name="Bar 1 Total"/>
          <p:cNvSpPr>
            <a:spLocks noGrp="1"/>
          </p:cNvSpPr>
          <p:nvPr>
            <p:ph type="body" idx="30"/>
          </p:nvPr>
        </p:nvSpPr>
        <p:spPr>
          <a:xfrm>
            <a:off x="635000" y="3200400"/>
            <a:ext cx="952500" cy="2032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11.9</a:t>
            </a:r>
          </a:p>
        </p:txBody>
      </p:sp>
      <p:sp>
        <p:nvSpPr>
          <p:cNvPr id="49" name="Bar 1 Label"/>
          <p:cNvSpPr>
            <a:spLocks noGrp="1"/>
          </p:cNvSpPr>
          <p:nvPr>
            <p:ph type="body" idx="20"/>
          </p:nvPr>
        </p:nvSpPr>
        <p:spPr>
          <a:xfrm>
            <a:off x="635000" y="5816600"/>
            <a:ext cx="952500" cy="1905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 spc="110" cap="all">
                <a:solidFill>
                  <a:srgbClr val="2D3A52"/>
                </a:solidFill>
                <a:latin typeface="Noto Sans Mono"/>
              </a:rPr>
              <a:t>FY21</a:t>
            </a:r>
          </a:p>
        </p:txBody>
      </p:sp>
      <p:sp>
        <p:nvSpPr>
          <p:cNvPr id="50" name="Bar 2 Total"/>
          <p:cNvSpPr>
            <a:spLocks noGrp="1"/>
          </p:cNvSpPr>
          <p:nvPr>
            <p:ph type="body" idx="31"/>
          </p:nvPr>
        </p:nvSpPr>
        <p:spPr>
          <a:xfrm>
            <a:off x="2489200" y="3200400"/>
            <a:ext cx="952500" cy="2032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12.4</a:t>
            </a:r>
          </a:p>
        </p:txBody>
      </p:sp>
      <p:sp>
        <p:nvSpPr>
          <p:cNvPr id="51" name="Bar 2 Label"/>
          <p:cNvSpPr>
            <a:spLocks noGrp="1"/>
          </p:cNvSpPr>
          <p:nvPr>
            <p:ph type="body" idx="21"/>
          </p:nvPr>
        </p:nvSpPr>
        <p:spPr>
          <a:xfrm>
            <a:off x="2489200" y="5816600"/>
            <a:ext cx="952500" cy="1905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 spc="110" cap="all">
                <a:solidFill>
                  <a:srgbClr val="2D3A52"/>
                </a:solidFill>
                <a:latin typeface="Noto Sans Mono"/>
              </a:rPr>
              <a:t>FY22</a:t>
            </a:r>
          </a:p>
        </p:txBody>
      </p:sp>
      <p:sp>
        <p:nvSpPr>
          <p:cNvPr id="52" name="Bar 3 Total"/>
          <p:cNvSpPr>
            <a:spLocks noGrp="1"/>
          </p:cNvSpPr>
          <p:nvPr>
            <p:ph type="body" idx="32"/>
          </p:nvPr>
        </p:nvSpPr>
        <p:spPr>
          <a:xfrm>
            <a:off x="4343400" y="3200400"/>
            <a:ext cx="952500" cy="2032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12.9</a:t>
            </a:r>
          </a:p>
        </p:txBody>
      </p:sp>
      <p:sp>
        <p:nvSpPr>
          <p:cNvPr id="53" name="Bar 3 Label"/>
          <p:cNvSpPr>
            <a:spLocks noGrp="1"/>
          </p:cNvSpPr>
          <p:nvPr>
            <p:ph type="body" idx="22"/>
          </p:nvPr>
        </p:nvSpPr>
        <p:spPr>
          <a:xfrm>
            <a:off x="4343400" y="5816600"/>
            <a:ext cx="952500" cy="1905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 spc="110" cap="all">
                <a:solidFill>
                  <a:srgbClr val="2D3A52"/>
                </a:solidFill>
                <a:latin typeface="Noto Sans Mono"/>
              </a:rPr>
              <a:t>FY23</a:t>
            </a:r>
          </a:p>
        </p:txBody>
      </p:sp>
      <p:sp>
        <p:nvSpPr>
          <p:cNvPr id="54" name="Bar 4 Total"/>
          <p:cNvSpPr>
            <a:spLocks noGrp="1"/>
          </p:cNvSpPr>
          <p:nvPr>
            <p:ph type="body" idx="33"/>
          </p:nvPr>
        </p:nvSpPr>
        <p:spPr>
          <a:xfrm>
            <a:off x="6197600" y="3200400"/>
            <a:ext cx="952500" cy="2032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13.4</a:t>
            </a:r>
          </a:p>
        </p:txBody>
      </p:sp>
      <p:sp>
        <p:nvSpPr>
          <p:cNvPr id="55" name="Bar 4 Label"/>
          <p:cNvSpPr>
            <a:spLocks noGrp="1"/>
          </p:cNvSpPr>
          <p:nvPr>
            <p:ph type="body" idx="23"/>
          </p:nvPr>
        </p:nvSpPr>
        <p:spPr>
          <a:xfrm>
            <a:off x="6197600" y="5816600"/>
            <a:ext cx="952500" cy="1905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 spc="110" cap="all">
                <a:solidFill>
                  <a:srgbClr val="2D3A52"/>
                </a:solidFill>
                <a:latin typeface="Noto Sans Mono"/>
              </a:rPr>
              <a:t>FY24</a:t>
            </a:r>
          </a:p>
        </p:txBody>
      </p:sp>
      <p:sp>
        <p:nvSpPr>
          <p:cNvPr id="56" name="Bar 5 Total"/>
          <p:cNvSpPr>
            <a:spLocks noGrp="1"/>
          </p:cNvSpPr>
          <p:nvPr>
            <p:ph type="body" idx="34"/>
          </p:nvPr>
        </p:nvSpPr>
        <p:spPr>
          <a:xfrm>
            <a:off x="8051800" y="3200400"/>
            <a:ext cx="952500" cy="2032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14.1</a:t>
            </a:r>
          </a:p>
        </p:txBody>
      </p:sp>
      <p:sp>
        <p:nvSpPr>
          <p:cNvPr id="57" name="Bar 5 Label"/>
          <p:cNvSpPr>
            <a:spLocks noGrp="1"/>
          </p:cNvSpPr>
          <p:nvPr>
            <p:ph type="body" idx="24"/>
          </p:nvPr>
        </p:nvSpPr>
        <p:spPr>
          <a:xfrm>
            <a:off x="8051800" y="5816600"/>
            <a:ext cx="952500" cy="1905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 spc="110" cap="all">
                <a:solidFill>
                  <a:srgbClr val="2D3A52"/>
                </a:solidFill>
                <a:latin typeface="Noto Sans Mono"/>
              </a:rPr>
              <a:t>FY25</a:t>
            </a:r>
          </a:p>
        </p:txBody>
      </p:sp>
      <p:sp>
        <p:nvSpPr>
          <p:cNvPr id="58" name="Legend Title"/>
          <p:cNvSpPr>
            <a:spLocks noGrp="1"/>
          </p:cNvSpPr>
          <p:nvPr>
            <p:ph type="body" idx="39"/>
          </p:nvPr>
        </p:nvSpPr>
        <p:spPr>
          <a:xfrm>
            <a:off x="9525000" y="3238500"/>
            <a:ext cx="20320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98" cap="all">
                <a:solidFill>
                  <a:srgbClr val="0B1A33"/>
                </a:solidFill>
                <a:latin typeface="Noto Sans Mono"/>
              </a:rPr>
              <a:t>SEGMENT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525000" y="3479800"/>
            <a:ext cx="114300" cy="1143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Legend 1 Name"/>
          <p:cNvSpPr>
            <a:spLocks noGrp="1"/>
          </p:cNvSpPr>
          <p:nvPr>
            <p:ph type="body" idx="40"/>
          </p:nvPr>
        </p:nvSpPr>
        <p:spPr>
          <a:xfrm>
            <a:off x="9728200" y="3454400"/>
            <a:ext cx="1828800" cy="1651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Legacy hardware</a:t>
            </a:r>
          </a:p>
        </p:txBody>
      </p:sp>
      <p:sp>
        <p:nvSpPr>
          <p:cNvPr id="61" name="Legend 1 Change"/>
          <p:cNvSpPr>
            <a:spLocks noGrp="1"/>
          </p:cNvSpPr>
          <p:nvPr>
            <p:ph type="body" idx="41"/>
          </p:nvPr>
        </p:nvSpPr>
        <p:spPr>
          <a:xfrm>
            <a:off x="9728200" y="3606800"/>
            <a:ext cx="18288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35">
                <a:solidFill>
                  <a:srgbClr val="2D3A52"/>
                </a:solidFill>
                <a:latin typeface="Noto Sans Mono"/>
              </a:rPr>
              <a:t>−6% · 5y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525000" y="3835400"/>
            <a:ext cx="114300" cy="1143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Legend 2 Name"/>
          <p:cNvSpPr>
            <a:spLocks noGrp="1"/>
          </p:cNvSpPr>
          <p:nvPr>
            <p:ph type="body" idx="42"/>
          </p:nvPr>
        </p:nvSpPr>
        <p:spPr>
          <a:xfrm>
            <a:off x="9728200" y="3810000"/>
            <a:ext cx="1828800" cy="1651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Consumer products</a:t>
            </a:r>
          </a:p>
        </p:txBody>
      </p:sp>
      <p:sp>
        <p:nvSpPr>
          <p:cNvPr id="64" name="Legend 2 Change"/>
          <p:cNvSpPr>
            <a:spLocks noGrp="1"/>
          </p:cNvSpPr>
          <p:nvPr>
            <p:ph type="body" idx="43"/>
          </p:nvPr>
        </p:nvSpPr>
        <p:spPr>
          <a:xfrm>
            <a:off x="9728200" y="3962400"/>
            <a:ext cx="18288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35">
                <a:solidFill>
                  <a:srgbClr val="2D3A52"/>
                </a:solidFill>
                <a:latin typeface="Noto Sans Mono"/>
              </a:rPr>
              <a:t>+31% · 5y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525000" y="4191000"/>
            <a:ext cx="114300" cy="11430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Legend 3 Name"/>
          <p:cNvSpPr>
            <a:spLocks noGrp="1"/>
          </p:cNvSpPr>
          <p:nvPr>
            <p:ph type="body" idx="44"/>
          </p:nvPr>
        </p:nvSpPr>
        <p:spPr>
          <a:xfrm>
            <a:off x="9728200" y="4165600"/>
            <a:ext cx="1828800" cy="1651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Commercial</a:t>
            </a:r>
          </a:p>
        </p:txBody>
      </p:sp>
      <p:sp>
        <p:nvSpPr>
          <p:cNvPr id="67" name="Legend 3 Change"/>
          <p:cNvSpPr>
            <a:spLocks noGrp="1"/>
          </p:cNvSpPr>
          <p:nvPr>
            <p:ph type="body" idx="45"/>
          </p:nvPr>
        </p:nvSpPr>
        <p:spPr>
          <a:xfrm>
            <a:off x="9728200" y="4318000"/>
            <a:ext cx="18288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35">
                <a:solidFill>
                  <a:srgbClr val="2D3A52"/>
                </a:solidFill>
                <a:latin typeface="Noto Sans Mono"/>
              </a:rPr>
              <a:t>+31% · 5y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525000" y="4546600"/>
            <a:ext cx="114300" cy="1143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Legend 4 Name"/>
          <p:cNvSpPr>
            <a:spLocks noGrp="1"/>
          </p:cNvSpPr>
          <p:nvPr>
            <p:ph type="body" idx="46"/>
          </p:nvPr>
        </p:nvSpPr>
        <p:spPr>
          <a:xfrm>
            <a:off x="9728200" y="4521200"/>
            <a:ext cx="1828800" cy="1651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Platform &amp; services</a:t>
            </a:r>
          </a:p>
        </p:txBody>
      </p:sp>
      <p:sp>
        <p:nvSpPr>
          <p:cNvPr id="70" name="Legend 4 Change"/>
          <p:cNvSpPr>
            <a:spLocks noGrp="1"/>
          </p:cNvSpPr>
          <p:nvPr>
            <p:ph type="body" idx="47"/>
          </p:nvPr>
        </p:nvSpPr>
        <p:spPr>
          <a:xfrm>
            <a:off x="9728200" y="4673600"/>
            <a:ext cx="18288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35">
                <a:solidFill>
                  <a:srgbClr val="2D3A52"/>
                </a:solidFill>
                <a:latin typeface="Noto Sans Mono"/>
              </a:rPr>
              <a:t>+367% · 5y</a:t>
            </a:r>
          </a:p>
        </p:txBody>
      </p:sp>
      <p:sp>
        <p:nvSpPr>
          <p:cNvPr id="71" name="Source"/>
          <p:cNvSpPr>
            <a:spLocks noGrp="1"/>
          </p:cNvSpPr>
          <p:nvPr>
            <p:ph type="body" idx="60"/>
          </p:nvPr>
        </p:nvSpPr>
        <p:spPr>
          <a:xfrm>
            <a:off x="635000" y="6286500"/>
            <a:ext cx="83820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SAMPLE DATA · EUR BN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FY25 PRELIMINARY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Across five product lines, only the two flagship lines beat both revenue and margin plan.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263900"/>
            <a:ext cx="10922000" cy="127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000" y="3811905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000" y="4350385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000" y="4888865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000" y="5427345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000" y="5965825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ader 1"/>
          <p:cNvSpPr>
            <a:spLocks noGrp="1"/>
          </p:cNvSpPr>
          <p:nvPr>
            <p:ph type="body" idx="20"/>
          </p:nvPr>
        </p:nvSpPr>
        <p:spPr>
          <a:xfrm>
            <a:off x="787400" y="3035300"/>
            <a:ext cx="1981200" cy="2413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PRODUCT LINE</a:t>
            </a:r>
          </a:p>
        </p:txBody>
      </p:sp>
      <p:sp>
        <p:nvSpPr>
          <p:cNvPr id="17" name="Header 2"/>
          <p:cNvSpPr>
            <a:spLocks noGrp="1"/>
          </p:cNvSpPr>
          <p:nvPr>
            <p:ph type="body" idx="21"/>
          </p:nvPr>
        </p:nvSpPr>
        <p:spPr>
          <a:xfrm>
            <a:off x="3073400" y="3035300"/>
            <a:ext cx="1854200" cy="2413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REVENUE · €M</a:t>
            </a:r>
          </a:p>
        </p:txBody>
      </p:sp>
      <p:sp>
        <p:nvSpPr>
          <p:cNvPr id="18" name="Header 3"/>
          <p:cNvSpPr>
            <a:spLocks noGrp="1"/>
          </p:cNvSpPr>
          <p:nvPr>
            <p:ph type="body" idx="22"/>
          </p:nvPr>
        </p:nvSpPr>
        <p:spPr>
          <a:xfrm>
            <a:off x="5232400" y="3035300"/>
            <a:ext cx="1854200" cy="2413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VS. PLAN</a:t>
            </a:r>
          </a:p>
        </p:txBody>
      </p:sp>
      <p:sp>
        <p:nvSpPr>
          <p:cNvPr id="19" name="Header 4"/>
          <p:cNvSpPr>
            <a:spLocks noGrp="1"/>
          </p:cNvSpPr>
          <p:nvPr>
            <p:ph type="body" idx="23"/>
          </p:nvPr>
        </p:nvSpPr>
        <p:spPr>
          <a:xfrm>
            <a:off x="7391400" y="3035300"/>
            <a:ext cx="1854200" cy="2413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MARGIN</a:t>
            </a:r>
          </a:p>
        </p:txBody>
      </p:sp>
      <p:sp>
        <p:nvSpPr>
          <p:cNvPr id="20" name="Header 5"/>
          <p:cNvSpPr>
            <a:spLocks noGrp="1"/>
          </p:cNvSpPr>
          <p:nvPr>
            <p:ph type="body" idx="24"/>
          </p:nvPr>
        </p:nvSpPr>
        <p:spPr>
          <a:xfrm>
            <a:off x="9550400" y="3035300"/>
            <a:ext cx="1854200" cy="2413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VS. PLAN</a:t>
            </a:r>
          </a:p>
        </p:txBody>
      </p:sp>
      <p:sp>
        <p:nvSpPr>
          <p:cNvPr id="21" name="Row 1 Label"/>
          <p:cNvSpPr>
            <a:spLocks noGrp="1"/>
          </p:cNvSpPr>
          <p:nvPr>
            <p:ph type="body" idx="30"/>
          </p:nvPr>
        </p:nvSpPr>
        <p:spPr>
          <a:xfrm>
            <a:off x="787400" y="3390900"/>
            <a:ext cx="1981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Flagship A</a:t>
            </a:r>
          </a:p>
        </p:txBody>
      </p:sp>
      <p:sp>
        <p:nvSpPr>
          <p:cNvPr id="22" name="Row 2 Label"/>
          <p:cNvSpPr>
            <a:spLocks noGrp="1"/>
          </p:cNvSpPr>
          <p:nvPr>
            <p:ph type="body" idx="31"/>
          </p:nvPr>
        </p:nvSpPr>
        <p:spPr>
          <a:xfrm>
            <a:off x="787400" y="3929380"/>
            <a:ext cx="1981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Pro line</a:t>
            </a:r>
          </a:p>
        </p:txBody>
      </p:sp>
      <p:sp>
        <p:nvSpPr>
          <p:cNvPr id="23" name="Row 3 Label"/>
          <p:cNvSpPr>
            <a:spLocks noGrp="1"/>
          </p:cNvSpPr>
          <p:nvPr>
            <p:ph type="body" idx="32"/>
          </p:nvPr>
        </p:nvSpPr>
        <p:spPr>
          <a:xfrm>
            <a:off x="787400" y="4467860"/>
            <a:ext cx="1981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Standard line</a:t>
            </a:r>
          </a:p>
        </p:txBody>
      </p:sp>
      <p:sp>
        <p:nvSpPr>
          <p:cNvPr id="24" name="Row 4 Label"/>
          <p:cNvSpPr>
            <a:spLocks noGrp="1"/>
          </p:cNvSpPr>
          <p:nvPr>
            <p:ph type="body" idx="33"/>
          </p:nvPr>
        </p:nvSpPr>
        <p:spPr>
          <a:xfrm>
            <a:off x="787400" y="5006340"/>
            <a:ext cx="1981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Compact line</a:t>
            </a:r>
          </a:p>
        </p:txBody>
      </p:sp>
      <p:sp>
        <p:nvSpPr>
          <p:cNvPr id="25" name="Row 5 Label"/>
          <p:cNvSpPr>
            <a:spLocks noGrp="1"/>
          </p:cNvSpPr>
          <p:nvPr>
            <p:ph type="body" idx="34"/>
          </p:nvPr>
        </p:nvSpPr>
        <p:spPr>
          <a:xfrm>
            <a:off x="787400" y="5544820"/>
            <a:ext cx="1981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Accessories</a:t>
            </a:r>
          </a:p>
        </p:txBody>
      </p:sp>
      <p:sp>
        <p:nvSpPr>
          <p:cNvPr id="26" name="Cell r1c1"/>
          <p:cNvSpPr>
            <a:spLocks noGrp="1"/>
          </p:cNvSpPr>
          <p:nvPr>
            <p:ph type="body" idx="40"/>
          </p:nvPr>
        </p:nvSpPr>
        <p:spPr>
          <a:xfrm>
            <a:off x="3073400" y="339090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3,240</a:t>
            </a:r>
          </a:p>
        </p:txBody>
      </p:sp>
      <p:sp>
        <p:nvSpPr>
          <p:cNvPr id="27" name="Cell r1c2"/>
          <p:cNvSpPr>
            <a:spLocks noGrp="1"/>
          </p:cNvSpPr>
          <p:nvPr>
            <p:ph type="body" idx="41"/>
          </p:nvPr>
        </p:nvSpPr>
        <p:spPr>
          <a:xfrm>
            <a:off x="5232400" y="339090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+3.8%</a:t>
            </a:r>
          </a:p>
        </p:txBody>
      </p:sp>
      <p:sp>
        <p:nvSpPr>
          <p:cNvPr id="28" name="Cell r1c3"/>
          <p:cNvSpPr>
            <a:spLocks noGrp="1"/>
          </p:cNvSpPr>
          <p:nvPr>
            <p:ph type="body" idx="42"/>
          </p:nvPr>
        </p:nvSpPr>
        <p:spPr>
          <a:xfrm>
            <a:off x="7391400" y="339090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14.2%</a:t>
            </a:r>
          </a:p>
        </p:txBody>
      </p:sp>
      <p:sp>
        <p:nvSpPr>
          <p:cNvPr id="29" name="Cell r1c4"/>
          <p:cNvSpPr>
            <a:spLocks noGrp="1"/>
          </p:cNvSpPr>
          <p:nvPr>
            <p:ph type="body" idx="43"/>
          </p:nvPr>
        </p:nvSpPr>
        <p:spPr>
          <a:xfrm>
            <a:off x="9550400" y="339090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+0.6 pt</a:t>
            </a:r>
          </a:p>
        </p:txBody>
      </p:sp>
      <p:sp>
        <p:nvSpPr>
          <p:cNvPr id="30" name="Cell r2c1"/>
          <p:cNvSpPr>
            <a:spLocks noGrp="1"/>
          </p:cNvSpPr>
          <p:nvPr>
            <p:ph type="body" idx="44"/>
          </p:nvPr>
        </p:nvSpPr>
        <p:spPr>
          <a:xfrm>
            <a:off x="3073400" y="392938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2,910</a:t>
            </a:r>
          </a:p>
        </p:txBody>
      </p:sp>
      <p:sp>
        <p:nvSpPr>
          <p:cNvPr id="31" name="Cell r2c2"/>
          <p:cNvSpPr>
            <a:spLocks noGrp="1"/>
          </p:cNvSpPr>
          <p:nvPr>
            <p:ph type="body" idx="45"/>
          </p:nvPr>
        </p:nvSpPr>
        <p:spPr>
          <a:xfrm>
            <a:off x="5232400" y="392938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+2.2%</a:t>
            </a:r>
          </a:p>
        </p:txBody>
      </p:sp>
      <p:sp>
        <p:nvSpPr>
          <p:cNvPr id="32" name="Cell r2c3"/>
          <p:cNvSpPr>
            <a:spLocks noGrp="1"/>
          </p:cNvSpPr>
          <p:nvPr>
            <p:ph type="body" idx="46"/>
          </p:nvPr>
        </p:nvSpPr>
        <p:spPr>
          <a:xfrm>
            <a:off x="7391400" y="392938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13.5%</a:t>
            </a:r>
          </a:p>
        </p:txBody>
      </p:sp>
      <p:sp>
        <p:nvSpPr>
          <p:cNvPr id="33" name="Cell r2c4"/>
          <p:cNvSpPr>
            <a:spLocks noGrp="1"/>
          </p:cNvSpPr>
          <p:nvPr>
            <p:ph type="body" idx="47"/>
          </p:nvPr>
        </p:nvSpPr>
        <p:spPr>
          <a:xfrm>
            <a:off x="9550400" y="392938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+0.4 pt</a:t>
            </a:r>
          </a:p>
        </p:txBody>
      </p:sp>
      <p:sp>
        <p:nvSpPr>
          <p:cNvPr id="34" name="Cell r3c1"/>
          <p:cNvSpPr>
            <a:spLocks noGrp="1"/>
          </p:cNvSpPr>
          <p:nvPr>
            <p:ph type="body" idx="48"/>
          </p:nvPr>
        </p:nvSpPr>
        <p:spPr>
          <a:xfrm>
            <a:off x="3073400" y="446786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3,480</a:t>
            </a:r>
          </a:p>
        </p:txBody>
      </p:sp>
      <p:sp>
        <p:nvSpPr>
          <p:cNvPr id="35" name="Cell r3c2"/>
          <p:cNvSpPr>
            <a:spLocks noGrp="1"/>
          </p:cNvSpPr>
          <p:nvPr>
            <p:ph type="body" idx="49"/>
          </p:nvPr>
        </p:nvSpPr>
        <p:spPr>
          <a:xfrm>
            <a:off x="5232400" y="446786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+0.3%</a:t>
            </a:r>
          </a:p>
        </p:txBody>
      </p:sp>
      <p:sp>
        <p:nvSpPr>
          <p:cNvPr id="36" name="Cell r3c3"/>
          <p:cNvSpPr>
            <a:spLocks noGrp="1"/>
          </p:cNvSpPr>
          <p:nvPr>
            <p:ph type="body" idx="50"/>
          </p:nvPr>
        </p:nvSpPr>
        <p:spPr>
          <a:xfrm>
            <a:off x="7391400" y="446786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11.1%</a:t>
            </a:r>
          </a:p>
        </p:txBody>
      </p:sp>
      <p:sp>
        <p:nvSpPr>
          <p:cNvPr id="37" name="Cell r3c4"/>
          <p:cNvSpPr>
            <a:spLocks noGrp="1"/>
          </p:cNvSpPr>
          <p:nvPr>
            <p:ph type="body" idx="51"/>
          </p:nvPr>
        </p:nvSpPr>
        <p:spPr>
          <a:xfrm>
            <a:off x="9550400" y="446786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−0.2 pt</a:t>
            </a:r>
          </a:p>
        </p:txBody>
      </p:sp>
      <p:sp>
        <p:nvSpPr>
          <p:cNvPr id="38" name="Cell r4c1"/>
          <p:cNvSpPr>
            <a:spLocks noGrp="1"/>
          </p:cNvSpPr>
          <p:nvPr>
            <p:ph type="body" idx="52"/>
          </p:nvPr>
        </p:nvSpPr>
        <p:spPr>
          <a:xfrm>
            <a:off x="3073400" y="500634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2,610</a:t>
            </a:r>
          </a:p>
        </p:txBody>
      </p:sp>
      <p:sp>
        <p:nvSpPr>
          <p:cNvPr id="39" name="Cell r4c2"/>
          <p:cNvSpPr>
            <a:spLocks noGrp="1"/>
          </p:cNvSpPr>
          <p:nvPr>
            <p:ph type="body" idx="53"/>
          </p:nvPr>
        </p:nvSpPr>
        <p:spPr>
          <a:xfrm>
            <a:off x="5232400" y="500634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−0.9%</a:t>
            </a:r>
          </a:p>
        </p:txBody>
      </p:sp>
      <p:sp>
        <p:nvSpPr>
          <p:cNvPr id="40" name="Cell r4c3"/>
          <p:cNvSpPr>
            <a:spLocks noGrp="1"/>
          </p:cNvSpPr>
          <p:nvPr>
            <p:ph type="body" idx="54"/>
          </p:nvPr>
        </p:nvSpPr>
        <p:spPr>
          <a:xfrm>
            <a:off x="7391400" y="500634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10.4%</a:t>
            </a:r>
          </a:p>
        </p:txBody>
      </p:sp>
      <p:sp>
        <p:nvSpPr>
          <p:cNvPr id="41" name="Cell r4c4"/>
          <p:cNvSpPr>
            <a:spLocks noGrp="1"/>
          </p:cNvSpPr>
          <p:nvPr>
            <p:ph type="body" idx="55"/>
          </p:nvPr>
        </p:nvSpPr>
        <p:spPr>
          <a:xfrm>
            <a:off x="9550400" y="500634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−0.3 pt</a:t>
            </a:r>
          </a:p>
        </p:txBody>
      </p:sp>
      <p:sp>
        <p:nvSpPr>
          <p:cNvPr id="42" name="Cell r5c1"/>
          <p:cNvSpPr>
            <a:spLocks noGrp="1"/>
          </p:cNvSpPr>
          <p:nvPr>
            <p:ph type="body" idx="56"/>
          </p:nvPr>
        </p:nvSpPr>
        <p:spPr>
          <a:xfrm>
            <a:off x="3073400" y="554482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1,860</a:t>
            </a:r>
          </a:p>
        </p:txBody>
      </p:sp>
      <p:sp>
        <p:nvSpPr>
          <p:cNvPr id="43" name="Cell r5c2"/>
          <p:cNvSpPr>
            <a:spLocks noGrp="1"/>
          </p:cNvSpPr>
          <p:nvPr>
            <p:ph type="body" idx="57"/>
          </p:nvPr>
        </p:nvSpPr>
        <p:spPr>
          <a:xfrm>
            <a:off x="5232400" y="554482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−1.4%</a:t>
            </a:r>
          </a:p>
        </p:txBody>
      </p:sp>
      <p:sp>
        <p:nvSpPr>
          <p:cNvPr id="44" name="Cell r5c3"/>
          <p:cNvSpPr>
            <a:spLocks noGrp="1"/>
          </p:cNvSpPr>
          <p:nvPr>
            <p:ph type="body" idx="58"/>
          </p:nvPr>
        </p:nvSpPr>
        <p:spPr>
          <a:xfrm>
            <a:off x="7391400" y="554482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9.2%</a:t>
            </a:r>
          </a:p>
        </p:txBody>
      </p:sp>
      <p:sp>
        <p:nvSpPr>
          <p:cNvPr id="45" name="Cell r5c4"/>
          <p:cNvSpPr>
            <a:spLocks noGrp="1"/>
          </p:cNvSpPr>
          <p:nvPr>
            <p:ph type="body" idx="59"/>
          </p:nvPr>
        </p:nvSpPr>
        <p:spPr>
          <a:xfrm>
            <a:off x="9550400" y="554482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−0.7 pt</a:t>
            </a:r>
          </a:p>
        </p:txBody>
      </p:sp>
      <p:sp>
        <p:nvSpPr>
          <p:cNvPr id="46" name="Source"/>
          <p:cNvSpPr>
            <a:spLocks noGrp="1"/>
          </p:cNvSpPr>
          <p:nvPr>
            <p:ph type="body" idx="60"/>
          </p:nvPr>
        </p:nvSpPr>
        <p:spPr>
          <a:xfrm>
            <a:off x="635000" y="6223000"/>
            <a:ext cx="109220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SAMPLE DATA, FY25 PRELIMINARY · EUR M · PLAN SET OCT 2024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Pyram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PYRAMID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CUSTOMER VALUE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Three tiers of value: a solid product, an honest relationship, a measured experience.</a:t>
            </a:r>
          </a:p>
        </p:txBody>
      </p:sp>
      <p:sp>
        <p:nvSpPr>
          <p:cNvPr id="10" name="Isosceles Triangle 9"/>
          <p:cNvSpPr/>
          <p:nvPr/>
        </p:nvSpPr>
        <p:spPr>
          <a:xfrm>
            <a:off x="2497667" y="3048000"/>
            <a:ext cx="1608667" cy="1083733"/>
          </a:xfrm>
          <a:prstGeom prst="triangle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693333" y="4157133"/>
            <a:ext cx="3217334" cy="1083734"/>
          </a:xfrm>
          <a:custGeom>
            <a:avLst/>
            <a:gdLst/>
            <a:ahLst/>
            <a:cxnLst/>
            <a:rect l="l" t="t" r="r" b="b"/>
            <a:pathLst>
              <a:path w="3217334" h="1083734">
                <a:moveTo>
                  <a:pt x="804334" y="0"/>
                </a:moveTo>
                <a:lnTo>
                  <a:pt x="2413000" y="0"/>
                </a:lnTo>
                <a:lnTo>
                  <a:pt x="3217334" y="1083734"/>
                </a:lnTo>
                <a:lnTo>
                  <a:pt x="0" y="1083734"/>
                </a:lnTo>
                <a:close/>
              </a:path>
            </a:pathLst>
          </a:cu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889000" y="5266267"/>
            <a:ext cx="4826000" cy="1083733"/>
          </a:xfrm>
          <a:custGeom>
            <a:avLst/>
            <a:gdLst/>
            <a:ahLst/>
            <a:cxnLst/>
            <a:rect l="l" t="t" r="r" b="b"/>
            <a:pathLst>
              <a:path w="4826000" h="1083733">
                <a:moveTo>
                  <a:pt x="804333" y="0"/>
                </a:moveTo>
                <a:lnTo>
                  <a:pt x="4021667" y="0"/>
                </a:lnTo>
                <a:lnTo>
                  <a:pt x="4826000" y="1083733"/>
                </a:lnTo>
                <a:lnTo>
                  <a:pt x="0" y="1083733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ier 1 Label"/>
          <p:cNvSpPr>
            <a:spLocks noGrp="1"/>
          </p:cNvSpPr>
          <p:nvPr>
            <p:ph type="body" idx="20"/>
          </p:nvPr>
        </p:nvSpPr>
        <p:spPr>
          <a:xfrm>
            <a:off x="4206875" y="3448050"/>
            <a:ext cx="2159000" cy="279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200" spc="-14">
                <a:solidFill>
                  <a:srgbClr val="0B1A33"/>
                </a:solidFill>
                <a:latin typeface="Noto Sans Medium"/>
              </a:rPr>
              <a:t>A measured experience.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0000" y="3048000"/>
            <a:ext cx="5207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ier 1 Counter"/>
          <p:cNvSpPr>
            <a:spLocks noGrp="1"/>
          </p:cNvSpPr>
          <p:nvPr>
            <p:ph type="body" idx="22"/>
          </p:nvPr>
        </p:nvSpPr>
        <p:spPr>
          <a:xfrm>
            <a:off x="6350000" y="3149600"/>
            <a:ext cx="5207000" cy="1397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TIER 03 · MEANING</a:t>
            </a:r>
          </a:p>
        </p:txBody>
      </p:sp>
      <p:sp>
        <p:nvSpPr>
          <p:cNvPr id="16" name="Tier 1 Body"/>
          <p:cNvSpPr>
            <a:spLocks noGrp="1"/>
          </p:cNvSpPr>
          <p:nvPr>
            <p:ph type="body" idx="21"/>
          </p:nvPr>
        </p:nvSpPr>
        <p:spPr>
          <a:xfrm>
            <a:off x="6350000" y="3352800"/>
            <a:ext cx="5207000" cy="7239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Time given back; one less thing to think about.</a:t>
            </a:r>
          </a:p>
        </p:txBody>
      </p:sp>
      <p:sp>
        <p:nvSpPr>
          <p:cNvPr id="17" name="Tier 2 Label"/>
          <p:cNvSpPr>
            <a:spLocks noGrp="1"/>
          </p:cNvSpPr>
          <p:nvPr>
            <p:ph type="body" idx="24"/>
          </p:nvPr>
        </p:nvSpPr>
        <p:spPr>
          <a:xfrm>
            <a:off x="1797050" y="4552950"/>
            <a:ext cx="3009900" cy="279400"/>
          </a:xfrm>
        </p:spPr>
        <p:txBody>
          <a:bodyPr lIns="0" tIns="0" rIns="0" bIns="0" wrap="square" anchor="t"/>
          <a:lstStyle/>
          <a:p>
            <a:pPr marL="0" indent="0" algn="ctr">
              <a:lnSpc>
                <a:spcPct val="114999"/>
              </a:lnSpc>
              <a:buNone/>
            </a:pPr>
            <a:r>
              <a:rPr lang="en-US" sz="1400" spc="-17">
                <a:solidFill>
                  <a:srgbClr val="FFFFFF"/>
                </a:solidFill>
                <a:latin typeface="Noto Sans Medium"/>
              </a:rPr>
              <a:t>An honest relationship.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0000" y="4152900"/>
            <a:ext cx="5207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ier 2 Counter"/>
          <p:cNvSpPr>
            <a:spLocks noGrp="1"/>
          </p:cNvSpPr>
          <p:nvPr>
            <p:ph type="body" idx="26"/>
          </p:nvPr>
        </p:nvSpPr>
        <p:spPr>
          <a:xfrm>
            <a:off x="6350000" y="4254500"/>
            <a:ext cx="5207000" cy="1397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TIER 02 · TRUST</a:t>
            </a:r>
          </a:p>
        </p:txBody>
      </p:sp>
      <p:sp>
        <p:nvSpPr>
          <p:cNvPr id="20" name="Tier 2 Body"/>
          <p:cNvSpPr>
            <a:spLocks noGrp="1"/>
          </p:cNvSpPr>
          <p:nvPr>
            <p:ph type="body" idx="25"/>
          </p:nvPr>
        </p:nvSpPr>
        <p:spPr>
          <a:xfrm>
            <a:off x="6350000" y="4457700"/>
            <a:ext cx="5207000" cy="7239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The product tells you the truth about itself — status, usage, when to act.</a:t>
            </a:r>
          </a:p>
        </p:txBody>
      </p:sp>
      <p:sp>
        <p:nvSpPr>
          <p:cNvPr id="21" name="Tier 3 Label"/>
          <p:cNvSpPr>
            <a:spLocks noGrp="1"/>
          </p:cNvSpPr>
          <p:nvPr>
            <p:ph type="body" idx="28"/>
          </p:nvPr>
        </p:nvSpPr>
        <p:spPr>
          <a:xfrm>
            <a:off x="990600" y="5664200"/>
            <a:ext cx="4622800" cy="279400"/>
          </a:xfrm>
        </p:spPr>
        <p:txBody>
          <a:bodyPr lIns="0" tIns="0" rIns="0" bIns="0" wrap="square" anchor="t"/>
          <a:lstStyle/>
          <a:p>
            <a:pPr marL="0" indent="0" algn="ctr">
              <a:lnSpc>
                <a:spcPct val="114999"/>
              </a:lnSpc>
              <a:buNone/>
            </a:pPr>
            <a:r>
              <a:rPr lang="en-US" sz="1400" spc="-17">
                <a:solidFill>
                  <a:srgbClr val="FFFFFF"/>
                </a:solidFill>
                <a:latin typeface="Noto Sans Medium"/>
              </a:rPr>
              <a:t>A solid product.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0000" y="5264150"/>
            <a:ext cx="5207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ier 3 Counter"/>
          <p:cNvSpPr>
            <a:spLocks noGrp="1"/>
          </p:cNvSpPr>
          <p:nvPr>
            <p:ph type="body" idx="30"/>
          </p:nvPr>
        </p:nvSpPr>
        <p:spPr>
          <a:xfrm>
            <a:off x="6350000" y="5365750"/>
            <a:ext cx="5207000" cy="1397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TIER 01 · FOUNDATION</a:t>
            </a:r>
          </a:p>
        </p:txBody>
      </p:sp>
      <p:sp>
        <p:nvSpPr>
          <p:cNvPr id="24" name="Tier 3 Body"/>
          <p:cNvSpPr>
            <a:spLocks noGrp="1"/>
          </p:cNvSpPr>
          <p:nvPr>
            <p:ph type="body" idx="29"/>
          </p:nvPr>
        </p:nvSpPr>
        <p:spPr>
          <a:xfrm>
            <a:off x="6350000" y="5568950"/>
            <a:ext cx="5207000" cy="7239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Things that work, for years, in any context — solid, reliable, supportable.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Key Takeaways">
    <p:bg>
      <p:bgPr>
        <a:solidFill>
          <a:srgbClr val="0B1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FFFFFF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FFFFFF"/>
                </a:solidFill>
                <a:latin typeface="Noto Sans Mono"/>
              </a:rP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FFFFFF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FFFFFF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FFFFFF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cker"/>
          <p:cNvSpPr>
            <a:spLocks noGrp="1"/>
          </p:cNvSpPr>
          <p:nvPr>
            <p:ph type="body" idx="10"/>
          </p:nvPr>
        </p:nvSpPr>
        <p:spPr>
          <a:xfrm>
            <a:off x="635000" y="1422400"/>
            <a:ext cx="10922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KEY TAKEAWAYS</a:t>
            </a:r>
          </a:p>
        </p:txBody>
      </p:sp>
      <p:sp>
        <p:nvSpPr>
          <p:cNvPr id="9" name="Action Title"/>
          <p:cNvSpPr>
            <a:spLocks noGrp="1"/>
          </p:cNvSpPr>
          <p:nvPr>
            <p:ph type="title"/>
          </p:nvPr>
        </p:nvSpPr>
        <p:spPr>
          <a:xfrm>
            <a:off x="635000" y="1727200"/>
            <a:ext cx="1092200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50" b="1" spc="-28">
                <a:solidFill>
                  <a:srgbClr val="FFFFFF"/>
                </a:solidFill>
                <a:latin typeface="Noto Sans"/>
              </a:rPr>
              <a:t>Three things to remember: platform first, measure the experience, write plainly.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175000"/>
            <a:ext cx="304800" cy="1905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ard 1 Counter"/>
          <p:cNvSpPr>
            <a:spLocks noGrp="1"/>
          </p:cNvSpPr>
          <p:nvPr>
            <p:ph type="body" idx="20"/>
          </p:nvPr>
        </p:nvSpPr>
        <p:spPr>
          <a:xfrm>
            <a:off x="635000" y="3302000"/>
            <a:ext cx="26162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01</a:t>
            </a:r>
          </a:p>
        </p:txBody>
      </p:sp>
      <p:sp>
        <p:nvSpPr>
          <p:cNvPr id="12" name="Card 1 Heading"/>
          <p:cNvSpPr>
            <a:spLocks noGrp="1"/>
          </p:cNvSpPr>
          <p:nvPr>
            <p:ph type="body" idx="21"/>
          </p:nvPr>
        </p:nvSpPr>
        <p:spPr>
          <a:xfrm>
            <a:off x="635000" y="3581400"/>
            <a:ext cx="26162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FFFFFF"/>
                </a:solidFill>
                <a:latin typeface="Noto Sans Medium"/>
              </a:rPr>
              <a:t>Platform first.</a:t>
            </a:r>
          </a:p>
        </p:txBody>
      </p:sp>
      <p:sp>
        <p:nvSpPr>
          <p:cNvPr id="13" name="Card 1 Body"/>
          <p:cNvSpPr>
            <a:spLocks noGrp="1"/>
          </p:cNvSpPr>
          <p:nvPr>
            <p:ph type="body" idx="22"/>
          </p:nvPr>
        </p:nvSpPr>
        <p:spPr>
          <a:xfrm>
            <a:off x="635000" y="4318000"/>
            <a:ext cx="2616200" cy="1778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A9BCD6"/>
                </a:solidFill>
                <a:latin typeface="Noto Sans"/>
              </a:rPr>
              <a:t>Every new SKU ships on the unified OS core from the first production run. No line-specific forks after Q2.</a:t>
            </a:r>
          </a:p>
        </p:txBody>
      </p:sp>
      <p:sp>
        <p:nvSpPr>
          <p:cNvPr id="14" name="Card 1 Owner"/>
          <p:cNvSpPr>
            <a:spLocks noGrp="1"/>
          </p:cNvSpPr>
          <p:nvPr>
            <p:ph type="body" idx="23"/>
          </p:nvPr>
        </p:nvSpPr>
        <p:spPr>
          <a:xfrm>
            <a:off x="635000" y="6223000"/>
            <a:ext cx="26162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5A6478"/>
                </a:solidFill>
                <a:latin typeface="Noto Sans Mono"/>
              </a:rPr>
              <a:t>OWNER · PLATFORM VP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3600" y="3175000"/>
            <a:ext cx="304800" cy="1905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ard 2 Counter"/>
          <p:cNvSpPr>
            <a:spLocks noGrp="1"/>
          </p:cNvSpPr>
          <p:nvPr>
            <p:ph type="body" idx="24"/>
          </p:nvPr>
        </p:nvSpPr>
        <p:spPr>
          <a:xfrm>
            <a:off x="3403600" y="3302000"/>
            <a:ext cx="26162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02</a:t>
            </a:r>
          </a:p>
        </p:txBody>
      </p:sp>
      <p:sp>
        <p:nvSpPr>
          <p:cNvPr id="17" name="Card 2 Heading"/>
          <p:cNvSpPr>
            <a:spLocks noGrp="1"/>
          </p:cNvSpPr>
          <p:nvPr>
            <p:ph type="body" idx="25"/>
          </p:nvPr>
        </p:nvSpPr>
        <p:spPr>
          <a:xfrm>
            <a:off x="3403600" y="3581400"/>
            <a:ext cx="26162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FFFFFF"/>
                </a:solidFill>
                <a:latin typeface="Noto Sans Medium"/>
              </a:rPr>
              <a:t>Measure the experience.</a:t>
            </a:r>
          </a:p>
        </p:txBody>
      </p:sp>
      <p:sp>
        <p:nvSpPr>
          <p:cNvPr id="18" name="Card 2 Body"/>
          <p:cNvSpPr>
            <a:spLocks noGrp="1"/>
          </p:cNvSpPr>
          <p:nvPr>
            <p:ph type="body" idx="26"/>
          </p:nvPr>
        </p:nvSpPr>
        <p:spPr>
          <a:xfrm>
            <a:off x="3403600" y="4318000"/>
            <a:ext cx="2616200" cy="1778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A9BCD6"/>
                </a:solidFill>
                <a:latin typeface="Noto Sans"/>
              </a:rPr>
              <a:t>Telemetry is the product, not an add-on. Every feature must ship with the metric that proves it worked.</a:t>
            </a:r>
          </a:p>
        </p:txBody>
      </p:sp>
      <p:sp>
        <p:nvSpPr>
          <p:cNvPr id="19" name="Card 2 Owner"/>
          <p:cNvSpPr>
            <a:spLocks noGrp="1"/>
          </p:cNvSpPr>
          <p:nvPr>
            <p:ph type="body" idx="27"/>
          </p:nvPr>
        </p:nvSpPr>
        <p:spPr>
          <a:xfrm>
            <a:off x="3403600" y="6223000"/>
            <a:ext cx="26162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5A6478"/>
                </a:solidFill>
                <a:latin typeface="Noto Sans Mono"/>
              </a:rPr>
              <a:t>OWNER · DATA LEAD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3175000"/>
            <a:ext cx="304800" cy="1905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ard 3 Counter"/>
          <p:cNvSpPr>
            <a:spLocks noGrp="1"/>
          </p:cNvSpPr>
          <p:nvPr>
            <p:ph type="body" idx="28"/>
          </p:nvPr>
        </p:nvSpPr>
        <p:spPr>
          <a:xfrm>
            <a:off x="6172200" y="3302000"/>
            <a:ext cx="26162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03</a:t>
            </a:r>
          </a:p>
        </p:txBody>
      </p:sp>
      <p:sp>
        <p:nvSpPr>
          <p:cNvPr id="22" name="Card 3 Heading"/>
          <p:cNvSpPr>
            <a:spLocks noGrp="1"/>
          </p:cNvSpPr>
          <p:nvPr>
            <p:ph type="body" idx="29"/>
          </p:nvPr>
        </p:nvSpPr>
        <p:spPr>
          <a:xfrm>
            <a:off x="6172200" y="3581400"/>
            <a:ext cx="26162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FFFFFF"/>
                </a:solidFill>
                <a:latin typeface="Noto Sans Medium"/>
              </a:rPr>
              <a:t>Write plainly.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30"/>
          </p:nvPr>
        </p:nvSpPr>
        <p:spPr>
          <a:xfrm>
            <a:off x="6172200" y="4318000"/>
            <a:ext cx="2616200" cy="1778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A9BCD6"/>
                </a:solidFill>
                <a:latin typeface="Noto Sans"/>
              </a:rPr>
              <a:t>Release notes, app copy, service sheets — all authored in the Feinschliff voice. Short sentences. Concrete nouns.</a:t>
            </a:r>
          </a:p>
        </p:txBody>
      </p:sp>
      <p:sp>
        <p:nvSpPr>
          <p:cNvPr id="24" name="Card 3 Owner"/>
          <p:cNvSpPr>
            <a:spLocks noGrp="1"/>
          </p:cNvSpPr>
          <p:nvPr>
            <p:ph type="body" idx="31"/>
          </p:nvPr>
        </p:nvSpPr>
        <p:spPr>
          <a:xfrm>
            <a:off x="6172200" y="6223000"/>
            <a:ext cx="26162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5A6478"/>
                </a:solidFill>
                <a:latin typeface="Noto Sans Mono"/>
              </a:rPr>
              <a:t>OWNER · CONTENT LEAD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40800" y="3175000"/>
            <a:ext cx="304800" cy="1905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ard 4 Counter"/>
          <p:cNvSpPr>
            <a:spLocks noGrp="1"/>
          </p:cNvSpPr>
          <p:nvPr>
            <p:ph type="body" idx="32"/>
          </p:nvPr>
        </p:nvSpPr>
        <p:spPr>
          <a:xfrm>
            <a:off x="8940800" y="3302000"/>
            <a:ext cx="26162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04</a:t>
            </a:r>
          </a:p>
        </p:txBody>
      </p:sp>
      <p:sp>
        <p:nvSpPr>
          <p:cNvPr id="27" name="Card 4 Heading"/>
          <p:cNvSpPr>
            <a:spLocks noGrp="1"/>
          </p:cNvSpPr>
          <p:nvPr>
            <p:ph type="body" idx="33"/>
          </p:nvPr>
        </p:nvSpPr>
        <p:spPr>
          <a:xfrm>
            <a:off x="8940800" y="3581400"/>
            <a:ext cx="26162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FFFFFF"/>
                </a:solidFill>
                <a:latin typeface="Noto Sans Medium"/>
              </a:rPr>
              <a:t>Ship weekly.</a:t>
            </a:r>
          </a:p>
        </p:txBody>
      </p:sp>
      <p:sp>
        <p:nvSpPr>
          <p:cNvPr id="28" name="Card 4 Body"/>
          <p:cNvSpPr>
            <a:spLocks noGrp="1"/>
          </p:cNvSpPr>
          <p:nvPr>
            <p:ph type="body" idx="34"/>
          </p:nvPr>
        </p:nvSpPr>
        <p:spPr>
          <a:xfrm>
            <a:off x="8940800" y="4318000"/>
            <a:ext cx="2616200" cy="1778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A9BCD6"/>
                </a:solidFill>
                <a:latin typeface="Noto Sans"/>
              </a:rPr>
              <a:t>Every squad cuts a release every week; anything that can't be weekly is a platform bug to be retired.</a:t>
            </a:r>
          </a:p>
        </p:txBody>
      </p:sp>
      <p:sp>
        <p:nvSpPr>
          <p:cNvPr id="29" name="Card 4 Owner"/>
          <p:cNvSpPr>
            <a:spLocks noGrp="1"/>
          </p:cNvSpPr>
          <p:nvPr>
            <p:ph type="body" idx="35"/>
          </p:nvPr>
        </p:nvSpPr>
        <p:spPr>
          <a:xfrm>
            <a:off x="8940800" y="6223000"/>
            <a:ext cx="26162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5A6478"/>
                </a:solidFill>
                <a:latin typeface="Noto Sans Mono"/>
              </a:rPr>
              <a:t>OWNER · ENG DIRECTOR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Executive Summar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889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143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EXECUTIVE SUMMARY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1397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Four insights, three next steps — the 2026 plan on one page.</a:t>
            </a:r>
          </a:p>
        </p:txBody>
      </p:sp>
      <p:sp>
        <p:nvSpPr>
          <p:cNvPr id="10" name="Lede"/>
          <p:cNvSpPr>
            <a:spLocks noGrp="1"/>
          </p:cNvSpPr>
          <p:nvPr>
            <p:ph type="body" idx="11"/>
          </p:nvPr>
        </p:nvSpPr>
        <p:spPr>
          <a:xfrm>
            <a:off x="635000" y="2286000"/>
            <a:ext cx="10922000" cy="508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00">
                <a:solidFill>
                  <a:srgbClr val="2D3A52"/>
                </a:solidFill>
                <a:latin typeface="Noto Sans"/>
              </a:rPr>
              <a:t>Platform economics turned in FY25 — active use per account grew while cloud cost fell. Convert that signal into the 2026 commitments below.</a:t>
            </a:r>
          </a:p>
        </p:txBody>
      </p:sp>
      <p:sp>
        <p:nvSpPr>
          <p:cNvPr id="11" name="Col1 Label"/>
          <p:cNvSpPr>
            <a:spLocks noGrp="1"/>
          </p:cNvSpPr>
          <p:nvPr>
            <p:ph type="body" idx="20"/>
          </p:nvPr>
        </p:nvSpPr>
        <p:spPr>
          <a:xfrm>
            <a:off x="635000" y="3175000"/>
            <a:ext cx="5207000" cy="1778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112" cap="all">
                <a:solidFill>
                  <a:srgbClr val="C9A24A"/>
                </a:solidFill>
                <a:latin typeface="Noto Sans Mono"/>
              </a:rPr>
              <a:t>INSIGHTS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000" y="3378200"/>
            <a:ext cx="5207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000" y="3543300"/>
            <a:ext cx="50800" cy="50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ol1 Item1 Heading"/>
          <p:cNvSpPr>
            <a:spLocks noGrp="1"/>
          </p:cNvSpPr>
          <p:nvPr>
            <p:ph type="body" idx="21"/>
          </p:nvPr>
        </p:nvSpPr>
        <p:spPr>
          <a:xfrm>
            <a:off x="787400" y="3479800"/>
            <a:ext cx="5054600" cy="203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Platform share is compounding.</a:t>
            </a:r>
          </a:p>
        </p:txBody>
      </p:sp>
      <p:sp>
        <p:nvSpPr>
          <p:cNvPr id="15" name="Col1 Item1 Body"/>
          <p:cNvSpPr>
            <a:spLocks noGrp="1"/>
          </p:cNvSpPr>
          <p:nvPr>
            <p:ph type="body" idx="22"/>
          </p:nvPr>
        </p:nvSpPr>
        <p:spPr>
          <a:xfrm>
            <a:off x="787400" y="3695700"/>
            <a:ext cx="5054600" cy="279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Platform and services are the fastest-growing revenue line; legacy hardware is flat in absolute terms.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000" y="4051300"/>
            <a:ext cx="50800" cy="50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ol1 Item2 Heading"/>
          <p:cNvSpPr>
            <a:spLocks noGrp="1"/>
          </p:cNvSpPr>
          <p:nvPr>
            <p:ph type="body" idx="23"/>
          </p:nvPr>
        </p:nvSpPr>
        <p:spPr>
          <a:xfrm>
            <a:off x="787400" y="3987800"/>
            <a:ext cx="5054600" cy="203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First-run pairing is the biggest leak.</a:t>
            </a:r>
          </a:p>
        </p:txBody>
      </p:sp>
      <p:sp>
        <p:nvSpPr>
          <p:cNvPr id="18" name="Col1 Item2 Body"/>
          <p:cNvSpPr>
            <a:spLocks noGrp="1"/>
          </p:cNvSpPr>
          <p:nvPr>
            <p:ph type="body" idx="24"/>
          </p:nvPr>
        </p:nvSpPr>
        <p:spPr>
          <a:xfrm>
            <a:off x="787400" y="4203700"/>
            <a:ext cx="5054600" cy="279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One in three buyers never pairs the product — fixable in firmware and the quickest lift to 90-day activation.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000" y="4559300"/>
            <a:ext cx="50800" cy="50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ol1 Item3 Heading"/>
          <p:cNvSpPr>
            <a:spLocks noGrp="1"/>
          </p:cNvSpPr>
          <p:nvPr>
            <p:ph type="body" idx="25"/>
          </p:nvPr>
        </p:nvSpPr>
        <p:spPr>
          <a:xfrm>
            <a:off x="787400" y="4495800"/>
            <a:ext cx="5054600" cy="203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Telemetry is now default-on.</a:t>
            </a:r>
          </a:p>
        </p:txBody>
      </p:sp>
      <p:sp>
        <p:nvSpPr>
          <p:cNvPr id="21" name="Col1 Item3 Body"/>
          <p:cNvSpPr>
            <a:spLocks noGrp="1"/>
          </p:cNvSpPr>
          <p:nvPr>
            <p:ph type="body" idx="26"/>
          </p:nvPr>
        </p:nvSpPr>
        <p:spPr>
          <a:xfrm>
            <a:off x="787400" y="4711700"/>
            <a:ext cx="5054600" cy="279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Every production unit reports usage and health from day one; the data contract is locked and versioned.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000" y="5067300"/>
            <a:ext cx="50800" cy="50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ol1 Item4 Heading"/>
          <p:cNvSpPr>
            <a:spLocks noGrp="1"/>
          </p:cNvSpPr>
          <p:nvPr>
            <p:ph type="body" idx="27"/>
          </p:nvPr>
        </p:nvSpPr>
        <p:spPr>
          <a:xfrm>
            <a:off x="787400" y="5003800"/>
            <a:ext cx="5054600" cy="203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Hybrid platform beats build-vs-buy.</a:t>
            </a:r>
          </a:p>
        </p:txBody>
      </p:sp>
      <p:sp>
        <p:nvSpPr>
          <p:cNvPr id="24" name="Col1 Item4 Body"/>
          <p:cNvSpPr>
            <a:spLocks noGrp="1"/>
          </p:cNvSpPr>
          <p:nvPr>
            <p:ph type="body" idx="28"/>
          </p:nvPr>
        </p:nvSpPr>
        <p:spPr>
          <a:xfrm>
            <a:off x="787400" y="5219700"/>
            <a:ext cx="5054600" cy="279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Core in-house, cloud and ML partner-operated — wins on speed and control without the full build-out.</a:t>
            </a:r>
          </a:p>
        </p:txBody>
      </p:sp>
      <p:sp>
        <p:nvSpPr>
          <p:cNvPr id="25" name="Col2 Label"/>
          <p:cNvSpPr>
            <a:spLocks noGrp="1"/>
          </p:cNvSpPr>
          <p:nvPr>
            <p:ph type="body" idx="30"/>
          </p:nvPr>
        </p:nvSpPr>
        <p:spPr>
          <a:xfrm>
            <a:off x="6350000" y="3175000"/>
            <a:ext cx="5207000" cy="1778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112" cap="all">
                <a:solidFill>
                  <a:srgbClr val="C9A24A"/>
                </a:solidFill>
                <a:latin typeface="Noto Sans Mono"/>
              </a:rPr>
              <a:t>NEXT STEPS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0000" y="3378200"/>
            <a:ext cx="5207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0000" y="3543300"/>
            <a:ext cx="50800" cy="50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l2 Item1 Heading"/>
          <p:cNvSpPr>
            <a:spLocks noGrp="1"/>
          </p:cNvSpPr>
          <p:nvPr>
            <p:ph type="body" idx="31"/>
          </p:nvPr>
        </p:nvSpPr>
        <p:spPr>
          <a:xfrm>
            <a:off x="6502400" y="3479800"/>
            <a:ext cx="5054600" cy="203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Consolidate firmware across SKUs.</a:t>
            </a:r>
          </a:p>
        </p:txBody>
      </p:sp>
      <p:sp>
        <p:nvSpPr>
          <p:cNvPr id="29" name="Col2 Item1 Body"/>
          <p:cNvSpPr>
            <a:spLocks noGrp="1"/>
          </p:cNvSpPr>
          <p:nvPr>
            <p:ph type="body" idx="32"/>
          </p:nvPr>
        </p:nvSpPr>
        <p:spPr>
          <a:xfrm>
            <a:off x="6502400" y="3695700"/>
            <a:ext cx="5054600" cy="279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Retire the last two forks; every line onto the shared OS core by end of Q2.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0000" y="4051300"/>
            <a:ext cx="50800" cy="50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ol2 Item2 Heading"/>
          <p:cNvSpPr>
            <a:spLocks noGrp="1"/>
          </p:cNvSpPr>
          <p:nvPr>
            <p:ph type="body" idx="33"/>
          </p:nvPr>
        </p:nvSpPr>
        <p:spPr>
          <a:xfrm>
            <a:off x="6502400" y="3987800"/>
            <a:ext cx="5054600" cy="203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Ship the pairing-flow fix.</a:t>
            </a:r>
          </a:p>
        </p:txBody>
      </p:sp>
      <p:sp>
        <p:nvSpPr>
          <p:cNvPr id="32" name="Col2 Item2 Body"/>
          <p:cNvSpPr>
            <a:spLocks noGrp="1"/>
          </p:cNvSpPr>
          <p:nvPr>
            <p:ph type="body" idx="34"/>
          </p:nvPr>
        </p:nvSpPr>
        <p:spPr>
          <a:xfrm>
            <a:off x="6502400" y="4203700"/>
            <a:ext cx="5054600" cy="279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Firmware patch for mixed-SSID routers lands in the Q1 release, with instrumentation on first-try success.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50000" y="4559300"/>
            <a:ext cx="50800" cy="50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ol2 Item3 Heading"/>
          <p:cNvSpPr>
            <a:spLocks noGrp="1"/>
          </p:cNvSpPr>
          <p:nvPr>
            <p:ph type="body" idx="35"/>
          </p:nvPr>
        </p:nvSpPr>
        <p:spPr>
          <a:xfrm>
            <a:off x="6502400" y="4495800"/>
            <a:ext cx="5054600" cy="203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Open the developer API preview.</a:t>
            </a:r>
          </a:p>
        </p:txBody>
      </p:sp>
      <p:sp>
        <p:nvSpPr>
          <p:cNvPr id="35" name="Col2 Item3 Body"/>
          <p:cNvSpPr>
            <a:spLocks noGrp="1"/>
          </p:cNvSpPr>
          <p:nvPr>
            <p:ph type="body" idx="36"/>
          </p:nvPr>
        </p:nvSpPr>
        <p:spPr>
          <a:xfrm>
            <a:off x="6502400" y="4711700"/>
            <a:ext cx="5054600" cy="279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Partner preview end of H1, GA at year-end — 30 design partners already signed.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0000" y="5067300"/>
            <a:ext cx="50800" cy="50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ol2 Item4 Heading"/>
          <p:cNvSpPr>
            <a:spLocks noGrp="1"/>
          </p:cNvSpPr>
          <p:nvPr>
            <p:ph type="body" idx="37"/>
          </p:nvPr>
        </p:nvSpPr>
        <p:spPr>
          <a:xfrm>
            <a:off x="6502400" y="5003800"/>
            <a:ext cx="5054600" cy="203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Lock the hybrid platform deal.</a:t>
            </a:r>
          </a:p>
        </p:txBody>
      </p:sp>
      <p:sp>
        <p:nvSpPr>
          <p:cNvPr id="38" name="Col2 Item4 Body"/>
          <p:cNvSpPr>
            <a:spLocks noGrp="1"/>
          </p:cNvSpPr>
          <p:nvPr>
            <p:ph type="body" idx="38"/>
          </p:nvPr>
        </p:nvSpPr>
        <p:spPr>
          <a:xfrm>
            <a:off x="6502400" y="5219700"/>
            <a:ext cx="5054600" cy="279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Finalise cloud and ML vendor terms; platform group staffed and chartered for a Q2 kick-off.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5000" y="57785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5000" y="62865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KPI 1 Value"/>
          <p:cNvSpPr>
            <a:spLocks noGrp="1"/>
          </p:cNvSpPr>
          <p:nvPr>
            <p:ph type="body" idx="50"/>
          </p:nvPr>
        </p:nvSpPr>
        <p:spPr>
          <a:xfrm>
            <a:off x="787400" y="5842000"/>
            <a:ext cx="1016000" cy="381000"/>
          </a:xfrm>
        </p:spPr>
        <p:txBody>
          <a:bodyPr lIns="0" tIns="0" rIns="0" bIns="0" wrap="square" anchor="b"/>
          <a:lstStyle/>
          <a:p>
            <a:pPr marL="0" indent="0" algn="r">
              <a:buNone/>
            </a:pPr>
            <a:r>
              <a:rPr lang="en-US" sz="2800" spc="-56">
                <a:solidFill>
                  <a:srgbClr val="0B1A33"/>
                </a:solidFill>
                <a:latin typeface="Noto Sans Light"/>
              </a:rPr>
              <a:t>+43</a:t>
            </a:r>
          </a:p>
        </p:txBody>
      </p:sp>
      <p:sp>
        <p:nvSpPr>
          <p:cNvPr id="42" name="KPI 1 Unit"/>
          <p:cNvSpPr>
            <a:spLocks noGrp="1"/>
          </p:cNvSpPr>
          <p:nvPr>
            <p:ph type="body" idx="51"/>
          </p:nvPr>
        </p:nvSpPr>
        <p:spPr>
          <a:xfrm>
            <a:off x="1803400" y="5842000"/>
            <a:ext cx="381000" cy="3810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%</a:t>
            </a:r>
          </a:p>
        </p:txBody>
      </p:sp>
      <p:sp>
        <p:nvSpPr>
          <p:cNvPr id="43" name="KPI 1 Key"/>
          <p:cNvSpPr>
            <a:spLocks noGrp="1"/>
          </p:cNvSpPr>
          <p:nvPr>
            <p:ph type="body" idx="52"/>
          </p:nvPr>
        </p:nvSpPr>
        <p:spPr>
          <a:xfrm>
            <a:off x="2286000" y="5981700"/>
            <a:ext cx="1835150" cy="1651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800" spc="96" cap="all">
                <a:solidFill>
                  <a:srgbClr val="2D3A52"/>
                </a:solidFill>
                <a:latin typeface="Noto Sans Mono"/>
              </a:rPr>
              <a:t>ACTIVE TIME · 5Y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73550" y="5829300"/>
            <a:ext cx="6350" cy="4064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KPI 2 Value"/>
          <p:cNvSpPr>
            <a:spLocks noGrp="1"/>
          </p:cNvSpPr>
          <p:nvPr>
            <p:ph type="body" idx="53"/>
          </p:nvPr>
        </p:nvSpPr>
        <p:spPr>
          <a:xfrm>
            <a:off x="4425950" y="5842000"/>
            <a:ext cx="1016000" cy="381000"/>
          </a:xfrm>
        </p:spPr>
        <p:txBody>
          <a:bodyPr lIns="0" tIns="0" rIns="0" bIns="0" wrap="square" anchor="b"/>
          <a:lstStyle/>
          <a:p>
            <a:pPr marL="0" indent="0" algn="r">
              <a:buNone/>
            </a:pPr>
            <a:r>
              <a:rPr lang="en-US" sz="2800" spc="-56">
                <a:solidFill>
                  <a:srgbClr val="0B1A33"/>
                </a:solidFill>
                <a:latin typeface="Noto Sans Light"/>
              </a:rPr>
              <a:t>14</a:t>
            </a:r>
          </a:p>
        </p:txBody>
      </p:sp>
      <p:sp>
        <p:nvSpPr>
          <p:cNvPr id="46" name="KPI 2 Unit"/>
          <p:cNvSpPr>
            <a:spLocks noGrp="1"/>
          </p:cNvSpPr>
          <p:nvPr>
            <p:ph type="body" idx="54"/>
          </p:nvPr>
        </p:nvSpPr>
        <p:spPr>
          <a:xfrm>
            <a:off x="5441950" y="5842000"/>
            <a:ext cx="381000" cy="3810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 bn</a:t>
            </a:r>
          </a:p>
        </p:txBody>
      </p:sp>
      <p:sp>
        <p:nvSpPr>
          <p:cNvPr id="47" name="KPI 2 Key"/>
          <p:cNvSpPr>
            <a:spLocks noGrp="1"/>
          </p:cNvSpPr>
          <p:nvPr>
            <p:ph type="body" idx="55"/>
          </p:nvPr>
        </p:nvSpPr>
        <p:spPr>
          <a:xfrm>
            <a:off x="5924550" y="5981700"/>
            <a:ext cx="1835150" cy="1651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800" spc="96" cap="all">
                <a:solidFill>
                  <a:srgbClr val="2D3A52"/>
                </a:solidFill>
                <a:latin typeface="Noto Sans Mono"/>
              </a:rPr>
              <a:t>REVENUE · EUR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12100" y="5829300"/>
            <a:ext cx="6350" cy="4064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KPI 3 Value"/>
          <p:cNvSpPr>
            <a:spLocks noGrp="1"/>
          </p:cNvSpPr>
          <p:nvPr>
            <p:ph type="body" idx="56"/>
          </p:nvPr>
        </p:nvSpPr>
        <p:spPr>
          <a:xfrm>
            <a:off x="8064500" y="5842000"/>
            <a:ext cx="1016000" cy="381000"/>
          </a:xfrm>
        </p:spPr>
        <p:txBody>
          <a:bodyPr lIns="0" tIns="0" rIns="0" bIns="0" wrap="square" anchor="b"/>
          <a:lstStyle/>
          <a:p>
            <a:pPr marL="0" indent="0" algn="r">
              <a:buNone/>
            </a:pPr>
            <a:r>
              <a:rPr lang="en-US" sz="2800" spc="-56">
                <a:solidFill>
                  <a:srgbClr val="0B1A33"/>
                </a:solidFill>
                <a:latin typeface="Noto Sans Light"/>
              </a:rPr>
              <a:t>95</a:t>
            </a:r>
          </a:p>
        </p:txBody>
      </p:sp>
      <p:sp>
        <p:nvSpPr>
          <p:cNvPr id="50" name="KPI 3 Unit"/>
          <p:cNvSpPr>
            <a:spLocks noGrp="1"/>
          </p:cNvSpPr>
          <p:nvPr>
            <p:ph type="body" idx="57"/>
          </p:nvPr>
        </p:nvSpPr>
        <p:spPr>
          <a:xfrm>
            <a:off x="9080500" y="5842000"/>
            <a:ext cx="381000" cy="3810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%</a:t>
            </a:r>
          </a:p>
        </p:txBody>
      </p:sp>
      <p:sp>
        <p:nvSpPr>
          <p:cNvPr id="51" name="KPI 3 Key"/>
          <p:cNvSpPr>
            <a:spLocks noGrp="1"/>
          </p:cNvSpPr>
          <p:nvPr>
            <p:ph type="body" idx="58"/>
          </p:nvPr>
        </p:nvSpPr>
        <p:spPr>
          <a:xfrm>
            <a:off x="9563100" y="5981700"/>
            <a:ext cx="1835150" cy="1651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800" spc="96" cap="all">
                <a:solidFill>
                  <a:srgbClr val="2D3A52"/>
                </a:solidFill>
                <a:latin typeface="Noto Sans Mono"/>
              </a:rPr>
              <a:t>TELEMETRY OPT-IN</a:t>
            </a:r>
          </a:p>
        </p:txBody>
      </p:sp>
      <p:sp>
        <p:nvSpPr>
          <p:cNvPr id="52" name="Source"/>
          <p:cNvSpPr>
            <a:spLocks noGrp="1"/>
          </p:cNvSpPr>
          <p:nvPr>
            <p:ph type="body" idx="60"/>
          </p:nvPr>
        </p:nvSpPr>
        <p:spPr>
          <a:xfrm>
            <a:off x="635000" y="6477000"/>
            <a:ext cx="109220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SOURCE · SAMPLE DATA, FY25 PRELIMINARY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Line Char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LINE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PER-ACCOUNT METRICS, FY21–FY25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Per-account active time grew 43% while cloud cost per account declined — platform economics are turning.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5835650"/>
            <a:ext cx="304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56">
                <a:solidFill>
                  <a:srgbClr val="2D3A52"/>
                </a:solidFill>
                <a:latin typeface="Noto Sans Mono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90600" y="5194300"/>
            <a:ext cx="77978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000" y="5127625"/>
            <a:ext cx="304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56">
                <a:solidFill>
                  <a:srgbClr val="2D3A52"/>
                </a:solidFill>
                <a:latin typeface="Noto Sans Mono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0600" y="4486275"/>
            <a:ext cx="77978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000" y="4419600"/>
            <a:ext cx="304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56">
                <a:solidFill>
                  <a:srgbClr val="2D3A52"/>
                </a:solidFill>
                <a:latin typeface="Noto Sans Mono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0600" y="3778250"/>
            <a:ext cx="77978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00" y="3711575"/>
            <a:ext cx="304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56">
                <a:solidFill>
                  <a:srgbClr val="2D3A52"/>
                </a:solidFill>
                <a:latin typeface="Noto Sans Mono"/>
              </a:rPr>
              <a:t>150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0600" y="3070225"/>
            <a:ext cx="77978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000" y="3003550"/>
            <a:ext cx="304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56">
                <a:solidFill>
                  <a:srgbClr val="2D3A52"/>
                </a:solidFill>
                <a:latin typeface="Noto Sans Mono"/>
              </a:rPr>
              <a:t>200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0600" y="5899150"/>
            <a:ext cx="7797800" cy="127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990600" y="3299968"/>
            <a:ext cx="7797800" cy="792988"/>
          </a:xfrm>
          <a:custGeom>
            <a:avLst/>
            <a:gdLst/>
            <a:ahLst/>
            <a:cxnLst/>
            <a:rect l="l" t="t" r="r" b="b"/>
            <a:pathLst>
              <a:path w="7797800" h="792988">
                <a:moveTo>
                  <a:pt x="0" y="792988"/>
                </a:moveTo>
                <a:lnTo>
                  <a:pt x="1949450" y="651383"/>
                </a:lnTo>
                <a:lnTo>
                  <a:pt x="3898900" y="311531"/>
                </a:lnTo>
                <a:lnTo>
                  <a:pt x="5848350" y="127444"/>
                </a:lnTo>
                <a:lnTo>
                  <a:pt x="7797800" y="0"/>
                </a:lnTo>
              </a:path>
            </a:pathLst>
          </a:custGeom>
          <a:noFill/>
          <a:ln w="19050">
            <a:solidFill>
              <a:srgbClr val="C9A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50" y="4061206"/>
            <a:ext cx="63500" cy="63500"/>
          </a:xfrm>
          <a:prstGeom prst="ellipse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908300" y="3919601"/>
            <a:ext cx="63500" cy="63500"/>
          </a:xfrm>
          <a:prstGeom prst="ellipse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57750" y="3579749"/>
            <a:ext cx="63500" cy="63500"/>
          </a:xfrm>
          <a:prstGeom prst="ellipse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07200" y="3395662"/>
            <a:ext cx="63500" cy="63500"/>
          </a:xfrm>
          <a:prstGeom prst="ellipse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756650" y="3268218"/>
            <a:ext cx="63500" cy="63500"/>
          </a:xfrm>
          <a:prstGeom prst="ellipse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990600" y="3356610"/>
            <a:ext cx="7797800" cy="1557655"/>
          </a:xfrm>
          <a:custGeom>
            <a:avLst/>
            <a:gdLst/>
            <a:ahLst/>
            <a:cxnLst/>
            <a:rect l="l" t="t" r="r" b="b"/>
            <a:pathLst>
              <a:path w="7797800" h="1557655">
                <a:moveTo>
                  <a:pt x="0" y="0"/>
                </a:moveTo>
                <a:lnTo>
                  <a:pt x="1949450" y="169926"/>
                </a:lnTo>
                <a:lnTo>
                  <a:pt x="3898900" y="566420"/>
                </a:lnTo>
                <a:lnTo>
                  <a:pt x="5848350" y="1062038"/>
                </a:lnTo>
                <a:lnTo>
                  <a:pt x="7797800" y="1557655"/>
                </a:lnTo>
              </a:path>
            </a:pathLst>
          </a:custGeom>
          <a:noFill/>
          <a:ln w="12700">
            <a:solidFill>
              <a:srgbClr val="0B1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58850" y="3324860"/>
            <a:ext cx="63500" cy="63500"/>
          </a:xfrm>
          <a:prstGeom prst="ellipse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908300" y="3494786"/>
            <a:ext cx="63500" cy="63500"/>
          </a:xfrm>
          <a:prstGeom prst="ellipse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857750" y="3891280"/>
            <a:ext cx="63500" cy="63500"/>
          </a:xfrm>
          <a:prstGeom prst="ellipse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807200" y="4386898"/>
            <a:ext cx="63500" cy="63500"/>
          </a:xfrm>
          <a:prstGeom prst="ellipse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756650" y="4882515"/>
            <a:ext cx="63500" cy="63500"/>
          </a:xfrm>
          <a:prstGeom prst="ellipse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X label 1"/>
          <p:cNvSpPr>
            <a:spLocks noGrp="1"/>
          </p:cNvSpPr>
          <p:nvPr>
            <p:ph type="body" idx="20"/>
          </p:nvPr>
        </p:nvSpPr>
        <p:spPr>
          <a:xfrm>
            <a:off x="673100" y="5994400"/>
            <a:ext cx="635000" cy="152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700" spc="56" cap="all">
                <a:solidFill>
                  <a:srgbClr val="2D3A52"/>
                </a:solidFill>
                <a:latin typeface="Noto Sans Mono"/>
              </a:rPr>
              <a:t>FY21</a:t>
            </a:r>
          </a:p>
        </p:txBody>
      </p:sp>
      <p:sp>
        <p:nvSpPr>
          <p:cNvPr id="33" name="X label 2"/>
          <p:cNvSpPr>
            <a:spLocks noGrp="1"/>
          </p:cNvSpPr>
          <p:nvPr>
            <p:ph type="body" idx="21"/>
          </p:nvPr>
        </p:nvSpPr>
        <p:spPr>
          <a:xfrm>
            <a:off x="2622550" y="5994400"/>
            <a:ext cx="635000" cy="152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700" spc="56" cap="all">
                <a:solidFill>
                  <a:srgbClr val="2D3A52"/>
                </a:solidFill>
                <a:latin typeface="Noto Sans Mono"/>
              </a:rPr>
              <a:t>FY22</a:t>
            </a:r>
          </a:p>
        </p:txBody>
      </p:sp>
      <p:sp>
        <p:nvSpPr>
          <p:cNvPr id="34" name="X label 3"/>
          <p:cNvSpPr>
            <a:spLocks noGrp="1"/>
          </p:cNvSpPr>
          <p:nvPr>
            <p:ph type="body" idx="22"/>
          </p:nvPr>
        </p:nvSpPr>
        <p:spPr>
          <a:xfrm>
            <a:off x="4572000" y="5994400"/>
            <a:ext cx="635000" cy="152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700" spc="56" cap="all">
                <a:solidFill>
                  <a:srgbClr val="2D3A52"/>
                </a:solidFill>
                <a:latin typeface="Noto Sans Mono"/>
              </a:rPr>
              <a:t>FY23</a:t>
            </a:r>
          </a:p>
        </p:txBody>
      </p:sp>
      <p:sp>
        <p:nvSpPr>
          <p:cNvPr id="35" name="X label 4"/>
          <p:cNvSpPr>
            <a:spLocks noGrp="1"/>
          </p:cNvSpPr>
          <p:nvPr>
            <p:ph type="body" idx="23"/>
          </p:nvPr>
        </p:nvSpPr>
        <p:spPr>
          <a:xfrm>
            <a:off x="6521450" y="5994400"/>
            <a:ext cx="635000" cy="152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700" spc="56" cap="all">
                <a:solidFill>
                  <a:srgbClr val="2D3A52"/>
                </a:solidFill>
                <a:latin typeface="Noto Sans Mono"/>
              </a:rPr>
              <a:t>FY24</a:t>
            </a:r>
          </a:p>
        </p:txBody>
      </p:sp>
      <p:sp>
        <p:nvSpPr>
          <p:cNvPr id="36" name="X label 5"/>
          <p:cNvSpPr>
            <a:spLocks noGrp="1"/>
          </p:cNvSpPr>
          <p:nvPr>
            <p:ph type="body" idx="24"/>
          </p:nvPr>
        </p:nvSpPr>
        <p:spPr>
          <a:xfrm>
            <a:off x="8470900" y="5994400"/>
            <a:ext cx="635000" cy="152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700" spc="56" cap="all">
                <a:solidFill>
                  <a:srgbClr val="2D3A52"/>
                </a:solidFill>
                <a:latin typeface="Noto Sans Mono"/>
              </a:rPr>
              <a:t>FY25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0" y="3244850"/>
            <a:ext cx="114300" cy="381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Series 1 Name"/>
          <p:cNvSpPr>
            <a:spLocks noGrp="1"/>
          </p:cNvSpPr>
          <p:nvPr>
            <p:ph type="body" idx="30"/>
          </p:nvPr>
        </p:nvSpPr>
        <p:spPr>
          <a:xfrm>
            <a:off x="9372600" y="3175000"/>
            <a:ext cx="2032000" cy="1778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>
                <a:solidFill>
                  <a:srgbClr val="0B1A33"/>
                </a:solidFill>
                <a:latin typeface="Noto Sans Medium"/>
              </a:rPr>
              <a:t>Active time per account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0" y="3498850"/>
            <a:ext cx="114300" cy="381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Series 2 Name"/>
          <p:cNvSpPr>
            <a:spLocks noGrp="1"/>
          </p:cNvSpPr>
          <p:nvPr>
            <p:ph type="body" idx="31"/>
          </p:nvPr>
        </p:nvSpPr>
        <p:spPr>
          <a:xfrm>
            <a:off x="9372600" y="3429000"/>
            <a:ext cx="2032000" cy="1778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>
                <a:solidFill>
                  <a:srgbClr val="0B1A33"/>
                </a:solidFill>
                <a:latin typeface="Noto Sans Medium"/>
              </a:rPr>
              <a:t>Cloud cost per account</a:t>
            </a:r>
          </a:p>
        </p:txBody>
      </p:sp>
      <p:sp>
        <p:nvSpPr>
          <p:cNvPr id="41" name="Source / caption"/>
          <p:cNvSpPr>
            <a:spLocks noGrp="1"/>
          </p:cNvSpPr>
          <p:nvPr>
            <p:ph type="body" idx="40"/>
          </p:nvPr>
        </p:nvSpPr>
        <p:spPr>
          <a:xfrm>
            <a:off x="635000" y="6318250"/>
            <a:ext cx="109220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FEINSCHLIFF ANALYTICS, N = 2.4M ACCOUNTS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Score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SCORECARD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PORTFOLIO HEALTH · FY25 Q3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Four of five workstreams are on track; developer API slips into Q4 and data-platform integration is off the critical path.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270250"/>
            <a:ext cx="109220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90825" y="2921000"/>
            <a:ext cx="6350" cy="3175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81575" y="2921000"/>
            <a:ext cx="6350" cy="3175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72325" y="2921000"/>
            <a:ext cx="6350" cy="3175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363075" y="2921000"/>
            <a:ext cx="6350" cy="3175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000" y="3978275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000" y="4683125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000" y="5387975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21000" y="3390900"/>
            <a:ext cx="114300" cy="114300"/>
          </a:xfrm>
          <a:prstGeom prst="ellipse">
            <a:avLst/>
          </a:prstGeom>
          <a:solidFill>
            <a:srgbClr val="8FB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111750" y="3390900"/>
            <a:ext cx="114300" cy="114300"/>
          </a:xfrm>
          <a:prstGeom prst="ellipse">
            <a:avLst/>
          </a:prstGeom>
          <a:solidFill>
            <a:srgbClr val="8FB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02500" y="3390900"/>
            <a:ext cx="114300" cy="114300"/>
          </a:xfrm>
          <a:prstGeom prst="ellipse">
            <a:avLst/>
          </a:prstGeom>
          <a:solidFill>
            <a:srgbClr val="8FB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493250" y="3390900"/>
            <a:ext cx="114300" cy="114300"/>
          </a:xfrm>
          <a:prstGeom prst="ellipse">
            <a:avLst/>
          </a:prstGeom>
          <a:solidFill>
            <a:srgbClr val="8FB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921000" y="4095750"/>
            <a:ext cx="114300" cy="114300"/>
          </a:xfrm>
          <a:prstGeom prst="ellipse">
            <a:avLst/>
          </a:prstGeom>
          <a:solidFill>
            <a:srgbClr val="E4C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111750" y="4095750"/>
            <a:ext cx="114300" cy="114300"/>
          </a:xfrm>
          <a:prstGeom prst="ellipse">
            <a:avLst/>
          </a:prstGeom>
          <a:solidFill>
            <a:srgbClr val="E4C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02500" y="4095750"/>
            <a:ext cx="114300" cy="114300"/>
          </a:xfrm>
          <a:prstGeom prst="ellipse">
            <a:avLst/>
          </a:prstGeom>
          <a:solidFill>
            <a:srgbClr val="8FB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493250" y="4095750"/>
            <a:ext cx="114300" cy="114300"/>
          </a:xfrm>
          <a:prstGeom prst="ellipse">
            <a:avLst/>
          </a:prstGeom>
          <a:solidFill>
            <a:srgbClr val="8FB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921000" y="4800600"/>
            <a:ext cx="114300" cy="114300"/>
          </a:xfrm>
          <a:prstGeom prst="ellipse">
            <a:avLst/>
          </a:prstGeom>
          <a:solidFill>
            <a:srgbClr val="A04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111750" y="4800600"/>
            <a:ext cx="114300" cy="114300"/>
          </a:xfrm>
          <a:prstGeom prst="ellipse">
            <a:avLst/>
          </a:prstGeom>
          <a:solidFill>
            <a:srgbClr val="E4C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02500" y="4800600"/>
            <a:ext cx="114300" cy="114300"/>
          </a:xfrm>
          <a:prstGeom prst="ellipse">
            <a:avLst/>
          </a:prstGeom>
          <a:solidFill>
            <a:srgbClr val="E4C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493250" y="4800600"/>
            <a:ext cx="114300" cy="114300"/>
          </a:xfrm>
          <a:prstGeom prst="ellipse">
            <a:avLst/>
          </a:prstGeom>
          <a:solidFill>
            <a:srgbClr val="A04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921000" y="5505450"/>
            <a:ext cx="114300" cy="114300"/>
          </a:xfrm>
          <a:prstGeom prst="ellipse">
            <a:avLst/>
          </a:prstGeom>
          <a:solidFill>
            <a:srgbClr val="E4C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111750" y="5505450"/>
            <a:ext cx="114300" cy="114300"/>
          </a:xfrm>
          <a:prstGeom prst="ellipse">
            <a:avLst/>
          </a:prstGeom>
          <a:solidFill>
            <a:srgbClr val="A04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302500" y="5505450"/>
            <a:ext cx="114300" cy="114300"/>
          </a:xfrm>
          <a:prstGeom prst="ellipse">
            <a:avLst/>
          </a:prstGeom>
          <a:solidFill>
            <a:srgbClr val="A04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493250" y="5505450"/>
            <a:ext cx="114300" cy="114300"/>
          </a:xfrm>
          <a:prstGeom prst="ellipse">
            <a:avLst/>
          </a:prstGeom>
          <a:solidFill>
            <a:srgbClr val="A04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olumn 1 Header"/>
          <p:cNvSpPr>
            <a:spLocks noGrp="1"/>
          </p:cNvSpPr>
          <p:nvPr>
            <p:ph type="body" idx="20"/>
          </p:nvPr>
        </p:nvSpPr>
        <p:spPr>
          <a:xfrm>
            <a:off x="2921000" y="3035300"/>
            <a:ext cx="1936750" cy="2413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2D3A52"/>
                </a:solidFill>
                <a:latin typeface="Noto Sans Mono"/>
              </a:rPr>
              <a:t>Q1 FY25</a:t>
            </a:r>
          </a:p>
        </p:txBody>
      </p:sp>
      <p:sp>
        <p:nvSpPr>
          <p:cNvPr id="35" name="Column 2 Header"/>
          <p:cNvSpPr>
            <a:spLocks noGrp="1"/>
          </p:cNvSpPr>
          <p:nvPr>
            <p:ph type="body" idx="21"/>
          </p:nvPr>
        </p:nvSpPr>
        <p:spPr>
          <a:xfrm>
            <a:off x="5111750" y="3035300"/>
            <a:ext cx="1936750" cy="2413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2D3A52"/>
                </a:solidFill>
                <a:latin typeface="Noto Sans Mono"/>
              </a:rPr>
              <a:t>Q2 FY25</a:t>
            </a:r>
          </a:p>
        </p:txBody>
      </p:sp>
      <p:sp>
        <p:nvSpPr>
          <p:cNvPr id="36" name="Column 3 Header"/>
          <p:cNvSpPr>
            <a:spLocks noGrp="1"/>
          </p:cNvSpPr>
          <p:nvPr>
            <p:ph type="body" idx="22"/>
          </p:nvPr>
        </p:nvSpPr>
        <p:spPr>
          <a:xfrm>
            <a:off x="7302500" y="3035300"/>
            <a:ext cx="1936750" cy="2413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2D3A52"/>
                </a:solidFill>
                <a:latin typeface="Noto Sans Mono"/>
              </a:rPr>
              <a:t>Q3 FY25</a:t>
            </a:r>
          </a:p>
        </p:txBody>
      </p:sp>
      <p:sp>
        <p:nvSpPr>
          <p:cNvPr id="37" name="Column 4 Header"/>
          <p:cNvSpPr>
            <a:spLocks noGrp="1"/>
          </p:cNvSpPr>
          <p:nvPr>
            <p:ph type="body" idx="23"/>
          </p:nvPr>
        </p:nvSpPr>
        <p:spPr>
          <a:xfrm>
            <a:off x="9493250" y="3035300"/>
            <a:ext cx="1936750" cy="2413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2D3A52"/>
                </a:solidFill>
                <a:latin typeface="Noto Sans Mono"/>
              </a:rPr>
              <a:t>Q4 FY25</a:t>
            </a:r>
          </a:p>
        </p:txBody>
      </p:sp>
      <p:sp>
        <p:nvSpPr>
          <p:cNvPr id="38" name="Row 1 Label"/>
          <p:cNvSpPr>
            <a:spLocks noGrp="1"/>
          </p:cNvSpPr>
          <p:nvPr>
            <p:ph type="body" idx="30"/>
          </p:nvPr>
        </p:nvSpPr>
        <p:spPr>
          <a:xfrm>
            <a:off x="762000" y="3502025"/>
            <a:ext cx="1955800" cy="254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spc="-11">
                <a:solidFill>
                  <a:srgbClr val="0B1A33"/>
                </a:solidFill>
                <a:latin typeface="Noto Sans Medium"/>
              </a:rPr>
              <a:t>Firmware consolidation</a:t>
            </a:r>
          </a:p>
        </p:txBody>
      </p:sp>
      <p:sp>
        <p:nvSpPr>
          <p:cNvPr id="39" name="Row 2 Label"/>
          <p:cNvSpPr>
            <a:spLocks noGrp="1"/>
          </p:cNvSpPr>
          <p:nvPr>
            <p:ph type="body" idx="31"/>
          </p:nvPr>
        </p:nvSpPr>
        <p:spPr>
          <a:xfrm>
            <a:off x="762000" y="4206875"/>
            <a:ext cx="1955800" cy="254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spc="-11">
                <a:solidFill>
                  <a:srgbClr val="0B1A33"/>
                </a:solidFill>
                <a:latin typeface="Noto Sans Medium"/>
              </a:rPr>
              <a:t>Default-on telemetry</a:t>
            </a:r>
          </a:p>
        </p:txBody>
      </p:sp>
      <p:sp>
        <p:nvSpPr>
          <p:cNvPr id="40" name="Row 3 Label"/>
          <p:cNvSpPr>
            <a:spLocks noGrp="1"/>
          </p:cNvSpPr>
          <p:nvPr>
            <p:ph type="body" idx="32"/>
          </p:nvPr>
        </p:nvSpPr>
        <p:spPr>
          <a:xfrm>
            <a:off x="762000" y="4911725"/>
            <a:ext cx="1955800" cy="254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spc="-11">
                <a:solidFill>
                  <a:srgbClr val="0B1A33"/>
                </a:solidFill>
                <a:latin typeface="Noto Sans Medium"/>
              </a:rPr>
              <a:t>Developer API</a:t>
            </a:r>
          </a:p>
        </p:txBody>
      </p:sp>
      <p:sp>
        <p:nvSpPr>
          <p:cNvPr id="41" name="Row 4 Label"/>
          <p:cNvSpPr>
            <a:spLocks noGrp="1"/>
          </p:cNvSpPr>
          <p:nvPr>
            <p:ph type="body" idx="33"/>
          </p:nvPr>
        </p:nvSpPr>
        <p:spPr>
          <a:xfrm>
            <a:off x="762000" y="5616575"/>
            <a:ext cx="1955800" cy="254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spc="-11">
                <a:solidFill>
                  <a:srgbClr val="0B1A33"/>
                </a:solidFill>
                <a:latin typeface="Noto Sans Medium"/>
              </a:rPr>
              <a:t>Data-platform integration</a:t>
            </a:r>
          </a:p>
        </p:txBody>
      </p:sp>
      <p:sp>
        <p:nvSpPr>
          <p:cNvPr id="42" name="Cell r1c1"/>
          <p:cNvSpPr>
            <a:spLocks noGrp="1"/>
          </p:cNvSpPr>
          <p:nvPr>
            <p:ph type="body" idx="40"/>
          </p:nvPr>
        </p:nvSpPr>
        <p:spPr>
          <a:xfrm>
            <a:off x="3111500" y="336550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Cutover · 62%</a:t>
            </a:r>
          </a:p>
        </p:txBody>
      </p:sp>
      <p:sp>
        <p:nvSpPr>
          <p:cNvPr id="43" name="Cell r1c2"/>
          <p:cNvSpPr>
            <a:spLocks noGrp="1"/>
          </p:cNvSpPr>
          <p:nvPr>
            <p:ph type="body" idx="41"/>
          </p:nvPr>
        </p:nvSpPr>
        <p:spPr>
          <a:xfrm>
            <a:off x="5302250" y="336550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Cutover · 100%</a:t>
            </a:r>
          </a:p>
        </p:txBody>
      </p:sp>
      <p:sp>
        <p:nvSpPr>
          <p:cNvPr id="44" name="Cell r1c3"/>
          <p:cNvSpPr>
            <a:spLocks noGrp="1"/>
          </p:cNvSpPr>
          <p:nvPr>
            <p:ph type="body" idx="42"/>
          </p:nvPr>
        </p:nvSpPr>
        <p:spPr>
          <a:xfrm>
            <a:off x="7493000" y="336550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Shipped</a:t>
            </a:r>
          </a:p>
        </p:txBody>
      </p:sp>
      <p:sp>
        <p:nvSpPr>
          <p:cNvPr id="45" name="Cell r1c4"/>
          <p:cNvSpPr>
            <a:spLocks noGrp="1"/>
          </p:cNvSpPr>
          <p:nvPr>
            <p:ph type="body" idx="43"/>
          </p:nvPr>
        </p:nvSpPr>
        <p:spPr>
          <a:xfrm>
            <a:off x="9683750" y="336550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Stable</a:t>
            </a:r>
          </a:p>
        </p:txBody>
      </p:sp>
      <p:sp>
        <p:nvSpPr>
          <p:cNvPr id="46" name="Cell r2c1"/>
          <p:cNvSpPr>
            <a:spLocks noGrp="1"/>
          </p:cNvSpPr>
          <p:nvPr>
            <p:ph type="body" idx="45"/>
          </p:nvPr>
        </p:nvSpPr>
        <p:spPr>
          <a:xfrm>
            <a:off x="3111500" y="407035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Pilot factories</a:t>
            </a:r>
          </a:p>
        </p:txBody>
      </p:sp>
      <p:sp>
        <p:nvSpPr>
          <p:cNvPr id="47" name="Cell r2c2"/>
          <p:cNvSpPr>
            <a:spLocks noGrp="1"/>
          </p:cNvSpPr>
          <p:nvPr>
            <p:ph type="body" idx="46"/>
          </p:nvPr>
        </p:nvSpPr>
        <p:spPr>
          <a:xfrm>
            <a:off x="5302250" y="407035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Rollout 40%</a:t>
            </a:r>
          </a:p>
        </p:txBody>
      </p:sp>
      <p:sp>
        <p:nvSpPr>
          <p:cNvPr id="48" name="Cell r2c3"/>
          <p:cNvSpPr>
            <a:spLocks noGrp="1"/>
          </p:cNvSpPr>
          <p:nvPr>
            <p:ph type="body" idx="47"/>
          </p:nvPr>
        </p:nvSpPr>
        <p:spPr>
          <a:xfrm>
            <a:off x="7493000" y="407035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Rollout 85%</a:t>
            </a:r>
          </a:p>
        </p:txBody>
      </p:sp>
      <p:sp>
        <p:nvSpPr>
          <p:cNvPr id="49" name="Cell r2c4"/>
          <p:cNvSpPr>
            <a:spLocks noGrp="1"/>
          </p:cNvSpPr>
          <p:nvPr>
            <p:ph type="body" idx="48"/>
          </p:nvPr>
        </p:nvSpPr>
        <p:spPr>
          <a:xfrm>
            <a:off x="9683750" y="407035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Default-on</a:t>
            </a:r>
          </a:p>
        </p:txBody>
      </p:sp>
      <p:sp>
        <p:nvSpPr>
          <p:cNvPr id="50" name="Cell r3c1"/>
          <p:cNvSpPr>
            <a:spLocks noGrp="1"/>
          </p:cNvSpPr>
          <p:nvPr>
            <p:ph type="body" idx="50"/>
          </p:nvPr>
        </p:nvSpPr>
        <p:spPr>
          <a:xfrm>
            <a:off x="3111500" y="477520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Design only</a:t>
            </a:r>
          </a:p>
        </p:txBody>
      </p:sp>
      <p:sp>
        <p:nvSpPr>
          <p:cNvPr id="51" name="Cell r3c2"/>
          <p:cNvSpPr>
            <a:spLocks noGrp="1"/>
          </p:cNvSpPr>
          <p:nvPr>
            <p:ph type="body" idx="51"/>
          </p:nvPr>
        </p:nvSpPr>
        <p:spPr>
          <a:xfrm>
            <a:off x="5302250" y="477520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Preview private</a:t>
            </a:r>
          </a:p>
        </p:txBody>
      </p:sp>
      <p:sp>
        <p:nvSpPr>
          <p:cNvPr id="52" name="Cell r3c3"/>
          <p:cNvSpPr>
            <a:spLocks noGrp="1"/>
          </p:cNvSpPr>
          <p:nvPr>
            <p:ph type="body" idx="52"/>
          </p:nvPr>
        </p:nvSpPr>
        <p:spPr>
          <a:xfrm>
            <a:off x="7493000" y="477520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Preview public</a:t>
            </a:r>
          </a:p>
        </p:txBody>
      </p:sp>
      <p:sp>
        <p:nvSpPr>
          <p:cNvPr id="53" name="Cell r3c4"/>
          <p:cNvSpPr>
            <a:spLocks noGrp="1"/>
          </p:cNvSpPr>
          <p:nvPr>
            <p:ph type="body" idx="53"/>
          </p:nvPr>
        </p:nvSpPr>
        <p:spPr>
          <a:xfrm>
            <a:off x="9683750" y="477520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GA → Q4 slip</a:t>
            </a:r>
          </a:p>
        </p:txBody>
      </p:sp>
      <p:sp>
        <p:nvSpPr>
          <p:cNvPr id="54" name="Cell r4c1"/>
          <p:cNvSpPr>
            <a:spLocks noGrp="1"/>
          </p:cNvSpPr>
          <p:nvPr>
            <p:ph type="body" idx="55"/>
          </p:nvPr>
        </p:nvSpPr>
        <p:spPr>
          <a:xfrm>
            <a:off x="3111500" y="548005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Scope locked</a:t>
            </a:r>
          </a:p>
        </p:txBody>
      </p:sp>
      <p:sp>
        <p:nvSpPr>
          <p:cNvPr id="55" name="Cell r4c2"/>
          <p:cNvSpPr>
            <a:spLocks noGrp="1"/>
          </p:cNvSpPr>
          <p:nvPr>
            <p:ph type="body" idx="56"/>
          </p:nvPr>
        </p:nvSpPr>
        <p:spPr>
          <a:xfrm>
            <a:off x="5302250" y="548005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Vendor delay</a:t>
            </a:r>
          </a:p>
        </p:txBody>
      </p:sp>
      <p:sp>
        <p:nvSpPr>
          <p:cNvPr id="56" name="Cell r4c3"/>
          <p:cNvSpPr>
            <a:spLocks noGrp="1"/>
          </p:cNvSpPr>
          <p:nvPr>
            <p:ph type="body" idx="57"/>
          </p:nvPr>
        </p:nvSpPr>
        <p:spPr>
          <a:xfrm>
            <a:off x="7493000" y="548005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Off plan</a:t>
            </a:r>
          </a:p>
        </p:txBody>
      </p:sp>
      <p:sp>
        <p:nvSpPr>
          <p:cNvPr id="57" name="Cell r4c4"/>
          <p:cNvSpPr>
            <a:spLocks noGrp="1"/>
          </p:cNvSpPr>
          <p:nvPr>
            <p:ph type="body" idx="58"/>
          </p:nvPr>
        </p:nvSpPr>
        <p:spPr>
          <a:xfrm>
            <a:off x="9683750" y="548005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Re-baseline</a:t>
            </a:r>
          </a:p>
        </p:txBody>
      </p:sp>
      <p:sp>
        <p:nvSpPr>
          <p:cNvPr id="58" name="Oval 57"/>
          <p:cNvSpPr/>
          <p:nvPr/>
        </p:nvSpPr>
        <p:spPr>
          <a:xfrm>
            <a:off x="8496300" y="6235700"/>
            <a:ext cx="88900" cy="88900"/>
          </a:xfrm>
          <a:prstGeom prst="ellipse">
            <a:avLst/>
          </a:prstGeom>
          <a:solidFill>
            <a:srgbClr val="8FB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48700" y="6210300"/>
            <a:ext cx="698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84">
                <a:solidFill>
                  <a:srgbClr val="2D3A52"/>
                </a:solidFill>
                <a:latin typeface="Noto Sans Mono"/>
              </a:rPr>
              <a:t>ON TRACK</a:t>
            </a:r>
          </a:p>
        </p:txBody>
      </p:sp>
      <p:sp>
        <p:nvSpPr>
          <p:cNvPr id="60" name="Oval 59"/>
          <p:cNvSpPr/>
          <p:nvPr/>
        </p:nvSpPr>
        <p:spPr>
          <a:xfrm>
            <a:off x="9601200" y="6235700"/>
            <a:ext cx="88900" cy="88900"/>
          </a:xfrm>
          <a:prstGeom prst="ellipse">
            <a:avLst/>
          </a:prstGeom>
          <a:solidFill>
            <a:srgbClr val="E4C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753600" y="6210300"/>
            <a:ext cx="698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84">
                <a:solidFill>
                  <a:srgbClr val="2D3A52"/>
                </a:solidFill>
                <a:latin typeface="Noto Sans Mono"/>
              </a:rPr>
              <a:t>AT RISK</a:t>
            </a:r>
          </a:p>
        </p:txBody>
      </p:sp>
      <p:sp>
        <p:nvSpPr>
          <p:cNvPr id="62" name="Oval 61"/>
          <p:cNvSpPr/>
          <p:nvPr/>
        </p:nvSpPr>
        <p:spPr>
          <a:xfrm>
            <a:off x="10706100" y="6235700"/>
            <a:ext cx="88900" cy="88900"/>
          </a:xfrm>
          <a:prstGeom prst="ellipse">
            <a:avLst/>
          </a:prstGeom>
          <a:solidFill>
            <a:srgbClr val="A04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858500" y="6210300"/>
            <a:ext cx="698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84">
                <a:solidFill>
                  <a:srgbClr val="2D3A52"/>
                </a:solidFill>
                <a:latin typeface="Noto Sans Mono"/>
              </a:rPr>
              <a:t>OFF TRACK</a:t>
            </a:r>
          </a:p>
        </p:txBody>
      </p:sp>
      <p:sp>
        <p:nvSpPr>
          <p:cNvPr id="64" name="Source"/>
          <p:cNvSpPr>
            <a:spLocks noGrp="1"/>
          </p:cNvSpPr>
          <p:nvPr>
            <p:ph type="body" idx="60"/>
          </p:nvPr>
        </p:nvSpPr>
        <p:spPr>
          <a:xfrm>
            <a:off x="635000" y="6350000"/>
            <a:ext cx="109220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PROGRAMME BOARD · FY25 Q3 STATUS REVIEW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Gant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GANTT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WORKSTREAMS — FY25 DELIVERY PLAN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Firmware consolidation lands in Q2; the developer API goes GA in Q4, dependent on telemetry rollout.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94250" y="2921000"/>
            <a:ext cx="6350" cy="3048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48500" y="2921000"/>
            <a:ext cx="6350" cy="3048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302750" y="2921000"/>
            <a:ext cx="6350" cy="3048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000" y="3225800"/>
            <a:ext cx="10922000" cy="635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94250" y="3225800"/>
            <a:ext cx="6350" cy="2032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48500" y="3225800"/>
            <a:ext cx="6350" cy="2032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302750" y="3225800"/>
            <a:ext cx="6350" cy="2032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78100" y="3390900"/>
            <a:ext cx="4432300" cy="177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6765925" y="3422650"/>
            <a:ext cx="114300" cy="114300"/>
          </a:xfrm>
          <a:prstGeom prst="diamond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000" y="37338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78100" y="3898900"/>
            <a:ext cx="6686550" cy="1778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8794750" y="3930650"/>
            <a:ext cx="114300" cy="114300"/>
          </a:xfrm>
          <a:prstGeom prst="diamond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000" y="42418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323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9085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847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609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371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2133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895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3657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419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5181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943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705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7467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8229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8991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753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515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277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039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801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563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325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087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5849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6611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7373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8135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8897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9659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086600" y="4406900"/>
            <a:ext cx="4432300" cy="177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5000" y="47498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8323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9085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847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609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371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133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895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657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19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181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5943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705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467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8229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8991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9753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515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277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039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2801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3563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4325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087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5849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6611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7373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8135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8897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9659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086600" y="4914900"/>
            <a:ext cx="2178050" cy="1778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340850" y="4914900"/>
            <a:ext cx="2178050" cy="177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Diamond 84"/>
          <p:cNvSpPr/>
          <p:nvPr/>
        </p:nvSpPr>
        <p:spPr>
          <a:xfrm>
            <a:off x="11274425" y="4946650"/>
            <a:ext cx="114300" cy="114300"/>
          </a:xfrm>
          <a:prstGeom prst="diamond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35000" y="5257800"/>
            <a:ext cx="10922000" cy="635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Period 1"/>
          <p:cNvSpPr>
            <a:spLocks noGrp="1"/>
          </p:cNvSpPr>
          <p:nvPr>
            <p:ph type="body" idx="20"/>
          </p:nvPr>
        </p:nvSpPr>
        <p:spPr>
          <a:xfrm>
            <a:off x="2603500" y="3009900"/>
            <a:ext cx="2127250" cy="2159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0B1A33"/>
                </a:solidFill>
                <a:latin typeface="Noto Sans Mono"/>
              </a:rPr>
              <a:t>Q1 · PLAN</a:t>
            </a:r>
          </a:p>
        </p:txBody>
      </p:sp>
      <p:sp>
        <p:nvSpPr>
          <p:cNvPr id="88" name="Period 2"/>
          <p:cNvSpPr>
            <a:spLocks noGrp="1"/>
          </p:cNvSpPr>
          <p:nvPr>
            <p:ph type="body" idx="21"/>
          </p:nvPr>
        </p:nvSpPr>
        <p:spPr>
          <a:xfrm>
            <a:off x="4857750" y="3009900"/>
            <a:ext cx="2127250" cy="2159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0B1A33"/>
                </a:solidFill>
                <a:latin typeface="Noto Sans Mono"/>
              </a:rPr>
              <a:t>Q2 · BUILD</a:t>
            </a:r>
          </a:p>
        </p:txBody>
      </p:sp>
      <p:sp>
        <p:nvSpPr>
          <p:cNvPr id="89" name="Period 3"/>
          <p:cNvSpPr>
            <a:spLocks noGrp="1"/>
          </p:cNvSpPr>
          <p:nvPr>
            <p:ph type="body" idx="22"/>
          </p:nvPr>
        </p:nvSpPr>
        <p:spPr>
          <a:xfrm>
            <a:off x="7112000" y="3009900"/>
            <a:ext cx="2127250" cy="2159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0B1A33"/>
                </a:solidFill>
                <a:latin typeface="Noto Sans Mono"/>
              </a:rPr>
              <a:t>Q3 · PILOT</a:t>
            </a:r>
          </a:p>
        </p:txBody>
      </p:sp>
      <p:sp>
        <p:nvSpPr>
          <p:cNvPr id="90" name="Period 4"/>
          <p:cNvSpPr>
            <a:spLocks noGrp="1"/>
          </p:cNvSpPr>
          <p:nvPr>
            <p:ph type="body" idx="23"/>
          </p:nvPr>
        </p:nvSpPr>
        <p:spPr>
          <a:xfrm>
            <a:off x="9366250" y="3009900"/>
            <a:ext cx="2127250" cy="2159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0B1A33"/>
                </a:solidFill>
                <a:latin typeface="Noto Sans Mono"/>
              </a:rPr>
              <a:t>Q4 · SCALE</a:t>
            </a:r>
          </a:p>
        </p:txBody>
      </p:sp>
      <p:sp>
        <p:nvSpPr>
          <p:cNvPr id="91" name="Lane 1 Label"/>
          <p:cNvSpPr>
            <a:spLocks noGrp="1"/>
          </p:cNvSpPr>
          <p:nvPr>
            <p:ph type="body" idx="30"/>
          </p:nvPr>
        </p:nvSpPr>
        <p:spPr>
          <a:xfrm>
            <a:off x="698500" y="3289300"/>
            <a:ext cx="1778000" cy="381000"/>
          </a:xfrm>
        </p:spPr>
        <p:txBody>
          <a:bodyPr lIns="0" tIns="0" rIns="0" bIns="0" wrap="square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FIRMWARE CONSOLIDATION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OWNER · PLATFORM</a:t>
            </a:r>
          </a:p>
        </p:txBody>
      </p:sp>
      <p:sp>
        <p:nvSpPr>
          <p:cNvPr id="92" name="Lane 2 Label"/>
          <p:cNvSpPr>
            <a:spLocks noGrp="1"/>
          </p:cNvSpPr>
          <p:nvPr>
            <p:ph type="body" idx="31"/>
          </p:nvPr>
        </p:nvSpPr>
        <p:spPr>
          <a:xfrm>
            <a:off x="698500" y="3797300"/>
            <a:ext cx="1778000" cy="381000"/>
          </a:xfrm>
        </p:spPr>
        <p:txBody>
          <a:bodyPr lIns="0" tIns="0" rIns="0" bIns="0" wrap="square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DEFAULT-ON TELEMETRY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OWNER · DATA</a:t>
            </a:r>
          </a:p>
        </p:txBody>
      </p:sp>
      <p:sp>
        <p:nvSpPr>
          <p:cNvPr id="93" name="Lane 3 Label"/>
          <p:cNvSpPr>
            <a:spLocks noGrp="1"/>
          </p:cNvSpPr>
          <p:nvPr>
            <p:ph type="body" idx="32"/>
          </p:nvPr>
        </p:nvSpPr>
        <p:spPr>
          <a:xfrm>
            <a:off x="698500" y="4305300"/>
            <a:ext cx="1778000" cy="381000"/>
          </a:xfrm>
        </p:spPr>
        <p:txBody>
          <a:bodyPr lIns="0" tIns="0" rIns="0" bIns="0" wrap="square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REGIONAL PILOT · 2,000 CUSTOMERS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OWNER · CONSUMER</a:t>
            </a:r>
          </a:p>
        </p:txBody>
      </p:sp>
      <p:sp>
        <p:nvSpPr>
          <p:cNvPr id="94" name="Lane 4 Label"/>
          <p:cNvSpPr>
            <a:spLocks noGrp="1"/>
          </p:cNvSpPr>
          <p:nvPr>
            <p:ph type="body" idx="33"/>
          </p:nvPr>
        </p:nvSpPr>
        <p:spPr>
          <a:xfrm>
            <a:off x="698500" y="4813300"/>
            <a:ext cx="1778000" cy="381000"/>
          </a:xfrm>
        </p:spPr>
        <p:txBody>
          <a:bodyPr lIns="0" tIns="0" rIns="0" bIns="0" wrap="square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DEVELOPER API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OWNER · PLATFORM</a:t>
            </a:r>
          </a:p>
        </p:txBody>
      </p:sp>
      <p:sp>
        <p:nvSpPr>
          <p:cNvPr id="95" name="Lane 1 Bar 1 Label"/>
          <p:cNvSpPr>
            <a:spLocks noGrp="1"/>
          </p:cNvSpPr>
          <p:nvPr>
            <p:ph type="body" idx="40"/>
          </p:nvPr>
        </p:nvSpPr>
        <p:spPr>
          <a:xfrm>
            <a:off x="2628900" y="3390900"/>
            <a:ext cx="4330700" cy="177800"/>
          </a:xfrm>
        </p:spPr>
        <p:txBody>
          <a:bodyPr lIns="0" tIns="0" rIns="0" bIns="0" wrap="square" anchor="ctr"/>
          <a:lstStyle/>
          <a:p>
            <a:pPr marL="0" indent="0" algn="l">
              <a:buNone/>
            </a:pPr>
            <a:r>
              <a:rPr lang="en-US" sz="650" spc="52" cap="all">
                <a:solidFill>
                  <a:srgbClr val="0B1A33"/>
                </a:solidFill>
                <a:latin typeface="Noto Sans Mono"/>
              </a:rPr>
              <a:t>CUTOVER · ALL SKUS</a:t>
            </a:r>
          </a:p>
        </p:txBody>
      </p:sp>
      <p:sp>
        <p:nvSpPr>
          <p:cNvPr id="96" name="Lane 2 Bar 1 Label"/>
          <p:cNvSpPr>
            <a:spLocks noGrp="1"/>
          </p:cNvSpPr>
          <p:nvPr>
            <p:ph type="body" idx="43"/>
          </p:nvPr>
        </p:nvSpPr>
        <p:spPr>
          <a:xfrm>
            <a:off x="2628900" y="3898900"/>
            <a:ext cx="6584950" cy="177800"/>
          </a:xfrm>
        </p:spPr>
        <p:txBody>
          <a:bodyPr lIns="0" tIns="0" rIns="0" bIns="0" wrap="square" anchor="ctr"/>
          <a:lstStyle/>
          <a:p>
            <a:pPr marL="0" indent="0" algn="l">
              <a:buNone/>
            </a:pPr>
            <a:r>
              <a:rPr lang="en-US" sz="650" spc="52" cap="all">
                <a:solidFill>
                  <a:srgbClr val="FFFFFF"/>
                </a:solidFill>
                <a:latin typeface="Noto Sans Mono"/>
              </a:rPr>
              <a:t>FACTORY ROLLOUT</a:t>
            </a:r>
          </a:p>
        </p:txBody>
      </p:sp>
      <p:sp>
        <p:nvSpPr>
          <p:cNvPr id="97" name="Lane 3 Bar 2 Label"/>
          <p:cNvSpPr>
            <a:spLocks noGrp="1"/>
          </p:cNvSpPr>
          <p:nvPr>
            <p:ph type="body" idx="47"/>
          </p:nvPr>
        </p:nvSpPr>
        <p:spPr>
          <a:xfrm>
            <a:off x="7137400" y="4406900"/>
            <a:ext cx="4330700" cy="177800"/>
          </a:xfrm>
        </p:spPr>
        <p:txBody>
          <a:bodyPr lIns="0" tIns="0" rIns="0" bIns="0" wrap="square" anchor="ctr"/>
          <a:lstStyle/>
          <a:p>
            <a:pPr marL="0" indent="0" algn="l">
              <a:buNone/>
            </a:pPr>
            <a:r>
              <a:rPr lang="en-US" sz="650" spc="52" cap="all">
                <a:solidFill>
                  <a:srgbClr val="0B1A33"/>
                </a:solidFill>
                <a:latin typeface="Noto Sans Mono"/>
              </a:rPr>
              <a:t>INSTRUMENTED STUDY</a:t>
            </a:r>
          </a:p>
        </p:txBody>
      </p:sp>
      <p:sp>
        <p:nvSpPr>
          <p:cNvPr id="98" name="Lane 4 Bar 2 Label"/>
          <p:cNvSpPr>
            <a:spLocks noGrp="1"/>
          </p:cNvSpPr>
          <p:nvPr>
            <p:ph type="body" idx="50"/>
          </p:nvPr>
        </p:nvSpPr>
        <p:spPr>
          <a:xfrm>
            <a:off x="7137400" y="4914900"/>
            <a:ext cx="2076450" cy="177800"/>
          </a:xfrm>
        </p:spPr>
        <p:txBody>
          <a:bodyPr lIns="0" tIns="0" rIns="0" bIns="0" wrap="square" anchor="ctr"/>
          <a:lstStyle/>
          <a:p>
            <a:pPr marL="0" indent="0" algn="l">
              <a:buNone/>
            </a:pPr>
            <a:r>
              <a:rPr lang="en-US" sz="650" spc="52" cap="all">
                <a:solidFill>
                  <a:srgbClr val="FFFFFF"/>
                </a:solidFill>
                <a:latin typeface="Noto Sans Mono"/>
              </a:rPr>
              <a:t>PREVIEW</a:t>
            </a:r>
          </a:p>
        </p:txBody>
      </p:sp>
      <p:sp>
        <p:nvSpPr>
          <p:cNvPr id="99" name="Lane 4 Bar 3 Label"/>
          <p:cNvSpPr>
            <a:spLocks noGrp="1"/>
          </p:cNvSpPr>
          <p:nvPr>
            <p:ph type="body" idx="51"/>
          </p:nvPr>
        </p:nvSpPr>
        <p:spPr>
          <a:xfrm>
            <a:off x="9391650" y="4914900"/>
            <a:ext cx="2076450" cy="177800"/>
          </a:xfrm>
        </p:spPr>
        <p:txBody>
          <a:bodyPr lIns="0" tIns="0" rIns="0" bIns="0" wrap="square" anchor="ctr"/>
          <a:lstStyle/>
          <a:p>
            <a:pPr marL="0" indent="0" algn="l">
              <a:buNone/>
            </a:pPr>
            <a:r>
              <a:rPr lang="en-US" sz="650" spc="52" cap="all">
                <a:solidFill>
                  <a:srgbClr val="0B1A33"/>
                </a:solidFill>
                <a:latin typeface="Noto Sans Mono"/>
              </a:rPr>
              <a:t>GA</a:t>
            </a:r>
          </a:p>
        </p:txBody>
      </p:sp>
      <p:sp>
        <p:nvSpPr>
          <p:cNvPr id="100" name="Source / caption"/>
          <p:cNvSpPr>
            <a:spLocks noGrp="1"/>
          </p:cNvSpPr>
          <p:nvPr>
            <p:ph type="body" idx="60"/>
          </p:nvPr>
        </p:nvSpPr>
        <p:spPr>
          <a:xfrm>
            <a:off x="635000" y="6350000"/>
            <a:ext cx="109220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COMMITTED · CRITICAL PATH · DEPENDENCY WINDOW · MILESTONE</a:t>
            </a: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Fun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FUNNEL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APP ACTIVATION FUNNEL · Q4 FY25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One in three buyers never pairs their product — first-run setup is the largest and most fixable drop-off.</a:t>
            </a:r>
          </a:p>
        </p:txBody>
      </p:sp>
      <p:sp>
        <p:nvSpPr>
          <p:cNvPr id="10" name="Freeform 9"/>
          <p:cNvSpPr/>
          <p:nvPr/>
        </p:nvSpPr>
        <p:spPr>
          <a:xfrm>
            <a:off x="635000" y="3048000"/>
            <a:ext cx="3048000" cy="774700"/>
          </a:xfrm>
          <a:custGeom>
            <a:avLst/>
            <a:gdLst/>
            <a:ahLst/>
            <a:cxnLst/>
            <a:rect l="l" t="t" r="r" b="b"/>
            <a:pathLst>
              <a:path w="3048000" h="774700">
                <a:moveTo>
                  <a:pt x="0" y="0"/>
                </a:moveTo>
                <a:lnTo>
                  <a:pt x="3048000" y="0"/>
                </a:lnTo>
                <a:lnTo>
                  <a:pt x="2778125" y="774700"/>
                </a:lnTo>
                <a:lnTo>
                  <a:pt x="269875" y="77470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904875" y="3848100"/>
            <a:ext cx="2508250" cy="774700"/>
          </a:xfrm>
          <a:custGeom>
            <a:avLst/>
            <a:gdLst/>
            <a:ahLst/>
            <a:cxnLst/>
            <a:rect l="l" t="t" r="r" b="b"/>
            <a:pathLst>
              <a:path w="2508250" h="774700">
                <a:moveTo>
                  <a:pt x="0" y="0"/>
                </a:moveTo>
                <a:lnTo>
                  <a:pt x="2508250" y="0"/>
                </a:lnTo>
                <a:lnTo>
                  <a:pt x="2238375" y="774700"/>
                </a:lnTo>
                <a:lnTo>
                  <a:pt x="269875" y="77470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174750" y="4648200"/>
            <a:ext cx="1968500" cy="774700"/>
          </a:xfrm>
          <a:custGeom>
            <a:avLst/>
            <a:gdLst/>
            <a:ahLst/>
            <a:cxnLst/>
            <a:rect l="l" t="t" r="r" b="b"/>
            <a:pathLst>
              <a:path w="1968500" h="774700">
                <a:moveTo>
                  <a:pt x="0" y="0"/>
                </a:moveTo>
                <a:lnTo>
                  <a:pt x="1968500" y="0"/>
                </a:lnTo>
                <a:lnTo>
                  <a:pt x="1698625" y="774700"/>
                </a:lnTo>
                <a:lnTo>
                  <a:pt x="269875" y="774700"/>
                </a:lnTo>
                <a:close/>
              </a:path>
            </a:pathLst>
          </a:cu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444625" y="5448300"/>
            <a:ext cx="1428750" cy="774700"/>
          </a:xfrm>
          <a:custGeom>
            <a:avLst/>
            <a:gdLst/>
            <a:ahLst/>
            <a:cxnLst/>
            <a:rect l="l" t="t" r="r" b="b"/>
            <a:pathLst>
              <a:path w="1428750" h="774700">
                <a:moveTo>
                  <a:pt x="0" y="0"/>
                </a:moveTo>
                <a:lnTo>
                  <a:pt x="1428750" y="0"/>
                </a:lnTo>
                <a:lnTo>
                  <a:pt x="1158875" y="774700"/>
                </a:lnTo>
                <a:lnTo>
                  <a:pt x="269875" y="77470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37000" y="3048000"/>
            <a:ext cx="3048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tage 1 Name"/>
          <p:cNvSpPr>
            <a:spLocks noGrp="1"/>
          </p:cNvSpPr>
          <p:nvPr>
            <p:ph type="body" idx="20"/>
          </p:nvPr>
        </p:nvSpPr>
        <p:spPr>
          <a:xfrm>
            <a:off x="3937000" y="3124200"/>
            <a:ext cx="2032000" cy="2286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Product sold</a:t>
            </a:r>
          </a:p>
        </p:txBody>
      </p:sp>
      <p:sp>
        <p:nvSpPr>
          <p:cNvPr id="16" name="Stage 1 Detail"/>
          <p:cNvSpPr>
            <a:spLocks noGrp="1"/>
          </p:cNvSpPr>
          <p:nvPr>
            <p:ph type="body" idx="21"/>
          </p:nvPr>
        </p:nvSpPr>
        <p:spPr>
          <a:xfrm>
            <a:off x="3937000" y="3365500"/>
            <a:ext cx="2032000" cy="152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700">
                <a:solidFill>
                  <a:srgbClr val="2D3A52"/>
                </a:solidFill>
                <a:latin typeface="Noto Sans"/>
              </a:rPr>
              <a:t>Shipment, any SKU</a:t>
            </a:r>
          </a:p>
        </p:txBody>
      </p:sp>
      <p:sp>
        <p:nvSpPr>
          <p:cNvPr id="17" name="Stage 1 Volume"/>
          <p:cNvSpPr>
            <a:spLocks noGrp="1"/>
          </p:cNvSpPr>
          <p:nvPr>
            <p:ph type="body" idx="22"/>
          </p:nvPr>
        </p:nvSpPr>
        <p:spPr>
          <a:xfrm>
            <a:off x="6096000" y="3124200"/>
            <a:ext cx="889000" cy="2794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700" spc="-34">
                <a:solidFill>
                  <a:srgbClr val="0B1A33"/>
                </a:solidFill>
                <a:latin typeface="Noto Sans Light"/>
              </a:rPr>
              <a:t>2.4 M</a:t>
            </a:r>
          </a:p>
        </p:txBody>
      </p:sp>
      <p:sp>
        <p:nvSpPr>
          <p:cNvPr id="18" name="Stage 1 Rate"/>
          <p:cNvSpPr>
            <a:spLocks noGrp="1"/>
          </p:cNvSpPr>
          <p:nvPr>
            <p:ph type="body" idx="23"/>
          </p:nvPr>
        </p:nvSpPr>
        <p:spPr>
          <a:xfrm>
            <a:off x="6096000" y="3429000"/>
            <a:ext cx="889000" cy="1270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650" spc="65" cap="all">
                <a:solidFill>
                  <a:srgbClr val="2D3A52"/>
                </a:solidFill>
                <a:latin typeface="Noto Sans Mono"/>
              </a:rPr>
              <a:t>100%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7000" y="3848100"/>
            <a:ext cx="3048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tage 2 Name"/>
          <p:cNvSpPr>
            <a:spLocks noGrp="1"/>
          </p:cNvSpPr>
          <p:nvPr>
            <p:ph type="body" idx="24"/>
          </p:nvPr>
        </p:nvSpPr>
        <p:spPr>
          <a:xfrm>
            <a:off x="3937000" y="3924300"/>
            <a:ext cx="2032000" cy="2286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App installed</a:t>
            </a:r>
          </a:p>
        </p:txBody>
      </p:sp>
      <p:sp>
        <p:nvSpPr>
          <p:cNvPr id="21" name="Stage 2 Detail"/>
          <p:cNvSpPr>
            <a:spLocks noGrp="1"/>
          </p:cNvSpPr>
          <p:nvPr>
            <p:ph type="body" idx="25"/>
          </p:nvPr>
        </p:nvSpPr>
        <p:spPr>
          <a:xfrm>
            <a:off x="3937000" y="4165600"/>
            <a:ext cx="2032000" cy="152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700">
                <a:solidFill>
                  <a:srgbClr val="2D3A52"/>
                </a:solidFill>
                <a:latin typeface="Noto Sans"/>
              </a:rPr>
              <a:t>Within 30 days of purchase</a:t>
            </a:r>
          </a:p>
        </p:txBody>
      </p:sp>
      <p:sp>
        <p:nvSpPr>
          <p:cNvPr id="22" name="Stage 2 Volume"/>
          <p:cNvSpPr>
            <a:spLocks noGrp="1"/>
          </p:cNvSpPr>
          <p:nvPr>
            <p:ph type="body" idx="26"/>
          </p:nvPr>
        </p:nvSpPr>
        <p:spPr>
          <a:xfrm>
            <a:off x="6096000" y="3924300"/>
            <a:ext cx="889000" cy="2794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700" spc="-34">
                <a:solidFill>
                  <a:srgbClr val="0B1A33"/>
                </a:solidFill>
                <a:latin typeface="Noto Sans Light"/>
              </a:rPr>
              <a:t>2.0 M</a:t>
            </a:r>
          </a:p>
        </p:txBody>
      </p:sp>
      <p:sp>
        <p:nvSpPr>
          <p:cNvPr id="23" name="Stage 2 Rate"/>
          <p:cNvSpPr>
            <a:spLocks noGrp="1"/>
          </p:cNvSpPr>
          <p:nvPr>
            <p:ph type="body" idx="27"/>
          </p:nvPr>
        </p:nvSpPr>
        <p:spPr>
          <a:xfrm>
            <a:off x="6096000" y="4229100"/>
            <a:ext cx="889000" cy="1270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650" spc="65" cap="all">
                <a:solidFill>
                  <a:srgbClr val="2D3A52"/>
                </a:solidFill>
                <a:latin typeface="Noto Sans Mono"/>
              </a:rPr>
              <a:t>84%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7000" y="4648200"/>
            <a:ext cx="3048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Stage 3 Name"/>
          <p:cNvSpPr>
            <a:spLocks noGrp="1"/>
          </p:cNvSpPr>
          <p:nvPr>
            <p:ph type="body" idx="28"/>
          </p:nvPr>
        </p:nvSpPr>
        <p:spPr>
          <a:xfrm>
            <a:off x="3937000" y="4724400"/>
            <a:ext cx="2032000" cy="2286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Product paired</a:t>
            </a:r>
          </a:p>
        </p:txBody>
      </p:sp>
      <p:sp>
        <p:nvSpPr>
          <p:cNvPr id="26" name="Stage 3 Detail"/>
          <p:cNvSpPr>
            <a:spLocks noGrp="1"/>
          </p:cNvSpPr>
          <p:nvPr>
            <p:ph type="body" idx="29"/>
          </p:nvPr>
        </p:nvSpPr>
        <p:spPr>
          <a:xfrm>
            <a:off x="3937000" y="4965700"/>
            <a:ext cx="2032000" cy="152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700">
                <a:solidFill>
                  <a:srgbClr val="2D3A52"/>
                </a:solidFill>
                <a:latin typeface="Noto Sans"/>
              </a:rPr>
              <a:t>First-run setup completed</a:t>
            </a:r>
          </a:p>
        </p:txBody>
      </p:sp>
      <p:sp>
        <p:nvSpPr>
          <p:cNvPr id="27" name="Stage 3 Volume"/>
          <p:cNvSpPr>
            <a:spLocks noGrp="1"/>
          </p:cNvSpPr>
          <p:nvPr>
            <p:ph type="body" idx="30"/>
          </p:nvPr>
        </p:nvSpPr>
        <p:spPr>
          <a:xfrm>
            <a:off x="6096000" y="4724400"/>
            <a:ext cx="889000" cy="2794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700" spc="-34">
                <a:solidFill>
                  <a:srgbClr val="0B1A33"/>
                </a:solidFill>
                <a:latin typeface="Noto Sans Light"/>
              </a:rPr>
              <a:t>1.5 M</a:t>
            </a:r>
          </a:p>
        </p:txBody>
      </p:sp>
      <p:sp>
        <p:nvSpPr>
          <p:cNvPr id="28" name="Stage 3 Rate"/>
          <p:cNvSpPr>
            <a:spLocks noGrp="1"/>
          </p:cNvSpPr>
          <p:nvPr>
            <p:ph type="body" idx="31"/>
          </p:nvPr>
        </p:nvSpPr>
        <p:spPr>
          <a:xfrm>
            <a:off x="6096000" y="5029200"/>
            <a:ext cx="889000" cy="1270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650" spc="65" cap="all">
                <a:solidFill>
                  <a:srgbClr val="2D3A52"/>
                </a:solidFill>
                <a:latin typeface="Noto Sans Mono"/>
              </a:rPr>
              <a:t>62%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37000" y="5448300"/>
            <a:ext cx="3048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tage 4 Name"/>
          <p:cNvSpPr>
            <a:spLocks noGrp="1"/>
          </p:cNvSpPr>
          <p:nvPr>
            <p:ph type="body" idx="32"/>
          </p:nvPr>
        </p:nvSpPr>
        <p:spPr>
          <a:xfrm>
            <a:off x="3937000" y="5524500"/>
            <a:ext cx="2032000" cy="2286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Active at 90 days</a:t>
            </a:r>
          </a:p>
        </p:txBody>
      </p:sp>
      <p:sp>
        <p:nvSpPr>
          <p:cNvPr id="31" name="Stage 4 Detail"/>
          <p:cNvSpPr>
            <a:spLocks noGrp="1"/>
          </p:cNvSpPr>
          <p:nvPr>
            <p:ph type="body" idx="33"/>
          </p:nvPr>
        </p:nvSpPr>
        <p:spPr>
          <a:xfrm>
            <a:off x="3937000" y="5765800"/>
            <a:ext cx="2032000" cy="152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700">
                <a:solidFill>
                  <a:srgbClr val="2D3A52"/>
                </a:solidFill>
                <a:latin typeface="Noto Sans"/>
              </a:rPr>
              <a:t>≥4 cycles in last month</a:t>
            </a:r>
          </a:p>
        </p:txBody>
      </p:sp>
      <p:sp>
        <p:nvSpPr>
          <p:cNvPr id="32" name="Stage 4 Volume"/>
          <p:cNvSpPr>
            <a:spLocks noGrp="1"/>
          </p:cNvSpPr>
          <p:nvPr>
            <p:ph type="body" idx="34"/>
          </p:nvPr>
        </p:nvSpPr>
        <p:spPr>
          <a:xfrm>
            <a:off x="6096000" y="5524500"/>
            <a:ext cx="889000" cy="2794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700" spc="-34">
                <a:solidFill>
                  <a:srgbClr val="0B1A33"/>
                </a:solidFill>
                <a:latin typeface="Noto Sans Light"/>
              </a:rPr>
              <a:t>870 K</a:t>
            </a:r>
          </a:p>
        </p:txBody>
      </p:sp>
      <p:sp>
        <p:nvSpPr>
          <p:cNvPr id="33" name="Stage 4 Rate"/>
          <p:cNvSpPr>
            <a:spLocks noGrp="1"/>
          </p:cNvSpPr>
          <p:nvPr>
            <p:ph type="body" idx="35"/>
          </p:nvPr>
        </p:nvSpPr>
        <p:spPr>
          <a:xfrm>
            <a:off x="6096000" y="5829300"/>
            <a:ext cx="889000" cy="1270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650" spc="65" cap="all">
                <a:solidFill>
                  <a:srgbClr val="2D3A52"/>
                </a:solidFill>
                <a:latin typeface="Noto Sans Mono"/>
              </a:rPr>
              <a:t>36%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3000" y="3048000"/>
            <a:ext cx="4064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ropoff 1 Pct"/>
          <p:cNvSpPr>
            <a:spLocks noGrp="1"/>
          </p:cNvSpPr>
          <p:nvPr>
            <p:ph type="body" idx="50"/>
          </p:nvPr>
        </p:nvSpPr>
        <p:spPr>
          <a:xfrm>
            <a:off x="7493000" y="3149600"/>
            <a:ext cx="4064000" cy="3556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2300" spc="-46">
                <a:solidFill>
                  <a:srgbClr val="C9A24A"/>
                </a:solidFill>
                <a:latin typeface="Noto Sans Light"/>
              </a:rPr>
              <a:t>−22 pt</a:t>
            </a:r>
          </a:p>
        </p:txBody>
      </p:sp>
      <p:sp>
        <p:nvSpPr>
          <p:cNvPr id="36" name="Dropoff 1 Label"/>
          <p:cNvSpPr>
            <a:spLocks noGrp="1"/>
          </p:cNvSpPr>
          <p:nvPr>
            <p:ph type="body" idx="51"/>
          </p:nvPr>
        </p:nvSpPr>
        <p:spPr>
          <a:xfrm>
            <a:off x="7493000" y="3530600"/>
            <a:ext cx="4064000" cy="1397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TRIAL → ACTIVATE</a:t>
            </a:r>
          </a:p>
        </p:txBody>
      </p:sp>
      <p:sp>
        <p:nvSpPr>
          <p:cNvPr id="37" name="Dropoff 1 Body"/>
          <p:cNvSpPr>
            <a:spLocks noGrp="1"/>
          </p:cNvSpPr>
          <p:nvPr>
            <p:ph type="body" idx="52"/>
          </p:nvPr>
        </p:nvSpPr>
        <p:spPr>
          <a:xfrm>
            <a:off x="7493000" y="3733800"/>
            <a:ext cx="4064000" cy="254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00">
                <a:solidFill>
                  <a:srgbClr val="2D3A52"/>
                </a:solidFill>
                <a:latin typeface="Noto Sans"/>
              </a:rPr>
              <a:t>Activation fails on mixed-SSID routers and Wi-Fi 6 backward compatibility. Fix is scoped for Q1.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93000" y="4140200"/>
            <a:ext cx="4064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ropoff 2 Pct"/>
          <p:cNvSpPr>
            <a:spLocks noGrp="1"/>
          </p:cNvSpPr>
          <p:nvPr>
            <p:ph type="body" idx="54"/>
          </p:nvPr>
        </p:nvSpPr>
        <p:spPr>
          <a:xfrm>
            <a:off x="7493000" y="4241800"/>
            <a:ext cx="4064000" cy="3556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2300" spc="-46">
                <a:solidFill>
                  <a:srgbClr val="C9A24A"/>
                </a:solidFill>
                <a:latin typeface="Noto Sans Light"/>
              </a:rPr>
              <a:t>−14 pt</a:t>
            </a:r>
          </a:p>
        </p:txBody>
      </p:sp>
      <p:sp>
        <p:nvSpPr>
          <p:cNvPr id="40" name="Dropoff 2 Label"/>
          <p:cNvSpPr>
            <a:spLocks noGrp="1"/>
          </p:cNvSpPr>
          <p:nvPr>
            <p:ph type="body" idx="55"/>
          </p:nvPr>
        </p:nvSpPr>
        <p:spPr>
          <a:xfrm>
            <a:off x="7493000" y="4622800"/>
            <a:ext cx="4064000" cy="1397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FEATURE → 90D ACTIVE</a:t>
            </a:r>
          </a:p>
        </p:txBody>
      </p:sp>
      <p:sp>
        <p:nvSpPr>
          <p:cNvPr id="41" name="Dropoff 2 Body"/>
          <p:cNvSpPr>
            <a:spLocks noGrp="1"/>
          </p:cNvSpPr>
          <p:nvPr>
            <p:ph type="body" idx="56"/>
          </p:nvPr>
        </p:nvSpPr>
        <p:spPr>
          <a:xfrm>
            <a:off x="7493000" y="4826000"/>
            <a:ext cx="4064000" cy="254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00">
                <a:solidFill>
                  <a:srgbClr val="2D3A52"/>
                </a:solidFill>
                <a:latin typeface="Noto Sans"/>
              </a:rPr>
              <a:t>Users try one session then default to the panel. Cadence nudges in-app are live in Q2.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493000" y="5232400"/>
            <a:ext cx="4064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ropoff 3 Pct"/>
          <p:cNvSpPr>
            <a:spLocks noGrp="1"/>
          </p:cNvSpPr>
          <p:nvPr>
            <p:ph type="body" idx="58"/>
          </p:nvPr>
        </p:nvSpPr>
        <p:spPr>
          <a:xfrm>
            <a:off x="7493000" y="5334000"/>
            <a:ext cx="4064000" cy="3556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endParaRPr lang="en-US"/>
          </a:p>
        </p:txBody>
      </p:sp>
      <p:sp>
        <p:nvSpPr>
          <p:cNvPr id="44" name="Dropoff 3 Label"/>
          <p:cNvSpPr>
            <a:spLocks noGrp="1"/>
          </p:cNvSpPr>
          <p:nvPr>
            <p:ph type="body" idx="59"/>
          </p:nvPr>
        </p:nvSpPr>
        <p:spPr>
          <a:xfrm>
            <a:off x="7493000" y="5715000"/>
            <a:ext cx="4064000" cy="1397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endParaRPr lang="en-US"/>
          </a:p>
        </p:txBody>
      </p:sp>
      <p:sp>
        <p:nvSpPr>
          <p:cNvPr id="45" name="Dropoff 3 Body"/>
          <p:cNvSpPr>
            <a:spLocks noGrp="1"/>
          </p:cNvSpPr>
          <p:nvPr>
            <p:ph type="body" idx="60"/>
          </p:nvPr>
        </p:nvSpPr>
        <p:spPr>
          <a:xfrm>
            <a:off x="7493000" y="5918200"/>
            <a:ext cx="4064000" cy="254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endParaRPr lang="en-US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Ven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VENN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WHERE THE THREE BUSINESSES MEET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The connected platform is the intersection — only the integrated brand has the product, the platform, and the service relationship.</a:t>
            </a:r>
          </a:p>
        </p:txBody>
      </p:sp>
      <p:sp>
        <p:nvSpPr>
          <p:cNvPr id="10" name="Oval 9"/>
          <p:cNvSpPr/>
          <p:nvPr/>
        </p:nvSpPr>
        <p:spPr>
          <a:xfrm>
            <a:off x="1587500" y="3238500"/>
            <a:ext cx="2159000" cy="2159000"/>
          </a:xfrm>
          <a:prstGeom prst="ellipse">
            <a:avLst/>
          </a:prstGeom>
          <a:solidFill>
            <a:srgbClr val="C9A24A">
              <a:alpha val="50000"/>
            </a:srgbClr>
          </a:solidFill>
          <a:ln w="12700">
            <a:solidFill>
              <a:srgbClr val="0B1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11500" y="3238500"/>
            <a:ext cx="2159000" cy="2159000"/>
          </a:xfrm>
          <a:prstGeom prst="ellipse">
            <a:avLst/>
          </a:prstGeom>
          <a:solidFill>
            <a:srgbClr val="0B1A33">
              <a:alpha val="50000"/>
            </a:srgbClr>
          </a:solidFill>
          <a:ln w="12700">
            <a:solidFill>
              <a:srgbClr val="0B1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49500" y="4381500"/>
            <a:ext cx="2159000" cy="2159000"/>
          </a:xfrm>
          <a:prstGeom prst="ellipse">
            <a:avLst/>
          </a:prstGeom>
          <a:solidFill>
            <a:srgbClr val="2D3A52">
              <a:alpha val="50000"/>
            </a:srgbClr>
          </a:solidFill>
          <a:ln w="12700">
            <a:solidFill>
              <a:srgbClr val="0B1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098800" y="4400550"/>
            <a:ext cx="660400" cy="660400"/>
          </a:xfrm>
          <a:prstGeom prst="ellipse">
            <a:avLst/>
          </a:prstGeom>
          <a:solidFill>
            <a:srgbClr val="FAF8F3"/>
          </a:solidFill>
          <a:ln w="12700">
            <a:solidFill>
              <a:srgbClr val="0B1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et A Name"/>
          <p:cNvSpPr>
            <a:spLocks noGrp="1"/>
          </p:cNvSpPr>
          <p:nvPr>
            <p:ph type="body" idx="20"/>
          </p:nvPr>
        </p:nvSpPr>
        <p:spPr>
          <a:xfrm>
            <a:off x="1016000" y="3594100"/>
            <a:ext cx="1524000" cy="1651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CONSUMER</a:t>
            </a:r>
          </a:p>
        </p:txBody>
      </p:sp>
      <p:sp>
        <p:nvSpPr>
          <p:cNvPr id="15" name="Set A Subtitle"/>
          <p:cNvSpPr>
            <a:spLocks noGrp="1"/>
          </p:cNvSpPr>
          <p:nvPr>
            <p:ph type="body" idx="21"/>
          </p:nvPr>
        </p:nvSpPr>
        <p:spPr>
          <a:xfrm>
            <a:off x="1016000" y="3784600"/>
            <a:ext cx="1524000" cy="1397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700" spc="56">
                <a:solidFill>
                  <a:srgbClr val="2D3A52"/>
                </a:solidFill>
                <a:latin typeface="Noto Sans Mono"/>
              </a:rPr>
              <a:t>Product + brand</a:t>
            </a:r>
          </a:p>
        </p:txBody>
      </p:sp>
      <p:sp>
        <p:nvSpPr>
          <p:cNvPr id="16" name="Set B Name"/>
          <p:cNvSpPr>
            <a:spLocks noGrp="1"/>
          </p:cNvSpPr>
          <p:nvPr>
            <p:ph type="body" idx="24"/>
          </p:nvPr>
        </p:nvSpPr>
        <p:spPr>
          <a:xfrm>
            <a:off x="4318000" y="3594100"/>
            <a:ext cx="1524000" cy="1651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PLATFORM</a:t>
            </a:r>
          </a:p>
        </p:txBody>
      </p:sp>
      <p:sp>
        <p:nvSpPr>
          <p:cNvPr id="17" name="Set B Subtitle"/>
          <p:cNvSpPr>
            <a:spLocks noGrp="1"/>
          </p:cNvSpPr>
          <p:nvPr>
            <p:ph type="body" idx="25"/>
          </p:nvPr>
        </p:nvSpPr>
        <p:spPr>
          <a:xfrm>
            <a:off x="4318000" y="3784600"/>
            <a:ext cx="1524000" cy="1397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700" spc="56">
                <a:solidFill>
                  <a:srgbClr val="2D3A52"/>
                </a:solidFill>
                <a:latin typeface="Noto Sans Mono"/>
              </a:rPr>
              <a:t>Firmware + API</a:t>
            </a:r>
          </a:p>
        </p:txBody>
      </p:sp>
      <p:sp>
        <p:nvSpPr>
          <p:cNvPr id="18" name="Set C Name"/>
          <p:cNvSpPr>
            <a:spLocks noGrp="1"/>
          </p:cNvSpPr>
          <p:nvPr>
            <p:ph type="body" idx="28"/>
          </p:nvPr>
        </p:nvSpPr>
        <p:spPr>
          <a:xfrm>
            <a:off x="2667000" y="6038850"/>
            <a:ext cx="1524000" cy="1651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SERVICES</a:t>
            </a:r>
          </a:p>
        </p:txBody>
      </p:sp>
      <p:sp>
        <p:nvSpPr>
          <p:cNvPr id="19" name="Set C Subtitle"/>
          <p:cNvSpPr>
            <a:spLocks noGrp="1"/>
          </p:cNvSpPr>
          <p:nvPr>
            <p:ph type="body" idx="29"/>
          </p:nvPr>
        </p:nvSpPr>
        <p:spPr>
          <a:xfrm>
            <a:off x="2667000" y="6229350"/>
            <a:ext cx="1524000" cy="1397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700" spc="56">
                <a:solidFill>
                  <a:srgbClr val="2D3A52"/>
                </a:solidFill>
                <a:latin typeface="Noto Sans Mono"/>
              </a:rPr>
              <a:t>Install · repair</a:t>
            </a:r>
          </a:p>
        </p:txBody>
      </p:sp>
      <p:sp>
        <p:nvSpPr>
          <p:cNvPr id="20" name="Intersection AB"/>
          <p:cNvSpPr>
            <a:spLocks noGrp="1"/>
          </p:cNvSpPr>
          <p:nvPr>
            <p:ph type="body" idx="30"/>
          </p:nvPr>
        </p:nvSpPr>
        <p:spPr>
          <a:xfrm>
            <a:off x="2667000" y="4159250"/>
            <a:ext cx="1524000" cy="254000"/>
          </a:xfrm>
        </p:spPr>
        <p:txBody>
          <a:bodyPr lIns="0" tIns="0" rIns="0" bIns="0" wrap="square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00" spc="-4">
                <a:solidFill>
                  <a:srgbClr val="0B1A33"/>
                </a:solidFill>
                <a:latin typeface="Noto Sans Medium"/>
              </a:rPr>
              <a:t>Smart product</a:t>
            </a:r>
          </a:p>
        </p:txBody>
      </p:sp>
      <p:sp>
        <p:nvSpPr>
          <p:cNvPr id="21" name="Intersection AC"/>
          <p:cNvSpPr>
            <a:spLocks noGrp="1"/>
          </p:cNvSpPr>
          <p:nvPr>
            <p:ph type="body" idx="31"/>
          </p:nvPr>
        </p:nvSpPr>
        <p:spPr>
          <a:xfrm>
            <a:off x="1905000" y="4826000"/>
            <a:ext cx="1524000" cy="254000"/>
          </a:xfrm>
        </p:spPr>
        <p:txBody>
          <a:bodyPr lIns="0" tIns="0" rIns="0" bIns="0" wrap="square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00" spc="-4">
                <a:solidFill>
                  <a:srgbClr val="0B1A33"/>
                </a:solidFill>
                <a:latin typeface="Noto Sans Medium"/>
              </a:rPr>
              <a:t>In-home install</a:t>
            </a:r>
          </a:p>
        </p:txBody>
      </p:sp>
      <p:sp>
        <p:nvSpPr>
          <p:cNvPr id="22" name="Intersection BC"/>
          <p:cNvSpPr>
            <a:spLocks noGrp="1"/>
          </p:cNvSpPr>
          <p:nvPr>
            <p:ph type="body" idx="32"/>
          </p:nvPr>
        </p:nvSpPr>
        <p:spPr>
          <a:xfrm>
            <a:off x="3429000" y="4826000"/>
            <a:ext cx="1524000" cy="254000"/>
          </a:xfrm>
        </p:spPr>
        <p:txBody>
          <a:bodyPr lIns="0" tIns="0" rIns="0" bIns="0" wrap="square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00" spc="-4">
                <a:solidFill>
                  <a:srgbClr val="0B1A33"/>
                </a:solidFill>
                <a:latin typeface="Noto Sans Medium"/>
              </a:rPr>
              <a:t>Remote diagnostics</a:t>
            </a:r>
          </a:p>
        </p:txBody>
      </p:sp>
      <p:sp>
        <p:nvSpPr>
          <p:cNvPr id="23" name="Center Intersection"/>
          <p:cNvSpPr>
            <a:spLocks noGrp="1"/>
          </p:cNvSpPr>
          <p:nvPr>
            <p:ph type="body" idx="33"/>
          </p:nvPr>
        </p:nvSpPr>
        <p:spPr>
          <a:xfrm>
            <a:off x="2921000" y="4578350"/>
            <a:ext cx="1016000" cy="304800"/>
          </a:xfrm>
        </p:spPr>
        <p:txBody>
          <a:bodyPr lIns="0" tIns="0" rIns="0" bIns="0" wrap="square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00" b="1" spc="-4">
                <a:solidFill>
                  <a:srgbClr val="0B1A33"/>
                </a:solidFill>
                <a:latin typeface="Noto Sans"/>
              </a:rPr>
              <a:t>Connected platform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2921000"/>
            <a:ext cx="4699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tem 1 Counter"/>
          <p:cNvSpPr>
            <a:spLocks noGrp="1"/>
          </p:cNvSpPr>
          <p:nvPr>
            <p:ph type="body" idx="40"/>
          </p:nvPr>
        </p:nvSpPr>
        <p:spPr>
          <a:xfrm>
            <a:off x="6858000" y="2997200"/>
            <a:ext cx="4699000" cy="1397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01 · CONSUMER × PLATFORM</a:t>
            </a:r>
          </a:p>
        </p:txBody>
      </p:sp>
      <p:sp>
        <p:nvSpPr>
          <p:cNvPr id="26" name="Item 1 Heading"/>
          <p:cNvSpPr>
            <a:spLocks noGrp="1"/>
          </p:cNvSpPr>
          <p:nvPr>
            <p:ph type="body" idx="41"/>
          </p:nvPr>
        </p:nvSpPr>
        <p:spPr>
          <a:xfrm>
            <a:off x="6858000" y="3175000"/>
            <a:ext cx="4699000" cy="2286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200" spc="-14">
                <a:solidFill>
                  <a:srgbClr val="0B1A33"/>
                </a:solidFill>
                <a:latin typeface="Noto Sans Medium"/>
              </a:rPr>
              <a:t>Smart product</a:t>
            </a:r>
          </a:p>
        </p:txBody>
      </p:sp>
      <p:sp>
        <p:nvSpPr>
          <p:cNvPr id="27" name="Item 1 Body"/>
          <p:cNvSpPr>
            <a:spLocks noGrp="1"/>
          </p:cNvSpPr>
          <p:nvPr>
            <p:ph type="body" idx="42"/>
          </p:nvPr>
        </p:nvSpPr>
        <p:spPr>
          <a:xfrm>
            <a:off x="6858000" y="3429000"/>
            <a:ext cx="4699000" cy="222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750">
                <a:solidFill>
                  <a:srgbClr val="2D3A52"/>
                </a:solidFill>
                <a:latin typeface="Noto Sans"/>
              </a:rPr>
              <a:t>Firmware turns the object into an addressable node — the basis for every service we layer on top.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3803650"/>
            <a:ext cx="4699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Item 2 Counter"/>
          <p:cNvSpPr>
            <a:spLocks noGrp="1"/>
          </p:cNvSpPr>
          <p:nvPr>
            <p:ph type="body" idx="44"/>
          </p:nvPr>
        </p:nvSpPr>
        <p:spPr>
          <a:xfrm>
            <a:off x="6858000" y="3879850"/>
            <a:ext cx="4699000" cy="1397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02 · PLATFORM × SERVICES</a:t>
            </a:r>
          </a:p>
        </p:txBody>
      </p:sp>
      <p:sp>
        <p:nvSpPr>
          <p:cNvPr id="30" name="Item 2 Heading"/>
          <p:cNvSpPr>
            <a:spLocks noGrp="1"/>
          </p:cNvSpPr>
          <p:nvPr>
            <p:ph type="body" idx="45"/>
          </p:nvPr>
        </p:nvSpPr>
        <p:spPr>
          <a:xfrm>
            <a:off x="6858000" y="4057650"/>
            <a:ext cx="4699000" cy="2286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200" spc="-14">
                <a:solidFill>
                  <a:srgbClr val="0B1A33"/>
                </a:solidFill>
                <a:latin typeface="Noto Sans Medium"/>
              </a:rPr>
              <a:t>Remote diagnostics</a:t>
            </a:r>
          </a:p>
        </p:txBody>
      </p:sp>
      <p:sp>
        <p:nvSpPr>
          <p:cNvPr id="31" name="Item 2 Body"/>
          <p:cNvSpPr>
            <a:spLocks noGrp="1"/>
          </p:cNvSpPr>
          <p:nvPr>
            <p:ph type="body" idx="46"/>
          </p:nvPr>
        </p:nvSpPr>
        <p:spPr>
          <a:xfrm>
            <a:off x="6858000" y="4311650"/>
            <a:ext cx="4699000" cy="222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750">
                <a:solidFill>
                  <a:srgbClr val="2D3A52"/>
                </a:solidFill>
                <a:latin typeface="Noto Sans"/>
              </a:rPr>
              <a:t>Telemetry lets service pre-triage a call; first-time-fix rate rises, truck rolls fall.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0" y="4686300"/>
            <a:ext cx="4699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Item 3 Counter"/>
          <p:cNvSpPr>
            <a:spLocks noGrp="1"/>
          </p:cNvSpPr>
          <p:nvPr>
            <p:ph type="body" idx="48"/>
          </p:nvPr>
        </p:nvSpPr>
        <p:spPr>
          <a:xfrm>
            <a:off x="6858000" y="4762500"/>
            <a:ext cx="4699000" cy="1397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03 · CONSUMER × SERVICES</a:t>
            </a:r>
          </a:p>
        </p:txBody>
      </p:sp>
      <p:sp>
        <p:nvSpPr>
          <p:cNvPr id="34" name="Item 3 Heading"/>
          <p:cNvSpPr>
            <a:spLocks noGrp="1"/>
          </p:cNvSpPr>
          <p:nvPr>
            <p:ph type="body" idx="49"/>
          </p:nvPr>
        </p:nvSpPr>
        <p:spPr>
          <a:xfrm>
            <a:off x="6858000" y="4940300"/>
            <a:ext cx="4699000" cy="2286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200" spc="-14">
                <a:solidFill>
                  <a:srgbClr val="0B1A33"/>
                </a:solidFill>
                <a:latin typeface="Noto Sans Medium"/>
              </a:rPr>
              <a:t>In-home install</a:t>
            </a:r>
          </a:p>
        </p:txBody>
      </p:sp>
      <p:sp>
        <p:nvSpPr>
          <p:cNvPr id="35" name="Item 3 Body"/>
          <p:cNvSpPr>
            <a:spLocks noGrp="1"/>
          </p:cNvSpPr>
          <p:nvPr>
            <p:ph type="body" idx="50"/>
          </p:nvPr>
        </p:nvSpPr>
        <p:spPr>
          <a:xfrm>
            <a:off x="6858000" y="5194300"/>
            <a:ext cx="4699000" cy="222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750">
                <a:solidFill>
                  <a:srgbClr val="2D3A52"/>
                </a:solidFill>
                <a:latin typeface="Noto Sans"/>
              </a:rPr>
              <a:t>Existing service relationship carries trust; we extend it into the subscription tier.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0" y="5568950"/>
            <a:ext cx="4699000" cy="127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Item 4 Counter"/>
          <p:cNvSpPr>
            <a:spLocks noGrp="1"/>
          </p:cNvSpPr>
          <p:nvPr>
            <p:ph type="body" idx="52"/>
          </p:nvPr>
        </p:nvSpPr>
        <p:spPr>
          <a:xfrm>
            <a:off x="6858000" y="5645150"/>
            <a:ext cx="4699000" cy="1397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CENTER</a:t>
            </a:r>
          </a:p>
        </p:txBody>
      </p:sp>
      <p:sp>
        <p:nvSpPr>
          <p:cNvPr id="38" name="Item 4 Heading"/>
          <p:cNvSpPr>
            <a:spLocks noGrp="1"/>
          </p:cNvSpPr>
          <p:nvPr>
            <p:ph type="body" idx="53"/>
          </p:nvPr>
        </p:nvSpPr>
        <p:spPr>
          <a:xfrm>
            <a:off x="6858000" y="5822950"/>
            <a:ext cx="4699000" cy="2286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200" spc="-14">
                <a:solidFill>
                  <a:srgbClr val="0B1A33"/>
                </a:solidFill>
                <a:latin typeface="Noto Sans Medium"/>
              </a:rPr>
              <a:t>Connected platform</a:t>
            </a:r>
          </a:p>
        </p:txBody>
      </p:sp>
      <p:sp>
        <p:nvSpPr>
          <p:cNvPr id="39" name="Item 4 Body"/>
          <p:cNvSpPr>
            <a:spLocks noGrp="1"/>
          </p:cNvSpPr>
          <p:nvPr>
            <p:ph type="body" idx="54"/>
          </p:nvPr>
        </p:nvSpPr>
        <p:spPr>
          <a:xfrm>
            <a:off x="6858000" y="6076950"/>
            <a:ext cx="4699000" cy="222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750">
                <a:solidFill>
                  <a:srgbClr val="2D3A52"/>
                </a:solidFill>
                <a:latin typeface="Noto Sans"/>
              </a:rPr>
              <a:t>Only Feinschliff sits in all three sets at scale — the moat no single-category competitor can cross.</a:t>
            </a: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Diagra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35000" y="1587500"/>
            <a:ext cx="10922000" cy="4318000"/>
          </a:xfrm>
          <a:prstGeom prst="rect">
            <a:avLst/>
          </a:prstGeom>
          <a:solidFill>
            <a:srgbClr val="D6D1C2"/>
          </a:solidFill>
          <a:ln w="6350">
            <a:solidFill>
              <a:srgbClr val="A9B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171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08">
                <a:solidFill>
                  <a:srgbClr val="2D3A52"/>
                </a:solidFill>
                <a:latin typeface="Noto Sans Mono"/>
              </a:rPr>
              <a:t>DIAGRAM · FILL VIA /DECK</a:t>
            </a:r>
          </a:p>
        </p:txBody>
      </p:sp>
      <p:sp>
        <p:nvSpPr>
          <p:cNvPr id="4" name="Freeform 3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LAYOUT ·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9" name="Rectangle 8"/>
          <p:cNvSpPr/>
          <p:nvPr/>
        </p:nvSpPr>
        <p:spPr>
          <a:xfrm>
            <a:off x="635000" y="762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yebrow"/>
          <p:cNvSpPr>
            <a:spLocks noGrp="1"/>
          </p:cNvSpPr>
          <p:nvPr>
            <p:ph type="body" idx="10"/>
          </p:nvPr>
        </p:nvSpPr>
        <p:spPr>
          <a:xfrm>
            <a:off x="635000" y="1016000"/>
            <a:ext cx="10922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DIAGRAM</a:t>
            </a:r>
          </a:p>
        </p:txBody>
      </p:sp>
      <p:sp>
        <p:nvSpPr>
          <p:cNvPr id="11" name="Title"/>
          <p:cNvSpPr>
            <a:spLocks noGrp="1"/>
          </p:cNvSpPr>
          <p:nvPr>
            <p:ph type="title"/>
          </p:nvPr>
        </p:nvSpPr>
        <p:spPr>
          <a:xfrm>
            <a:off x="635000" y="1238250"/>
            <a:ext cx="10922000" cy="3175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spc="-37">
                <a:solidFill>
                  <a:srgbClr val="0B1A33"/>
                </a:solidFill>
                <a:latin typeface="Noto Sans Light"/>
              </a:rPr>
              <a:t>Architectural overview goes here.</a:t>
            </a:r>
          </a:p>
        </p:txBody>
      </p:sp>
      <p:sp>
        <p:nvSpPr>
          <p:cNvPr id="12" name="Caption"/>
          <p:cNvSpPr>
            <a:spLocks noGrp="1"/>
          </p:cNvSpPr>
          <p:nvPr>
            <p:ph type="body" idx="11"/>
          </p:nvPr>
        </p:nvSpPr>
        <p:spPr>
          <a:xfrm>
            <a:off x="635000" y="6064250"/>
            <a:ext cx="10922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300">
                <a:solidFill>
                  <a:srgbClr val="2D3A52"/>
                </a:solidFill>
                <a:latin typeface="Noto Sans"/>
              </a:rPr>
              <a:t>Caption · source, figure number, etc.</a:t>
            </a: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Tech Radar · Full Blee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pattFill prst="wdDnDiag">
            <a:fgClr>
              <a:srgbClr val="D6D1C2"/>
            </a:fgClr>
            <a:bgClr>
              <a:srgbClr val="FAF8F3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spc="90">
                <a:solidFill>
                  <a:srgbClr val="2D3A52"/>
                </a:solidFill>
                <a:latin typeface="Noto Sans Mono"/>
              </a:rPr>
              <a:t>DROP TECH-RADAR PNG (RADAR-ENGINE RENDER)</a:t>
            </a: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V-Mod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V-MODEL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Kicker"/>
          <p:cNvSpPr>
            <a:spLocks noGrp="1"/>
          </p:cNvSpPr>
          <p:nvPr>
            <p:ph type="body" idx="11"/>
          </p:nvPr>
        </p:nvSpPr>
        <p:spPr>
          <a:xfrm>
            <a:off x="635000" y="1143000"/>
            <a:ext cx="10922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VERIFICATION · VALIDATION</a:t>
            </a:r>
          </a:p>
        </p:txBody>
      </p:sp>
      <p:sp>
        <p:nvSpPr>
          <p:cNvPr id="8" name="Action Title"/>
          <p:cNvSpPr>
            <a:spLocks noGrp="1"/>
          </p:cNvSpPr>
          <p:nvPr>
            <p:ph type="title"/>
          </p:nvPr>
        </p:nvSpPr>
        <p:spPr>
          <a:xfrm>
            <a:off x="635000" y="1397000"/>
            <a:ext cx="1092200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2600" spc="-39">
                <a:solidFill>
                  <a:srgbClr val="0B1A33"/>
                </a:solidFill>
                <a:latin typeface="Noto Sans Medium"/>
              </a:rPr>
              <a:t>Every design step on the left has a matching test on the right — the V-model pairs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2800350"/>
            <a:ext cx="1270000" cy="609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16000" y="2800350"/>
            <a:ext cx="25400" cy="6096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906000" y="2800350"/>
            <a:ext cx="1270000" cy="609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150600" y="2800350"/>
            <a:ext cx="25400" cy="6096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86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62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38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14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90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67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819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895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971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048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124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76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52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429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05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81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33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810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886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962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038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14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91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267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43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419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95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48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724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00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876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953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105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181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257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334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410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486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562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638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715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791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867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943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019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096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172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48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324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400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477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553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629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705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781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858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934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010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086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162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239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315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391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467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543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620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696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772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848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924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01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077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153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229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305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382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458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534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610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86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763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839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915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991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067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144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220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296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372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448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525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601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677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753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829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461000" y="3028950"/>
            <a:ext cx="1270000" cy="152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286000" y="3473450"/>
            <a:ext cx="1270000" cy="609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286000" y="3473450"/>
            <a:ext cx="25400" cy="6096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636000" y="3473450"/>
            <a:ext cx="1270000" cy="609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880600" y="3473450"/>
            <a:ext cx="25400" cy="6096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3556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632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708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784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860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937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013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089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165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241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318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394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4470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4546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4622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4699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4775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851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927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5003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080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156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5232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5308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5384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461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537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613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5689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765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842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5918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5994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6070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6146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6223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6299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6375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6451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527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6604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6680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6756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6832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6908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6985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7061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7137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7213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7289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7366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7442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7518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7594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7670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7747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7823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7899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7975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8051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8128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8204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8280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8356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8432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8509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8585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5461000" y="3702050"/>
            <a:ext cx="1270000" cy="152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556000" y="4146550"/>
            <a:ext cx="1270000" cy="609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556000" y="4146550"/>
            <a:ext cx="25400" cy="6096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7366000" y="4146550"/>
            <a:ext cx="1270000" cy="609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8610600" y="4146550"/>
            <a:ext cx="25400" cy="6096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8260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49022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49784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50546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51308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52070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52832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53594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54356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55118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55880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56642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57404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58166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58928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59690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60452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61214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61976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62738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63500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64262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65024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65786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66548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67310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68072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68834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69596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70358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71120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1882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72644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7340600" y="4448175"/>
            <a:ext cx="254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5461000" y="4375150"/>
            <a:ext cx="1270000" cy="152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4191000" y="4819650"/>
            <a:ext cx="1270000" cy="609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4191000" y="4819650"/>
            <a:ext cx="25400" cy="6096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6731000" y="4819650"/>
            <a:ext cx="1270000" cy="609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7975600" y="4819650"/>
            <a:ext cx="25400" cy="6096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54610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55372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56134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56896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57658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58420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59182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59944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60706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61468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62230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62992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63754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64516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65278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66040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66802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5461000" y="5048250"/>
            <a:ext cx="1270000" cy="152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4826000" y="5543550"/>
            <a:ext cx="2540000" cy="5461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4826000" y="5543550"/>
            <a:ext cx="2540000" cy="254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Pair 1 L Counter"/>
          <p:cNvSpPr>
            <a:spLocks noGrp="1"/>
          </p:cNvSpPr>
          <p:nvPr>
            <p:ph type="body" idx="20"/>
          </p:nvPr>
        </p:nvSpPr>
        <p:spPr>
          <a:xfrm>
            <a:off x="1130300" y="2901950"/>
            <a:ext cx="1041400" cy="127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600" spc="84" cap="all">
                <a:solidFill>
                  <a:srgbClr val="2D3A52"/>
                </a:solidFill>
                <a:latin typeface="Noto Sans Mono"/>
              </a:rPr>
              <a:t>PHASE 01</a:t>
            </a:r>
          </a:p>
        </p:txBody>
      </p:sp>
      <p:sp>
        <p:nvSpPr>
          <p:cNvPr id="250" name="Pair 1 L Title"/>
          <p:cNvSpPr>
            <a:spLocks noGrp="1"/>
          </p:cNvSpPr>
          <p:nvPr>
            <p:ph type="body" idx="21"/>
          </p:nvPr>
        </p:nvSpPr>
        <p:spPr>
          <a:xfrm>
            <a:off x="1130300" y="3054350"/>
            <a:ext cx="1041400" cy="2921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Requirement gathering</a:t>
            </a:r>
          </a:p>
        </p:txBody>
      </p:sp>
      <p:sp>
        <p:nvSpPr>
          <p:cNvPr id="251" name="Pair 1 R Counter"/>
          <p:cNvSpPr>
            <a:spLocks noGrp="1"/>
          </p:cNvSpPr>
          <p:nvPr>
            <p:ph type="body" idx="22"/>
          </p:nvPr>
        </p:nvSpPr>
        <p:spPr>
          <a:xfrm>
            <a:off x="10020300" y="2901950"/>
            <a:ext cx="1041400" cy="1270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600" spc="84" cap="all">
                <a:solidFill>
                  <a:srgbClr val="8A6F2E"/>
                </a:solidFill>
                <a:latin typeface="Noto Sans Mono"/>
              </a:rPr>
              <a:t>TEST 01</a:t>
            </a:r>
          </a:p>
        </p:txBody>
      </p:sp>
      <p:sp>
        <p:nvSpPr>
          <p:cNvPr id="252" name="Pair 1 R Title"/>
          <p:cNvSpPr>
            <a:spLocks noGrp="1"/>
          </p:cNvSpPr>
          <p:nvPr>
            <p:ph type="body" idx="23"/>
          </p:nvPr>
        </p:nvSpPr>
        <p:spPr>
          <a:xfrm>
            <a:off x="10020300" y="3054350"/>
            <a:ext cx="1041400" cy="292100"/>
          </a:xfrm>
        </p:spPr>
        <p:txBody>
          <a:bodyPr lIns="0" tIns="0" rIns="0" bIns="0" wrap="square" anchor="t"/>
          <a:lstStyle/>
          <a:p>
            <a:pPr marL="0" indent="0" algn="r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Acceptance testing</a:t>
            </a:r>
          </a:p>
        </p:txBody>
      </p:sp>
      <p:sp>
        <p:nvSpPr>
          <p:cNvPr id="253" name="Pair 1 Connector"/>
          <p:cNvSpPr>
            <a:spLocks noGrp="1"/>
          </p:cNvSpPr>
          <p:nvPr>
            <p:ph type="body" idx="24"/>
          </p:nvPr>
        </p:nvSpPr>
        <p:spPr>
          <a:xfrm>
            <a:off x="5511800" y="3054350"/>
            <a:ext cx="1168400" cy="1016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550" spc="55" cap="all">
                <a:solidFill>
                  <a:srgbClr val="2D3A52"/>
                </a:solidFill>
                <a:latin typeface="Noto Sans Mono"/>
              </a:rPr>
              <a:t>ACCEPTANCE PLAN</a:t>
            </a:r>
          </a:p>
        </p:txBody>
      </p:sp>
      <p:sp>
        <p:nvSpPr>
          <p:cNvPr id="254" name="Pair 2 L Counter"/>
          <p:cNvSpPr>
            <a:spLocks noGrp="1"/>
          </p:cNvSpPr>
          <p:nvPr>
            <p:ph type="body" idx="25"/>
          </p:nvPr>
        </p:nvSpPr>
        <p:spPr>
          <a:xfrm>
            <a:off x="2400300" y="3575050"/>
            <a:ext cx="1041400" cy="127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600" spc="84" cap="all">
                <a:solidFill>
                  <a:srgbClr val="2D3A52"/>
                </a:solidFill>
                <a:latin typeface="Noto Sans Mono"/>
              </a:rPr>
              <a:t>PHASE 02</a:t>
            </a:r>
          </a:p>
        </p:txBody>
      </p:sp>
      <p:sp>
        <p:nvSpPr>
          <p:cNvPr id="255" name="Pair 2 L Title"/>
          <p:cNvSpPr>
            <a:spLocks noGrp="1"/>
          </p:cNvSpPr>
          <p:nvPr>
            <p:ph type="body" idx="26"/>
          </p:nvPr>
        </p:nvSpPr>
        <p:spPr>
          <a:xfrm>
            <a:off x="2400300" y="3727450"/>
            <a:ext cx="1041400" cy="2921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System analysis</a:t>
            </a:r>
          </a:p>
        </p:txBody>
      </p:sp>
      <p:sp>
        <p:nvSpPr>
          <p:cNvPr id="256" name="Pair 2 R Counter"/>
          <p:cNvSpPr>
            <a:spLocks noGrp="1"/>
          </p:cNvSpPr>
          <p:nvPr>
            <p:ph type="body" idx="27"/>
          </p:nvPr>
        </p:nvSpPr>
        <p:spPr>
          <a:xfrm>
            <a:off x="8750300" y="3575050"/>
            <a:ext cx="1041400" cy="1270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600" spc="84" cap="all">
                <a:solidFill>
                  <a:srgbClr val="8A6F2E"/>
                </a:solidFill>
                <a:latin typeface="Noto Sans Mono"/>
              </a:rPr>
              <a:t>TEST 02</a:t>
            </a:r>
          </a:p>
        </p:txBody>
      </p:sp>
      <p:sp>
        <p:nvSpPr>
          <p:cNvPr id="257" name="Pair 2 R Title"/>
          <p:cNvSpPr>
            <a:spLocks noGrp="1"/>
          </p:cNvSpPr>
          <p:nvPr>
            <p:ph type="body" idx="28"/>
          </p:nvPr>
        </p:nvSpPr>
        <p:spPr>
          <a:xfrm>
            <a:off x="8750300" y="3727450"/>
            <a:ext cx="1041400" cy="292100"/>
          </a:xfrm>
        </p:spPr>
        <p:txBody>
          <a:bodyPr lIns="0" tIns="0" rIns="0" bIns="0" wrap="square" anchor="t"/>
          <a:lstStyle/>
          <a:p>
            <a:pPr marL="0" indent="0" algn="r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System testing</a:t>
            </a:r>
          </a:p>
        </p:txBody>
      </p:sp>
      <p:sp>
        <p:nvSpPr>
          <p:cNvPr id="258" name="Pair 2 Connector"/>
          <p:cNvSpPr>
            <a:spLocks noGrp="1"/>
          </p:cNvSpPr>
          <p:nvPr>
            <p:ph type="body" idx="29"/>
          </p:nvPr>
        </p:nvSpPr>
        <p:spPr>
          <a:xfrm>
            <a:off x="5511800" y="3727450"/>
            <a:ext cx="1168400" cy="1016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550" spc="55" cap="all">
                <a:solidFill>
                  <a:srgbClr val="2D3A52"/>
                </a:solidFill>
                <a:latin typeface="Noto Sans Mono"/>
              </a:rPr>
              <a:t>SYSTEM TEST PLAN</a:t>
            </a:r>
          </a:p>
        </p:txBody>
      </p:sp>
      <p:sp>
        <p:nvSpPr>
          <p:cNvPr id="259" name="Pair 3 L Counter"/>
          <p:cNvSpPr>
            <a:spLocks noGrp="1"/>
          </p:cNvSpPr>
          <p:nvPr>
            <p:ph type="body" idx="30"/>
          </p:nvPr>
        </p:nvSpPr>
        <p:spPr>
          <a:xfrm>
            <a:off x="3670300" y="4248150"/>
            <a:ext cx="1041400" cy="127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600" spc="84" cap="all">
                <a:solidFill>
                  <a:srgbClr val="2D3A52"/>
                </a:solidFill>
                <a:latin typeface="Noto Sans Mono"/>
              </a:rPr>
              <a:t>PHASE 03</a:t>
            </a:r>
          </a:p>
        </p:txBody>
      </p:sp>
      <p:sp>
        <p:nvSpPr>
          <p:cNvPr id="260" name="Pair 3 L Title"/>
          <p:cNvSpPr>
            <a:spLocks noGrp="1"/>
          </p:cNvSpPr>
          <p:nvPr>
            <p:ph type="body" idx="31"/>
          </p:nvPr>
        </p:nvSpPr>
        <p:spPr>
          <a:xfrm>
            <a:off x="3670300" y="4400550"/>
            <a:ext cx="1041400" cy="2921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Software design</a:t>
            </a:r>
          </a:p>
        </p:txBody>
      </p:sp>
      <p:sp>
        <p:nvSpPr>
          <p:cNvPr id="261" name="Pair 3 R Counter"/>
          <p:cNvSpPr>
            <a:spLocks noGrp="1"/>
          </p:cNvSpPr>
          <p:nvPr>
            <p:ph type="body" idx="32"/>
          </p:nvPr>
        </p:nvSpPr>
        <p:spPr>
          <a:xfrm>
            <a:off x="7480300" y="4248150"/>
            <a:ext cx="1041400" cy="1270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600" spc="84" cap="all">
                <a:solidFill>
                  <a:srgbClr val="8A6F2E"/>
                </a:solidFill>
                <a:latin typeface="Noto Sans Mono"/>
              </a:rPr>
              <a:t>TEST 03</a:t>
            </a:r>
          </a:p>
        </p:txBody>
      </p:sp>
      <p:sp>
        <p:nvSpPr>
          <p:cNvPr id="262" name="Pair 3 R Title"/>
          <p:cNvSpPr>
            <a:spLocks noGrp="1"/>
          </p:cNvSpPr>
          <p:nvPr>
            <p:ph type="body" idx="33"/>
          </p:nvPr>
        </p:nvSpPr>
        <p:spPr>
          <a:xfrm>
            <a:off x="7480300" y="4400550"/>
            <a:ext cx="1041400" cy="292100"/>
          </a:xfrm>
        </p:spPr>
        <p:txBody>
          <a:bodyPr lIns="0" tIns="0" rIns="0" bIns="0" wrap="square" anchor="t"/>
          <a:lstStyle/>
          <a:p>
            <a:pPr marL="0" indent="0" algn="r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Integration testing</a:t>
            </a:r>
          </a:p>
        </p:txBody>
      </p:sp>
      <p:sp>
        <p:nvSpPr>
          <p:cNvPr id="263" name="Pair 3 Connector"/>
          <p:cNvSpPr>
            <a:spLocks noGrp="1"/>
          </p:cNvSpPr>
          <p:nvPr>
            <p:ph type="body" idx="34"/>
          </p:nvPr>
        </p:nvSpPr>
        <p:spPr>
          <a:xfrm>
            <a:off x="5511800" y="4400550"/>
            <a:ext cx="1168400" cy="1016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550" spc="55" cap="all">
                <a:solidFill>
                  <a:srgbClr val="2D3A52"/>
                </a:solidFill>
                <a:latin typeface="Noto Sans Mono"/>
              </a:rPr>
              <a:t>INTEGRATION</a:t>
            </a:r>
          </a:p>
        </p:txBody>
      </p:sp>
      <p:sp>
        <p:nvSpPr>
          <p:cNvPr id="264" name="Pair 4 L Counter"/>
          <p:cNvSpPr>
            <a:spLocks noGrp="1"/>
          </p:cNvSpPr>
          <p:nvPr>
            <p:ph type="body" idx="35"/>
          </p:nvPr>
        </p:nvSpPr>
        <p:spPr>
          <a:xfrm>
            <a:off x="4305300" y="4921250"/>
            <a:ext cx="1041400" cy="127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600" spc="84" cap="all">
                <a:solidFill>
                  <a:srgbClr val="2D3A52"/>
                </a:solidFill>
                <a:latin typeface="Noto Sans Mono"/>
              </a:rPr>
              <a:t>PHASE 04</a:t>
            </a:r>
          </a:p>
        </p:txBody>
      </p:sp>
      <p:sp>
        <p:nvSpPr>
          <p:cNvPr id="265" name="Pair 4 L Title"/>
          <p:cNvSpPr>
            <a:spLocks noGrp="1"/>
          </p:cNvSpPr>
          <p:nvPr>
            <p:ph type="body" idx="36"/>
          </p:nvPr>
        </p:nvSpPr>
        <p:spPr>
          <a:xfrm>
            <a:off x="4305300" y="5073650"/>
            <a:ext cx="1041400" cy="2921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Module design</a:t>
            </a:r>
          </a:p>
        </p:txBody>
      </p:sp>
      <p:sp>
        <p:nvSpPr>
          <p:cNvPr id="266" name="Pair 4 R Counter"/>
          <p:cNvSpPr>
            <a:spLocks noGrp="1"/>
          </p:cNvSpPr>
          <p:nvPr>
            <p:ph type="body" idx="37"/>
          </p:nvPr>
        </p:nvSpPr>
        <p:spPr>
          <a:xfrm>
            <a:off x="6845300" y="4921250"/>
            <a:ext cx="1041400" cy="1270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600" spc="84" cap="all">
                <a:solidFill>
                  <a:srgbClr val="8A6F2E"/>
                </a:solidFill>
                <a:latin typeface="Noto Sans Mono"/>
              </a:rPr>
              <a:t>TEST 04</a:t>
            </a:r>
          </a:p>
        </p:txBody>
      </p:sp>
      <p:sp>
        <p:nvSpPr>
          <p:cNvPr id="267" name="Pair 4 R Title"/>
          <p:cNvSpPr>
            <a:spLocks noGrp="1"/>
          </p:cNvSpPr>
          <p:nvPr>
            <p:ph type="body" idx="38"/>
          </p:nvPr>
        </p:nvSpPr>
        <p:spPr>
          <a:xfrm>
            <a:off x="6845300" y="5073650"/>
            <a:ext cx="1041400" cy="292100"/>
          </a:xfrm>
        </p:spPr>
        <p:txBody>
          <a:bodyPr lIns="0" tIns="0" rIns="0" bIns="0" wrap="square" anchor="t"/>
          <a:lstStyle/>
          <a:p>
            <a:pPr marL="0" indent="0" algn="r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Unit testing</a:t>
            </a:r>
          </a:p>
        </p:txBody>
      </p:sp>
      <p:sp>
        <p:nvSpPr>
          <p:cNvPr id="268" name="Pair 4 Connector"/>
          <p:cNvSpPr>
            <a:spLocks noGrp="1"/>
          </p:cNvSpPr>
          <p:nvPr>
            <p:ph type="body" idx="39"/>
          </p:nvPr>
        </p:nvSpPr>
        <p:spPr>
          <a:xfrm>
            <a:off x="5511800" y="5073650"/>
            <a:ext cx="1168400" cy="1016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550" spc="55" cap="all">
                <a:solidFill>
                  <a:srgbClr val="2D3A52"/>
                </a:solidFill>
                <a:latin typeface="Noto Sans Mono"/>
              </a:rPr>
              <a:t>UNIT TESTS</a:t>
            </a:r>
          </a:p>
        </p:txBody>
      </p:sp>
      <p:sp>
        <p:nvSpPr>
          <p:cNvPr id="269" name="Pivot Counter"/>
          <p:cNvSpPr>
            <a:spLocks noGrp="1"/>
          </p:cNvSpPr>
          <p:nvPr>
            <p:ph type="body" idx="40"/>
          </p:nvPr>
        </p:nvSpPr>
        <p:spPr>
          <a:xfrm>
            <a:off x="4826000" y="5645150"/>
            <a:ext cx="2540000" cy="1270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600" spc="84" cap="all">
                <a:solidFill>
                  <a:srgbClr val="C9A24A"/>
                </a:solidFill>
                <a:latin typeface="Noto Sans Mono"/>
              </a:rPr>
              <a:t>PIVOT</a:t>
            </a:r>
          </a:p>
        </p:txBody>
      </p:sp>
      <p:sp>
        <p:nvSpPr>
          <p:cNvPr id="270" name="Pivot Title"/>
          <p:cNvSpPr>
            <a:spLocks noGrp="1"/>
          </p:cNvSpPr>
          <p:nvPr>
            <p:ph type="body" idx="41"/>
          </p:nvPr>
        </p:nvSpPr>
        <p:spPr>
          <a:xfrm>
            <a:off x="4826000" y="5797550"/>
            <a:ext cx="2540000" cy="2540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 spc="-13">
                <a:solidFill>
                  <a:srgbClr val="FFFFFF"/>
                </a:solidFill>
                <a:latin typeface="Noto Sans Medium"/>
              </a:rPr>
              <a:t>Coding &amp; implementation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title accent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8000" spc="-280">
                <a:solidFill>
                  <a:srgbClr val="0B1A33"/>
                </a:solidFill>
                <a:latin typeface="Noto Sans Light"/>
              </a:rPr>
              <a:t>Feinschliff</a:t>
            </a:r>
          </a:p>
          <a:p>
            <a:pPr marL="0" indent="0" algn="l">
              <a:lnSpc>
                <a:spcPct val="95000"/>
              </a:lnSpc>
              <a:buNone/>
            </a:pPr>
            <a:r>
              <a:rPr lang="en-US" sz="8000" spc="-280">
                <a:solidFill>
                  <a:srgbClr val="0B1A33"/>
                </a:solidFill>
                <a:latin typeface="Noto Sans Light"/>
              </a:rPr>
              <a:t>showcase deck.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Layout · title ink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8000" spc="-280">
                <a:solidFill>
                  <a:srgbClr val="FFFFFF"/>
                </a:solidFill>
                <a:latin typeface="Noto Sans Light"/>
              </a:rPr>
              <a:t>Title slide,</a:t>
            </a:r>
          </a:p>
          <a:p>
            <a:pPr marL="0" indent="0" algn="l">
              <a:lnSpc>
                <a:spcPct val="95000"/>
              </a:lnSpc>
              <a:buNone/>
            </a:pPr>
            <a:r>
              <a:rPr lang="en-US" sz="8000" spc="-280">
                <a:solidFill>
                  <a:srgbClr val="FFFFFF"/>
                </a:solidFill>
                <a:latin typeface="Noto Sans Light"/>
              </a:rPr>
              <a:t>dark variant.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title + picture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Title with</a:t>
            </a:r>
          </a:p>
          <a:p>
            <a:pPr marL="0" indent="0" algn="l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a picture.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>
                <a:solidFill>
                  <a:srgbClr val="2D3A52"/>
                </a:solidFill>
                <a:latin typeface="Noto Sans"/>
              </a:rPr>
              <a:t>Full-bleed image on the right half, title stacked on the left. Logo and page meta sit on top.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agenda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800" spc="-56">
                <a:solidFill>
                  <a:srgbClr val="0B1A33"/>
                </a:solidFill>
                <a:latin typeface="Noto Sans Light"/>
              </a:rPr>
              <a:t>Agenda placeholder.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01 / 06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Item 01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for item 01.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02 / 06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Item 02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for item 02.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03 / 06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Item 03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for item 03.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04 / 06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Item 04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for item 04.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05 / 06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Item 05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for item 05.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06 / 06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Item 06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for item 06.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chapter accent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8000" spc="-280">
                <a:solidFill>
                  <a:srgbClr val="0B1A33"/>
                </a:solidFill>
                <a:latin typeface="Noto Sans Light"/>
              </a:rPr>
              <a:t>01</a:t>
            </a:r>
          </a:p>
          <a:p>
            <a:pPr marL="0" indent="0" algn="l">
              <a:lnSpc>
                <a:spcPct val="95000"/>
              </a:lnSpc>
              <a:buNone/>
            </a:pPr>
            <a:r>
              <a:rPr lang="en-US" sz="8000" spc="-280">
                <a:solidFill>
                  <a:srgbClr val="0B1A33"/>
                </a:solidFill>
                <a:latin typeface="Noto Sans Light"/>
              </a:rPr>
              <a:t>Chapter.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Layout · chapter ink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6000" spc="-180">
                <a:solidFill>
                  <a:srgbClr val="FFFFFF"/>
                </a:solidFill>
                <a:latin typeface="Noto Sans Light"/>
              </a:rPr>
              <a:t>02</a:t>
            </a:r>
          </a:p>
          <a:p>
            <a:pPr marL="0" indent="0" algn="l">
              <a:buNone/>
            </a:pPr>
            <a:r>
              <a:rPr lang="en-US" sz="6000" spc="-180">
                <a:solidFill>
                  <a:srgbClr val="FFFFFF"/>
                </a:solidFill>
                <a:latin typeface="Noto Sans Light"/>
              </a:rPr>
              <a:t>Chapter</a:t>
            </a:r>
          </a:p>
          <a:p>
            <a:pPr marL="0" indent="0" algn="l">
              <a:buNone/>
            </a:pPr>
            <a:r>
              <a:rPr lang="en-US" sz="6000" spc="-180">
                <a:solidFill>
                  <a:srgbClr val="FFFFFF"/>
                </a:solidFill>
                <a:latin typeface="Noto Sans Light"/>
              </a:rPr>
              <a:t>&amp; Picture.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KPI grid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Headline numbers.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Metric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>
                <a:solidFill>
                  <a:srgbClr val="8A6F2E"/>
                </a:solidFill>
                <a:latin typeface="Noto Sans Mono"/>
              </a:rPr>
              <a:t>Caption 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62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2000">
                <a:solidFill>
                  <a:srgbClr val="2D3A52"/>
                </a:solidFill>
                <a:latin typeface="Noto Sans"/>
              </a:rPr>
              <a:t>k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Metric 2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>
                <a:solidFill>
                  <a:srgbClr val="8A6F2E"/>
                </a:solidFill>
                <a:latin typeface="Noto Sans Mono"/>
              </a:rPr>
              <a:t>Caption 2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14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2000">
                <a:solidFill>
                  <a:srgbClr val="2D3A52"/>
                </a:solidFill>
                <a:latin typeface="Noto Sans"/>
              </a:rPr>
              <a:t>bn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Metric 3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>
                <a:solidFill>
                  <a:srgbClr val="8A6F2E"/>
                </a:solidFill>
                <a:latin typeface="Noto Sans Mono"/>
              </a:rPr>
              <a:t>Caption 3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40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 marL="0" indent="0" algn="l">
              <a:buNone/>
            </a:pPr>
            <a:r>
              <a:t/>
            </a:r>
            <a:endParaRPr lang="en-US"/>
          </a:p>
        </p:txBody>
      </p:sp>
      <p:sp>
        <p:nvSpPr>
          <p:cNvPr id="16" name="Text Placeholder 15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Metric 4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>
                <a:solidFill>
                  <a:srgbClr val="8A6F2E"/>
                </a:solidFill>
                <a:latin typeface="Noto Sans Mono"/>
              </a:rPr>
              <a:t>Caption 4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100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2000">
                <a:solidFill>
                  <a:srgbClr val="2D3A52"/>
                </a:solidFill>
                <a:latin typeface="Noto Sans"/>
              </a:rPr>
              <a:t>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2-column cards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Two columns.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01 · Column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Lead sentence for the first column.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Supporting detail line two.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02 · Column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Lead sentence for the second column.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Supporting detail line two.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3-column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Three columns.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Column one.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Description for the first column.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02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Column two.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Description for the second column.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03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Column three.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Description for the third column.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4-column cards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Four columns.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Q1 · Phase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7">
                <a:solidFill>
                  <a:srgbClr val="0B1A33"/>
                </a:solidFill>
                <a:latin typeface="Noto Sans Medium"/>
              </a:rPr>
              <a:t>Lead sentence for phase one.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Supporting detail.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Q2 · Phase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7">
                <a:solidFill>
                  <a:srgbClr val="0B1A33"/>
                </a:solidFill>
                <a:latin typeface="Noto Sans Medium"/>
              </a:rPr>
              <a:t>Lead sentence for phase two.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Supporting detail.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Q3 · Phase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7">
                <a:solidFill>
                  <a:srgbClr val="0B1A33"/>
                </a:solidFill>
                <a:latin typeface="Noto Sans Medium"/>
              </a:rPr>
              <a:t>Lead sentence for phase three.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Supporting detail.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Q4 · Phase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7">
                <a:solidFill>
                  <a:srgbClr val="0B1A33"/>
                </a:solidFill>
                <a:latin typeface="Noto Sans Medium"/>
              </a:rPr>
              <a:t>Lead sentence for phase four.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Supporting detail.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text + picture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Text paired</a:t>
            </a:r>
          </a:p>
          <a:p>
            <a:pPr marL="0" indent="0" algn="l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with a</a:t>
            </a:r>
          </a:p>
          <a:p>
            <a:pPr marL="0" indent="0" algn="l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picture.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>
                <a:solidFill>
                  <a:srgbClr val="2D3A52"/>
                </a:solidFill>
                <a:latin typeface="Noto Sans"/>
              </a:rPr>
              <a:t>Body copy on one side, image frame on the other. Replace via /deck.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full-bleed cover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3600" spc="-108">
                <a:solidFill>
                  <a:srgbClr val="0B1A33"/>
                </a:solidFill>
                <a:latin typeface="Noto Sans Light"/>
              </a:rPr>
              <a:t>An image does</a:t>
            </a:r>
          </a:p>
          <a:p>
            <a:pPr marL="0" indent="0" algn="l">
              <a:buNone/>
            </a:pPr>
            <a:r>
              <a:rPr lang="en-US" sz="3600" spc="-108">
                <a:solidFill>
                  <a:srgbClr val="0B1A33"/>
                </a:solidFill>
                <a:latin typeface="Noto Sans Light"/>
              </a:rPr>
              <a:t>the talking.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bar chart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Headline takeaway from the chart.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Bar 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62%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Bar B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24%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Bar C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11%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Bar D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3%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Source · placeholder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components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UI library preview.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200" spc="-105">
                <a:solidFill>
                  <a:srgbClr val="0B1A33"/>
                </a:solidFill>
                <a:latin typeface="Noto Sans Light"/>
              </a:rPr>
              <a:t>“A short, memorable line that earns its full slide.”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000" spc="120" cap="all">
                <a:solidFill>
                  <a:srgbClr val="0B1A33"/>
                </a:solidFill>
                <a:latin typeface="Noto Sans Mono"/>
              </a:rPr>
              <a:t>Attribution · placeholder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0000" spc="-350">
                <a:solidFill>
                  <a:srgbClr val="0B1A33"/>
                </a:solidFill>
                <a:latin typeface="Noto Sans Light"/>
              </a:rPr>
              <a:t>Thank you.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Feinschliff · v0.1 ·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funnel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Headline takeaway about the funnel drop-off.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Stage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700">
                <a:solidFill>
                  <a:srgbClr val="2D3A52"/>
                </a:solidFill>
                <a:latin typeface="Noto Sans"/>
              </a:rPr>
              <a:t>Description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1700" spc="-34">
                <a:solidFill>
                  <a:srgbClr val="0B1A33"/>
                </a:solidFill>
                <a:latin typeface="Noto Sans Light"/>
              </a:rPr>
              <a:t>100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650" spc="65" cap="all">
                <a:solidFill>
                  <a:srgbClr val="2D3A52"/>
                </a:solidFill>
                <a:latin typeface="Noto Sans Mono"/>
              </a:rPr>
              <a:t>100%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Stage 2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700">
                <a:solidFill>
                  <a:srgbClr val="2D3A52"/>
                </a:solidFill>
                <a:latin typeface="Noto Sans"/>
              </a:rPr>
              <a:t>Description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1700" spc="-34">
                <a:solidFill>
                  <a:srgbClr val="0B1A33"/>
                </a:solidFill>
                <a:latin typeface="Noto Sans Light"/>
              </a:rPr>
              <a:t>84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650" spc="65" cap="all">
                <a:solidFill>
                  <a:srgbClr val="2D3A52"/>
                </a:solidFill>
                <a:latin typeface="Noto Sans Mono"/>
              </a:rPr>
              <a:t>84%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Stage 3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700">
                <a:solidFill>
                  <a:srgbClr val="2D3A52"/>
                </a:solidFill>
                <a:latin typeface="Noto Sans"/>
              </a:rPr>
              <a:t>Description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1700" spc="-34">
                <a:solidFill>
                  <a:srgbClr val="0B1A33"/>
                </a:solidFill>
                <a:latin typeface="Noto Sans Light"/>
              </a:rPr>
              <a:t>62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650" spc="65" cap="all">
                <a:solidFill>
                  <a:srgbClr val="2D3A52"/>
                </a:solidFill>
                <a:latin typeface="Noto Sans Mono"/>
              </a:rPr>
              <a:t>62%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Stage 4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700">
                <a:solidFill>
                  <a:srgbClr val="2D3A52"/>
                </a:solidFill>
                <a:latin typeface="Noto Sans"/>
              </a:rPr>
              <a:t>Description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1700" spc="-34">
                <a:solidFill>
                  <a:srgbClr val="0B1A33"/>
                </a:solidFill>
                <a:latin typeface="Noto Sans Light"/>
              </a:rPr>
              <a:t>36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650" spc="65" cap="all">
                <a:solidFill>
                  <a:srgbClr val="2D3A52"/>
                </a:solidFill>
                <a:latin typeface="Noto Sans Mono"/>
              </a:rPr>
              <a:t>36%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idx="5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2300" spc="-46">
                <a:solidFill>
                  <a:srgbClr val="C9A24A"/>
                </a:solidFill>
                <a:latin typeface="Noto Sans Light"/>
              </a:rPr>
              <a:t>−22 pt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idx="5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Stage 1 → 2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idx="52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00">
                <a:solidFill>
                  <a:srgbClr val="2D3A52"/>
                </a:solidFill>
                <a:latin typeface="Noto Sans"/>
              </a:rPr>
              <a:t>Annotation explaining the largest drop-off.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idx="54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2300" spc="-46">
                <a:solidFill>
                  <a:srgbClr val="C9A24A"/>
                </a:solidFill>
                <a:latin typeface="Noto Sans Light"/>
              </a:rPr>
              <a:t>−14 pt</a:t>
            </a:r>
          </a:p>
        </p:txBody>
      </p:sp>
      <p:sp>
        <p:nvSpPr>
          <p:cNvPr id="24" name="Text Placeholder 23"/>
          <p:cNvSpPr>
            <a:spLocks noGrp="1"/>
          </p:cNvSpPr>
          <p:nvPr>
            <p:ph type="body" idx="55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Stage 3 → 4</a:t>
            </a:r>
          </a:p>
        </p:txBody>
      </p:sp>
      <p:sp>
        <p:nvSpPr>
          <p:cNvPr id="25" name="Text Placeholder 24"/>
          <p:cNvSpPr>
            <a:spLocks noGrp="1"/>
          </p:cNvSpPr>
          <p:nvPr>
            <p:ph type="body" idx="56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00">
                <a:solidFill>
                  <a:srgbClr val="2D3A52"/>
                </a:solidFill>
                <a:latin typeface="Noto Sans"/>
              </a:rPr>
              <a:t>Annotation explaining the secondary drop-off.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line chart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Headline takeaway from the trend over time.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700" spc="56" cap="all">
                <a:solidFill>
                  <a:srgbClr val="2D3A52"/>
                </a:solidFill>
                <a:latin typeface="Noto Sans Mono"/>
              </a:rPr>
              <a:t>P1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700" spc="56" cap="all">
                <a:solidFill>
                  <a:srgbClr val="2D3A52"/>
                </a:solidFill>
                <a:latin typeface="Noto Sans Mono"/>
              </a:rPr>
              <a:t>P2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700" spc="56" cap="all">
                <a:solidFill>
                  <a:srgbClr val="2D3A52"/>
                </a:solidFill>
                <a:latin typeface="Noto Sans Mono"/>
              </a:rPr>
              <a:t>P3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700" spc="56" cap="all">
                <a:solidFill>
                  <a:srgbClr val="2D3A52"/>
                </a:solidFill>
                <a:latin typeface="Noto Sans Mono"/>
              </a:rPr>
              <a:t>P4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700" spc="56" cap="all">
                <a:solidFill>
                  <a:srgbClr val="2D3A52"/>
                </a:solidFill>
                <a:latin typeface="Noto Sans Mono"/>
              </a:rPr>
              <a:t>P5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>
                <a:solidFill>
                  <a:srgbClr val="0B1A33"/>
                </a:solidFill>
                <a:latin typeface="Noto Sans Medium"/>
              </a:rPr>
              <a:t>Series A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>
                <a:solidFill>
                  <a:srgbClr val="0B1A33"/>
                </a:solidFill>
                <a:latin typeface="Noto Sans Medium"/>
              </a:rPr>
              <a:t>Series B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placeholder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waterfall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Headline takeaway about the bridge.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200">
                <a:solidFill>
                  <a:srgbClr val="0B1A33"/>
                </a:solidFill>
                <a:latin typeface="Noto Sans Mono"/>
              </a:rPr>
              <a:t>13.4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Base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+0.6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Step 1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+0.4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Step 2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+0.3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Step 3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−0.3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Step 4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−0.2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Step 5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44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200">
                <a:solidFill>
                  <a:srgbClr val="0B1A33"/>
                </a:solidFill>
                <a:latin typeface="Noto Sans Mono"/>
              </a:rPr>
              <a:t>14.1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45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Total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6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placeholder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stacked bar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Headline takeaway about the mix over time.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11.9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100" spc="110" cap="all">
                <a:solidFill>
                  <a:srgbClr val="2D3A52"/>
                </a:solidFill>
                <a:latin typeface="Noto Sans Mono"/>
              </a:rPr>
              <a:t>P1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12.4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100" spc="110" cap="all">
                <a:solidFill>
                  <a:srgbClr val="2D3A52"/>
                </a:solidFill>
                <a:latin typeface="Noto Sans Mono"/>
              </a:rPr>
              <a:t>P2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12.9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100" spc="110" cap="all">
                <a:solidFill>
                  <a:srgbClr val="2D3A52"/>
                </a:solidFill>
                <a:latin typeface="Noto Sans Mono"/>
              </a:rPr>
              <a:t>P3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13.4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100" spc="110" cap="all">
                <a:solidFill>
                  <a:srgbClr val="2D3A52"/>
                </a:solidFill>
                <a:latin typeface="Noto Sans Mono"/>
              </a:rPr>
              <a:t>P4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14.1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100" spc="110" cap="all">
                <a:solidFill>
                  <a:srgbClr val="2D3A52"/>
                </a:solidFill>
                <a:latin typeface="Noto Sans Mono"/>
              </a:rPr>
              <a:t>P5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Series A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35">
                <a:solidFill>
                  <a:srgbClr val="2D3A52"/>
                </a:solidFill>
                <a:latin typeface="Noto Sans Mono"/>
              </a:rPr>
              <a:t>−6% · 5y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42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Series B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35">
                <a:solidFill>
                  <a:srgbClr val="2D3A52"/>
                </a:solidFill>
                <a:latin typeface="Noto Sans Mono"/>
              </a:rPr>
              <a:t>+31% · 5y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44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Series C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idx="45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35">
                <a:solidFill>
                  <a:srgbClr val="2D3A52"/>
                </a:solidFill>
                <a:latin typeface="Noto Sans Mono"/>
              </a:rPr>
              <a:t>+31% · 5y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idx="46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Series D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idx="47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35">
                <a:solidFill>
                  <a:srgbClr val="2D3A52"/>
                </a:solidFill>
                <a:latin typeface="Noto Sans Mono"/>
              </a:rPr>
              <a:t>+367% · 5y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idx="6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placeholder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2×2 matrix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Headline takeaway about prioritisation.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Top-right item.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00">
                <a:solidFill>
                  <a:srgbClr val="0B1A33"/>
                </a:solidFill>
                <a:latin typeface="Noto Sans"/>
              </a:rPr>
              <a:t>High-impact, low-effort initiative.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Top-left item.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00">
                <a:solidFill>
                  <a:srgbClr val="2D3A52"/>
                </a:solidFill>
                <a:latin typeface="Noto Sans"/>
              </a:rPr>
              <a:t>High-impact, high-effort initiative.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Bottom-right item.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00">
                <a:solidFill>
                  <a:srgbClr val="2D3A52"/>
                </a:solidFill>
                <a:latin typeface="Noto Sans"/>
              </a:rPr>
              <a:t>Low-impact, low-effort initiative.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Bottom-left item.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00">
                <a:solidFill>
                  <a:srgbClr val="2D3A52"/>
                </a:solidFill>
                <a:latin typeface="Noto Sans"/>
              </a:rPr>
              <a:t>Low-impact, high-effort initiative.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Effort to ship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42"/>
          </p:nvPr>
        </p:nvSpPr>
        <p:spPr/>
        <p:txBody>
          <a:bodyPr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p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c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Gantt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Headline takeaway about the delivery plan.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0B1A33"/>
                </a:solidFill>
                <a:latin typeface="Noto Sans Mono"/>
              </a:rPr>
              <a:t>Q1 · Plan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0B1A33"/>
                </a:solidFill>
                <a:latin typeface="Noto Sans Mono"/>
              </a:rPr>
              <a:t>Q2 · Build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0B1A33"/>
                </a:solidFill>
                <a:latin typeface="Noto Sans Mono"/>
              </a:rPr>
              <a:t>Q3 · Pilot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0B1A33"/>
                </a:solidFill>
                <a:latin typeface="Noto Sans Mono"/>
              </a:rPr>
              <a:t>Q4 · Scale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Workstream 1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Owner · Team A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Workstream 2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Owner · Team B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Workstream 3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Owner · Team C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Workstream 4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Owner · Team D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650" spc="52" cap="all">
                <a:solidFill>
                  <a:srgbClr val="0B1A33"/>
                </a:solidFill>
                <a:latin typeface="Noto Sans Mono"/>
              </a:rPr>
              <a:t>Milestone 1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650" spc="52" cap="all">
                <a:solidFill>
                  <a:srgbClr val="FFFFFF"/>
                </a:solidFill>
                <a:latin typeface="Noto Sans Mono"/>
              </a:rPr>
              <a:t>Milestone 2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47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650" spc="52" cap="all">
                <a:solidFill>
                  <a:srgbClr val="0B1A33"/>
                </a:solidFill>
                <a:latin typeface="Noto Sans Mono"/>
              </a:rPr>
              <a:t>Milestone 3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5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650" spc="52" cap="all">
                <a:solidFill>
                  <a:srgbClr val="FFFFFF"/>
                </a:solidFill>
                <a:latin typeface="Noto Sans Mono"/>
              </a:rPr>
              <a:t>Preview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5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650" spc="52" cap="all">
                <a:solidFill>
                  <a:srgbClr val="0B1A33"/>
                </a:solidFill>
                <a:latin typeface="Noto Sans Mono"/>
              </a:rPr>
              <a:t>GA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6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Committed · Critical path · Dependency window · Milestone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Venn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Headline takeaway about the intersection of three sets.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Set 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700" spc="56">
                <a:solidFill>
                  <a:srgbClr val="2D3A52"/>
                </a:solidFill>
                <a:latin typeface="Noto Sans Mono"/>
              </a:rPr>
              <a:t>Description A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Set B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700" spc="56">
                <a:solidFill>
                  <a:srgbClr val="2D3A52"/>
                </a:solidFill>
                <a:latin typeface="Noto Sans Mono"/>
              </a:rPr>
              <a:t>Description B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Set C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700" spc="56">
                <a:solidFill>
                  <a:srgbClr val="2D3A52"/>
                </a:solidFill>
                <a:latin typeface="Noto Sans Mono"/>
              </a:rPr>
              <a:t>Description C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00" spc="-4">
                <a:solidFill>
                  <a:srgbClr val="0B1A33"/>
                </a:solidFill>
                <a:latin typeface="Noto Sans Medium"/>
              </a:rPr>
              <a:t>Overlap A∩B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00" spc="-4">
                <a:solidFill>
                  <a:srgbClr val="0B1A33"/>
                </a:solidFill>
                <a:latin typeface="Noto Sans Medium"/>
              </a:rPr>
              <a:t>Overlap B∩C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00" spc="-4">
                <a:solidFill>
                  <a:srgbClr val="0B1A33"/>
                </a:solidFill>
                <a:latin typeface="Noto Sans Medium"/>
              </a:rPr>
              <a:t>Overlap A∩C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00" b="1" spc="-4">
                <a:solidFill>
                  <a:srgbClr val="0B1A33"/>
                </a:solidFill>
                <a:latin typeface="Noto Sans"/>
              </a:rPr>
              <a:t>Center</a:t>
            </a:r>
          </a:p>
          <a:p>
            <a:pPr marL="0" indent="0" algn="ctr">
              <a:lnSpc>
                <a:spcPct val="110000"/>
              </a:lnSpc>
              <a:buNone/>
            </a:pPr>
            <a:r>
              <a:rPr lang="en-US" sz="700" b="1" spc="-4">
                <a:solidFill>
                  <a:srgbClr val="0B1A33"/>
                </a:solidFill>
                <a:latin typeface="Noto Sans"/>
              </a:rPr>
              <a:t>A∩B∩C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01 · A × B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200" spc="-14">
                <a:solidFill>
                  <a:srgbClr val="0B1A33"/>
                </a:solidFill>
                <a:latin typeface="Noto Sans Medium"/>
              </a:rPr>
              <a:t>Overlap label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42"/>
          </p:nvPr>
        </p:nvSpPr>
        <p:spPr/>
        <p:txBody>
          <a:bodyPr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750">
                <a:solidFill>
                  <a:srgbClr val="2D3A52"/>
                </a:solidFill>
                <a:latin typeface="Noto Sans"/>
              </a:rPr>
              <a:t>Description of the A × B intersection.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44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02 · B × C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45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200" spc="-14">
                <a:solidFill>
                  <a:srgbClr val="0B1A33"/>
                </a:solidFill>
                <a:latin typeface="Noto Sans Medium"/>
              </a:rPr>
              <a:t>Overlap label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46"/>
          </p:nvPr>
        </p:nvSpPr>
        <p:spPr/>
        <p:txBody>
          <a:bodyPr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750">
                <a:solidFill>
                  <a:srgbClr val="2D3A52"/>
                </a:solidFill>
                <a:latin typeface="Noto Sans"/>
              </a:rPr>
              <a:t>Description of the B × C intersection.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idx="48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03 · A × C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idx="49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200" spc="-14">
                <a:solidFill>
                  <a:srgbClr val="0B1A33"/>
                </a:solidFill>
                <a:latin typeface="Noto Sans Medium"/>
              </a:rPr>
              <a:t>Overlap label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idx="50"/>
          </p:nvPr>
        </p:nvSpPr>
        <p:spPr/>
        <p:txBody>
          <a:bodyPr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750">
                <a:solidFill>
                  <a:srgbClr val="2D3A52"/>
                </a:solidFill>
                <a:latin typeface="Noto Sans"/>
              </a:rPr>
              <a:t>Description of the A × C intersection.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idx="52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Center</a:t>
            </a:r>
          </a:p>
        </p:txBody>
      </p:sp>
      <p:sp>
        <p:nvSpPr>
          <p:cNvPr id="24" name="Text Placeholder 23"/>
          <p:cNvSpPr>
            <a:spLocks noGrp="1"/>
          </p:cNvSpPr>
          <p:nvPr>
            <p:ph type="body" idx="53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200" spc="-14">
                <a:solidFill>
                  <a:srgbClr val="0B1A33"/>
                </a:solidFill>
                <a:latin typeface="Noto Sans Medium"/>
              </a:rPr>
              <a:t>Triple overlap</a:t>
            </a:r>
          </a:p>
        </p:txBody>
      </p:sp>
      <p:sp>
        <p:nvSpPr>
          <p:cNvPr id="25" name="Text Placeholder 24"/>
          <p:cNvSpPr>
            <a:spLocks noGrp="1"/>
          </p:cNvSpPr>
          <p:nvPr>
            <p:ph type="body" idx="54"/>
          </p:nvPr>
        </p:nvSpPr>
        <p:spPr/>
        <p:txBody>
          <a:bodyPr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750">
                <a:solidFill>
                  <a:srgbClr val="2D3A52"/>
                </a:solidFill>
                <a:latin typeface="Noto Sans"/>
              </a:rPr>
              <a:t>Description of the central intersection.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scorecard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Headline takeaway about portfolio health.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2D3A52"/>
                </a:solidFill>
                <a:latin typeface="Noto Sans Mono"/>
              </a:rPr>
              <a:t>P1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2D3A52"/>
                </a:solidFill>
                <a:latin typeface="Noto Sans Mono"/>
              </a:rPr>
              <a:t>P2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2D3A52"/>
                </a:solidFill>
                <a:latin typeface="Noto Sans Mono"/>
              </a:rPr>
              <a:t>P3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2D3A52"/>
                </a:solidFill>
                <a:latin typeface="Noto Sans Mono"/>
              </a:rPr>
              <a:t>P4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spc="-11">
                <a:solidFill>
                  <a:srgbClr val="0B1A33"/>
                </a:solidFill>
                <a:latin typeface="Noto Sans Medium"/>
              </a:rPr>
              <a:t>Workstream 1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spc="-11">
                <a:solidFill>
                  <a:srgbClr val="0B1A33"/>
                </a:solidFill>
                <a:latin typeface="Noto Sans Medium"/>
              </a:rPr>
              <a:t>Workstream 2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spc="-11">
                <a:solidFill>
                  <a:srgbClr val="0B1A33"/>
                </a:solidFill>
                <a:latin typeface="Noto Sans Medium"/>
              </a:rPr>
              <a:t>Workstream 3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spc="-11">
                <a:solidFill>
                  <a:srgbClr val="0B1A33"/>
                </a:solidFill>
                <a:latin typeface="Noto Sans Medium"/>
              </a:rPr>
              <a:t>Workstream 4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Annotation for cell P3 / row 1.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48"/>
          </p:nvPr>
        </p:nvSpPr>
        <p:spPr/>
        <p:txBody>
          <a:bodyPr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Annotation for cell P3 / row 2.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idx="53"/>
          </p:nvPr>
        </p:nvSpPr>
        <p:spPr/>
        <p:txBody>
          <a:bodyPr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Annotation for cell P3 / row 3.</a:t>
            </a:r>
          </a:p>
        </p:txBody>
      </p:sp>
      <p:sp>
        <p:nvSpPr>
          <p:cNvPr id="27" name="Text Placeholder 26"/>
          <p:cNvSpPr>
            <a:spLocks noGrp="1"/>
          </p:cNvSpPr>
          <p:nvPr>
            <p:ph type="body" idx="58"/>
          </p:nvPr>
        </p:nvSpPr>
        <p:spPr/>
        <p:txBody>
          <a:bodyPr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Annotation for cell P3 / row 4.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idx="6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placeholder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pyramid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Headline takeaway about the value hierarchy.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200" spc="-14">
                <a:solidFill>
                  <a:srgbClr val="0B1A33"/>
                </a:solidFill>
                <a:latin typeface="Noto Sans Medium"/>
              </a:rPr>
              <a:t>Apex line.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Tier 03 · Apex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of the top tier.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ctr">
              <a:lnSpc>
                <a:spcPct val="114999"/>
              </a:lnSpc>
              <a:buNone/>
            </a:pPr>
            <a:r>
              <a:rPr lang="en-US" sz="1400" spc="-17">
                <a:solidFill>
                  <a:srgbClr val="FFFFFF"/>
                </a:solidFill>
                <a:latin typeface="Noto Sans Medium"/>
              </a:rPr>
              <a:t>Middle line.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Tier 02 · Middle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of the middle tier.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 marL="0" indent="0" algn="ctr">
              <a:lnSpc>
                <a:spcPct val="114999"/>
              </a:lnSpc>
              <a:buNone/>
            </a:pPr>
            <a:r>
              <a:rPr lang="en-US" sz="1400" spc="-17">
                <a:solidFill>
                  <a:srgbClr val="FFFFFF"/>
                </a:solidFill>
                <a:latin typeface="Noto Sans Medium"/>
              </a:rPr>
              <a:t>Base line.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Tier 01 · Foundation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of the base tier.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process flow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Five stages, one highlighted as active.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8A6F2E"/>
                </a:solidFill>
                <a:latin typeface="Noto Sans Mono"/>
              </a:rPr>
              <a:t>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Stage 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Description for stage 1.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8A6F2E"/>
                </a:solidFill>
                <a:latin typeface="Noto Sans Mono"/>
              </a:rPr>
              <a:t>02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Stage 2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Description for stage 2.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0B1A33"/>
                </a:solidFill>
                <a:latin typeface="Noto Sans Mono"/>
              </a:rPr>
              <a:t>03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Stage 3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"/>
              </a:rPr>
              <a:t>Description for stage 3.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8A6F2E"/>
                </a:solidFill>
                <a:latin typeface="Noto Sans Mono"/>
              </a:rPr>
              <a:t>04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Stage 4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Description for stage 4.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8A6F2E"/>
                </a:solidFill>
                <a:latin typeface="Noto Sans Mono"/>
              </a:rPr>
              <a:t>05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Stage 5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Description for stage 5.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6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Source · placeholder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graphical bars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Headline takeaway from the chart.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Bar 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62%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Bar B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24%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Bar C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11%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Bar D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3%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6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placeholder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Layout · action title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000" spc="-80">
                <a:solidFill>
                  <a:srgbClr val="0B1A33"/>
                </a:solidFill>
                <a:latin typeface="Noto Sans Medium"/>
              </a:rPr>
              <a:t>Full-sentence takeaway that states the recommendation directly.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>
                <a:solidFill>
                  <a:srgbClr val="2D3A52"/>
                </a:solidFill>
                <a:latin typeface="Noto Sans"/>
              </a:rPr>
              <a:t>Supporting paragraph that explains the evidence behind the recommendation in two or three sentences.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+18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2000">
                <a:solidFill>
                  <a:srgbClr val="2D3A52"/>
                </a:solidFill>
                <a:latin typeface="Noto Sans"/>
              </a:rPr>
              <a:t>%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KPI label 1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>
                <a:solidFill>
                  <a:srgbClr val="8A6F2E"/>
                </a:solidFill>
                <a:latin typeface="Noto Sans Mono"/>
              </a:rPr>
              <a:t>Caption 1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2.3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2000">
                <a:solidFill>
                  <a:srgbClr val="2D3A52"/>
                </a:solidFill>
                <a:latin typeface="Noto Sans"/>
              </a:rPr>
              <a:t>×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KPI label 2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>
                <a:solidFill>
                  <a:srgbClr val="8A6F2E"/>
                </a:solidFill>
                <a:latin typeface="Noto Sans Mono"/>
              </a:rPr>
              <a:t>Caption 2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6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placeholder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horizontal bullets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Three structured takeaways across one row.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Heading 1.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Bullet 1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Bullet 2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Bullet 3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02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Heading 2.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Bullet 1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Bullet 2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Bullet 3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03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Heading 3.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Bullet 1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Bullet 2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Bullet 3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6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Source · placeholder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vertical bullets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Six numbered rows, plan-of-record style.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00">
                <a:solidFill>
                  <a:srgbClr val="2D3A52"/>
                </a:solidFill>
                <a:latin typeface="Noto Sans"/>
              </a:rPr>
              <a:t>Subtitle line one.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01 / 06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Item 01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for item 01.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02 / 06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Item 02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for item 02.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03 / 06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Item 03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for item 03.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04 / 06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Item 04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for item 04.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05 / 06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Item 05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for item 05.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06 / 06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Item 06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for item 06.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Subtitle line two.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table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Headline takeaway about the table data.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Column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Column 2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Column 3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Column 4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Column 5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Row 1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Row 2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Row 3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Row 4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Row 5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42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44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45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idx="46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idx="47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idx="48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idx="49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24" name="Text Placeholder 23"/>
          <p:cNvSpPr>
            <a:spLocks noGrp="1"/>
          </p:cNvSpPr>
          <p:nvPr>
            <p:ph type="body" idx="50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25" name="Text Placeholder 24"/>
          <p:cNvSpPr>
            <a:spLocks noGrp="1"/>
          </p:cNvSpPr>
          <p:nvPr>
            <p:ph type="body" idx="51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idx="52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27" name="Text Placeholder 26"/>
          <p:cNvSpPr>
            <a:spLocks noGrp="1"/>
          </p:cNvSpPr>
          <p:nvPr>
            <p:ph type="body" idx="53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idx="54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29" name="Text Placeholder 28"/>
          <p:cNvSpPr>
            <a:spLocks noGrp="1"/>
          </p:cNvSpPr>
          <p:nvPr>
            <p:ph type="body" idx="55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30" name="Text Placeholder 29"/>
          <p:cNvSpPr>
            <a:spLocks noGrp="1"/>
          </p:cNvSpPr>
          <p:nvPr>
            <p:ph type="body" idx="56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31" name="Text Placeholder 30"/>
          <p:cNvSpPr>
            <a:spLocks noGrp="1"/>
          </p:cNvSpPr>
          <p:nvPr>
            <p:ph type="body" idx="57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idx="58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33" name="Text Placeholder 32"/>
          <p:cNvSpPr>
            <a:spLocks noGrp="1"/>
          </p:cNvSpPr>
          <p:nvPr>
            <p:ph type="body" idx="59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idx="6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placeholder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Layout · key takeaways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50" b="1" spc="-28">
                <a:solidFill>
                  <a:srgbClr val="FFFFFF"/>
                </a:solidFill>
                <a:latin typeface="Noto Sans"/>
              </a:rPr>
              <a:t>Three things to remember from this section.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FFFFFF"/>
                </a:solidFill>
                <a:latin typeface="Noto Sans Medium"/>
              </a:rPr>
              <a:t>Takeaway 1.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A9BCD6"/>
                </a:solidFill>
                <a:latin typeface="Noto Sans"/>
              </a:rPr>
              <a:t>One- or two-sentence elaboration of the first takeaway.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5A6478"/>
                </a:solidFill>
                <a:latin typeface="Noto Sans Mono"/>
              </a:rPr>
              <a:t>Owner · Role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02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FFFFFF"/>
                </a:solidFill>
                <a:latin typeface="Noto Sans Medium"/>
              </a:rPr>
              <a:t>Takeaway 2.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A9BCD6"/>
                </a:solidFill>
                <a:latin typeface="Noto Sans"/>
              </a:rPr>
              <a:t>One- or two-sentence elaboration of the second takeaway.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5A6478"/>
                </a:solidFill>
                <a:latin typeface="Noto Sans Mono"/>
              </a:rPr>
              <a:t>Owner · Role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03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FFFFFF"/>
                </a:solidFill>
                <a:latin typeface="Noto Sans Medium"/>
              </a:rPr>
              <a:t>Takeaway 3.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A9BCD6"/>
                </a:solidFill>
                <a:latin typeface="Noto Sans"/>
              </a:rPr>
              <a:t>One- or two-sentence elaboration of the third takeaway.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5A6478"/>
                </a:solidFill>
                <a:latin typeface="Noto Sans Mono"/>
              </a:rPr>
              <a:t>Owner · Role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executive summary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One-line summary statement that frames the entire deck.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00">
                <a:solidFill>
                  <a:srgbClr val="2D3A52"/>
                </a:solidFill>
                <a:latin typeface="Noto Sans"/>
              </a:rPr>
              <a:t>Two-to-three-sentence paragraph that elaborates on the headline and points to the supporting evidence.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112" cap="all">
                <a:solidFill>
                  <a:srgbClr val="C9A24A"/>
                </a:solidFill>
                <a:latin typeface="Noto Sans Mono"/>
              </a:rPr>
              <a:t>Insights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Insight 1.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of insight 1.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Insight 2.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of insight 2.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Insight 3.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of insight 3.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Insight 4.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of insight 4.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112" cap="all">
                <a:solidFill>
                  <a:srgbClr val="C9A24A"/>
                </a:solidFill>
                <a:latin typeface="Noto Sans Mono"/>
              </a:rPr>
              <a:t>Next steps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Next step 1.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of next step 1.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Next step 2.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of next step 2.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Next step 3.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of next step 3.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Next step 4.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of next step 4.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idx="50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2800" spc="-56">
                <a:solidFill>
                  <a:srgbClr val="0B1A33"/>
                </a:solidFill>
                <a:latin typeface="Noto Sans Light"/>
              </a:rPr>
              <a:t>+5.1</a:t>
            </a:r>
          </a:p>
        </p:txBody>
      </p:sp>
      <p:sp>
        <p:nvSpPr>
          <p:cNvPr id="24" name="Text Placeholder 23"/>
          <p:cNvSpPr>
            <a:spLocks noGrp="1"/>
          </p:cNvSpPr>
          <p:nvPr>
            <p:ph type="body" idx="5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%</a:t>
            </a:r>
          </a:p>
        </p:txBody>
      </p:sp>
      <p:sp>
        <p:nvSpPr>
          <p:cNvPr id="25" name="Text Placeholder 24"/>
          <p:cNvSpPr>
            <a:spLocks noGrp="1"/>
          </p:cNvSpPr>
          <p:nvPr>
            <p:ph type="body" idx="52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800" spc="96" cap="all">
                <a:solidFill>
                  <a:srgbClr val="2D3A52"/>
                </a:solidFill>
                <a:latin typeface="Noto Sans Mono"/>
              </a:rPr>
              <a:t>KPI label 1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idx="53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2800" spc="-56">
                <a:solidFill>
                  <a:srgbClr val="0B1A33"/>
                </a:solidFill>
                <a:latin typeface="Noto Sans Light"/>
              </a:rPr>
              <a:t>2.4</a:t>
            </a:r>
          </a:p>
        </p:txBody>
      </p:sp>
      <p:sp>
        <p:nvSpPr>
          <p:cNvPr id="27" name="Text Placeholder 26"/>
          <p:cNvSpPr>
            <a:spLocks noGrp="1"/>
          </p:cNvSpPr>
          <p:nvPr>
            <p:ph type="body" idx="54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M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idx="55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800" spc="96" cap="all">
                <a:solidFill>
                  <a:srgbClr val="2D3A52"/>
                </a:solidFill>
                <a:latin typeface="Noto Sans Mono"/>
              </a:rPr>
              <a:t>KPI label 2</a:t>
            </a:r>
          </a:p>
        </p:txBody>
      </p:sp>
      <p:sp>
        <p:nvSpPr>
          <p:cNvPr id="29" name="Text Placeholder 28"/>
          <p:cNvSpPr>
            <a:spLocks noGrp="1"/>
          </p:cNvSpPr>
          <p:nvPr>
            <p:ph type="body" idx="56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2800" spc="-56">
                <a:solidFill>
                  <a:srgbClr val="0B1A33"/>
                </a:solidFill>
                <a:latin typeface="Noto Sans Light"/>
              </a:rPr>
              <a:t>37</a:t>
            </a:r>
          </a:p>
        </p:txBody>
      </p:sp>
      <p:sp>
        <p:nvSpPr>
          <p:cNvPr id="30" name="Text Placeholder 29"/>
          <p:cNvSpPr>
            <a:spLocks noGrp="1"/>
          </p:cNvSpPr>
          <p:nvPr>
            <p:ph type="body" idx="57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/>
            </a:r>
          </a:p>
        </p:txBody>
      </p:sp>
      <p:sp>
        <p:nvSpPr>
          <p:cNvPr id="31" name="Text Placeholder 30"/>
          <p:cNvSpPr>
            <a:spLocks noGrp="1"/>
          </p:cNvSpPr>
          <p:nvPr>
            <p:ph type="body" idx="58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800" spc="96" cap="all">
                <a:solidFill>
                  <a:srgbClr val="2D3A52"/>
                </a:solidFill>
                <a:latin typeface="Noto Sans Mono"/>
              </a:rPr>
              <a:t>KPI label 3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idx="6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Source · placeholder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Verification · Validation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2600" spc="-39">
                <a:solidFill>
                  <a:srgbClr val="0B1A33"/>
                </a:solidFill>
                <a:latin typeface="Noto Sans Medium"/>
              </a:rPr>
              <a:t>Every design step on the left has a matching test on the right.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600" spc="84" cap="all">
                <a:solidFill>
                  <a:srgbClr val="2D3A52"/>
                </a:solidFill>
                <a:latin typeface="Noto Sans Mono"/>
              </a:rPr>
              <a:t>Phase 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Requirement gathering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600" spc="84" cap="all">
                <a:solidFill>
                  <a:srgbClr val="8A6F2E"/>
                </a:solidFill>
                <a:latin typeface="Noto Sans Mono"/>
              </a:rPr>
              <a:t>Test 01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r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Acceptance testing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550" spc="55" cap="all">
                <a:solidFill>
                  <a:srgbClr val="2D3A52"/>
                </a:solidFill>
                <a:latin typeface="Noto Sans Mono"/>
              </a:rPr>
              <a:t>Acceptance plan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600" spc="84" cap="all">
                <a:solidFill>
                  <a:srgbClr val="2D3A52"/>
                </a:solidFill>
                <a:latin typeface="Noto Sans Mono"/>
              </a:rPr>
              <a:t>Phase 02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System analysis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600" spc="84" cap="all">
                <a:solidFill>
                  <a:srgbClr val="8A6F2E"/>
                </a:solidFill>
                <a:latin typeface="Noto Sans Mono"/>
              </a:rPr>
              <a:t>Test 02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 marL="0" indent="0" algn="r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System testing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550" spc="55" cap="all">
                <a:solidFill>
                  <a:srgbClr val="2D3A52"/>
                </a:solidFill>
                <a:latin typeface="Noto Sans Mono"/>
              </a:rPr>
              <a:t>System test plan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600" spc="84" cap="all">
                <a:solidFill>
                  <a:srgbClr val="2D3A52"/>
                </a:solidFill>
                <a:latin typeface="Noto Sans Mono"/>
              </a:rPr>
              <a:t>Phase 03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Software design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600" spc="84" cap="all">
                <a:solidFill>
                  <a:srgbClr val="8A6F2E"/>
                </a:solidFill>
                <a:latin typeface="Noto Sans Mono"/>
              </a:rPr>
              <a:t>Test 03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 marL="0" indent="0" algn="r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Integration testing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550" spc="55" cap="all">
                <a:solidFill>
                  <a:srgbClr val="2D3A52"/>
                </a:solidFill>
                <a:latin typeface="Noto Sans Mono"/>
              </a:rPr>
              <a:t>Integration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600" spc="84" cap="all">
                <a:solidFill>
                  <a:srgbClr val="2D3A52"/>
                </a:solidFill>
                <a:latin typeface="Noto Sans Mono"/>
              </a:rPr>
              <a:t>Phase 04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Module design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600" spc="84" cap="all">
                <a:solidFill>
                  <a:srgbClr val="8A6F2E"/>
                </a:solidFill>
                <a:latin typeface="Noto Sans Mono"/>
              </a:rPr>
              <a:t>Test 04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pPr marL="0" indent="0" algn="r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Unit testing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550" spc="55" cap="all">
                <a:solidFill>
                  <a:srgbClr val="2D3A52"/>
                </a:solidFill>
                <a:latin typeface="Noto Sans Mono"/>
              </a:rPr>
              <a:t>Unit tests</a:t>
            </a:r>
          </a:p>
        </p:txBody>
      </p:sp>
      <p:sp>
        <p:nvSpPr>
          <p:cNvPr id="24" name="Text Placeholder 23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600" spc="84" cap="all">
                <a:solidFill>
                  <a:srgbClr val="C9A24A"/>
                </a:solidFill>
                <a:latin typeface="Noto Sans Mono"/>
              </a:rPr>
              <a:t>Pivot</a:t>
            </a:r>
          </a:p>
        </p:txBody>
      </p:sp>
      <p:sp>
        <p:nvSpPr>
          <p:cNvPr id="25" name="Text Placeholder 24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100" spc="-13">
                <a:solidFill>
                  <a:srgbClr val="FFFFFF"/>
                </a:solidFill>
                <a:latin typeface="Noto Sans Medium"/>
              </a:rPr>
              <a:t>Coding &amp; implementation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Feinschliff">
      <a:dk1>
        <a:sysClr val="windowText" lastClr="0B1A33"/>
      </a:dk1>
      <a:lt1>
        <a:sysClr val="window" lastClr="FFFFFF"/>
      </a:lt1>
      <a:dk2>
        <a:srgbClr val="0B1A33"/>
      </a:dk2>
      <a:lt2>
        <a:srgbClr val="FAF8F3"/>
      </a:lt2>
      <a:accent1>
        <a:srgbClr val="C9A24A"/>
      </a:accent1>
      <a:accent2>
        <a:srgbClr val="E4C27A"/>
      </a:accent2>
      <a:accent3>
        <a:srgbClr val="2D3A52"/>
      </a:accent3>
      <a:accent4>
        <a:srgbClr val="5A6478"/>
      </a:accent4>
      <a:accent5>
        <a:srgbClr val="A9BCD6"/>
      </a:accent5>
      <a:accent6>
        <a:srgbClr val="D6D1C2"/>
      </a:accent6>
      <a:hlink>
        <a:srgbClr val="8A6F2E"/>
      </a:hlink>
      <a:folHlink>
        <a:srgbClr val="C9A24A"/>
      </a:folHlink>
    </a:clrScheme>
    <a:fontScheme name="Feinschliff">
      <a:majorFont>
        <a:latin typeface="Noto Sans" panose="020B0604020202020204"/>
        <a:ea typeface=""/>
        <a:cs typeface=""/>
      </a:majorFont>
      <a:minorFont>
        <a:latin typeface="Noto Sans" panose="020B0604020202020204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