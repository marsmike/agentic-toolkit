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C9A2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FEINSCHLIFF. DESIGN SYSTEM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A SHOWCASE OF THE FEINSCHLIFF 2026 SYSTEM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10922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0B1A33"/>
                </a:solidFill>
                <a:latin typeface="Noto Sans Light"/>
              </a:rPr>
              <a:t>Feinschliff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0B1A33"/>
                </a:solidFill>
                <a:latin typeface="Noto Sans Light"/>
              </a:rPr>
              <a:t>showcase deck.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0B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FFFFFF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FFFFFF"/>
                </a:solidFill>
                <a:latin typeface="Noto Sans Mono"/>
              </a:rPr>
              <a:t>FEINSCHLIFF. DESIGN SYSTEM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TITLE SLIDE · INK VARIANT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10922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FFFFFF"/>
                </a:solidFill>
                <a:latin typeface="Noto Sans Light"/>
              </a:rPr>
              <a:t>The same wordmark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FFFFFF"/>
                </a:solidFill>
                <a:latin typeface="Noto Sans Light"/>
              </a:rPr>
              <a:t>in a darker room.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D6D1C2"/>
            </a:fgClr>
            <a:bgClr>
              <a:srgbClr val="FAF8F3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D3A52"/>
                </a:solidFill>
                <a:latin typeface="Noto Sans Mono"/>
              </a:rPr>
              <a:t>PRODUCT SHOT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TITLE + PICTURE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28575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31369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LAYOUT 03 · TITLE + PICTURE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3454400"/>
            <a:ext cx="5207000" cy="1651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Pair a title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with a product.</a:t>
            </a:r>
          </a:p>
        </p:txBody>
      </p:sp>
      <p:sp>
        <p:nvSpPr>
          <p:cNvPr id="12" name="Body"/>
          <p:cNvSpPr>
            <a:spLocks noGrp="1"/>
          </p:cNvSpPr>
          <p:nvPr>
            <p:ph type="body" idx="11"/>
          </p:nvPr>
        </p:nvSpPr>
        <p:spPr>
          <a:xfrm>
            <a:off x="635000" y="5207000"/>
            <a:ext cx="4953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Full-bleed image on the right half, title stacked on the left. The logo and page meta sit on top, unchanged.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ONLY TITLE LAYOUT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spc="-56">
                <a:solidFill>
                  <a:srgbClr val="0B1A33"/>
                </a:solidFill>
                <a:latin typeface="Noto Sans Light"/>
              </a:rPr>
              <a:t>What we'll cover.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01 / 06</a:t>
            </a:r>
          </a:p>
        </p:txBody>
      </p:sp>
      <p:sp>
        <p:nvSpPr>
          <p:cNvPr id="12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Brand mark</a:t>
            </a:r>
          </a:p>
        </p:txBody>
      </p:sp>
      <p:sp>
        <p:nvSpPr>
          <p:cNvPr id="13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Wordmark, contrast, clear space.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02 / 06</a:t>
            </a:r>
          </a:p>
        </p:txBody>
      </p:sp>
      <p:sp>
        <p:nvSpPr>
          <p:cNvPr id="16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Colour</a:t>
            </a:r>
          </a:p>
        </p:txBody>
      </p:sp>
      <p:sp>
        <p:nvSpPr>
          <p:cNvPr id="17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One orange, seven neutrals.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03 / 06</a:t>
            </a:r>
          </a:p>
        </p:txBody>
      </p:sp>
      <p:sp>
        <p:nvSpPr>
          <p:cNvPr id="20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Type</a:t>
            </a:r>
          </a:p>
        </p:txBody>
      </p:sp>
      <p:sp>
        <p:nvSpPr>
          <p:cNvPr id="21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Noto Sans, 28pt titles.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04 / 06</a:t>
            </a:r>
          </a:p>
        </p:txBody>
      </p:sp>
      <p:sp>
        <p:nvSpPr>
          <p:cNvPr id="24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Layouts</a:t>
            </a:r>
          </a:p>
        </p:txBody>
      </p:sp>
      <p:sp>
        <p:nvSpPr>
          <p:cNvPr id="25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Chapter, content, picture, data.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05 / 06</a:t>
            </a:r>
          </a:p>
        </p:txBody>
      </p:sp>
      <p:sp>
        <p:nvSpPr>
          <p:cNvPr id="28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Components</a:t>
            </a:r>
          </a:p>
        </p:txBody>
      </p:sp>
      <p:sp>
        <p:nvSpPr>
          <p:cNvPr id="29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Buttons, chips, KPIs, rules.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06 / 06</a:t>
            </a:r>
          </a:p>
        </p:txBody>
      </p:sp>
      <p:sp>
        <p:nvSpPr>
          <p:cNvPr id="32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Voice</a:t>
            </a:r>
          </a:p>
        </p:txBody>
      </p:sp>
      <p:sp>
        <p:nvSpPr>
          <p:cNvPr id="33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C9A2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CHAPTER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TextBox 6"/>
          <p:cNvSpPr txBox="1"/>
          <p:nvPr/>
        </p:nvSpPr>
        <p:spPr>
          <a:xfrm>
            <a:off x="6985000" y="4953000"/>
            <a:ext cx="5080000" cy="139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5000"/>
              </a:lnSpc>
            </a:pPr>
            <a:r>
              <a:rPr sz="11000" spc="-440" b="0">
                <a:solidFill>
                  <a:srgbClr val="0B1A33">
                    <a:alpha val="22000"/>
                  </a:srgbClr>
                </a:solidFill>
                <a:latin typeface="Noto Sans Light"/>
              </a:rPr>
              <a:t>01 / 06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CHAPTER OPENER · ORANGE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8255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0B1A33"/>
                </a:solidFill>
                <a:latin typeface="Noto Sans Light"/>
              </a:rPr>
              <a:t>01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0B1A33"/>
                </a:solidFill>
                <a:latin typeface="Noto Sans Light"/>
              </a:rPr>
              <a:t>Brand.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0B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5A6478"/>
                </a:solidFill>
                <a:latin typeface="Noto Sans Mono"/>
              </a:rPr>
              <a:t>EDITORIAL IMAGE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FFFFFF"/>
                </a:solidFill>
                <a:latin typeface="Noto Sans Medium"/>
              </a:rPr>
              <a:t>FEINSCHLIFF.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FFFFFF"/>
                </a:solidFill>
                <a:latin typeface="Noto Sans Mono"/>
              </a:rPr>
              <a:t>CHAPTER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Noto Sa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2794000"/>
            <a:ext cx="508000" cy="25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30734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CHAPTER OPENER · INK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3429000"/>
            <a:ext cx="5207000" cy="228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Noto Sans Light"/>
              </a:rPr>
              <a:t>02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Noto Sans Light"/>
              </a:rPr>
              <a:t>Colour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Noto Sans Light"/>
              </a:rPr>
              <a:t>&amp; Type.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COMPANY ·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FIGURES AT A GLANCE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Feinschliff in numbers.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429000"/>
            <a:ext cx="6350" cy="1651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42900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507365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65500" y="3429000"/>
            <a:ext cx="6350" cy="1651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KPI 1 Key"/>
          <p:cNvSpPr>
            <a:spLocks noGrp="1"/>
          </p:cNvSpPr>
          <p:nvPr>
            <p:ph type="body" idx="20"/>
          </p:nvPr>
        </p:nvSpPr>
        <p:spPr>
          <a:xfrm>
            <a:off x="8890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EMPLOYEES</a:t>
            </a:r>
          </a:p>
        </p:txBody>
      </p:sp>
      <p:sp>
        <p:nvSpPr>
          <p:cNvPr id="15" name="KPI 1 Delta"/>
          <p:cNvSpPr>
            <a:spLocks noGrp="1"/>
          </p:cNvSpPr>
          <p:nvPr>
            <p:ph type="body" idx="21"/>
          </p:nvPr>
        </p:nvSpPr>
        <p:spPr>
          <a:xfrm>
            <a:off x="8890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+3% YoY</a:t>
            </a:r>
          </a:p>
        </p:txBody>
      </p:sp>
      <p:sp>
        <p:nvSpPr>
          <p:cNvPr id="16" name="KPI 1 Value"/>
          <p:cNvSpPr>
            <a:spLocks noGrp="1"/>
          </p:cNvSpPr>
          <p:nvPr>
            <p:ph type="body" idx="30"/>
          </p:nvPr>
        </p:nvSpPr>
        <p:spPr>
          <a:xfrm>
            <a:off x="8890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62</a:t>
            </a:r>
          </a:p>
        </p:txBody>
      </p:sp>
      <p:sp>
        <p:nvSpPr>
          <p:cNvPr id="17" name="KPI 1 Unit"/>
          <p:cNvSpPr>
            <a:spLocks noGrp="1"/>
          </p:cNvSpPr>
          <p:nvPr>
            <p:ph type="body" idx="31"/>
          </p:nvPr>
        </p:nvSpPr>
        <p:spPr>
          <a:xfrm>
            <a:off x="20955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65500" y="342900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65500" y="507365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96000" y="3429000"/>
            <a:ext cx="6350" cy="1651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KPI 2 Key"/>
          <p:cNvSpPr>
            <a:spLocks noGrp="1"/>
          </p:cNvSpPr>
          <p:nvPr>
            <p:ph type="body" idx="22"/>
          </p:nvPr>
        </p:nvSpPr>
        <p:spPr>
          <a:xfrm>
            <a:off x="36195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REVENUE · EUR</a:t>
            </a:r>
          </a:p>
        </p:txBody>
      </p:sp>
      <p:sp>
        <p:nvSpPr>
          <p:cNvPr id="22" name="KPI 2 Delta"/>
          <p:cNvSpPr>
            <a:spLocks noGrp="1"/>
          </p:cNvSpPr>
          <p:nvPr>
            <p:ph type="body" idx="23"/>
          </p:nvPr>
        </p:nvSpPr>
        <p:spPr>
          <a:xfrm>
            <a:off x="36195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+5.1% YoY</a:t>
            </a:r>
          </a:p>
        </p:txBody>
      </p:sp>
      <p:sp>
        <p:nvSpPr>
          <p:cNvPr id="23" name="KPI 2 Value"/>
          <p:cNvSpPr>
            <a:spLocks noGrp="1"/>
          </p:cNvSpPr>
          <p:nvPr>
            <p:ph type="body" idx="32"/>
          </p:nvPr>
        </p:nvSpPr>
        <p:spPr>
          <a:xfrm>
            <a:off x="36195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14</a:t>
            </a:r>
          </a:p>
        </p:txBody>
      </p:sp>
      <p:sp>
        <p:nvSpPr>
          <p:cNvPr id="24" name="KPI 2 Unit"/>
          <p:cNvSpPr>
            <a:spLocks noGrp="1"/>
          </p:cNvSpPr>
          <p:nvPr>
            <p:ph type="body" idx="33"/>
          </p:nvPr>
        </p:nvSpPr>
        <p:spPr>
          <a:xfrm>
            <a:off x="48260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 bn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96000" y="342900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96000" y="507365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826500" y="3429000"/>
            <a:ext cx="6350" cy="1651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KPI 3 Key"/>
          <p:cNvSpPr>
            <a:spLocks noGrp="1"/>
          </p:cNvSpPr>
          <p:nvPr>
            <p:ph type="body" idx="24"/>
          </p:nvPr>
        </p:nvSpPr>
        <p:spPr>
          <a:xfrm>
            <a:off x="63500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FACTORIES WORLDWIDE</a:t>
            </a:r>
          </a:p>
        </p:txBody>
      </p:sp>
      <p:sp>
        <p:nvSpPr>
          <p:cNvPr id="29" name="KPI 3 Delta"/>
          <p:cNvSpPr>
            <a:spLocks noGrp="1"/>
          </p:cNvSpPr>
          <p:nvPr>
            <p:ph type="body" idx="25"/>
          </p:nvPr>
        </p:nvSpPr>
        <p:spPr>
          <a:xfrm>
            <a:off x="63500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8 regions</a:t>
            </a:r>
          </a:p>
        </p:txBody>
      </p:sp>
      <p:sp>
        <p:nvSpPr>
          <p:cNvPr id="30" name="KPI 3 Value"/>
          <p:cNvSpPr>
            <a:spLocks noGrp="1"/>
          </p:cNvSpPr>
          <p:nvPr>
            <p:ph type="body" idx="34"/>
          </p:nvPr>
        </p:nvSpPr>
        <p:spPr>
          <a:xfrm>
            <a:off x="63500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40</a:t>
            </a:r>
          </a:p>
        </p:txBody>
      </p:sp>
      <p:sp>
        <p:nvSpPr>
          <p:cNvPr id="31" name="KPI 3 Unit"/>
          <p:cNvSpPr>
            <a:spLocks noGrp="1"/>
          </p:cNvSpPr>
          <p:nvPr>
            <p:ph type="body" idx="35"/>
          </p:nvPr>
        </p:nvSpPr>
        <p:spPr>
          <a:xfrm>
            <a:off x="75565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8826500" y="342900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826500" y="507365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557000" y="3429000"/>
            <a:ext cx="6350" cy="1651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KPI 4 Key"/>
          <p:cNvSpPr>
            <a:spLocks noGrp="1"/>
          </p:cNvSpPr>
          <p:nvPr>
            <p:ph type="body" idx="26"/>
          </p:nvPr>
        </p:nvSpPr>
        <p:spPr>
          <a:xfrm>
            <a:off x="90805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GREEN ELECTRICITY</a:t>
            </a:r>
          </a:p>
        </p:txBody>
      </p:sp>
      <p:sp>
        <p:nvSpPr>
          <p:cNvPr id="36" name="KPI 4 Delta"/>
          <p:cNvSpPr>
            <a:spLocks noGrp="1"/>
          </p:cNvSpPr>
          <p:nvPr>
            <p:ph type="body" idx="27"/>
          </p:nvPr>
        </p:nvSpPr>
        <p:spPr>
          <a:xfrm>
            <a:off x="90805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since 2020</a:t>
            </a:r>
          </a:p>
        </p:txBody>
      </p:sp>
      <p:sp>
        <p:nvSpPr>
          <p:cNvPr id="37" name="KPI 4 Value"/>
          <p:cNvSpPr>
            <a:spLocks noGrp="1"/>
          </p:cNvSpPr>
          <p:nvPr>
            <p:ph type="body" idx="36"/>
          </p:nvPr>
        </p:nvSpPr>
        <p:spPr>
          <a:xfrm>
            <a:off x="90805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100</a:t>
            </a:r>
          </a:p>
        </p:txBody>
      </p:sp>
      <p:sp>
        <p:nvSpPr>
          <p:cNvPr id="38" name="KPI 4 Unit"/>
          <p:cNvSpPr>
            <a:spLocks noGrp="1"/>
          </p:cNvSpPr>
          <p:nvPr>
            <p:ph type="body" idx="37"/>
          </p:nvPr>
        </p:nvSpPr>
        <p:spPr>
          <a:xfrm>
            <a:off x="102870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%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LAYOUT · 2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TWO COLUMNS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Two halves, one frame.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01 · CONSUMER</a:t>
            </a:r>
          </a:p>
        </p:txBody>
      </p:sp>
      <p:sp>
        <p:nvSpPr>
          <p:cNvPr id="12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Products designed around daily use, not corner-case specs.</a:t>
            </a:r>
          </a:p>
        </p:txBody>
      </p:sp>
      <p:sp>
        <p:nvSpPr>
          <p:cNvPr id="13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Ship features users actually touch — fewer modes, sharper defaults, faster onboarding.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02 · PLATFORM</a:t>
            </a:r>
          </a:p>
        </p:txBody>
      </p:sp>
      <p:sp>
        <p:nvSpPr>
          <p:cNvPr id="16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A shared software backbone across every product we build.</a:t>
            </a:r>
          </a:p>
        </p:txBody>
      </p:sp>
      <p:sp>
        <p:nvSpPr>
          <p:cNvPr id="17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LAYOUT · 3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THREE PILLARS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Consumer, commercial, platform.</a:t>
            </a:r>
          </a:p>
        </p:txBody>
      </p:sp>
      <p:sp>
        <p:nvSpPr>
          <p:cNvPr id="10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01</a:t>
            </a:r>
          </a:p>
        </p:txBody>
      </p:sp>
      <p:sp>
        <p:nvSpPr>
          <p:cNvPr id="11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Consumer.</a:t>
            </a:r>
          </a:p>
        </p:txBody>
      </p:sp>
      <p:sp>
        <p:nvSpPr>
          <p:cNvPr id="12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Brand A, Brand B, Brand C, Brand D — placeholder column copy.</a:t>
            </a:r>
          </a:p>
        </p:txBody>
      </p:sp>
      <p:sp>
        <p:nvSpPr>
          <p:cNvPr id="13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02</a:t>
            </a:r>
          </a:p>
        </p:txBody>
      </p:sp>
      <p:sp>
        <p:nvSpPr>
          <p:cNvPr id="14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Commercial.</a:t>
            </a:r>
          </a:p>
        </p:txBody>
      </p:sp>
      <p:sp>
        <p:nvSpPr>
          <p:cNvPr id="15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Products engineered for the commercial sector — hotels, retail, services, multi-site.</a:t>
            </a:r>
          </a:p>
        </p:txBody>
      </p:sp>
      <p:sp>
        <p:nvSpPr>
          <p:cNvPr id="16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03</a:t>
            </a:r>
          </a:p>
        </p:txBody>
      </p:sp>
      <p:sp>
        <p:nvSpPr>
          <p:cNvPr id="17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Platform.</a:t>
            </a:r>
          </a:p>
        </p:txBody>
      </p:sp>
      <p:sp>
        <p:nvSpPr>
          <p:cNvPr id="18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ROADMAP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PLAN, BUILD, PILOT, SCALE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The year, in four quarters.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Q1 · PLAN</a:t>
            </a:r>
          </a:p>
        </p:txBody>
      </p:sp>
      <p:sp>
        <p:nvSpPr>
          <p:cNvPr id="12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B1A33"/>
                </a:solidFill>
                <a:latin typeface="Noto Sans Medium"/>
              </a:rPr>
              <a:t>Align the 2026 product roadmap across regions.</a:t>
            </a:r>
          </a:p>
        </p:txBody>
      </p:sp>
      <p:sp>
        <p:nvSpPr>
          <p:cNvPr id="13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Finalise priorities, staff crews, lock budget.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Q2 · BUILD</a:t>
            </a:r>
          </a:p>
        </p:txBody>
      </p:sp>
      <p:sp>
        <p:nvSpPr>
          <p:cNvPr id="16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B1A33"/>
                </a:solidFill>
                <a:latin typeface="Noto Sans Medium"/>
              </a:rPr>
              <a:t>Ship the platform foundations and first feature set.</a:t>
            </a:r>
          </a:p>
        </p:txBody>
      </p:sp>
      <p:sp>
        <p:nvSpPr>
          <p:cNvPr id="17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New OS core, updated Platform SDK.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Q3 · PILOT</a:t>
            </a:r>
          </a:p>
        </p:txBody>
      </p:sp>
      <p:sp>
        <p:nvSpPr>
          <p:cNvPr id="20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B1A33"/>
                </a:solidFill>
                <a:latin typeface="Noto Sans Medium"/>
              </a:rPr>
              <a:t>Field-test with 2,000 customers across three regions.</a:t>
            </a:r>
          </a:p>
        </p:txBody>
      </p:sp>
      <p:sp>
        <p:nvSpPr>
          <p:cNvPr id="21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Instrument, measure, iterate weekly.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Q4 · SCALE</a:t>
            </a:r>
          </a:p>
        </p:txBody>
      </p:sp>
      <p:sp>
        <p:nvSpPr>
          <p:cNvPr id="24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B1A33"/>
                </a:solidFill>
                <a:latin typeface="Noto Sans Medium"/>
              </a:rPr>
              <a:t>Roll out globally with phased regional launches.</a:t>
            </a:r>
          </a:p>
        </p:txBody>
      </p:sp>
      <p:sp>
        <p:nvSpPr>
          <p:cNvPr id="25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D6D1C2"/>
            </a:fgClr>
            <a:bgClr>
              <a:srgbClr val="FAF8F3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D3A52"/>
                </a:solidFill>
                <a:latin typeface="Noto Sans Mono"/>
              </a:rPr>
              <a:t>PRODUCT HERO</a:t>
            </a:r>
          </a:p>
        </p:txBody>
      </p:sp>
      <p:sp>
        <p:nvSpPr>
          <p:cNvPr id="4" name="Freeform 3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LAYOUT · TEXT + PICTURE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FLAGSHIP · 2026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2413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A flagship that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learns the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user.</a:t>
            </a:r>
          </a:p>
        </p:txBody>
      </p:sp>
      <p:sp>
        <p:nvSpPr>
          <p:cNvPr id="12" name="Body"/>
          <p:cNvSpPr>
            <a:spLocks noGrp="1"/>
          </p:cNvSpPr>
          <p:nvPr>
            <p:ph type="body" idx="11"/>
          </p:nvPr>
        </p:nvSpPr>
        <p:spPr>
          <a:xfrm>
            <a:off x="635000" y="4445000"/>
            <a:ext cx="4572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5524500"/>
            <a:ext cx="1651000" cy="508000"/>
          </a:xfrm>
          <a:prstGeom prst="rect">
            <a:avLst/>
          </a:prstGeom>
          <a:solidFill>
            <a:srgbClr val="C9A24A"/>
          </a:solidFill>
          <a:ln w="12700">
            <a:solidFill>
              <a:srgbClr val="C9A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0B1A33"/>
                </a:solidFill>
                <a:latin typeface="Noto Sans Medium"/>
              </a:rPr>
              <a:t>Read the brief  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13000" y="5524500"/>
            <a:ext cx="1333500" cy="508000"/>
          </a:xfrm>
          <a:prstGeom prst="rect">
            <a:avLst/>
          </a:prstGeom>
          <a:noFill/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0B1A33"/>
                </a:solidFill>
                <a:latin typeface="Noto Sans Medium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D6D1C2"/>
            </a:fgClr>
            <a:bgClr>
              <a:srgbClr val="FAF8F3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D3A52"/>
                </a:solidFill>
                <a:latin typeface="Noto Sans Mono"/>
              </a:rPr>
              <a:t>DROP COVER IMAGE</a:t>
            </a:r>
          </a:p>
        </p:txBody>
      </p:sp>
      <p:sp>
        <p:nvSpPr>
          <p:cNvPr id="4" name="Freeform 3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COVER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4318000"/>
            <a:ext cx="5207000" cy="17780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89000" y="45212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89000" y="4749800"/>
            <a:ext cx="469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LAYOUT · FULL-BLEED COVER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89000" y="5016500"/>
            <a:ext cx="4699000" cy="101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3600" spc="-108">
                <a:solidFill>
                  <a:srgbClr val="0B1A33"/>
                </a:solidFill>
                <a:latin typeface="Noto Sans Light"/>
              </a:rPr>
              <a:t>An image does</a:t>
            </a:r>
          </a:p>
          <a:p>
            <a:pPr marL="0" indent="0" algn="l">
              <a:buNone/>
            </a:pPr>
            <a:r>
              <a:rPr lang="en-US" sz="3600" spc="-108">
                <a:solidFill>
                  <a:srgbClr val="0B1A33"/>
                </a:solidFill>
                <a:latin typeface="Noto Sans Light"/>
              </a:rPr>
              <a:t>the talking.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DATA · Q3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SHARE OF REVENUE BY REGION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EMEA still leads; NAM closing the gap.</a:t>
            </a:r>
          </a:p>
        </p:txBody>
      </p:sp>
      <p:sp>
        <p:nvSpPr>
          <p:cNvPr id="10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EMEA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62%</a:t>
            </a:r>
          </a:p>
        </p:txBody>
      </p:sp>
      <p:sp>
        <p:nvSpPr>
          <p:cNvPr id="14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NAM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24%</a:t>
            </a:r>
          </a:p>
        </p:txBody>
      </p:sp>
      <p:sp>
        <p:nvSpPr>
          <p:cNvPr id="18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APAC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11%</a:t>
            </a:r>
          </a:p>
        </p:txBody>
      </p:sp>
      <p:sp>
        <p:nvSpPr>
          <p:cNvPr id="22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LATAM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3%</a:t>
            </a:r>
          </a:p>
        </p:txBody>
      </p:sp>
      <p:sp>
        <p:nvSpPr>
          <p:cNvPr id="26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UI KIT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UI LIBRARY PREVIEW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Flat, sharp, quiet components.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98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0B1A33"/>
                </a:solidFill>
                <a:latin typeface="Noto Sans Mono"/>
              </a:rPr>
              <a:t>BUTTONS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9800" y="3860800"/>
            <a:ext cx="1270000" cy="406400"/>
          </a:xfrm>
          <a:prstGeom prst="rect">
            <a:avLst/>
          </a:prstGeom>
          <a:solidFill>
            <a:srgbClr val="C9A24A"/>
          </a:solidFill>
          <a:ln w="12700">
            <a:solidFill>
              <a:srgbClr val="C9A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0B1A33"/>
                </a:solidFill>
                <a:latin typeface="Noto Sans Medium"/>
              </a:rPr>
              <a:t>Primary  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36800" y="3860800"/>
            <a:ext cx="1270000" cy="406400"/>
          </a:xfrm>
          <a:prstGeom prst="rect">
            <a:avLst/>
          </a:prstGeom>
          <a:solidFill>
            <a:srgbClr val="0B1A33"/>
          </a:solidFill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FFFFFF"/>
                </a:solidFill>
                <a:latin typeface="Noto Sans Medium"/>
              </a:rPr>
              <a:t>Default  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33800" y="3860800"/>
            <a:ext cx="1079500" cy="406400"/>
          </a:xfrm>
          <a:prstGeom prst="rect">
            <a:avLst/>
          </a:prstGeom>
          <a:noFill/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0B1A33"/>
                </a:solidFill>
                <a:latin typeface="Noto Sans Medium"/>
              </a:rPr>
              <a:t>Ghost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9800" y="4622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0B1A33"/>
                </a:solidFill>
                <a:latin typeface="Noto Sans Mono"/>
              </a:rPr>
              <a:t>TAGS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9800" y="4940300"/>
            <a:ext cx="1111250" cy="279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FFFFFF"/>
                </a:solidFill>
                <a:latin typeface="Noto Sans Mono"/>
              </a:rPr>
              <a:t>PRODUCTION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46300" y="4940300"/>
            <a:ext cx="889000" cy="279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FEATURED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30550" y="4940300"/>
            <a:ext cx="571500" cy="279400"/>
          </a:xfrm>
          <a:prstGeom prst="rect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BETA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97300" y="4940300"/>
            <a:ext cx="952500" cy="279400"/>
          </a:xfrm>
          <a:prstGeom prst="rect">
            <a:avLst/>
          </a:prstGeom>
          <a:noFill/>
          <a:ln w="635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ARCHIVED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532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0B1A33"/>
                </a:solidFill>
                <a:latin typeface="Noto Sans Mono"/>
              </a:rPr>
              <a:t>RULES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53200" y="3987800"/>
            <a:ext cx="355600" cy="635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53200" y="407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D3A52"/>
                </a:solidFill>
                <a:latin typeface="Noto Sans Mono"/>
              </a:rPr>
              <a:t>SECTION · 56 × 1 · INK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53200" y="4622800"/>
            <a:ext cx="508000" cy="25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53200" y="4711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D3A52"/>
                </a:solidFill>
                <a:latin typeface="Noto Sans Mono"/>
              </a:rPr>
              <a:t>EMPHASIS · 80 × 4 · ORANGE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53200" y="5257800"/>
            <a:ext cx="4699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3200" y="534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D3A52"/>
                </a:solidFill>
                <a:latin typeface="Noto Sans Mono"/>
              </a:rPr>
              <a:t>HAIRLINE · WIDTH × 1 · FOG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C9A2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VOICE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2667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Quote"/>
          <p:cNvSpPr>
            <a:spLocks noGrp="1"/>
          </p:cNvSpPr>
          <p:nvPr>
            <p:ph type="title"/>
          </p:nvPr>
        </p:nvSpPr>
        <p:spPr>
          <a:xfrm>
            <a:off x="635000" y="2921000"/>
            <a:ext cx="889000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200" spc="-105">
                <a:solidFill>
                  <a:srgbClr val="0B1A33"/>
                </a:solidFill>
                <a:latin typeface="Noto Sans Light"/>
              </a:rPr>
              <a:t>“Write like an engineer explaining their work to a colleague they respect. Short sentences. Concrete nouns. No superlatives.”</a:t>
            </a:r>
          </a:p>
        </p:txBody>
      </p:sp>
      <p:sp>
        <p:nvSpPr>
          <p:cNvPr id="9" name="Attribution"/>
          <p:cNvSpPr>
            <a:spLocks noGrp="1"/>
          </p:cNvSpPr>
          <p:nvPr>
            <p:ph type="body" idx="10"/>
          </p:nvPr>
        </p:nvSpPr>
        <p:spPr>
          <a:xfrm>
            <a:off x="635000" y="5715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 spc="120" cap="all">
                <a:solidFill>
                  <a:srgbClr val="0B1A33"/>
                </a:solidFill>
                <a:latin typeface="Noto Sans Mono"/>
              </a:rPr>
              <a:t>FEINSCHLIFF. DESIGN SYSTEM · VOICE GUIDELINE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C9A2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5715000" y="2413000"/>
            <a:ext cx="762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itle"/>
          <p:cNvSpPr>
            <a:spLocks noGrp="1"/>
          </p:cNvSpPr>
          <p:nvPr>
            <p:ph type="title"/>
          </p:nvPr>
        </p:nvSpPr>
        <p:spPr>
          <a:xfrm>
            <a:off x="635000" y="2667000"/>
            <a:ext cx="10922000" cy="17780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000" spc="-350">
                <a:solidFill>
                  <a:srgbClr val="0B1A33"/>
                </a:solidFill>
                <a:latin typeface="Noto Sans Light"/>
              </a:rPr>
              <a:t>Thank you.</a:t>
            </a:r>
          </a:p>
        </p:txBody>
      </p:sp>
      <p:sp>
        <p:nvSpPr>
          <p:cNvPr id="9" name="Caption"/>
          <p:cNvSpPr>
            <a:spLocks noGrp="1"/>
          </p:cNvSpPr>
          <p:nvPr>
            <p:ph type="body" idx="10"/>
          </p:nvPr>
        </p:nvSpPr>
        <p:spPr>
          <a:xfrm>
            <a:off x="635000" y="4572000"/>
            <a:ext cx="10922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FEINSCHLIFF. DESIGN SYSTEM · V1.0 · 2026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GRAPHICAL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SHARE OF REVENUE BY REGION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EMEA still leads; NAM closing the gap.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EMEA</a:t>
            </a:r>
          </a:p>
        </p:txBody>
      </p:sp>
      <p:sp>
        <p:nvSpPr>
          <p:cNvPr id="19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62%</a:t>
            </a:r>
          </a:p>
        </p:txBody>
      </p:sp>
      <p:sp>
        <p:nvSpPr>
          <p:cNvPr id="20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NAM</a:t>
            </a:r>
          </a:p>
        </p:txBody>
      </p:sp>
      <p:sp>
        <p:nvSpPr>
          <p:cNvPr id="21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24%</a:t>
            </a:r>
          </a:p>
        </p:txBody>
      </p:sp>
      <p:sp>
        <p:nvSpPr>
          <p:cNvPr id="22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APAC</a:t>
            </a:r>
          </a:p>
        </p:txBody>
      </p:sp>
      <p:sp>
        <p:nvSpPr>
          <p:cNvPr id="23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11%</a:t>
            </a:r>
          </a:p>
        </p:txBody>
      </p:sp>
      <p:sp>
        <p:nvSpPr>
          <p:cNvPr id="24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LATAM</a:t>
            </a:r>
          </a:p>
        </p:txBody>
      </p:sp>
      <p:sp>
        <p:nvSpPr>
          <p:cNvPr id="25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3%</a:t>
            </a:r>
          </a:p>
        </p:txBody>
      </p:sp>
      <p:sp>
        <p:nvSpPr>
          <p:cNvPr id="26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MCK · ACTION TITLE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ACTION-TITLE LAYOUT</a:t>
            </a:r>
          </a:p>
        </p:txBody>
      </p:sp>
      <p:sp>
        <p:nvSpPr>
          <p:cNvPr id="8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0B1A33"/>
                </a:solidFill>
                <a:latin typeface="Noto Sans Medium"/>
              </a:rPr>
              <a:t>Adopting the new platform will lift per-account active time by ~18% within two release cycles.</a:t>
            </a:r>
          </a:p>
        </p:txBody>
      </p:sp>
      <p:sp>
        <p:nvSpPr>
          <p:cNvPr id="9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0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+18</a:t>
            </a:r>
          </a:p>
        </p:txBody>
      </p:sp>
      <p:sp>
        <p:nvSpPr>
          <p:cNvPr id="11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%</a:t>
            </a:r>
          </a:p>
        </p:txBody>
      </p:sp>
      <p:sp>
        <p:nvSpPr>
          <p:cNvPr id="12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ACTIVE TIME / WEEK</a:t>
            </a:r>
          </a:p>
        </p:txBody>
      </p:sp>
      <p:sp>
        <p:nvSpPr>
          <p:cNvPr id="13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vs. prior platform</a:t>
            </a:r>
          </a:p>
        </p:txBody>
      </p:sp>
      <p:sp>
        <p:nvSpPr>
          <p:cNvPr id="14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2.3</a:t>
            </a:r>
          </a:p>
        </p:txBody>
      </p:sp>
      <p:sp>
        <p:nvSpPr>
          <p:cNvPr id="15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×</a:t>
            </a:r>
          </a:p>
        </p:txBody>
      </p:sp>
      <p:sp>
        <p:nvSpPr>
          <p:cNvPr id="16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APP OPEN RATE</a:t>
            </a:r>
          </a:p>
        </p:txBody>
      </p:sp>
      <p:sp>
        <p:nvSpPr>
          <p:cNvPr id="17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trailing 30 days</a:t>
            </a:r>
          </a:p>
        </p:txBody>
      </p:sp>
      <p:sp>
        <p:nvSpPr>
          <p:cNvPr id="18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HORIZONTAL BULLETS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CONTEXT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Three forces pull the 2026 roadmap: regulation, margin, and shared software.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01 · REGULATION</a:t>
            </a:r>
          </a:p>
        </p:txBody>
      </p:sp>
      <p:sp>
        <p:nvSpPr>
          <p:cNvPr id="13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Energy and repair rules are tightening across EMEA.</a:t>
            </a:r>
          </a:p>
        </p:txBody>
      </p:sp>
      <p:sp>
        <p:nvSpPr>
          <p:cNvPr id="14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Refrigerant phase-down accelerates for commercial lines.</a:t>
            </a:r>
          </a:p>
        </p:txBody>
      </p:sp>
      <p:sp>
        <p:nvSpPr>
          <p:cNvPr id="15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02 · MARGIN</a:t>
            </a:r>
          </a:p>
        </p:txBody>
      </p:sp>
      <p:sp>
        <p:nvSpPr>
          <p:cNvPr id="16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Component cost is stable but service cost is climbing.</a:t>
            </a:r>
          </a:p>
        </p:txBody>
      </p:sp>
      <p:sp>
        <p:nvSpPr>
          <p:cNvPr id="17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Remote-diagnosis deflection saves an average 38 EUR / visit.</a:t>
            </a:r>
          </a:p>
        </p:txBody>
      </p:sp>
      <p:sp>
        <p:nvSpPr>
          <p:cNvPr id="18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03 · PLATFORM</a:t>
            </a:r>
          </a:p>
        </p:txBody>
      </p:sp>
      <p:sp>
        <p:nvSpPr>
          <p:cNvPr id="19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The platform is becoming the product, not an add-on.</a:t>
            </a:r>
          </a:p>
        </p:txBody>
      </p:sp>
      <p:sp>
        <p:nvSpPr>
          <p:cNvPr id="20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Shared telemetry unlocks usage-driven feature priority.</a:t>
            </a:r>
          </a:p>
        </p:txBody>
      </p:sp>
      <p:sp>
        <p:nvSpPr>
          <p:cNvPr id="21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VERTICAL BULLETS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PLAN OF RECORD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Five moves define the first half: consolidate, instrument, retire, pilot, publish.</a:t>
            </a:r>
          </a:p>
        </p:txBody>
      </p:sp>
      <p:sp>
        <p:nvSpPr>
          <p:cNvPr id="10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01 / 06</a:t>
            </a:r>
          </a:p>
        </p:txBody>
      </p:sp>
      <p:sp>
        <p:nvSpPr>
          <p:cNvPr id="13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Consolidate the firmware stack.</a:t>
            </a:r>
          </a:p>
        </p:txBody>
      </p:sp>
      <p:sp>
        <p:nvSpPr>
          <p:cNvPr id="14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Move the remaining three product lines onto the unified OS core by end of Q2.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02 / 06</a:t>
            </a:r>
          </a:p>
        </p:txBody>
      </p:sp>
      <p:sp>
        <p:nvSpPr>
          <p:cNvPr id="17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Instrument every SKU.</a:t>
            </a:r>
          </a:p>
        </p:txBody>
      </p:sp>
      <p:sp>
        <p:nvSpPr>
          <p:cNvPr id="18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Every production unit leaving the factory reports health and usage by default.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03 / 06</a:t>
            </a:r>
          </a:p>
        </p:txBody>
      </p:sp>
      <p:sp>
        <p:nvSpPr>
          <p:cNvPr id="21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Retire the legacy app.</a:t>
            </a:r>
          </a:p>
        </p:txBody>
      </p:sp>
      <p:sp>
        <p:nvSpPr>
          <p:cNvPr id="22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Archive the legacy companion app once the new platform reaches 70% coverage.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04 / 06</a:t>
            </a:r>
          </a:p>
        </p:txBody>
      </p:sp>
      <p:sp>
        <p:nvSpPr>
          <p:cNvPr id="25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Pilot guided sessions.</a:t>
            </a:r>
          </a:p>
        </p:txBody>
      </p:sp>
      <p:sp>
        <p:nvSpPr>
          <p:cNvPr id="26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Run a two-thousand-customer test of the adaptive programme across three regions.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05 / 06</a:t>
            </a:r>
          </a:p>
        </p:txBody>
      </p:sp>
      <p:sp>
        <p:nvSpPr>
          <p:cNvPr id="29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Publish the API.</a:t>
            </a:r>
          </a:p>
        </p:txBody>
      </p:sp>
      <p:sp>
        <p:nvSpPr>
          <p:cNvPr id="30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Open the developer preview to partners at the end of H1.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06 / 06</a:t>
            </a:r>
          </a:p>
        </p:txBody>
      </p:sp>
      <p:sp>
        <p:nvSpPr>
          <p:cNvPr id="33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Review monthly.</a:t>
            </a:r>
          </a:p>
        </p:txBody>
      </p:sp>
      <p:sp>
        <p:nvSpPr>
          <p:cNvPr id="34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Each move is owned by one VP and reviewed at the monthly operating meeting.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2×2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PRIORITISATION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Invest in the top-right quadrant first: high impact, low lift.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2D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Triangle 15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2D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98">
                <a:solidFill>
                  <a:srgbClr val="2D3A52"/>
                </a:solidFill>
                <a:latin typeface="Noto Sans Mono"/>
              </a:rPr>
              <a:t>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D3A52"/>
                </a:solidFill>
                <a:latin typeface="Noto Sans Mono"/>
              </a:rPr>
              <a:t>HIGH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D3A52"/>
                </a:solidFill>
                <a:latin typeface="Noto Sans Mono"/>
              </a:rPr>
              <a:t>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D3A52"/>
                </a:solidFill>
                <a:latin typeface="Noto Sans Mono"/>
              </a:rPr>
              <a:t>HIGH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0B1A33"/>
                </a:solidFill>
                <a:latin typeface="Noto Sans Mono"/>
              </a:rPr>
              <a:t>Q1 · HIGH IMPACT · LOW LIFT</a:t>
            </a:r>
          </a:p>
        </p:txBody>
      </p:sp>
      <p:sp>
        <p:nvSpPr>
          <p:cNvPr id="22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Guided sessions on the flagship line.</a:t>
            </a:r>
          </a:p>
        </p:txBody>
      </p:sp>
      <p:sp>
        <p:nvSpPr>
          <p:cNvPr id="23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0B1A33"/>
                </a:solidFill>
                <a:latin typeface="Noto Sans"/>
              </a:rPr>
              <a:t>Ships on existing hardware; telemetry already collected; known user need.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Q2 · HIGH IMPACT · HIGH LIFT</a:t>
            </a:r>
          </a:p>
        </p:txBody>
      </p:sp>
      <p:sp>
        <p:nvSpPr>
          <p:cNvPr id="25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Full remote diagnosis across every product line.</a:t>
            </a:r>
          </a:p>
        </p:txBody>
      </p:sp>
      <p:sp>
        <p:nvSpPr>
          <p:cNvPr id="26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D3A52"/>
                </a:solidFill>
                <a:latin typeface="Noto Sans"/>
              </a:rPr>
              <a:t>Large prize; requires firmware convergence and a new field-service workflow.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Q3 · LOW IMPACT · LOW LIFT</a:t>
            </a:r>
          </a:p>
        </p:txBody>
      </p:sp>
      <p:sp>
        <p:nvSpPr>
          <p:cNvPr id="28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Cosmetic refresh of onboarding.</a:t>
            </a:r>
          </a:p>
        </p:txBody>
      </p:sp>
      <p:sp>
        <p:nvSpPr>
          <p:cNvPr id="29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D3A52"/>
                </a:solidFill>
                <a:latin typeface="Noto Sans"/>
              </a:rPr>
              <a:t>Cheap to do; metrics rarely move meaningfully.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Q4 · LOW IMPACT · HIGH LIFT</a:t>
            </a:r>
          </a:p>
        </p:txBody>
      </p:sp>
      <p:sp>
        <p:nvSpPr>
          <p:cNvPr id="31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Voice control expansion.</a:t>
            </a:r>
          </a:p>
        </p:txBody>
      </p:sp>
      <p:sp>
        <p:nvSpPr>
          <p:cNvPr id="32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D3A52"/>
                </a:solidFill>
                <a:latin typeface="Noto Sans"/>
              </a:rPr>
              <a:t>Significant engineering and QA cost; adoption has plateaued.</a:t>
            </a:r>
          </a:p>
        </p:txBody>
      </p:sp>
      <p:sp>
        <p:nvSpPr>
          <p:cNvPr id="33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EFFORT TO SHIP</a:t>
            </a:r>
          </a:p>
        </p:txBody>
      </p:sp>
      <p:sp>
        <p:nvSpPr>
          <p:cNvPr id="34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WATERFALL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REVENUE BRIDGE · EUR BN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Revenue grows 5.1% YoY; platform and services offset a mild decline in legacy lines.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5A6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5A6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0B1A33"/>
                </a:solidFill>
                <a:latin typeface="Noto Sans Mono"/>
              </a:rPr>
              <a:t>13.4</a:t>
            </a:r>
          </a:p>
        </p:txBody>
      </p:sp>
      <p:sp>
        <p:nvSpPr>
          <p:cNvPr id="37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FY24 BASE</a:t>
            </a:r>
          </a:p>
        </p:txBody>
      </p:sp>
      <p:sp>
        <p:nvSpPr>
          <p:cNvPr id="38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+0.6</a:t>
            </a:r>
          </a:p>
        </p:txBody>
      </p:sp>
      <p:sp>
        <p:nvSpPr>
          <p:cNvPr id="39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CONSUMER</a:t>
            </a:r>
          </a:p>
        </p:txBody>
      </p:sp>
      <p:sp>
        <p:nvSpPr>
          <p:cNvPr id="40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+0.4</a:t>
            </a:r>
          </a:p>
        </p:txBody>
      </p:sp>
      <p:sp>
        <p:nvSpPr>
          <p:cNvPr id="41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PLATFORM</a:t>
            </a:r>
          </a:p>
        </p:txBody>
      </p:sp>
      <p:sp>
        <p:nvSpPr>
          <p:cNvPr id="42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+0.3</a:t>
            </a:r>
          </a:p>
        </p:txBody>
      </p:sp>
      <p:sp>
        <p:nvSpPr>
          <p:cNvPr id="43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SERVICES</a:t>
            </a:r>
          </a:p>
        </p:txBody>
      </p:sp>
      <p:sp>
        <p:nvSpPr>
          <p:cNvPr id="44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−0.3</a:t>
            </a:r>
          </a:p>
        </p:txBody>
      </p:sp>
      <p:sp>
        <p:nvSpPr>
          <p:cNvPr id="45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LEGACY</a:t>
            </a:r>
          </a:p>
        </p:txBody>
      </p:sp>
      <p:sp>
        <p:nvSpPr>
          <p:cNvPr id="46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−0.2</a:t>
            </a:r>
          </a:p>
        </p:txBody>
      </p:sp>
      <p:sp>
        <p:nvSpPr>
          <p:cNvPr id="47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FX</a:t>
            </a:r>
          </a:p>
        </p:txBody>
      </p:sp>
      <p:sp>
        <p:nvSpPr>
          <p:cNvPr id="48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0B1A33"/>
                </a:solidFill>
                <a:latin typeface="Noto Sans Mono"/>
              </a:rPr>
              <a:t>14.1</a:t>
            </a:r>
          </a:p>
        </p:txBody>
      </p:sp>
      <p:sp>
        <p:nvSpPr>
          <p:cNvPr id="49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FY25 TOTAL</a:t>
            </a:r>
          </a:p>
        </p:txBody>
      </p:sp>
      <p:sp>
        <p:nvSpPr>
          <p:cNvPr id="50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PROCESS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DELIVERY SEQUENCE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Five stages · pilot highlights the current phase.</a:t>
            </a:r>
          </a:p>
        </p:txBody>
      </p:sp>
      <p:sp>
        <p:nvSpPr>
          <p:cNvPr id="10" name="Pentagon 9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hevron 10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evron 11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evron 12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8A6F2E"/>
                </a:solidFill>
                <a:latin typeface="Noto Sans Mono"/>
              </a:rPr>
              <a:t>01</a:t>
            </a:r>
          </a:p>
        </p:txBody>
      </p:sp>
      <p:sp>
        <p:nvSpPr>
          <p:cNvPr id="16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Frame</a:t>
            </a:r>
          </a:p>
        </p:txBody>
      </p:sp>
      <p:sp>
        <p:nvSpPr>
          <p:cNvPr id="17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Clarify the problem and the one outcome that matters.</a:t>
            </a:r>
          </a:p>
        </p:txBody>
      </p:sp>
      <p:sp>
        <p:nvSpPr>
          <p:cNvPr id="18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8A6F2E"/>
                </a:solidFill>
                <a:latin typeface="Noto Sans Mono"/>
              </a:rPr>
              <a:t>02</a:t>
            </a:r>
          </a:p>
        </p:txBody>
      </p:sp>
      <p:sp>
        <p:nvSpPr>
          <p:cNvPr id="19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Prototype</a:t>
            </a:r>
          </a:p>
        </p:txBody>
      </p:sp>
      <p:sp>
        <p:nvSpPr>
          <p:cNvPr id="20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Build the thin vertical slice end-to-end.</a:t>
            </a:r>
          </a:p>
        </p:txBody>
      </p:sp>
      <p:sp>
        <p:nvSpPr>
          <p:cNvPr id="21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03</a:t>
            </a:r>
          </a:p>
        </p:txBody>
      </p:sp>
      <p:sp>
        <p:nvSpPr>
          <p:cNvPr id="22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Pilot</a:t>
            </a:r>
          </a:p>
        </p:txBody>
      </p:sp>
      <p:sp>
        <p:nvSpPr>
          <p:cNvPr id="23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"/>
              </a:rPr>
              <a:t>Run it with real users on real data.</a:t>
            </a:r>
          </a:p>
        </p:txBody>
      </p:sp>
      <p:sp>
        <p:nvSpPr>
          <p:cNvPr id="24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8A6F2E"/>
                </a:solidFill>
                <a:latin typeface="Noto Sans Mono"/>
              </a:rPr>
              <a:t>04</a:t>
            </a:r>
          </a:p>
        </p:txBody>
      </p:sp>
      <p:sp>
        <p:nvSpPr>
          <p:cNvPr id="25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Harden</a:t>
            </a:r>
          </a:p>
        </p:txBody>
      </p:sp>
      <p:sp>
        <p:nvSpPr>
          <p:cNvPr id="26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Fix what the pilot surfaces; add observability.</a:t>
            </a:r>
          </a:p>
        </p:txBody>
      </p:sp>
      <p:sp>
        <p:nvSpPr>
          <p:cNvPr id="27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8A6F2E"/>
                </a:solidFill>
                <a:latin typeface="Noto Sans Mono"/>
              </a:rPr>
              <a:t>05</a:t>
            </a:r>
          </a:p>
        </p:txBody>
      </p:sp>
      <p:sp>
        <p:nvSpPr>
          <p:cNvPr id="28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Scale</a:t>
            </a:r>
          </a:p>
        </p:txBody>
      </p:sp>
      <p:sp>
        <p:nvSpPr>
          <p:cNvPr id="29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Roll out to remaining regions and SKUs.</a:t>
            </a:r>
          </a:p>
        </p:txBody>
      </p:sp>
      <p:sp>
        <p:nvSpPr>
          <p:cNvPr id="30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DATA · REVENUE MIX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MIX · FY21–FY25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Platform revenue is the fastest-growing share; legacy hardware is flat in absolute terms.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6.8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3.2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6.7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3.5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6.6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3.7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6.5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3.9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6.4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4.2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2.1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1.4</a:t>
            </a:r>
          </a:p>
        </p:txBody>
      </p:sp>
      <p:sp>
        <p:nvSpPr>
          <p:cNvPr id="48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11.9</a:t>
            </a:r>
          </a:p>
        </p:txBody>
      </p:sp>
      <p:sp>
        <p:nvSpPr>
          <p:cNvPr id="49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FY21</a:t>
            </a:r>
          </a:p>
        </p:txBody>
      </p:sp>
      <p:sp>
        <p:nvSpPr>
          <p:cNvPr id="50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12.4</a:t>
            </a:r>
          </a:p>
        </p:txBody>
      </p:sp>
      <p:sp>
        <p:nvSpPr>
          <p:cNvPr id="51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FY22</a:t>
            </a:r>
          </a:p>
        </p:txBody>
      </p:sp>
      <p:sp>
        <p:nvSpPr>
          <p:cNvPr id="52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12.9</a:t>
            </a:r>
          </a:p>
        </p:txBody>
      </p:sp>
      <p:sp>
        <p:nvSpPr>
          <p:cNvPr id="53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FY23</a:t>
            </a:r>
          </a:p>
        </p:txBody>
      </p:sp>
      <p:sp>
        <p:nvSpPr>
          <p:cNvPr id="54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13.4</a:t>
            </a:r>
          </a:p>
        </p:txBody>
      </p:sp>
      <p:sp>
        <p:nvSpPr>
          <p:cNvPr id="55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FY24</a:t>
            </a:r>
          </a:p>
        </p:txBody>
      </p:sp>
      <p:sp>
        <p:nvSpPr>
          <p:cNvPr id="56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14.1</a:t>
            </a:r>
          </a:p>
        </p:txBody>
      </p:sp>
      <p:sp>
        <p:nvSpPr>
          <p:cNvPr id="57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FY25</a:t>
            </a:r>
          </a:p>
        </p:txBody>
      </p:sp>
      <p:sp>
        <p:nvSpPr>
          <p:cNvPr id="58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98" cap="all">
                <a:solidFill>
                  <a:srgbClr val="0B1A33"/>
                </a:solidFill>
                <a:latin typeface="Noto Sans Mono"/>
              </a:rPr>
              <a:t>SEGMENT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Legacy hardware</a:t>
            </a:r>
          </a:p>
        </p:txBody>
      </p:sp>
      <p:sp>
        <p:nvSpPr>
          <p:cNvPr id="61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D3A52"/>
                </a:solidFill>
                <a:latin typeface="Noto Sans Mono"/>
              </a:rPr>
              <a:t>−6% · 5y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Consumer products</a:t>
            </a:r>
          </a:p>
        </p:txBody>
      </p:sp>
      <p:sp>
        <p:nvSpPr>
          <p:cNvPr id="64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D3A52"/>
                </a:solidFill>
                <a:latin typeface="Noto Sans Mono"/>
              </a:rPr>
              <a:t>+31% · 5y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Commercial</a:t>
            </a:r>
          </a:p>
        </p:txBody>
      </p:sp>
      <p:sp>
        <p:nvSpPr>
          <p:cNvPr id="67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D3A52"/>
                </a:solidFill>
                <a:latin typeface="Noto Sans Mono"/>
              </a:rPr>
              <a:t>+31% · 5y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Platform &amp; services</a:t>
            </a:r>
          </a:p>
        </p:txBody>
      </p:sp>
      <p:sp>
        <p:nvSpPr>
          <p:cNvPr id="70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D3A52"/>
                </a:solidFill>
                <a:latin typeface="Noto Sans Mono"/>
              </a:rPr>
              <a:t>+367% · 5y</a:t>
            </a:r>
          </a:p>
        </p:txBody>
      </p:sp>
      <p:sp>
        <p:nvSpPr>
          <p:cNvPr id="71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FY25 PRELIMINARY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Across five product lines, only the two flagship lines beat both revenue and margin plan.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PRODUCT LINE</a:t>
            </a:r>
          </a:p>
        </p:txBody>
      </p:sp>
      <p:sp>
        <p:nvSpPr>
          <p:cNvPr id="17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REVENUE · €M</a:t>
            </a:r>
          </a:p>
        </p:txBody>
      </p:sp>
      <p:sp>
        <p:nvSpPr>
          <p:cNvPr id="18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VS. PLAN</a:t>
            </a:r>
          </a:p>
        </p:txBody>
      </p:sp>
      <p:sp>
        <p:nvSpPr>
          <p:cNvPr id="19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MARGIN</a:t>
            </a:r>
          </a:p>
        </p:txBody>
      </p:sp>
      <p:sp>
        <p:nvSpPr>
          <p:cNvPr id="20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VS. PLAN</a:t>
            </a:r>
          </a:p>
        </p:txBody>
      </p:sp>
      <p:sp>
        <p:nvSpPr>
          <p:cNvPr id="21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Flagship A</a:t>
            </a:r>
          </a:p>
        </p:txBody>
      </p:sp>
      <p:sp>
        <p:nvSpPr>
          <p:cNvPr id="22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Pro line</a:t>
            </a:r>
          </a:p>
        </p:txBody>
      </p:sp>
      <p:sp>
        <p:nvSpPr>
          <p:cNvPr id="23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Standard line</a:t>
            </a:r>
          </a:p>
        </p:txBody>
      </p:sp>
      <p:sp>
        <p:nvSpPr>
          <p:cNvPr id="24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Compact line</a:t>
            </a:r>
          </a:p>
        </p:txBody>
      </p:sp>
      <p:sp>
        <p:nvSpPr>
          <p:cNvPr id="25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Accessories</a:t>
            </a:r>
          </a:p>
        </p:txBody>
      </p:sp>
      <p:sp>
        <p:nvSpPr>
          <p:cNvPr id="26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3,240</a:t>
            </a:r>
          </a:p>
        </p:txBody>
      </p:sp>
      <p:sp>
        <p:nvSpPr>
          <p:cNvPr id="27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+3.8%</a:t>
            </a:r>
          </a:p>
        </p:txBody>
      </p:sp>
      <p:sp>
        <p:nvSpPr>
          <p:cNvPr id="28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14.2%</a:t>
            </a:r>
          </a:p>
        </p:txBody>
      </p:sp>
      <p:sp>
        <p:nvSpPr>
          <p:cNvPr id="29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+0.6 pt</a:t>
            </a:r>
          </a:p>
        </p:txBody>
      </p:sp>
      <p:sp>
        <p:nvSpPr>
          <p:cNvPr id="30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2,910</a:t>
            </a:r>
          </a:p>
        </p:txBody>
      </p:sp>
      <p:sp>
        <p:nvSpPr>
          <p:cNvPr id="31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+2.2%</a:t>
            </a:r>
          </a:p>
        </p:txBody>
      </p:sp>
      <p:sp>
        <p:nvSpPr>
          <p:cNvPr id="32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13.5%</a:t>
            </a:r>
          </a:p>
        </p:txBody>
      </p:sp>
      <p:sp>
        <p:nvSpPr>
          <p:cNvPr id="33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+0.4 pt</a:t>
            </a:r>
          </a:p>
        </p:txBody>
      </p:sp>
      <p:sp>
        <p:nvSpPr>
          <p:cNvPr id="34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3,480</a:t>
            </a:r>
          </a:p>
        </p:txBody>
      </p:sp>
      <p:sp>
        <p:nvSpPr>
          <p:cNvPr id="35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+0.3%</a:t>
            </a:r>
          </a:p>
        </p:txBody>
      </p:sp>
      <p:sp>
        <p:nvSpPr>
          <p:cNvPr id="36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11.1%</a:t>
            </a:r>
          </a:p>
        </p:txBody>
      </p:sp>
      <p:sp>
        <p:nvSpPr>
          <p:cNvPr id="37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−0.2 pt</a:t>
            </a:r>
          </a:p>
        </p:txBody>
      </p:sp>
      <p:sp>
        <p:nvSpPr>
          <p:cNvPr id="38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2,610</a:t>
            </a:r>
          </a:p>
        </p:txBody>
      </p:sp>
      <p:sp>
        <p:nvSpPr>
          <p:cNvPr id="39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−0.9%</a:t>
            </a:r>
          </a:p>
        </p:txBody>
      </p:sp>
      <p:sp>
        <p:nvSpPr>
          <p:cNvPr id="40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10.4%</a:t>
            </a:r>
          </a:p>
        </p:txBody>
      </p:sp>
      <p:sp>
        <p:nvSpPr>
          <p:cNvPr id="41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−0.3 pt</a:t>
            </a:r>
          </a:p>
        </p:txBody>
      </p:sp>
      <p:sp>
        <p:nvSpPr>
          <p:cNvPr id="42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1,860</a:t>
            </a:r>
          </a:p>
        </p:txBody>
      </p:sp>
      <p:sp>
        <p:nvSpPr>
          <p:cNvPr id="43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−1.4%</a:t>
            </a:r>
          </a:p>
        </p:txBody>
      </p:sp>
      <p:sp>
        <p:nvSpPr>
          <p:cNvPr id="44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9.2%</a:t>
            </a:r>
          </a:p>
        </p:txBody>
      </p:sp>
      <p:sp>
        <p:nvSpPr>
          <p:cNvPr id="45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−0.7 pt</a:t>
            </a:r>
          </a:p>
        </p:txBody>
      </p:sp>
      <p:sp>
        <p:nvSpPr>
          <p:cNvPr id="46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PYRAMID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CUSTOMER VALUE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Three tiers of value: a solid product, an honest relationship, a measured experience.</a:t>
            </a:r>
          </a:p>
        </p:txBody>
      </p:sp>
      <p:sp>
        <p:nvSpPr>
          <p:cNvPr id="10" name="Isosceles Triangle 9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A measured experience.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TIER 03 · MEANING</a:t>
            </a:r>
          </a:p>
        </p:txBody>
      </p:sp>
      <p:sp>
        <p:nvSpPr>
          <p:cNvPr id="16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Time given back; one less thing to think about.</a:t>
            </a:r>
          </a:p>
        </p:txBody>
      </p:sp>
      <p:sp>
        <p:nvSpPr>
          <p:cNvPr id="17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Noto Sans Medium"/>
              </a:rPr>
              <a:t>An honest relationship.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TIER 02 · TRUST</a:t>
            </a:r>
          </a:p>
        </p:txBody>
      </p:sp>
      <p:sp>
        <p:nvSpPr>
          <p:cNvPr id="20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The product tells you the truth about itself — status, usage, when to act.</a:t>
            </a:r>
          </a:p>
        </p:txBody>
      </p:sp>
      <p:sp>
        <p:nvSpPr>
          <p:cNvPr id="21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Noto Sans Medium"/>
              </a:rPr>
              <a:t>A solid product.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TIER 01 · FOUNDATION</a:t>
            </a:r>
          </a:p>
        </p:txBody>
      </p:sp>
      <p:sp>
        <p:nvSpPr>
          <p:cNvPr id="24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0B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FFFFFF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FFFFFF"/>
                </a:solidFill>
                <a:latin typeface="Noto Sans Mono"/>
              </a:rP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KEY TAKEAWAYS</a:t>
            </a:r>
          </a:p>
        </p:txBody>
      </p:sp>
      <p:sp>
        <p:nvSpPr>
          <p:cNvPr id="9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50" b="1" spc="-28">
                <a:solidFill>
                  <a:srgbClr val="FFFFFF"/>
                </a:solidFill>
                <a:latin typeface="Noto Sans"/>
              </a:rPr>
              <a:t>Three things to remember: platform first, measure the experience, write plainly.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01</a:t>
            </a:r>
          </a:p>
        </p:txBody>
      </p:sp>
      <p:sp>
        <p:nvSpPr>
          <p:cNvPr id="12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Noto Sans Medium"/>
              </a:rPr>
              <a:t>Platform first.</a:t>
            </a:r>
          </a:p>
        </p:txBody>
      </p:sp>
      <p:sp>
        <p:nvSpPr>
          <p:cNvPr id="13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A9BCD6"/>
                </a:solidFill>
                <a:latin typeface="Noto Sans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4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5A6478"/>
                </a:solidFill>
                <a:latin typeface="Noto Sans Mono"/>
              </a:rPr>
              <a:t>OWNER · PLATFORM VP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02</a:t>
            </a:r>
          </a:p>
        </p:txBody>
      </p:sp>
      <p:sp>
        <p:nvSpPr>
          <p:cNvPr id="17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Noto Sans Medium"/>
              </a:rPr>
              <a:t>Measure the experience.</a:t>
            </a:r>
          </a:p>
        </p:txBody>
      </p:sp>
      <p:sp>
        <p:nvSpPr>
          <p:cNvPr id="18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A9BCD6"/>
                </a:solidFill>
                <a:latin typeface="Noto Sans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19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5A6478"/>
                </a:solidFill>
                <a:latin typeface="Noto Sans Mono"/>
              </a:rPr>
              <a:t>OWNER · DATA LEAD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03</a:t>
            </a:r>
          </a:p>
        </p:txBody>
      </p:sp>
      <p:sp>
        <p:nvSpPr>
          <p:cNvPr id="22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Noto Sans Medium"/>
              </a:rPr>
              <a:t>Write plainly.</a:t>
            </a:r>
          </a:p>
        </p:txBody>
      </p:sp>
      <p:sp>
        <p:nvSpPr>
          <p:cNvPr id="23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A9BCD6"/>
                </a:solidFill>
                <a:latin typeface="Noto Sans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4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5A6478"/>
                </a:solidFill>
                <a:latin typeface="Noto Sans Mono"/>
              </a:rPr>
              <a:t>OWNER · CONTENT LEAD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04</a:t>
            </a:r>
          </a:p>
        </p:txBody>
      </p:sp>
      <p:sp>
        <p:nvSpPr>
          <p:cNvPr id="27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Noto Sans Medium"/>
              </a:rPr>
              <a:t>Ship weekly.</a:t>
            </a:r>
          </a:p>
        </p:txBody>
      </p:sp>
      <p:sp>
        <p:nvSpPr>
          <p:cNvPr id="28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A9BCD6"/>
                </a:solidFill>
                <a:latin typeface="Noto Sans"/>
              </a:rPr>
              <a:t>Every squad cuts a release every week; anything that can't be weekly is a platform bug to be retired.</a:t>
            </a:r>
          </a:p>
        </p:txBody>
      </p:sp>
      <p:sp>
        <p:nvSpPr>
          <p:cNvPr id="29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5A6478"/>
                </a:solidFill>
                <a:latin typeface="Noto Sans Mono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EXECUTIVE SUMMARY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Four insights, three next steps — the 2026 plan on one page.</a:t>
            </a:r>
          </a:p>
        </p:txBody>
      </p:sp>
      <p:sp>
        <p:nvSpPr>
          <p:cNvPr id="10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1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C9A24A"/>
                </a:solidFill>
                <a:latin typeface="Noto Sans Mono"/>
              </a:rPr>
              <a:t>INSIGHTS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Platform share is compounding.</a:t>
            </a:r>
          </a:p>
        </p:txBody>
      </p:sp>
      <p:sp>
        <p:nvSpPr>
          <p:cNvPr id="15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First-run pairing is the biggest leak.</a:t>
            </a:r>
          </a:p>
        </p:txBody>
      </p:sp>
      <p:sp>
        <p:nvSpPr>
          <p:cNvPr id="18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Telemetry is now default-on.</a:t>
            </a:r>
          </a:p>
        </p:txBody>
      </p:sp>
      <p:sp>
        <p:nvSpPr>
          <p:cNvPr id="21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Hybrid platform beats build-vs-buy.</a:t>
            </a:r>
          </a:p>
        </p:txBody>
      </p:sp>
      <p:sp>
        <p:nvSpPr>
          <p:cNvPr id="24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25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C9A24A"/>
                </a:solidFill>
                <a:latin typeface="Noto Sans Mono"/>
              </a:rPr>
              <a:t>NEXT STEPS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Consolidate firmware across SKUs.</a:t>
            </a:r>
          </a:p>
        </p:txBody>
      </p:sp>
      <p:sp>
        <p:nvSpPr>
          <p:cNvPr id="29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Retire the last two forks; every line onto the shared OS core by end of Q2.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Ship the pairing-flow fix.</a:t>
            </a:r>
          </a:p>
        </p:txBody>
      </p:sp>
      <p:sp>
        <p:nvSpPr>
          <p:cNvPr id="32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Open the developer API preview.</a:t>
            </a:r>
          </a:p>
        </p:txBody>
      </p:sp>
      <p:sp>
        <p:nvSpPr>
          <p:cNvPr id="35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Partner preview end of H1, GA at year-end — 30 design partners already signed.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Lock the hybrid platform deal.</a:t>
            </a:r>
          </a:p>
        </p:txBody>
      </p:sp>
      <p:sp>
        <p:nvSpPr>
          <p:cNvPr id="38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Finalise cloud and ML vendor terms; platform group staffed and chartered for a Q2 kick-off.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0B1A33"/>
                </a:solidFill>
                <a:latin typeface="Noto Sans Light"/>
              </a:rPr>
              <a:t>+43</a:t>
            </a:r>
          </a:p>
        </p:txBody>
      </p:sp>
      <p:sp>
        <p:nvSpPr>
          <p:cNvPr id="42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%</a:t>
            </a:r>
          </a:p>
        </p:txBody>
      </p:sp>
      <p:sp>
        <p:nvSpPr>
          <p:cNvPr id="43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D3A52"/>
                </a:solidFill>
                <a:latin typeface="Noto Sans Mono"/>
              </a:rPr>
              <a:t>ACTIVE TIME · 5Y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0B1A33"/>
                </a:solidFill>
                <a:latin typeface="Noto Sans Light"/>
              </a:rPr>
              <a:t>14</a:t>
            </a:r>
          </a:p>
        </p:txBody>
      </p:sp>
      <p:sp>
        <p:nvSpPr>
          <p:cNvPr id="46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 bn</a:t>
            </a:r>
          </a:p>
        </p:txBody>
      </p:sp>
      <p:sp>
        <p:nvSpPr>
          <p:cNvPr id="47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D3A52"/>
                </a:solidFill>
                <a:latin typeface="Noto Sans Mono"/>
              </a:rPr>
              <a:t>REVENUE · EUR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0B1A33"/>
                </a:solidFill>
                <a:latin typeface="Noto Sans Light"/>
              </a:rPr>
              <a:t>95</a:t>
            </a:r>
          </a:p>
        </p:txBody>
      </p:sp>
      <p:sp>
        <p:nvSpPr>
          <p:cNvPr id="50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%</a:t>
            </a:r>
          </a:p>
        </p:txBody>
      </p:sp>
      <p:sp>
        <p:nvSpPr>
          <p:cNvPr id="51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D3A52"/>
                </a:solidFill>
                <a:latin typeface="Noto Sans Mono"/>
              </a:rPr>
              <a:t>TELEMETRY OPT-IN</a:t>
            </a:r>
          </a:p>
        </p:txBody>
      </p:sp>
      <p:sp>
        <p:nvSpPr>
          <p:cNvPr id="52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LINE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PER-ACCOUNT METRICS, FY21–FY25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D3A52"/>
                </a:solidFill>
                <a:latin typeface="Noto Sans Mono"/>
              </a:rPr>
              <a:t>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D3A52"/>
                </a:solidFill>
                <a:latin typeface="Noto Sans Mono"/>
              </a:rPr>
              <a:t>50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D3A52"/>
                </a:solidFill>
                <a:latin typeface="Noto Sans Mono"/>
              </a:rPr>
              <a:t>100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D3A52"/>
                </a:solidFill>
                <a:latin typeface="Noto Sans Mono"/>
              </a:rPr>
              <a:t>150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D3A52"/>
                </a:solidFill>
                <a:latin typeface="Noto Sans Mono"/>
              </a:rPr>
              <a:t>200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C9A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FY21</a:t>
            </a:r>
          </a:p>
        </p:txBody>
      </p:sp>
      <p:sp>
        <p:nvSpPr>
          <p:cNvPr id="33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FY22</a:t>
            </a:r>
          </a:p>
        </p:txBody>
      </p:sp>
      <p:sp>
        <p:nvSpPr>
          <p:cNvPr id="34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FY23</a:t>
            </a:r>
          </a:p>
        </p:txBody>
      </p:sp>
      <p:sp>
        <p:nvSpPr>
          <p:cNvPr id="35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FY24</a:t>
            </a:r>
          </a:p>
        </p:txBody>
      </p:sp>
      <p:sp>
        <p:nvSpPr>
          <p:cNvPr id="36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FY25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0B1A33"/>
                </a:solidFill>
                <a:latin typeface="Noto Sans Medium"/>
              </a:rPr>
              <a:t>Active time per account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0B1A33"/>
                </a:solidFill>
                <a:latin typeface="Noto Sans Medium"/>
              </a:rPr>
              <a:t>Cloud cost per account</a:t>
            </a:r>
          </a:p>
        </p:txBody>
      </p:sp>
      <p:sp>
        <p:nvSpPr>
          <p:cNvPr id="41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SCORECARD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PORTFOLIO HEALTH · FY25 Q3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D3A52"/>
                </a:solidFill>
                <a:latin typeface="Noto Sans Mono"/>
              </a:rPr>
              <a:t>Q1 FY25</a:t>
            </a:r>
          </a:p>
        </p:txBody>
      </p:sp>
      <p:sp>
        <p:nvSpPr>
          <p:cNvPr id="35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D3A52"/>
                </a:solidFill>
                <a:latin typeface="Noto Sans Mono"/>
              </a:rPr>
              <a:t>Q2 FY25</a:t>
            </a:r>
          </a:p>
        </p:txBody>
      </p:sp>
      <p:sp>
        <p:nvSpPr>
          <p:cNvPr id="36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D3A52"/>
                </a:solidFill>
                <a:latin typeface="Noto Sans Mono"/>
              </a:rPr>
              <a:t>Q3 FY25</a:t>
            </a:r>
          </a:p>
        </p:txBody>
      </p:sp>
      <p:sp>
        <p:nvSpPr>
          <p:cNvPr id="37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D3A52"/>
                </a:solidFill>
                <a:latin typeface="Noto Sans Mono"/>
              </a:rPr>
              <a:t>Q4 FY25</a:t>
            </a:r>
          </a:p>
        </p:txBody>
      </p:sp>
      <p:sp>
        <p:nvSpPr>
          <p:cNvPr id="38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0B1A33"/>
                </a:solidFill>
                <a:latin typeface="Noto Sans Medium"/>
              </a:rPr>
              <a:t>Firmware consolidation</a:t>
            </a:r>
          </a:p>
        </p:txBody>
      </p:sp>
      <p:sp>
        <p:nvSpPr>
          <p:cNvPr id="39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0B1A33"/>
                </a:solidFill>
                <a:latin typeface="Noto Sans Medium"/>
              </a:rPr>
              <a:t>Default-on telemetry</a:t>
            </a:r>
          </a:p>
        </p:txBody>
      </p:sp>
      <p:sp>
        <p:nvSpPr>
          <p:cNvPr id="40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0B1A33"/>
                </a:solidFill>
                <a:latin typeface="Noto Sans Medium"/>
              </a:rPr>
              <a:t>Developer API</a:t>
            </a:r>
          </a:p>
        </p:txBody>
      </p:sp>
      <p:sp>
        <p:nvSpPr>
          <p:cNvPr id="41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0B1A33"/>
                </a:solidFill>
                <a:latin typeface="Noto Sans Medium"/>
              </a:rPr>
              <a:t>Data-platform integration</a:t>
            </a:r>
          </a:p>
        </p:txBody>
      </p:sp>
      <p:sp>
        <p:nvSpPr>
          <p:cNvPr id="42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Cutover · 62%</a:t>
            </a:r>
          </a:p>
        </p:txBody>
      </p:sp>
      <p:sp>
        <p:nvSpPr>
          <p:cNvPr id="43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Cutover · 100%</a:t>
            </a:r>
          </a:p>
        </p:txBody>
      </p:sp>
      <p:sp>
        <p:nvSpPr>
          <p:cNvPr id="44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Shipped</a:t>
            </a:r>
          </a:p>
        </p:txBody>
      </p:sp>
      <p:sp>
        <p:nvSpPr>
          <p:cNvPr id="45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Stable</a:t>
            </a:r>
          </a:p>
        </p:txBody>
      </p:sp>
      <p:sp>
        <p:nvSpPr>
          <p:cNvPr id="46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Pilot factories</a:t>
            </a:r>
          </a:p>
        </p:txBody>
      </p:sp>
      <p:sp>
        <p:nvSpPr>
          <p:cNvPr id="47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Rollout 40%</a:t>
            </a:r>
          </a:p>
        </p:txBody>
      </p:sp>
      <p:sp>
        <p:nvSpPr>
          <p:cNvPr id="48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Rollout 85%</a:t>
            </a:r>
          </a:p>
        </p:txBody>
      </p:sp>
      <p:sp>
        <p:nvSpPr>
          <p:cNvPr id="49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Default-on</a:t>
            </a:r>
          </a:p>
        </p:txBody>
      </p:sp>
      <p:sp>
        <p:nvSpPr>
          <p:cNvPr id="50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Design only</a:t>
            </a:r>
          </a:p>
        </p:txBody>
      </p:sp>
      <p:sp>
        <p:nvSpPr>
          <p:cNvPr id="51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Preview private</a:t>
            </a:r>
          </a:p>
        </p:txBody>
      </p:sp>
      <p:sp>
        <p:nvSpPr>
          <p:cNvPr id="52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Preview public</a:t>
            </a:r>
          </a:p>
        </p:txBody>
      </p:sp>
      <p:sp>
        <p:nvSpPr>
          <p:cNvPr id="53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GA → Q4 slip</a:t>
            </a:r>
          </a:p>
        </p:txBody>
      </p:sp>
      <p:sp>
        <p:nvSpPr>
          <p:cNvPr id="54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Scope locked</a:t>
            </a:r>
          </a:p>
        </p:txBody>
      </p:sp>
      <p:sp>
        <p:nvSpPr>
          <p:cNvPr id="55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Vendor delay</a:t>
            </a:r>
          </a:p>
        </p:txBody>
      </p:sp>
      <p:sp>
        <p:nvSpPr>
          <p:cNvPr id="56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Off plan</a:t>
            </a:r>
          </a:p>
        </p:txBody>
      </p:sp>
      <p:sp>
        <p:nvSpPr>
          <p:cNvPr id="57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Re-baseline</a:t>
            </a:r>
          </a:p>
        </p:txBody>
      </p:sp>
      <p:sp>
        <p:nvSpPr>
          <p:cNvPr id="58" name="Oval 57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ON TRACK</a:t>
            </a:r>
          </a:p>
        </p:txBody>
      </p:sp>
      <p:sp>
        <p:nvSpPr>
          <p:cNvPr id="60" name="Oval 59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AT RISK</a:t>
            </a:r>
          </a:p>
        </p:txBody>
      </p:sp>
      <p:sp>
        <p:nvSpPr>
          <p:cNvPr id="62" name="Oval 61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OFF TRACK</a:t>
            </a:r>
          </a:p>
        </p:txBody>
      </p:sp>
      <p:sp>
        <p:nvSpPr>
          <p:cNvPr id="64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GANTT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WORKSTREAMS — FY25 DELIVERY PLAN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Firmware consolidation lands in Q2; the developer API goes GA in Q4, dependent on telemetry rollout.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iamond 17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iamond 20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Diamond 84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Q1 · PLAN</a:t>
            </a:r>
          </a:p>
        </p:txBody>
      </p:sp>
      <p:sp>
        <p:nvSpPr>
          <p:cNvPr id="88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Q2 · BUILD</a:t>
            </a:r>
          </a:p>
        </p:txBody>
      </p:sp>
      <p:sp>
        <p:nvSpPr>
          <p:cNvPr id="89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Q3 · PILOT</a:t>
            </a:r>
          </a:p>
        </p:txBody>
      </p:sp>
      <p:sp>
        <p:nvSpPr>
          <p:cNvPr id="90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Q4 · SCALE</a:t>
            </a:r>
          </a:p>
        </p:txBody>
      </p:sp>
      <p:sp>
        <p:nvSpPr>
          <p:cNvPr id="91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OWNER · PLATFORM</a:t>
            </a:r>
          </a:p>
        </p:txBody>
      </p:sp>
      <p:sp>
        <p:nvSpPr>
          <p:cNvPr id="92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OWNER · DATA</a:t>
            </a:r>
          </a:p>
        </p:txBody>
      </p:sp>
      <p:sp>
        <p:nvSpPr>
          <p:cNvPr id="93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OWNER · CONSUMER</a:t>
            </a:r>
          </a:p>
        </p:txBody>
      </p:sp>
      <p:sp>
        <p:nvSpPr>
          <p:cNvPr id="94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OWNER · PLATFORM</a:t>
            </a:r>
          </a:p>
        </p:txBody>
      </p:sp>
      <p:sp>
        <p:nvSpPr>
          <p:cNvPr id="95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0B1A33"/>
                </a:solidFill>
                <a:latin typeface="Noto Sans Mono"/>
              </a:rPr>
              <a:t>CUTOVER · ALL SKUS</a:t>
            </a:r>
          </a:p>
        </p:txBody>
      </p:sp>
      <p:sp>
        <p:nvSpPr>
          <p:cNvPr id="96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Noto Sans Mono"/>
              </a:rPr>
              <a:t>FACTORY ROLLOUT</a:t>
            </a:r>
          </a:p>
        </p:txBody>
      </p:sp>
      <p:sp>
        <p:nvSpPr>
          <p:cNvPr id="97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0B1A33"/>
                </a:solidFill>
                <a:latin typeface="Noto Sans Mono"/>
              </a:rPr>
              <a:t>INSTRUMENTED STUDY</a:t>
            </a:r>
          </a:p>
        </p:txBody>
      </p:sp>
      <p:sp>
        <p:nvSpPr>
          <p:cNvPr id="98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Noto Sans Mono"/>
              </a:rPr>
              <a:t>PREVIEW</a:t>
            </a:r>
          </a:p>
        </p:txBody>
      </p:sp>
      <p:sp>
        <p:nvSpPr>
          <p:cNvPr id="99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0B1A33"/>
                </a:solidFill>
                <a:latin typeface="Noto Sans Mono"/>
              </a:rPr>
              <a:t>GA</a:t>
            </a:r>
          </a:p>
        </p:txBody>
      </p:sp>
      <p:sp>
        <p:nvSpPr>
          <p:cNvPr id="100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FUNNEL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APP ACTIVATION FUNNEL · Q4 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0" name="Freeform 9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Product sold</a:t>
            </a:r>
          </a:p>
        </p:txBody>
      </p:sp>
      <p:sp>
        <p:nvSpPr>
          <p:cNvPr id="16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D3A52"/>
                </a:solidFill>
                <a:latin typeface="Noto Sans"/>
              </a:rPr>
              <a:t>Shipment, any SKU</a:t>
            </a:r>
          </a:p>
        </p:txBody>
      </p:sp>
      <p:sp>
        <p:nvSpPr>
          <p:cNvPr id="17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B1A33"/>
                </a:solidFill>
                <a:latin typeface="Noto Sans Light"/>
              </a:rPr>
              <a:t>2.4 M</a:t>
            </a:r>
          </a:p>
        </p:txBody>
      </p:sp>
      <p:sp>
        <p:nvSpPr>
          <p:cNvPr id="18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D3A52"/>
                </a:solidFill>
                <a:latin typeface="Noto Sans Mono"/>
              </a:rPr>
              <a:t>100%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App installed</a:t>
            </a:r>
          </a:p>
        </p:txBody>
      </p:sp>
      <p:sp>
        <p:nvSpPr>
          <p:cNvPr id="21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D3A52"/>
                </a:solidFill>
                <a:latin typeface="Noto Sans"/>
              </a:rPr>
              <a:t>Within 30 days of purchase</a:t>
            </a:r>
          </a:p>
        </p:txBody>
      </p:sp>
      <p:sp>
        <p:nvSpPr>
          <p:cNvPr id="22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B1A33"/>
                </a:solidFill>
                <a:latin typeface="Noto Sans Light"/>
              </a:rPr>
              <a:t>2.0 M</a:t>
            </a:r>
          </a:p>
        </p:txBody>
      </p:sp>
      <p:sp>
        <p:nvSpPr>
          <p:cNvPr id="23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D3A52"/>
                </a:solidFill>
                <a:latin typeface="Noto Sans Mono"/>
              </a:rPr>
              <a:t>84%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Product paired</a:t>
            </a:r>
          </a:p>
        </p:txBody>
      </p:sp>
      <p:sp>
        <p:nvSpPr>
          <p:cNvPr id="26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D3A52"/>
                </a:solidFill>
                <a:latin typeface="Noto Sans"/>
              </a:rPr>
              <a:t>First-run setup completed</a:t>
            </a:r>
          </a:p>
        </p:txBody>
      </p:sp>
      <p:sp>
        <p:nvSpPr>
          <p:cNvPr id="27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B1A33"/>
                </a:solidFill>
                <a:latin typeface="Noto Sans Light"/>
              </a:rPr>
              <a:t>1.5 M</a:t>
            </a:r>
          </a:p>
        </p:txBody>
      </p:sp>
      <p:sp>
        <p:nvSpPr>
          <p:cNvPr id="28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D3A52"/>
                </a:solidFill>
                <a:latin typeface="Noto Sans Mono"/>
              </a:rPr>
              <a:t>62%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Active at 90 days</a:t>
            </a:r>
          </a:p>
        </p:txBody>
      </p:sp>
      <p:sp>
        <p:nvSpPr>
          <p:cNvPr id="31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D3A52"/>
                </a:solidFill>
                <a:latin typeface="Noto Sans"/>
              </a:rPr>
              <a:t>≥4 cycles in last month</a:t>
            </a:r>
          </a:p>
        </p:txBody>
      </p:sp>
      <p:sp>
        <p:nvSpPr>
          <p:cNvPr id="32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B1A33"/>
                </a:solidFill>
                <a:latin typeface="Noto Sans Light"/>
              </a:rPr>
              <a:t>870 K</a:t>
            </a:r>
          </a:p>
        </p:txBody>
      </p:sp>
      <p:sp>
        <p:nvSpPr>
          <p:cNvPr id="33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D3A52"/>
                </a:solidFill>
                <a:latin typeface="Noto Sans Mono"/>
              </a:rPr>
              <a:t>36%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C9A24A"/>
                </a:solidFill>
                <a:latin typeface="Noto Sans Light"/>
              </a:rPr>
              <a:t>−22 pt</a:t>
            </a:r>
          </a:p>
        </p:txBody>
      </p:sp>
      <p:sp>
        <p:nvSpPr>
          <p:cNvPr id="36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TRIAL → ACTIVATE</a:t>
            </a:r>
          </a:p>
        </p:txBody>
      </p:sp>
      <p:sp>
        <p:nvSpPr>
          <p:cNvPr id="37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2D3A52"/>
                </a:solidFill>
                <a:latin typeface="Noto Sans"/>
              </a:rPr>
              <a:t>Activation fails on mixed-SSID routers and Wi-Fi 6 backward compatibility. Fix is scoped for Q1.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C9A24A"/>
                </a:solidFill>
                <a:latin typeface="Noto Sans Light"/>
              </a:rPr>
              <a:t>−14 pt</a:t>
            </a:r>
          </a:p>
        </p:txBody>
      </p:sp>
      <p:sp>
        <p:nvSpPr>
          <p:cNvPr id="40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FEATURE → 90D ACTIVE</a:t>
            </a:r>
          </a:p>
        </p:txBody>
      </p:sp>
      <p:sp>
        <p:nvSpPr>
          <p:cNvPr id="41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2D3A52"/>
                </a:solidFill>
                <a:latin typeface="Noto Sans"/>
              </a:rPr>
              <a:t>Users try one session then default to the panel. Cadence nudges in-app are live in Q2.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4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5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VENN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WHERE THE THREE BUSINESSES MEET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0" name="Oval 9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C9A24A">
              <a:alpha val="50000"/>
            </a:srgbClr>
          </a:solidFill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0B1A33">
              <a:alpha val="50000"/>
            </a:srgbClr>
          </a:solidFill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2D3A52">
              <a:alpha val="50000"/>
            </a:srgbClr>
          </a:solidFill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FAF8F3"/>
          </a:solidFill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CONSUMER</a:t>
            </a:r>
          </a:p>
        </p:txBody>
      </p:sp>
      <p:sp>
        <p:nvSpPr>
          <p:cNvPr id="15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D3A52"/>
                </a:solidFill>
                <a:latin typeface="Noto Sans Mono"/>
              </a:rPr>
              <a:t>Product + brand</a:t>
            </a:r>
          </a:p>
        </p:txBody>
      </p:sp>
      <p:sp>
        <p:nvSpPr>
          <p:cNvPr id="16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PLATFORM</a:t>
            </a:r>
          </a:p>
        </p:txBody>
      </p:sp>
      <p:sp>
        <p:nvSpPr>
          <p:cNvPr id="17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D3A52"/>
                </a:solidFill>
                <a:latin typeface="Noto Sans Mono"/>
              </a:rPr>
              <a:t>Firmware + API</a:t>
            </a:r>
          </a:p>
        </p:txBody>
      </p:sp>
      <p:sp>
        <p:nvSpPr>
          <p:cNvPr id="18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SERVICES</a:t>
            </a:r>
          </a:p>
        </p:txBody>
      </p:sp>
      <p:sp>
        <p:nvSpPr>
          <p:cNvPr id="19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D3A52"/>
                </a:solidFill>
                <a:latin typeface="Noto Sans Mono"/>
              </a:rPr>
              <a:t>Install · repair</a:t>
            </a:r>
          </a:p>
        </p:txBody>
      </p:sp>
      <p:sp>
        <p:nvSpPr>
          <p:cNvPr id="20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1A33"/>
                </a:solidFill>
                <a:latin typeface="Noto Sans Medium"/>
              </a:rPr>
              <a:t>Smart product</a:t>
            </a:r>
          </a:p>
        </p:txBody>
      </p:sp>
      <p:sp>
        <p:nvSpPr>
          <p:cNvPr id="21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1A33"/>
                </a:solidFill>
                <a:latin typeface="Noto Sans Medium"/>
              </a:rPr>
              <a:t>In-home install</a:t>
            </a:r>
          </a:p>
        </p:txBody>
      </p:sp>
      <p:sp>
        <p:nvSpPr>
          <p:cNvPr id="22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1A33"/>
                </a:solidFill>
                <a:latin typeface="Noto Sans Medium"/>
              </a:rPr>
              <a:t>Remote diagnostics</a:t>
            </a:r>
          </a:p>
        </p:txBody>
      </p:sp>
      <p:sp>
        <p:nvSpPr>
          <p:cNvPr id="23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0B1A33"/>
                </a:solidFill>
                <a:latin typeface="Noto Sans"/>
              </a:rPr>
              <a:t>Connected platform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01 · CONSUMER × PLATFORM</a:t>
            </a:r>
          </a:p>
        </p:txBody>
      </p:sp>
      <p:sp>
        <p:nvSpPr>
          <p:cNvPr id="26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Smart product</a:t>
            </a:r>
          </a:p>
        </p:txBody>
      </p:sp>
      <p:sp>
        <p:nvSpPr>
          <p:cNvPr id="27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D3A52"/>
                </a:solidFill>
                <a:latin typeface="Noto Sans"/>
              </a:rPr>
              <a:t>Firmware turns the object into an addressable node — the basis for every service we layer on top.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02 · PLATFORM × SERVICES</a:t>
            </a:r>
          </a:p>
        </p:txBody>
      </p:sp>
      <p:sp>
        <p:nvSpPr>
          <p:cNvPr id="30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Remote diagnostics</a:t>
            </a:r>
          </a:p>
        </p:txBody>
      </p:sp>
      <p:sp>
        <p:nvSpPr>
          <p:cNvPr id="31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D3A52"/>
                </a:solidFill>
                <a:latin typeface="Noto Sans"/>
              </a:rPr>
              <a:t>Telemetry lets service pre-triage a call; first-time-fix rate rises, truck rolls fall.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03 · CONSUMER × SERVICES</a:t>
            </a:r>
          </a:p>
        </p:txBody>
      </p:sp>
      <p:sp>
        <p:nvSpPr>
          <p:cNvPr id="34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In-home install</a:t>
            </a:r>
          </a:p>
        </p:txBody>
      </p:sp>
      <p:sp>
        <p:nvSpPr>
          <p:cNvPr id="35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D3A52"/>
                </a:solidFill>
                <a:latin typeface="Noto Sans"/>
              </a:rPr>
              <a:t>Existing service relationship carries trust; we extend it into the subscription tier.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CENTER</a:t>
            </a:r>
          </a:p>
        </p:txBody>
      </p:sp>
      <p:sp>
        <p:nvSpPr>
          <p:cNvPr id="38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Connected platform</a:t>
            </a:r>
          </a:p>
        </p:txBody>
      </p:sp>
      <p:sp>
        <p:nvSpPr>
          <p:cNvPr id="39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D3A52"/>
                </a:solidFill>
                <a:latin typeface="Noto Sans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D6D1C2"/>
          </a:solidFill>
          <a:ln w="6350">
            <a:solidFill>
              <a:srgbClr val="A9B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08">
                <a:solidFill>
                  <a:srgbClr val="2D3A52"/>
                </a:solidFill>
                <a:latin typeface="Noto Sans Mono"/>
              </a:rPr>
              <a:t>DIAGRAM · FILL VIA /DECK</a:t>
            </a:r>
          </a:p>
        </p:txBody>
      </p:sp>
      <p:sp>
        <p:nvSpPr>
          <p:cNvPr id="4" name="Freeform 3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LAYOUT · DIAGRAM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LAYOUT · DIAGRAM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spc="-37">
                <a:solidFill>
                  <a:srgbClr val="0B1A33"/>
                </a:solidFill>
                <a:latin typeface="Noto Sans Light"/>
              </a:rPr>
              <a:t>Architectural overview goes here.</a:t>
            </a:r>
          </a:p>
        </p:txBody>
      </p:sp>
      <p:sp>
        <p:nvSpPr>
          <p:cNvPr id="12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D6D1C2"/>
            </a:fgClr>
            <a:bgClr>
              <a:srgbClr val="FAF8F3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D3A52"/>
                </a:solidFill>
                <a:latin typeface="Noto Sans Mono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V-MODEL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VERIFICATION · VALIDATION</a:t>
            </a:r>
          </a:p>
        </p:txBody>
      </p:sp>
      <p:sp>
        <p:nvSpPr>
          <p:cNvPr id="8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spc="-39">
                <a:solidFill>
                  <a:srgbClr val="0B1A33"/>
                </a:solidFill>
                <a:latin typeface="Noto Sans Medium"/>
              </a:rPr>
              <a:t>Every design step on the left has a matching test on the right — the V-model pairs them.</a:t>
            </a:r>
          </a:p>
        </p:txBody>
      </p:sp>
      <p:sp>
        <p:nvSpPr>
          <p:cNvPr id="9" name="Rectangle 8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D3A52"/>
                </a:solidFill>
                <a:latin typeface="Noto Sans Mono"/>
              </a:rPr>
              <a:t>PHASE 01</a:t>
            </a:r>
          </a:p>
        </p:txBody>
      </p:sp>
      <p:sp>
        <p:nvSpPr>
          <p:cNvPr id="250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Requirement gathering</a:t>
            </a:r>
          </a:p>
        </p:txBody>
      </p:sp>
      <p:sp>
        <p:nvSpPr>
          <p:cNvPr id="251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8A6F2E"/>
                </a:solidFill>
                <a:latin typeface="Noto Sans Mono"/>
              </a:rPr>
              <a:t>TEST 01</a:t>
            </a:r>
          </a:p>
        </p:txBody>
      </p:sp>
      <p:sp>
        <p:nvSpPr>
          <p:cNvPr id="252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Acceptance testing</a:t>
            </a:r>
          </a:p>
        </p:txBody>
      </p:sp>
      <p:sp>
        <p:nvSpPr>
          <p:cNvPr id="253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D3A52"/>
                </a:solidFill>
                <a:latin typeface="Noto Sans Mono"/>
              </a:rPr>
              <a:t>ACCEPTANCE PLAN</a:t>
            </a:r>
          </a:p>
        </p:txBody>
      </p:sp>
      <p:sp>
        <p:nvSpPr>
          <p:cNvPr id="254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D3A52"/>
                </a:solidFill>
                <a:latin typeface="Noto Sans Mono"/>
              </a:rPr>
              <a:t>PHASE 02</a:t>
            </a:r>
          </a:p>
        </p:txBody>
      </p:sp>
      <p:sp>
        <p:nvSpPr>
          <p:cNvPr id="255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System analysis</a:t>
            </a:r>
          </a:p>
        </p:txBody>
      </p:sp>
      <p:sp>
        <p:nvSpPr>
          <p:cNvPr id="256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8A6F2E"/>
                </a:solidFill>
                <a:latin typeface="Noto Sans Mono"/>
              </a:rPr>
              <a:t>TEST 02</a:t>
            </a:r>
          </a:p>
        </p:txBody>
      </p:sp>
      <p:sp>
        <p:nvSpPr>
          <p:cNvPr id="257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System testing</a:t>
            </a:r>
          </a:p>
        </p:txBody>
      </p:sp>
      <p:sp>
        <p:nvSpPr>
          <p:cNvPr id="258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D3A52"/>
                </a:solidFill>
                <a:latin typeface="Noto Sans Mono"/>
              </a:rPr>
              <a:t>SYSTEM TEST PLAN</a:t>
            </a:r>
          </a:p>
        </p:txBody>
      </p:sp>
      <p:sp>
        <p:nvSpPr>
          <p:cNvPr id="259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D3A52"/>
                </a:solidFill>
                <a:latin typeface="Noto Sans Mono"/>
              </a:rPr>
              <a:t>PHASE 03</a:t>
            </a:r>
          </a:p>
        </p:txBody>
      </p:sp>
      <p:sp>
        <p:nvSpPr>
          <p:cNvPr id="260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Software design</a:t>
            </a:r>
          </a:p>
        </p:txBody>
      </p:sp>
      <p:sp>
        <p:nvSpPr>
          <p:cNvPr id="261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8A6F2E"/>
                </a:solidFill>
                <a:latin typeface="Noto Sans Mono"/>
              </a:rPr>
              <a:t>TEST 03</a:t>
            </a:r>
          </a:p>
        </p:txBody>
      </p:sp>
      <p:sp>
        <p:nvSpPr>
          <p:cNvPr id="262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Integration testing</a:t>
            </a:r>
          </a:p>
        </p:txBody>
      </p:sp>
      <p:sp>
        <p:nvSpPr>
          <p:cNvPr id="263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D3A52"/>
                </a:solidFill>
                <a:latin typeface="Noto Sans Mono"/>
              </a:rPr>
              <a:t>INTEGRATION</a:t>
            </a:r>
          </a:p>
        </p:txBody>
      </p:sp>
      <p:sp>
        <p:nvSpPr>
          <p:cNvPr id="264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D3A52"/>
                </a:solidFill>
                <a:latin typeface="Noto Sans Mono"/>
              </a:rPr>
              <a:t>PHASE 04</a:t>
            </a:r>
          </a:p>
        </p:txBody>
      </p:sp>
      <p:sp>
        <p:nvSpPr>
          <p:cNvPr id="265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Module design</a:t>
            </a:r>
          </a:p>
        </p:txBody>
      </p:sp>
      <p:sp>
        <p:nvSpPr>
          <p:cNvPr id="266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8A6F2E"/>
                </a:solidFill>
                <a:latin typeface="Noto Sans Mono"/>
              </a:rPr>
              <a:t>TEST 04</a:t>
            </a:r>
          </a:p>
        </p:txBody>
      </p:sp>
      <p:sp>
        <p:nvSpPr>
          <p:cNvPr id="267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Unit testing</a:t>
            </a:r>
          </a:p>
        </p:txBody>
      </p:sp>
      <p:sp>
        <p:nvSpPr>
          <p:cNvPr id="268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D3A52"/>
                </a:solidFill>
                <a:latin typeface="Noto Sans Mono"/>
              </a:rPr>
              <a:t>UNIT TESTS</a:t>
            </a:r>
          </a:p>
        </p:txBody>
      </p:sp>
      <p:sp>
        <p:nvSpPr>
          <p:cNvPr id="269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spc="84" cap="all">
                <a:solidFill>
                  <a:srgbClr val="C9A24A"/>
                </a:solidFill>
                <a:latin typeface="Noto Sans Mono"/>
              </a:rPr>
              <a:t>PIVOT</a:t>
            </a:r>
          </a:p>
        </p:txBody>
      </p:sp>
      <p:sp>
        <p:nvSpPr>
          <p:cNvPr id="270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-13">
                <a:solidFill>
                  <a:srgbClr val="FFFFFF"/>
                </a:solidFill>
                <a:latin typeface="Noto Sans Medium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Layout · title accent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0B1A33"/>
                </a:solidFill>
                <a:latin typeface="Noto Sans Light"/>
              </a:rPr>
              <a:t>Feinschliff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0B1A33"/>
                </a:solidFill>
                <a:latin typeface="Noto Sans Light"/>
              </a:rPr>
              <a:t>showcase deck.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Layout · title ink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FFFFFF"/>
                </a:solidFill>
                <a:latin typeface="Noto Sans Light"/>
              </a:rPr>
              <a:t>Title slide,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FFFFFF"/>
                </a:solidFill>
                <a:latin typeface="Noto Sans Light"/>
              </a:rPr>
              <a:t>dark variant.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Layout · title + picture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Title with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a picture.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Full-bleed image on the right half, title stacked on the left. Logo and page meta sit on top.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Layout · agenda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spc="-56">
                <a:solidFill>
                  <a:srgbClr val="0B1A33"/>
                </a:solidFill>
                <a:latin typeface="Noto Sans Light"/>
              </a:rPr>
              <a:t>Agenda placeholder.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01 / 06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Item 01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Description for item 01.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02 / 06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Item 02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Description for item 02.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03 / 06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7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Item 03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Description for item 03.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29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04 / 06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Item 04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Description for item 04.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05 / 06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Item 05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Description for item 05.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5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06 / 06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36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Item 06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37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Description for item 06.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Layout · chapter accent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0B1A33"/>
                </a:solidFill>
                <a:latin typeface="Noto Sans Light"/>
              </a:rPr>
              <a:t>01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0B1A33"/>
                </a:solidFill>
                <a:latin typeface="Noto Sans Light"/>
              </a:rPr>
              <a:t>Chapter.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Layout · chapter ink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Noto Sans Light"/>
              </a:rPr>
              <a:t>02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Noto Sans Light"/>
              </a:rPr>
              <a:t>Chapter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Noto Sans Light"/>
              </a:rPr>
              <a:t>&amp; Picture.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Layout · KPI grid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Headline numbers.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Metric 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Caption 1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62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k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Metric 2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Caption 2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14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bn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Metric 3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Caption 3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40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35"/>
          </p:nvPr>
        </p:nvSpPr>
        <p:spPr/>
        <p:txBody>
          <a:bodyPr/>
          <a:lstStyle/>
          <a:p>
            <a:pPr marL="0" indent="0" algn="l">
              <a:buNone/>
            </a:pPr>
            <a:r>
              <a:t/>
            </a:r>
            <a:endParaRPr lang="en-US"/>
          </a:p>
        </p:txBody>
      </p:sp>
      <p:sp>
        <p:nvSpPr>
          <p:cNvPr id="16" name="Text Placeholder 15"/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Metric 4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7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Caption 4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6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100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7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Layout · 2-column cards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Two columns.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01 · Column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Lead sentence for the first column.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Supporting detail line two.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02 · Column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Lead sentence for the second column.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Supporting detail line two.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Layout · 3-column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Three columns.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Column one.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Description for the first column.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02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Column two.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Description for the second column.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03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7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Column three.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Description for the third column.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Layout · 4-column cards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Four columns.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Q1 · Phase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B1A33"/>
                </a:solidFill>
                <a:latin typeface="Noto Sans Medium"/>
              </a:rPr>
              <a:t>Lead sentence for phase one.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Supporting detail.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Q2 · Phase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B1A33"/>
                </a:solidFill>
                <a:latin typeface="Noto Sans Medium"/>
              </a:rPr>
              <a:t>Lead sentence for phase two.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Supporting detail.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Q3 · Phase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7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B1A33"/>
                </a:solidFill>
                <a:latin typeface="Noto Sans Medium"/>
              </a:rPr>
              <a:t>Lead sentence for phase three.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Supporting detail.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29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Q4 · Phase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B1A33"/>
                </a:solidFill>
                <a:latin typeface="Noto Sans Medium"/>
              </a:rPr>
              <a:t>Lead sentence for phase four.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Supporting detail.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Layout · text + picture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Text paired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with a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picture.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Body copy on one side, image frame on the other. Replace via /deck.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Layout · full-bleed cover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3600" spc="-108">
                <a:solidFill>
                  <a:srgbClr val="0B1A33"/>
                </a:solidFill>
                <a:latin typeface="Noto Sans Light"/>
              </a:rPr>
              <a:t>An image does</a:t>
            </a:r>
          </a:p>
          <a:p>
            <a:pPr marL="0" indent="0" algn="l">
              <a:buNone/>
            </a:pPr>
            <a:r>
              <a:rPr lang="en-US" sz="3600" spc="-108">
                <a:solidFill>
                  <a:srgbClr val="0B1A33"/>
                </a:solidFill>
                <a:latin typeface="Noto Sans Light"/>
              </a:rPr>
              <a:t>the talking.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Layout · bar chart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Headline takeaway from the chart.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Bar A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62%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Bar B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24%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Bar C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11%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Bar D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7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3%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4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Source · placeholder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Layout · components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UI library preview.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200" spc="-105">
                <a:solidFill>
                  <a:srgbClr val="0B1A33"/>
                </a:solidFill>
                <a:latin typeface="Noto Sans Light"/>
              </a:rPr>
              <a:t>“A short, memorable line that earns its full slide.”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000" spc="120" cap="all">
                <a:solidFill>
                  <a:srgbClr val="0B1A33"/>
                </a:solidFill>
                <a:latin typeface="Noto Sans Mono"/>
              </a:rPr>
              <a:t>Attribution · placeholder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000" spc="-350">
                <a:solidFill>
                  <a:srgbClr val="0B1A33"/>
                </a:solidFill>
                <a:latin typeface="Noto Sans Light"/>
              </a:rPr>
              <a:t>Thank you.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Feinschliff · v0.1 ·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Layout · funnel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Headline takeaway about the funnel drop-off.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Stage 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D3A52"/>
                </a:solidFill>
                <a:latin typeface="Noto Sans"/>
              </a:rPr>
              <a:t>Description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1700" spc="-34">
                <a:solidFill>
                  <a:srgbClr val="0B1A33"/>
                </a:solidFill>
                <a:latin typeface="Noto Sans Light"/>
              </a:rPr>
              <a:t>100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D3A52"/>
                </a:solidFill>
                <a:latin typeface="Noto Sans Mono"/>
              </a:rPr>
              <a:t>100%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Stage 2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D3A52"/>
                </a:solidFill>
                <a:latin typeface="Noto Sans"/>
              </a:rPr>
              <a:t>Description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1700" spc="-34">
                <a:solidFill>
                  <a:srgbClr val="0B1A33"/>
                </a:solidFill>
                <a:latin typeface="Noto Sans Light"/>
              </a:rPr>
              <a:t>84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7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D3A52"/>
                </a:solidFill>
                <a:latin typeface="Noto Sans Mono"/>
              </a:rPr>
              <a:t>84%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Stage 3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29"/>
          </p:nvPr>
        </p:nvSpPr>
        <p:spPr/>
        <p:txBody>
          <a:bodyPr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D3A52"/>
                </a:solidFill>
                <a:latin typeface="Noto Sans"/>
              </a:rPr>
              <a:t>Description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1700" spc="-34">
                <a:solidFill>
                  <a:srgbClr val="0B1A33"/>
                </a:solidFill>
                <a:latin typeface="Noto Sans Light"/>
              </a:rPr>
              <a:t>62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D3A52"/>
                </a:solidFill>
                <a:latin typeface="Noto Sans Mono"/>
              </a:rPr>
              <a:t>62%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Stage 4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D3A52"/>
                </a:solidFill>
                <a:latin typeface="Noto Sans"/>
              </a:rPr>
              <a:t>Description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1700" spc="-34">
                <a:solidFill>
                  <a:srgbClr val="0B1A33"/>
                </a:solidFill>
                <a:latin typeface="Noto Sans Light"/>
              </a:rPr>
              <a:t>36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5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D3A52"/>
                </a:solidFill>
                <a:latin typeface="Noto Sans Mono"/>
              </a:rPr>
              <a:t>36%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5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2300" spc="-46">
                <a:solidFill>
                  <a:srgbClr val="C9A24A"/>
                </a:solidFill>
                <a:latin typeface="Noto Sans Light"/>
              </a:rPr>
              <a:t>−22 pt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5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Stage 1 → 2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idx="52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2D3A52"/>
                </a:solidFill>
                <a:latin typeface="Noto Sans"/>
              </a:rPr>
              <a:t>Annotation explaining the largest drop-off.</a:t>
            </a:r>
          </a:p>
        </p:txBody>
      </p:sp>
      <p:sp>
        <p:nvSpPr>
          <p:cNvPr id="23" name="Text Placeholder 22"/>
          <p:cNvSpPr>
            <a:spLocks noGrp="1"/>
          </p:cNvSpPr>
          <p:nvPr>
            <p:ph type="body" idx="54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2300" spc="-46">
                <a:solidFill>
                  <a:srgbClr val="C9A24A"/>
                </a:solidFill>
                <a:latin typeface="Noto Sans Light"/>
              </a:rPr>
              <a:t>−14 pt</a:t>
            </a:r>
          </a:p>
        </p:txBody>
      </p:sp>
      <p:sp>
        <p:nvSpPr>
          <p:cNvPr id="24" name="Text Placeholder 23"/>
          <p:cNvSpPr>
            <a:spLocks noGrp="1"/>
          </p:cNvSpPr>
          <p:nvPr>
            <p:ph type="body" idx="55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Stage 3 → 4</a:t>
            </a:r>
          </a:p>
        </p:txBody>
      </p:sp>
      <p:sp>
        <p:nvSpPr>
          <p:cNvPr id="25" name="Text Placeholder 24"/>
          <p:cNvSpPr>
            <a:spLocks noGrp="1"/>
          </p:cNvSpPr>
          <p:nvPr>
            <p:ph type="body" idx="56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2D3A52"/>
                </a:solidFill>
                <a:latin typeface="Noto Sans"/>
              </a:rPr>
              <a:t>Annotation explaining the secondary drop-off.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Layout · line chart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Headline takeaway from the trend over time.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P1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P2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P3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P4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P5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0B1A33"/>
                </a:solidFill>
                <a:latin typeface="Noto Sans Medium"/>
              </a:rPr>
              <a:t>Series A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0B1A33"/>
                </a:solidFill>
                <a:latin typeface="Noto Sans Medium"/>
              </a:rPr>
              <a:t>Series B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4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placeholder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Layout · waterfall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Headline takeaway about the bridge.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1200">
                <a:solidFill>
                  <a:srgbClr val="0B1A33"/>
                </a:solidFill>
                <a:latin typeface="Noto Sans Mono"/>
              </a:rPr>
              <a:t>13.4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Base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+0.6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Step 1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+0.4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9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Step 2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+0.3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Step 3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6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−0.3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37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Step 4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40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−0.2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4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Step 5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44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1200">
                <a:solidFill>
                  <a:srgbClr val="0B1A33"/>
                </a:solidFill>
                <a:latin typeface="Noto Sans Mono"/>
              </a:rPr>
              <a:t>14.1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45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Total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6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placeholder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Layout · stacked bar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Headline takeaway about the mix over time.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11.9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P1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12.4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P2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12.9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P3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13.4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P4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14.1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P5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40"/>
          </p:nvPr>
        </p:nvSpPr>
        <p:spPr/>
        <p:txBody>
          <a:bodyPr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Series A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4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35">
                <a:solidFill>
                  <a:srgbClr val="2D3A52"/>
                </a:solidFill>
                <a:latin typeface="Noto Sans Mono"/>
              </a:rPr>
              <a:t>−6% · 5y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42"/>
          </p:nvPr>
        </p:nvSpPr>
        <p:spPr/>
        <p:txBody>
          <a:bodyPr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Series B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43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35">
                <a:solidFill>
                  <a:srgbClr val="2D3A52"/>
                </a:solidFill>
                <a:latin typeface="Noto Sans Mono"/>
              </a:rPr>
              <a:t>+31% · 5y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44"/>
          </p:nvPr>
        </p:nvSpPr>
        <p:spPr/>
        <p:txBody>
          <a:bodyPr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Series C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45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35">
                <a:solidFill>
                  <a:srgbClr val="2D3A52"/>
                </a:solidFill>
                <a:latin typeface="Noto Sans Mono"/>
              </a:rPr>
              <a:t>+31% · 5y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46"/>
          </p:nvPr>
        </p:nvSpPr>
        <p:spPr/>
        <p:txBody>
          <a:bodyPr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Series D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idx="47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35">
                <a:solidFill>
                  <a:srgbClr val="2D3A52"/>
                </a:solidFill>
                <a:latin typeface="Noto Sans Mono"/>
              </a:rPr>
              <a:t>+367% · 5y</a:t>
            </a:r>
          </a:p>
        </p:txBody>
      </p:sp>
      <p:sp>
        <p:nvSpPr>
          <p:cNvPr id="23" name="Text Placeholder 22"/>
          <p:cNvSpPr>
            <a:spLocks noGrp="1"/>
          </p:cNvSpPr>
          <p:nvPr>
            <p:ph type="body" idx="6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placeholder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Layout · 2×2 matrix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Headline takeaway about prioritisation.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Top-right item.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0B1A33"/>
                </a:solidFill>
                <a:latin typeface="Noto Sans"/>
              </a:rPr>
              <a:t>High-impact, low-effort initiative.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Top-left item.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D3A52"/>
                </a:solidFill>
                <a:latin typeface="Noto Sans"/>
              </a:rPr>
              <a:t>High-impact, high-effort initiative.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Bottom-right item.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9"/>
          </p:nvPr>
        </p:nvSpPr>
        <p:spPr/>
        <p:txBody>
          <a:bodyPr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D3A52"/>
                </a:solidFill>
                <a:latin typeface="Noto Sans"/>
              </a:rPr>
              <a:t>Low-impact, low-effort initiative.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Bottom-left item.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D3A52"/>
                </a:solidFill>
                <a:latin typeface="Noto Sans"/>
              </a:rPr>
              <a:t>Low-impact, high-effort initiative.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4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Effort to ship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42"/>
          </p:nvPr>
        </p:nvSpPr>
        <p:spPr/>
        <p:txBody>
          <a:bodyPr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Layout · Gantt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Headline takeaway about the delivery plan.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Q1 · Plan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Q2 · Build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Q3 · Pilot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Q4 · Scale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Workstream 1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Owner · Team A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Workstream 2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Owner · Team B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Workstream 3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Owner · Team C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Workstream 4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Owner · Team D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4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0B1A33"/>
                </a:solidFill>
                <a:latin typeface="Noto Sans Mono"/>
              </a:rPr>
              <a:t>Milestone 1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43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Noto Sans Mono"/>
              </a:rPr>
              <a:t>Milestone 2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47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0B1A33"/>
                </a:solidFill>
                <a:latin typeface="Noto Sans Mono"/>
              </a:rPr>
              <a:t>Milestone 3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5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Noto Sans Mono"/>
              </a:rPr>
              <a:t>Preview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5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0B1A33"/>
                </a:solidFill>
                <a:latin typeface="Noto Sans Mono"/>
              </a:rPr>
              <a:t>GA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6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Committed · Critical path · Dependency window · Milestone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Layout · Venn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Headline takeaway about the intersection of three sets.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Set A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700" spc="56">
                <a:solidFill>
                  <a:srgbClr val="2D3A52"/>
                </a:solidFill>
                <a:latin typeface="Noto Sans Mono"/>
              </a:rPr>
              <a:t>Description A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Set B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700" spc="56">
                <a:solidFill>
                  <a:srgbClr val="2D3A52"/>
                </a:solidFill>
                <a:latin typeface="Noto Sans Mono"/>
              </a:rPr>
              <a:t>Description B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Set C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9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700" spc="56">
                <a:solidFill>
                  <a:srgbClr val="2D3A52"/>
                </a:solidFill>
                <a:latin typeface="Noto Sans Mono"/>
              </a:rPr>
              <a:t>Description C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1A33"/>
                </a:solidFill>
                <a:latin typeface="Noto Sans Medium"/>
              </a:rPr>
              <a:t>Overlap A∩B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1A33"/>
                </a:solidFill>
                <a:latin typeface="Noto Sans Medium"/>
              </a:rPr>
              <a:t>Overlap B∩C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1A33"/>
                </a:solidFill>
                <a:latin typeface="Noto Sans Medium"/>
              </a:rPr>
              <a:t>Overlap A∩C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0B1A33"/>
                </a:solidFill>
                <a:latin typeface="Noto Sans"/>
              </a:rPr>
              <a:t>Center</a:t>
            </a:r>
          </a:p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0B1A33"/>
                </a:solidFill>
                <a:latin typeface="Noto Sans"/>
              </a:rPr>
              <a:t>A∩B∩C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4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01 · A × B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41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Overlap label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42"/>
          </p:nvPr>
        </p:nvSpPr>
        <p:spPr/>
        <p:txBody>
          <a:bodyPr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D3A52"/>
                </a:solidFill>
                <a:latin typeface="Noto Sans"/>
              </a:rPr>
              <a:t>Description of the A × B intersection.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44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02 · B × 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45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Overlap label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46"/>
          </p:nvPr>
        </p:nvSpPr>
        <p:spPr/>
        <p:txBody>
          <a:bodyPr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D3A52"/>
                </a:solidFill>
                <a:latin typeface="Noto Sans"/>
              </a:rPr>
              <a:t>Description of the B × C intersection.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48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03 · A × C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49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Overlap label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idx="50"/>
          </p:nvPr>
        </p:nvSpPr>
        <p:spPr/>
        <p:txBody>
          <a:bodyPr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D3A52"/>
                </a:solidFill>
                <a:latin typeface="Noto Sans"/>
              </a:rPr>
              <a:t>Description of the A × C intersection.</a:t>
            </a:r>
          </a:p>
        </p:txBody>
      </p:sp>
      <p:sp>
        <p:nvSpPr>
          <p:cNvPr id="23" name="Text Placeholder 22"/>
          <p:cNvSpPr>
            <a:spLocks noGrp="1"/>
          </p:cNvSpPr>
          <p:nvPr>
            <p:ph type="body" idx="52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Center</a:t>
            </a:r>
          </a:p>
        </p:txBody>
      </p:sp>
      <p:sp>
        <p:nvSpPr>
          <p:cNvPr id="24" name="Text Placeholder 23"/>
          <p:cNvSpPr>
            <a:spLocks noGrp="1"/>
          </p:cNvSpPr>
          <p:nvPr>
            <p:ph type="body" idx="53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Triple overlap</a:t>
            </a:r>
          </a:p>
        </p:txBody>
      </p:sp>
      <p:sp>
        <p:nvSpPr>
          <p:cNvPr id="25" name="Text Placeholder 24"/>
          <p:cNvSpPr>
            <a:spLocks noGrp="1"/>
          </p:cNvSpPr>
          <p:nvPr>
            <p:ph type="body" idx="54"/>
          </p:nvPr>
        </p:nvSpPr>
        <p:spPr/>
        <p:txBody>
          <a:bodyPr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D3A52"/>
                </a:solidFill>
                <a:latin typeface="Noto Sans"/>
              </a:rPr>
              <a:t>Description of the central intersection.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Layout · scorecard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Headline takeaway about portfolio health.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D3A52"/>
                </a:solidFill>
                <a:latin typeface="Noto Sans Mono"/>
              </a:rPr>
              <a:t>P1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D3A52"/>
                </a:solidFill>
                <a:latin typeface="Noto Sans Mono"/>
              </a:rPr>
              <a:t>P2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D3A52"/>
                </a:solidFill>
                <a:latin typeface="Noto Sans Mono"/>
              </a:rPr>
              <a:t>P3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D3A52"/>
                </a:solidFill>
                <a:latin typeface="Noto Sans Mono"/>
              </a:rPr>
              <a:t>P4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0B1A33"/>
                </a:solidFill>
                <a:latin typeface="Noto Sans Medium"/>
              </a:rPr>
              <a:t>Workstream 1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0B1A33"/>
                </a:solidFill>
                <a:latin typeface="Noto Sans Medium"/>
              </a:rPr>
              <a:t>Workstream 2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0B1A33"/>
                </a:solidFill>
                <a:latin typeface="Noto Sans Medium"/>
              </a:rPr>
              <a:t>Workstream 3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0B1A33"/>
                </a:solidFill>
                <a:latin typeface="Noto Sans Medium"/>
              </a:rPr>
              <a:t>Workstream 4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43"/>
          </p:nvPr>
        </p:nvSpPr>
        <p:spPr/>
        <p:txBody>
          <a:bodyPr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Annotation for cell P3 / row 1.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48"/>
          </p:nvPr>
        </p:nvSpPr>
        <p:spPr/>
        <p:txBody>
          <a:bodyPr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Annotation for cell P3 / row 2.</a:t>
            </a:r>
          </a:p>
        </p:txBody>
      </p:sp>
      <p:sp>
        <p:nvSpPr>
          <p:cNvPr id="23" name="Text Placeholder 22"/>
          <p:cNvSpPr>
            <a:spLocks noGrp="1"/>
          </p:cNvSpPr>
          <p:nvPr>
            <p:ph type="body" idx="53"/>
          </p:nvPr>
        </p:nvSpPr>
        <p:spPr/>
        <p:txBody>
          <a:bodyPr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Annotation for cell P3 / row 3.</a:t>
            </a:r>
          </a:p>
        </p:txBody>
      </p:sp>
      <p:sp>
        <p:nvSpPr>
          <p:cNvPr id="27" name="Text Placeholder 26"/>
          <p:cNvSpPr>
            <a:spLocks noGrp="1"/>
          </p:cNvSpPr>
          <p:nvPr>
            <p:ph type="body" idx="58"/>
          </p:nvPr>
        </p:nvSpPr>
        <p:spPr/>
        <p:txBody>
          <a:bodyPr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Annotation for cell P3 / row 4.</a:t>
            </a:r>
          </a:p>
        </p:txBody>
      </p:sp>
      <p:sp>
        <p:nvSpPr>
          <p:cNvPr id="28" name="Text Placeholder 27"/>
          <p:cNvSpPr>
            <a:spLocks noGrp="1"/>
          </p:cNvSpPr>
          <p:nvPr>
            <p:ph type="body" idx="6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placeholder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Layout · pyramid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Headline takeaway about the value hierarchy.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Apex line.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Tier 03 · Apex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Description of the top tier.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Noto Sans Medium"/>
              </a:rPr>
              <a:t>Middle line.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Tier 02 · Middle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Description of the middle tier.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Noto Sans Medium"/>
              </a:rPr>
              <a:t>Base line.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Tier 01 · Foundation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29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Description of the base tier.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Layout · process flow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Five stages, one highlighted as active.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8A6F2E"/>
                </a:solidFill>
                <a:latin typeface="Noto Sans Mono"/>
              </a:rPr>
              <a:t>01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Stage 1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Description for stage 1.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8A6F2E"/>
                </a:solidFill>
                <a:latin typeface="Noto Sans Mono"/>
              </a:rPr>
              <a:t>02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Stage 2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Description for stage 2.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03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9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Stage 3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"/>
              </a:rPr>
              <a:t>Description for stage 3.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8A6F2E"/>
                </a:solidFill>
                <a:latin typeface="Noto Sans Mono"/>
              </a:rPr>
              <a:t>04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Stage 4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Description for stage 4.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36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8A6F2E"/>
                </a:solidFill>
                <a:latin typeface="Noto Sans Mono"/>
              </a:rPr>
              <a:t>05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37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Stage 5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8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Description for stage 5.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6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Source · placeholder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Layout · graphical bars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Headline takeaway from the chart.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Bar A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62%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Bar B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24%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Bar C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9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11%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Bar D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3%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6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placeholder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Layout · action title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0B1A33"/>
                </a:solidFill>
                <a:latin typeface="Noto Sans Medium"/>
              </a:rPr>
              <a:t>Full-sentence takeaway that states the recommendation directly.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Supporting paragraph that explains the evidence behind the recommendation in two or three sentences.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+18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%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KPI label 1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Caption 1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2.3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×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KPI label 2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27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Caption 2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6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placeholder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Layout · horizontal bullets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Three structured takeaways across one row.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Heading 1.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Bullet 1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Bullet 2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Bullet 3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02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Heading 2.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Bullet 1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Bullet 2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Bullet 3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03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9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Heading 3.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Bullet 1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Bullet 2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Bullet 3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6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Source · placeholder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Layout · vertical bullets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Six numbered rows, plan-of-record style.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Subtitle line one.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01 / 06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Item 01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Description for item 01.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02 / 06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Item 02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Description for item 02.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03 / 06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27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Item 03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Description for item 03.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29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04 / 06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Item 04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Description for item 04.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05 / 06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Item 05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Description for item 05.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35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06 / 06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36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Item 06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idx="37"/>
          </p:nvPr>
        </p:nvSpPr>
        <p:spPr/>
        <p:txBody>
          <a:bodyPr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Description for item 06.</a:t>
            </a:r>
          </a:p>
        </p:txBody>
      </p:sp>
      <p:sp>
        <p:nvSpPr>
          <p:cNvPr id="23" name="Text Placeholder 22"/>
          <p:cNvSpPr>
            <a:spLocks noGrp="1"/>
          </p:cNvSpPr>
          <p:nvPr>
            <p:ph type="body" idx="12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Subtitle line two.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Layout · table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Headline takeaway about the table data.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Column 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Column 2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Column 3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Column 4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Column 5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Row 1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Row 2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Row 3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Row 4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Row 5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40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Cell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41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Cell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42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Cell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43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Cell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44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Cell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45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Cell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46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Cell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47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Cell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idx="48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Cell</a:t>
            </a:r>
          </a:p>
        </p:txBody>
      </p:sp>
      <p:sp>
        <p:nvSpPr>
          <p:cNvPr id="23" name="Text Placeholder 22"/>
          <p:cNvSpPr>
            <a:spLocks noGrp="1"/>
          </p:cNvSpPr>
          <p:nvPr>
            <p:ph type="body" idx="49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Cell</a:t>
            </a:r>
          </a:p>
        </p:txBody>
      </p:sp>
      <p:sp>
        <p:nvSpPr>
          <p:cNvPr id="24" name="Text Placeholder 23"/>
          <p:cNvSpPr>
            <a:spLocks noGrp="1"/>
          </p:cNvSpPr>
          <p:nvPr>
            <p:ph type="body" idx="50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Cell</a:t>
            </a:r>
          </a:p>
        </p:txBody>
      </p:sp>
      <p:sp>
        <p:nvSpPr>
          <p:cNvPr id="25" name="Text Placeholder 24"/>
          <p:cNvSpPr>
            <a:spLocks noGrp="1"/>
          </p:cNvSpPr>
          <p:nvPr>
            <p:ph type="body" idx="51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Cell</a:t>
            </a:r>
          </a:p>
        </p:txBody>
      </p:sp>
      <p:sp>
        <p:nvSpPr>
          <p:cNvPr id="26" name="Text Placeholder 25"/>
          <p:cNvSpPr>
            <a:spLocks noGrp="1"/>
          </p:cNvSpPr>
          <p:nvPr>
            <p:ph type="body" idx="52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Cell</a:t>
            </a:r>
          </a:p>
        </p:txBody>
      </p:sp>
      <p:sp>
        <p:nvSpPr>
          <p:cNvPr id="27" name="Text Placeholder 26"/>
          <p:cNvSpPr>
            <a:spLocks noGrp="1"/>
          </p:cNvSpPr>
          <p:nvPr>
            <p:ph type="body" idx="53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Cell</a:t>
            </a:r>
          </a:p>
        </p:txBody>
      </p:sp>
      <p:sp>
        <p:nvSpPr>
          <p:cNvPr id="28" name="Text Placeholder 27"/>
          <p:cNvSpPr>
            <a:spLocks noGrp="1"/>
          </p:cNvSpPr>
          <p:nvPr>
            <p:ph type="body" idx="54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Cell</a:t>
            </a:r>
          </a:p>
        </p:txBody>
      </p:sp>
      <p:sp>
        <p:nvSpPr>
          <p:cNvPr id="29" name="Text Placeholder 28"/>
          <p:cNvSpPr>
            <a:spLocks noGrp="1"/>
          </p:cNvSpPr>
          <p:nvPr>
            <p:ph type="body" idx="55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Cell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56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Cell</a:t>
            </a:r>
          </a:p>
        </p:txBody>
      </p:sp>
      <p:sp>
        <p:nvSpPr>
          <p:cNvPr id="31" name="Text Placeholder 30"/>
          <p:cNvSpPr>
            <a:spLocks noGrp="1"/>
          </p:cNvSpPr>
          <p:nvPr>
            <p:ph type="body" idx="57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Cell</a:t>
            </a:r>
          </a:p>
        </p:txBody>
      </p:sp>
      <p:sp>
        <p:nvSpPr>
          <p:cNvPr id="32" name="Text Placeholder 31"/>
          <p:cNvSpPr>
            <a:spLocks noGrp="1"/>
          </p:cNvSpPr>
          <p:nvPr>
            <p:ph type="body" idx="58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Cell</a:t>
            </a:r>
          </a:p>
        </p:txBody>
      </p:sp>
      <p:sp>
        <p:nvSpPr>
          <p:cNvPr id="33" name="Text Placeholder 32"/>
          <p:cNvSpPr>
            <a:spLocks noGrp="1"/>
          </p:cNvSpPr>
          <p:nvPr>
            <p:ph type="body" idx="59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Cell</a:t>
            </a:r>
          </a:p>
        </p:txBody>
      </p:sp>
      <p:sp>
        <p:nvSpPr>
          <p:cNvPr id="34" name="Text Placeholder 33"/>
          <p:cNvSpPr>
            <a:spLocks noGrp="1"/>
          </p:cNvSpPr>
          <p:nvPr>
            <p:ph type="body" idx="6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placeholder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Layout · key takeaways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50" b="1" spc="-28">
                <a:solidFill>
                  <a:srgbClr val="FFFFFF"/>
                </a:solidFill>
                <a:latin typeface="Noto Sans"/>
              </a:rPr>
              <a:t>Three things to remember from this section.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Noto Sans Medium"/>
              </a:rPr>
              <a:t>Takeaway 1.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A9BCD6"/>
                </a:solidFill>
                <a:latin typeface="Noto Sans"/>
              </a:rPr>
              <a:t>One- or two-sentence elaboration of the first takeaway.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5A6478"/>
                </a:solidFill>
                <a:latin typeface="Noto Sans Mono"/>
              </a:rPr>
              <a:t>Owner · Role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02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Noto Sans Medium"/>
              </a:rPr>
              <a:t>Takeaway 2.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A9BCD6"/>
                </a:solidFill>
                <a:latin typeface="Noto Sans"/>
              </a:rPr>
              <a:t>One- or two-sentence elaboration of the second takeaway.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7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5A6478"/>
                </a:solidFill>
                <a:latin typeface="Noto Sans Mono"/>
              </a:rPr>
              <a:t>Owner · Role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03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29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Noto Sans Medium"/>
              </a:rPr>
              <a:t>Takeaway 3.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A9BCD6"/>
                </a:solidFill>
                <a:latin typeface="Noto Sans"/>
              </a:rPr>
              <a:t>One- or two-sentence elaboration of the third takeaway.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5A6478"/>
                </a:solidFill>
                <a:latin typeface="Noto Sans Mono"/>
              </a:rPr>
              <a:t>Owner · Role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Layout · executive summary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One-line summary statement that frames the entire deck.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Two-to-three-sentence paragraph that elaborates on the headline and points to the supporting evidence.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C9A24A"/>
                </a:solidFill>
                <a:latin typeface="Noto Sans Mono"/>
              </a:rPr>
              <a:t>Insights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Insight 1.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Description of insight 1.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Insight 2.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Description of insight 2.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Insight 3.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Description of insight 3.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27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Insight 4.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Description of insight 4.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C9A24A"/>
                </a:solidFill>
                <a:latin typeface="Noto Sans Mono"/>
              </a:rPr>
              <a:t>Next steps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Next step 1.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Description of next step 1.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Next step 2.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Description of next step 2.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5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Next step 3.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36"/>
          </p:nvPr>
        </p:nvSpPr>
        <p:spPr/>
        <p:txBody>
          <a:bodyPr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Description of next step 3.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37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Next step 4.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idx="38"/>
          </p:nvPr>
        </p:nvSpPr>
        <p:spPr/>
        <p:txBody>
          <a:bodyPr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Description of next step 4.</a:t>
            </a:r>
          </a:p>
        </p:txBody>
      </p:sp>
      <p:sp>
        <p:nvSpPr>
          <p:cNvPr id="23" name="Text Placeholder 22"/>
          <p:cNvSpPr>
            <a:spLocks noGrp="1"/>
          </p:cNvSpPr>
          <p:nvPr>
            <p:ph type="body" idx="50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2800" spc="-56">
                <a:solidFill>
                  <a:srgbClr val="0B1A33"/>
                </a:solidFill>
                <a:latin typeface="Noto Sans Light"/>
              </a:rPr>
              <a:t>+5.1</a:t>
            </a:r>
          </a:p>
        </p:txBody>
      </p:sp>
      <p:sp>
        <p:nvSpPr>
          <p:cNvPr id="24" name="Text Placeholder 23"/>
          <p:cNvSpPr>
            <a:spLocks noGrp="1"/>
          </p:cNvSpPr>
          <p:nvPr>
            <p:ph type="body" idx="5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%</a:t>
            </a:r>
          </a:p>
        </p:txBody>
      </p:sp>
      <p:sp>
        <p:nvSpPr>
          <p:cNvPr id="25" name="Text Placeholder 24"/>
          <p:cNvSpPr>
            <a:spLocks noGrp="1"/>
          </p:cNvSpPr>
          <p:nvPr>
            <p:ph type="body" idx="52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D3A52"/>
                </a:solidFill>
                <a:latin typeface="Noto Sans Mono"/>
              </a:rPr>
              <a:t>KPI label 1</a:t>
            </a:r>
          </a:p>
        </p:txBody>
      </p:sp>
      <p:sp>
        <p:nvSpPr>
          <p:cNvPr id="26" name="Text Placeholder 25"/>
          <p:cNvSpPr>
            <a:spLocks noGrp="1"/>
          </p:cNvSpPr>
          <p:nvPr>
            <p:ph type="body" idx="53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2800" spc="-56">
                <a:solidFill>
                  <a:srgbClr val="0B1A33"/>
                </a:solidFill>
                <a:latin typeface="Noto Sans Light"/>
              </a:rPr>
              <a:t>2.4</a:t>
            </a:r>
          </a:p>
        </p:txBody>
      </p:sp>
      <p:sp>
        <p:nvSpPr>
          <p:cNvPr id="27" name="Text Placeholder 26"/>
          <p:cNvSpPr>
            <a:spLocks noGrp="1"/>
          </p:cNvSpPr>
          <p:nvPr>
            <p:ph type="body" idx="54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M</a:t>
            </a:r>
          </a:p>
        </p:txBody>
      </p:sp>
      <p:sp>
        <p:nvSpPr>
          <p:cNvPr id="28" name="Text Placeholder 27"/>
          <p:cNvSpPr>
            <a:spLocks noGrp="1"/>
          </p:cNvSpPr>
          <p:nvPr>
            <p:ph type="body" idx="55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D3A52"/>
                </a:solidFill>
                <a:latin typeface="Noto Sans Mono"/>
              </a:rPr>
              <a:t>KPI label 2</a:t>
            </a:r>
          </a:p>
        </p:txBody>
      </p:sp>
      <p:sp>
        <p:nvSpPr>
          <p:cNvPr id="29" name="Text Placeholder 28"/>
          <p:cNvSpPr>
            <a:spLocks noGrp="1"/>
          </p:cNvSpPr>
          <p:nvPr>
            <p:ph type="body" idx="56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2800" spc="-56">
                <a:solidFill>
                  <a:srgbClr val="0B1A33"/>
                </a:solidFill>
                <a:latin typeface="Noto Sans Light"/>
              </a:rPr>
              <a:t>37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57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/>
            </a:r>
          </a:p>
        </p:txBody>
      </p:sp>
      <p:sp>
        <p:nvSpPr>
          <p:cNvPr id="31" name="Text Placeholder 30"/>
          <p:cNvSpPr>
            <a:spLocks noGrp="1"/>
          </p:cNvSpPr>
          <p:nvPr>
            <p:ph type="body" idx="58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D3A52"/>
                </a:solidFill>
                <a:latin typeface="Noto Sans Mono"/>
              </a:rPr>
              <a:t>KPI label 3</a:t>
            </a:r>
          </a:p>
        </p:txBody>
      </p:sp>
      <p:sp>
        <p:nvSpPr>
          <p:cNvPr id="32" name="Text Placeholder 31"/>
          <p:cNvSpPr>
            <a:spLocks noGrp="1"/>
          </p:cNvSpPr>
          <p:nvPr>
            <p:ph type="body" idx="6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Source · placeholder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Verification · Validation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spc="-39">
                <a:solidFill>
                  <a:srgbClr val="0B1A33"/>
                </a:solidFill>
                <a:latin typeface="Noto Sans Medium"/>
              </a:rPr>
              <a:t>Every design step on the left has a matching test on the right.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D3A52"/>
                </a:solidFill>
                <a:latin typeface="Noto Sans Mono"/>
              </a:rPr>
              <a:t>Phase 01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Requirement gathering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8A6F2E"/>
                </a:solidFill>
                <a:latin typeface="Noto Sans Mono"/>
              </a:rPr>
              <a:t>Test 01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Acceptance testing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D3A52"/>
                </a:solidFill>
                <a:latin typeface="Noto Sans Mono"/>
              </a:rPr>
              <a:t>Acceptance plan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D3A52"/>
                </a:solidFill>
                <a:latin typeface="Noto Sans Mono"/>
              </a:rPr>
              <a:t>Phase 02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System analysis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7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8A6F2E"/>
                </a:solidFill>
                <a:latin typeface="Noto Sans Mono"/>
              </a:rPr>
              <a:t>Test 02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System testing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29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D3A52"/>
                </a:solidFill>
                <a:latin typeface="Noto Sans Mono"/>
              </a:rPr>
              <a:t>System test plan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D3A52"/>
                </a:solidFill>
                <a:latin typeface="Noto Sans Mono"/>
              </a:rPr>
              <a:t>Phase 03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Software design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8A6F2E"/>
                </a:solidFill>
                <a:latin typeface="Noto Sans Mono"/>
              </a:rPr>
              <a:t>Test 03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Integration testing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D3A52"/>
                </a:solidFill>
                <a:latin typeface="Noto Sans Mono"/>
              </a:rPr>
              <a:t>Integration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5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D3A52"/>
                </a:solidFill>
                <a:latin typeface="Noto Sans Mono"/>
              </a:rPr>
              <a:t>Phase 04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36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Module design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37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8A6F2E"/>
                </a:solidFill>
                <a:latin typeface="Noto Sans Mono"/>
              </a:rPr>
              <a:t>Test 04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idx="38"/>
          </p:nvPr>
        </p:nvSpPr>
        <p:spPr/>
        <p:txBody>
          <a:bodyPr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Unit testing</a:t>
            </a:r>
          </a:p>
        </p:txBody>
      </p:sp>
      <p:sp>
        <p:nvSpPr>
          <p:cNvPr id="23" name="Text Placeholder 22"/>
          <p:cNvSpPr>
            <a:spLocks noGrp="1"/>
          </p:cNvSpPr>
          <p:nvPr>
            <p:ph type="body" idx="39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D3A52"/>
                </a:solidFill>
                <a:latin typeface="Noto Sans Mono"/>
              </a:rPr>
              <a:t>Unit tests</a:t>
            </a:r>
          </a:p>
        </p:txBody>
      </p:sp>
      <p:sp>
        <p:nvSpPr>
          <p:cNvPr id="24" name="Text Placeholder 23"/>
          <p:cNvSpPr>
            <a:spLocks noGrp="1"/>
          </p:cNvSpPr>
          <p:nvPr>
            <p:ph type="body" idx="40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600" spc="84" cap="all">
                <a:solidFill>
                  <a:srgbClr val="C9A24A"/>
                </a:solidFill>
                <a:latin typeface="Noto Sans Mono"/>
              </a:rPr>
              <a:t>Pivot</a:t>
            </a:r>
          </a:p>
        </p:txBody>
      </p:sp>
      <p:sp>
        <p:nvSpPr>
          <p:cNvPr id="25" name="Text Placeholder 24"/>
          <p:cNvSpPr>
            <a:spLocks noGrp="1"/>
          </p:cNvSpPr>
          <p:nvPr>
            <p:ph type="body" idx="4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1100" spc="-13">
                <a:solidFill>
                  <a:srgbClr val="FFFFFF"/>
                </a:solidFill>
                <a:latin typeface="Noto Sans Medium"/>
              </a:rPr>
              <a:t>Coding &amp; implementation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einschliff">
      <a:dk1>
        <a:sysClr val="windowText" lastClr="0B1A33"/>
      </a:dk1>
      <a:lt1>
        <a:sysClr val="window" lastClr="FFFFFF"/>
      </a:lt1>
      <a:dk2>
        <a:srgbClr val="0B1A33"/>
      </a:dk2>
      <a:lt2>
        <a:srgbClr val="FAF8F3"/>
      </a:lt2>
      <a:accent1>
        <a:srgbClr val="C9A24A"/>
      </a:accent1>
      <a:accent2>
        <a:srgbClr val="E4C27A"/>
      </a:accent2>
      <a:accent3>
        <a:srgbClr val="2D3A52"/>
      </a:accent3>
      <a:accent4>
        <a:srgbClr val="5A6478"/>
      </a:accent4>
      <a:accent5>
        <a:srgbClr val="A9BCD6"/>
      </a:accent5>
      <a:accent6>
        <a:srgbClr val="D6D1C2"/>
      </a:accent6>
      <a:hlink>
        <a:srgbClr val="8A6F2E"/>
      </a:hlink>
      <a:folHlink>
        <a:srgbClr val="C9A24A"/>
      </a:folHlink>
    </a:clrScheme>
    <a:fontScheme name="Feinschliff">
      <a:majorFont>
        <a:latin typeface="Noto Sans" panose="020B0604020202020204"/>
        <a:ea typeface=""/>
        <a:cs typeface=""/>
      </a:majorFont>
      <a:minorFont>
        <a:latin typeface="Noto Sans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