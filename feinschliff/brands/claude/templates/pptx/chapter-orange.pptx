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Claude · Showcase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A SHOWCASE OF THE FEINSCHLIFF 2026 SYSTEM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Feinschliff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showcase deck.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Claude · Showcase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TITLE SLIDE · INK VARIANT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Copernicus Light"/>
              </a:rPr>
              <a:t>The same wordmark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Copernicus Light"/>
              </a:rPr>
              <a:t>in a darker room.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Title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03 · TITLE + PICTURE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Pair a title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with a product.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ONLY TITLE LAYOUT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What we'll cover.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01 / 06</a:t>
            </a:r>
          </a:p>
        </p:txBody>
      </p:sp>
      <p:sp>
        <p:nvSpPr>
          <p:cNvPr id="12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Brand mark</a:t>
            </a:r>
          </a:p>
        </p:txBody>
      </p:sp>
      <p:sp>
        <p:nvSpPr>
          <p:cNvPr id="13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Wordmark, contrast, clear space.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02 / 06</a:t>
            </a:r>
          </a:p>
        </p:txBody>
      </p:sp>
      <p:sp>
        <p:nvSpPr>
          <p:cNvPr id="16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Colour</a:t>
            </a:r>
          </a:p>
        </p:txBody>
      </p:sp>
      <p:sp>
        <p:nvSpPr>
          <p:cNvPr id="17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One orange, seven neutrals.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03 / 06</a:t>
            </a:r>
          </a:p>
        </p:txBody>
      </p:sp>
      <p:sp>
        <p:nvSpPr>
          <p:cNvPr id="20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Type</a:t>
            </a:r>
          </a:p>
        </p:txBody>
      </p:sp>
      <p:sp>
        <p:nvSpPr>
          <p:cNvPr id="21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Noto Sans, 28pt titles.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04 / 06</a:t>
            </a:r>
          </a:p>
        </p:txBody>
      </p:sp>
      <p:sp>
        <p:nvSpPr>
          <p:cNvPr id="24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Layouts</a:t>
            </a:r>
          </a:p>
        </p:txBody>
      </p:sp>
      <p:sp>
        <p:nvSpPr>
          <p:cNvPr id="25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Chapter, content, picture,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05 / 06</a:t>
            </a:r>
          </a:p>
        </p:txBody>
      </p:sp>
      <p:sp>
        <p:nvSpPr>
          <p:cNvPr id="28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Components</a:t>
            </a:r>
          </a:p>
        </p:txBody>
      </p:sp>
      <p:sp>
        <p:nvSpPr>
          <p:cNvPr id="29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Buttons, chips, KPIs, rules.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06 / 06</a:t>
            </a:r>
          </a:p>
        </p:txBody>
      </p:sp>
      <p:sp>
        <p:nvSpPr>
          <p:cNvPr id="32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Voice</a:t>
            </a:r>
          </a:p>
        </p:txBody>
      </p:sp>
      <p:sp>
        <p:nvSpPr>
          <p:cNvPr id="33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spc="-440" b="0">
                <a:solidFill>
                  <a:srgbClr val="141413">
                    <a:alpha val="22000"/>
                  </a:srgbClr>
                </a:solidFill>
                <a:latin typeface="Copernicus Light"/>
              </a:rPr>
              <a:t>01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CHAPTER OPENER · ORANGE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8255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01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6C6A64"/>
                </a:solidFill>
                <a:latin typeface="JetBrains Mono"/>
              </a:rPr>
              <a:t>EDITORIAL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Chapter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7940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0734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CHAPTER OPENER · INK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29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02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Colour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Company ·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FIGURES AT A GLANCE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Feinschliff in numbers.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55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Key"/>
          <p:cNvSpPr>
            <a:spLocks noGrp="1"/>
          </p:cNvSpPr>
          <p:nvPr>
            <p:ph type="body" idx="20"/>
          </p:nvPr>
        </p:nvSpPr>
        <p:spPr>
          <a:xfrm>
            <a:off x="889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EMPLOYEES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1"/>
          </p:nvPr>
        </p:nvSpPr>
        <p:spPr>
          <a:xfrm>
            <a:off x="889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+3% YoY</a:t>
            </a:r>
          </a:p>
        </p:txBody>
      </p:sp>
      <p:sp>
        <p:nvSpPr>
          <p:cNvPr id="16" name="KPI 1 Value"/>
          <p:cNvSpPr>
            <a:spLocks noGrp="1"/>
          </p:cNvSpPr>
          <p:nvPr>
            <p:ph type="body" idx="30"/>
          </p:nvPr>
        </p:nvSpPr>
        <p:spPr>
          <a:xfrm>
            <a:off x="889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62</a:t>
            </a:r>
          </a:p>
        </p:txBody>
      </p:sp>
      <p:sp>
        <p:nvSpPr>
          <p:cNvPr id="17" name="KPI 1 Unit"/>
          <p:cNvSpPr>
            <a:spLocks noGrp="1"/>
          </p:cNvSpPr>
          <p:nvPr>
            <p:ph type="body" idx="31"/>
          </p:nvPr>
        </p:nvSpPr>
        <p:spPr>
          <a:xfrm>
            <a:off x="2095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55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55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KPI 2 Key"/>
          <p:cNvSpPr>
            <a:spLocks noGrp="1"/>
          </p:cNvSpPr>
          <p:nvPr>
            <p:ph type="body" idx="22"/>
          </p:nvPr>
        </p:nvSpPr>
        <p:spPr>
          <a:xfrm>
            <a:off x="3619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REVENUE · EUR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3"/>
          </p:nvPr>
        </p:nvSpPr>
        <p:spPr>
          <a:xfrm>
            <a:off x="3619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+5.1% YoY</a:t>
            </a:r>
          </a:p>
        </p:txBody>
      </p:sp>
      <p:sp>
        <p:nvSpPr>
          <p:cNvPr id="23" name="KPI 2 Value"/>
          <p:cNvSpPr>
            <a:spLocks noGrp="1"/>
          </p:cNvSpPr>
          <p:nvPr>
            <p:ph type="body" idx="32"/>
          </p:nvPr>
        </p:nvSpPr>
        <p:spPr>
          <a:xfrm>
            <a:off x="3619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14</a:t>
            </a:r>
          </a:p>
        </p:txBody>
      </p:sp>
      <p:sp>
        <p:nvSpPr>
          <p:cNvPr id="24" name="KPI 2 Unit"/>
          <p:cNvSpPr>
            <a:spLocks noGrp="1"/>
          </p:cNvSpPr>
          <p:nvPr>
            <p:ph type="body" idx="33"/>
          </p:nvPr>
        </p:nvSpPr>
        <p:spPr>
          <a:xfrm>
            <a:off x="4826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 bn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265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3 Key"/>
          <p:cNvSpPr>
            <a:spLocks noGrp="1"/>
          </p:cNvSpPr>
          <p:nvPr>
            <p:ph type="body" idx="24"/>
          </p:nvPr>
        </p:nvSpPr>
        <p:spPr>
          <a:xfrm>
            <a:off x="6350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FACTORIES WORLDWIDE</a:t>
            </a:r>
          </a:p>
        </p:txBody>
      </p:sp>
      <p:sp>
        <p:nvSpPr>
          <p:cNvPr id="29" name="KPI 3 Delta"/>
          <p:cNvSpPr>
            <a:spLocks noGrp="1"/>
          </p:cNvSpPr>
          <p:nvPr>
            <p:ph type="body" idx="25"/>
          </p:nvPr>
        </p:nvSpPr>
        <p:spPr>
          <a:xfrm>
            <a:off x="6350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8 regions</a:t>
            </a:r>
          </a:p>
        </p:txBody>
      </p:sp>
      <p:sp>
        <p:nvSpPr>
          <p:cNvPr id="30" name="KPI 3 Value"/>
          <p:cNvSpPr>
            <a:spLocks noGrp="1"/>
          </p:cNvSpPr>
          <p:nvPr>
            <p:ph type="body" idx="34"/>
          </p:nvPr>
        </p:nvSpPr>
        <p:spPr>
          <a:xfrm>
            <a:off x="6350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40</a:t>
            </a:r>
          </a:p>
        </p:txBody>
      </p:sp>
      <p:sp>
        <p:nvSpPr>
          <p:cNvPr id="31" name="KPI 3 Unit"/>
          <p:cNvSpPr>
            <a:spLocks noGrp="1"/>
          </p:cNvSpPr>
          <p:nvPr>
            <p:ph type="body" idx="35"/>
          </p:nvPr>
        </p:nvSpPr>
        <p:spPr>
          <a:xfrm>
            <a:off x="7556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8265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265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557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KPI 4 Key"/>
          <p:cNvSpPr>
            <a:spLocks noGrp="1"/>
          </p:cNvSpPr>
          <p:nvPr>
            <p:ph type="body" idx="26"/>
          </p:nvPr>
        </p:nvSpPr>
        <p:spPr>
          <a:xfrm>
            <a:off x="9080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GREEN ELECTRICITY</a:t>
            </a:r>
          </a:p>
        </p:txBody>
      </p:sp>
      <p:sp>
        <p:nvSpPr>
          <p:cNvPr id="36" name="KPI 4 Delta"/>
          <p:cNvSpPr>
            <a:spLocks noGrp="1"/>
          </p:cNvSpPr>
          <p:nvPr>
            <p:ph type="body" idx="27"/>
          </p:nvPr>
        </p:nvSpPr>
        <p:spPr>
          <a:xfrm>
            <a:off x="9080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since 2020</a:t>
            </a:r>
          </a:p>
        </p:txBody>
      </p:sp>
      <p:sp>
        <p:nvSpPr>
          <p:cNvPr id="37" name="KPI 4 Value"/>
          <p:cNvSpPr>
            <a:spLocks noGrp="1"/>
          </p:cNvSpPr>
          <p:nvPr>
            <p:ph type="body" idx="36"/>
          </p:nvPr>
        </p:nvSpPr>
        <p:spPr>
          <a:xfrm>
            <a:off x="9080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100</a:t>
            </a:r>
          </a:p>
        </p:txBody>
      </p:sp>
      <p:sp>
        <p:nvSpPr>
          <p:cNvPr id="38" name="KPI 4 Unit"/>
          <p:cNvSpPr>
            <a:spLocks noGrp="1"/>
          </p:cNvSpPr>
          <p:nvPr>
            <p:ph type="body" idx="37"/>
          </p:nvPr>
        </p:nvSpPr>
        <p:spPr>
          <a:xfrm>
            <a:off x="10287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2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TWO COLUMNS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Two halves, one frame.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 · CONSUMER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Products designed around daily use, not corner-case specs.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Ship features users actually touch — fewer modes, sharper defaults, faster onboarding.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 · PLATFORM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A shared software backbone across every product we build.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3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THREE PILLARS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Consumer, commercial, platform.</a:t>
            </a:r>
          </a:p>
        </p:txBody>
      </p:sp>
      <p:sp>
        <p:nvSpPr>
          <p:cNvPr id="10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</a:t>
            </a:r>
          </a:p>
        </p:txBody>
      </p:sp>
      <p:sp>
        <p:nvSpPr>
          <p:cNvPr id="11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Consumer.</a:t>
            </a:r>
          </a:p>
        </p:txBody>
      </p:sp>
      <p:sp>
        <p:nvSpPr>
          <p:cNvPr id="12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Brand A, Brand B, Brand C, Brand D — placeholder column copy.</a:t>
            </a:r>
          </a:p>
        </p:txBody>
      </p:sp>
      <p:sp>
        <p:nvSpPr>
          <p:cNvPr id="13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</a:t>
            </a:r>
          </a:p>
        </p:txBody>
      </p:sp>
      <p:sp>
        <p:nvSpPr>
          <p:cNvPr id="14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Commercial.</a:t>
            </a:r>
          </a:p>
        </p:txBody>
      </p:sp>
      <p:sp>
        <p:nvSpPr>
          <p:cNvPr id="15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Products engineered for the commercial sector — hotels, retail, services, multi-site.</a:t>
            </a:r>
          </a:p>
        </p:txBody>
      </p:sp>
      <p:sp>
        <p:nvSpPr>
          <p:cNvPr id="16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</a:t>
            </a:r>
          </a:p>
        </p:txBody>
      </p:sp>
      <p:sp>
        <p:nvSpPr>
          <p:cNvPr id="17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Platform.</a:t>
            </a:r>
          </a:p>
        </p:txBody>
      </p:sp>
      <p:sp>
        <p:nvSpPr>
          <p:cNvPr id="18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Roadmap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PLAN, BUILD, PILOT, SCALE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The year, in four quarters.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Q1 · PLAN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Align the 2026 product roadmap across regions.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Finalise priorities, staff crews, lock budget.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Q2 · BUILD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Ship the platform foundations and first feature set.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New OS core, updated Platform SDK.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Q3 · PILOT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Field-test with 2,000 customers across three regions.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Instrument, measure, iterate weekly.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Q4 · SCALE</a:t>
            </a:r>
          </a:p>
        </p:txBody>
      </p:sp>
      <p:sp>
        <p:nvSpPr>
          <p:cNvPr id="24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Roll out globally with phased regional launches.</a:t>
            </a:r>
          </a:p>
        </p:txBody>
      </p:sp>
      <p:sp>
        <p:nvSpPr>
          <p:cNvPr id="25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text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FLAGSHIP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A flagship that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learns the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user.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Read the brief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FULL-BLEED COVER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141413"/>
                </a:solidFill>
                <a:latin typeface="Copernicus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141413"/>
                </a:solidFill>
                <a:latin typeface="Copernicus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Data · Q3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EMEA still leads; NAM closing the gap.</a:t>
            </a:r>
          </a:p>
        </p:txBody>
      </p:sp>
      <p:sp>
        <p:nvSpPr>
          <p:cNvPr id="10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EMEA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62%</a:t>
            </a:r>
          </a:p>
        </p:txBody>
      </p:sp>
      <p:sp>
        <p:nvSpPr>
          <p:cNvPr id="14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NAM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24%</a:t>
            </a:r>
          </a:p>
        </p:txBody>
      </p:sp>
      <p:sp>
        <p:nvSpPr>
          <p:cNvPr id="18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APAC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11%</a:t>
            </a:r>
          </a:p>
        </p:txBody>
      </p:sp>
      <p:sp>
        <p:nvSpPr>
          <p:cNvPr id="22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LATAM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3%</a:t>
            </a:r>
          </a:p>
        </p:txBody>
      </p:sp>
      <p:sp>
        <p:nvSpPr>
          <p:cNvPr id="26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UI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UI LIBRARY PREVIEW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Flat, sharp, quiet components.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BUTTONS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Primary  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141413"/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FFFFFF"/>
                </a:solidFill>
                <a:latin typeface="Copernicus Medium"/>
              </a:rPr>
              <a:t>Default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Ghost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TAGS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PRODUCTION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FEATURED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BETA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ARCHIVED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RULES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SECTION · 56 × 1 · 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EMPHASIS · 80 × 4 · ORANGE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2667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Quote"/>
          <p:cNvSpPr>
            <a:spLocks noGrp="1"/>
          </p:cNvSpPr>
          <p:nvPr>
            <p:ph type="title"/>
          </p:nvPr>
        </p:nvSpPr>
        <p:spPr>
          <a:xfrm>
            <a:off x="635000" y="2921000"/>
            <a:ext cx="8890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spc="-105">
                <a:solidFill>
                  <a:srgbClr val="141413"/>
                </a:solidFill>
                <a:latin typeface="Copernicus Light"/>
              </a:rPr>
              <a:t>“Write like an engineer explaining their work to a colleague they respect. Short sentences. Concrete nouns. No superlatives.”</a:t>
            </a:r>
          </a:p>
        </p:txBody>
      </p:sp>
      <p:sp>
        <p:nvSpPr>
          <p:cNvPr id="9" name="Attribu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 spc="120" cap="all">
                <a:solidFill>
                  <a:srgbClr val="141413"/>
                </a:solidFill>
                <a:latin typeface="JetBrains Mono"/>
              </a:rPr>
              <a:t>FEINSCHLIFF.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635000" y="2667000"/>
            <a:ext cx="10922000" cy="177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0" spc="-350">
                <a:solidFill>
                  <a:srgbClr val="141413"/>
                </a:solidFill>
                <a:latin typeface="Copernicus Light"/>
              </a:rPr>
              <a:t>Thank you.</a:t>
            </a:r>
          </a:p>
        </p:txBody>
      </p:sp>
      <p:sp>
        <p:nvSpPr>
          <p:cNvPr id="9" name="Caption"/>
          <p:cNvSpPr>
            <a:spLocks noGrp="1"/>
          </p:cNvSpPr>
          <p:nvPr>
            <p:ph type="body" idx="10"/>
          </p:nvPr>
        </p:nvSpPr>
        <p:spPr>
          <a:xfrm>
            <a:off x="635000" y="4572000"/>
            <a:ext cx="10922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FEINSCHLIFF. DESIGN SYSTEM · V1.0 · 2026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Graphical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EMEA still leads; NAM closing the gap.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EMEA</a:t>
            </a:r>
          </a:p>
        </p:txBody>
      </p:sp>
      <p:sp>
        <p:nvSpPr>
          <p:cNvPr id="19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62%</a:t>
            </a:r>
          </a:p>
        </p:txBody>
      </p:sp>
      <p:sp>
        <p:nvSpPr>
          <p:cNvPr id="20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NAM</a:t>
            </a:r>
          </a:p>
        </p:txBody>
      </p:sp>
      <p:sp>
        <p:nvSpPr>
          <p:cNvPr id="21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24%</a:t>
            </a:r>
          </a:p>
        </p:txBody>
      </p:sp>
      <p:sp>
        <p:nvSpPr>
          <p:cNvPr id="22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APAC</a:t>
            </a:r>
          </a:p>
        </p:txBody>
      </p:sp>
      <p:sp>
        <p:nvSpPr>
          <p:cNvPr id="23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LATAM</a:t>
            </a:r>
          </a:p>
        </p:txBody>
      </p:sp>
      <p:sp>
        <p:nvSpPr>
          <p:cNvPr id="25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3%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MCK · Action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ACTION-TITLE LAYOUT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141413"/>
                </a:solidFill>
                <a:latin typeface="Copernicu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9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0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+18</a:t>
            </a:r>
          </a:p>
        </p:txBody>
      </p:sp>
      <p:sp>
        <p:nvSpPr>
          <p:cNvPr id="11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12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ACTIVE TIME / WEEK</a:t>
            </a:r>
          </a:p>
        </p:txBody>
      </p:sp>
      <p:sp>
        <p:nvSpPr>
          <p:cNvPr id="13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vs. prior platform</a:t>
            </a:r>
          </a:p>
        </p:txBody>
      </p:sp>
      <p:sp>
        <p:nvSpPr>
          <p:cNvPr id="14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2.3</a:t>
            </a:r>
          </a:p>
        </p:txBody>
      </p:sp>
      <p:sp>
        <p:nvSpPr>
          <p:cNvPr id="15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×</a:t>
            </a:r>
          </a:p>
        </p:txBody>
      </p:sp>
      <p:sp>
        <p:nvSpPr>
          <p:cNvPr id="16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APP OPEN RATE</a:t>
            </a:r>
          </a:p>
        </p:txBody>
      </p:sp>
      <p:sp>
        <p:nvSpPr>
          <p:cNvPr id="17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trailing 30 days</a:t>
            </a:r>
          </a:p>
        </p:txBody>
      </p:sp>
      <p:sp>
        <p:nvSpPr>
          <p:cNvPr id="1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Horizontal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CONTEXT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Three forces pull the 2026 roadmap: regulation, margin, and shared software.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 · REGULATION</a:t>
            </a:r>
          </a:p>
        </p:txBody>
      </p:sp>
      <p:sp>
        <p:nvSpPr>
          <p:cNvPr id="13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Energy and repair rules are tightening across EMEA.</a:t>
            </a:r>
          </a:p>
        </p:txBody>
      </p:sp>
      <p:sp>
        <p:nvSpPr>
          <p:cNvPr id="14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Refrigerant phase-down accelerates for commercial lines.</a:t>
            </a:r>
          </a:p>
        </p:txBody>
      </p:sp>
      <p:sp>
        <p:nvSpPr>
          <p:cNvPr id="15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 · MARGIN</a:t>
            </a:r>
          </a:p>
        </p:txBody>
      </p:sp>
      <p:sp>
        <p:nvSpPr>
          <p:cNvPr id="16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Component cost is stable but service cost is climbing.</a:t>
            </a:r>
          </a:p>
        </p:txBody>
      </p:sp>
      <p:sp>
        <p:nvSpPr>
          <p:cNvPr id="17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Remote-diagnosis deflection saves an average 38 EUR / visit.</a:t>
            </a:r>
          </a:p>
        </p:txBody>
      </p:sp>
      <p:sp>
        <p:nvSpPr>
          <p:cNvPr id="18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 · PLATFORM</a:t>
            </a:r>
          </a:p>
        </p:txBody>
      </p:sp>
      <p:sp>
        <p:nvSpPr>
          <p:cNvPr id="19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The platform is becoming the product, not an add-on.</a:t>
            </a:r>
          </a:p>
        </p:txBody>
      </p:sp>
      <p:sp>
        <p:nvSpPr>
          <p:cNvPr id="20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Shared telemetry unlocks usage-driven feature priority.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Vertical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PLAN OF RECORD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Five moves define the first half: consolidate, instrument, retire, pilot, publish.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01 / 06</a:t>
            </a:r>
          </a:p>
        </p:txBody>
      </p:sp>
      <p:sp>
        <p:nvSpPr>
          <p:cNvPr id="13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Consolidate the firmware stack.</a:t>
            </a:r>
          </a:p>
        </p:txBody>
      </p:sp>
      <p:sp>
        <p:nvSpPr>
          <p:cNvPr id="14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Move the remaining three product lines onto the unified OS core by end of Q2.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02 / 06</a:t>
            </a:r>
          </a:p>
        </p:txBody>
      </p:sp>
      <p:sp>
        <p:nvSpPr>
          <p:cNvPr id="17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Instrument every SKU.</a:t>
            </a:r>
          </a:p>
        </p:txBody>
      </p:sp>
      <p:sp>
        <p:nvSpPr>
          <p:cNvPr id="18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Every production unit leaving the factory reports health and usage by default.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03 / 06</a:t>
            </a:r>
          </a:p>
        </p:txBody>
      </p:sp>
      <p:sp>
        <p:nvSpPr>
          <p:cNvPr id="21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Retire the legacy app.</a:t>
            </a:r>
          </a:p>
        </p:txBody>
      </p:sp>
      <p:sp>
        <p:nvSpPr>
          <p:cNvPr id="22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Archive the legacy companion app once the new platform reaches 70% coverage.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04 / 06</a:t>
            </a:r>
          </a:p>
        </p:txBody>
      </p:sp>
      <p:sp>
        <p:nvSpPr>
          <p:cNvPr id="25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Pilot guided sessions.</a:t>
            </a:r>
          </a:p>
        </p:txBody>
      </p:sp>
      <p:sp>
        <p:nvSpPr>
          <p:cNvPr id="26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Run a two-thousand-customer test of the adaptive programme across three regions.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05 / 06</a:t>
            </a:r>
          </a:p>
        </p:txBody>
      </p:sp>
      <p:sp>
        <p:nvSpPr>
          <p:cNvPr id="29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Publish the API.</a:t>
            </a:r>
          </a:p>
        </p:txBody>
      </p:sp>
      <p:sp>
        <p:nvSpPr>
          <p:cNvPr id="30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Open the developer preview to partners at the end of H1.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06 / 06</a:t>
            </a:r>
          </a:p>
        </p:txBody>
      </p:sp>
      <p:sp>
        <p:nvSpPr>
          <p:cNvPr id="33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Review monthly.</a:t>
            </a:r>
          </a:p>
        </p:txBody>
      </p:sp>
      <p:sp>
        <p:nvSpPr>
          <p:cNvPr id="34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Each move is owned by one VP and reviewed at the monthly operating meeting.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2×2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PRIORITISATION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Invest in the top-right quadrant first: high impact, low lift.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252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Triangle 15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252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252523"/>
                </a:solidFill>
                <a:latin typeface="JetBrains Mono"/>
              </a:rP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Q1 · HIGH IMPACT · LOW LIFT</a:t>
            </a:r>
          </a:p>
        </p:txBody>
      </p:sp>
      <p:sp>
        <p:nvSpPr>
          <p:cNvPr id="22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Guided sessions on the flagship line.</a:t>
            </a:r>
          </a:p>
        </p:txBody>
      </p:sp>
      <p:sp>
        <p:nvSpPr>
          <p:cNvPr id="23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"/>
              </a:rPr>
              <a:t>Ships on existing hardware; telemetry already collected; known user need.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Q2 · HIGH IMPACT · HIGH LIFT</a:t>
            </a:r>
          </a:p>
        </p:txBody>
      </p:sp>
      <p:sp>
        <p:nvSpPr>
          <p:cNvPr id="25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Full remote diagnosis across every product line.</a:t>
            </a:r>
          </a:p>
        </p:txBody>
      </p:sp>
      <p:sp>
        <p:nvSpPr>
          <p:cNvPr id="26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Large prize; requires firmware convergence and a new field-service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Q3 · LOW IMPACT · LOW LIFT</a:t>
            </a:r>
          </a:p>
        </p:txBody>
      </p:sp>
      <p:sp>
        <p:nvSpPr>
          <p:cNvPr id="28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Cosmetic refresh of onboarding.</a:t>
            </a:r>
          </a:p>
        </p:txBody>
      </p:sp>
      <p:sp>
        <p:nvSpPr>
          <p:cNvPr id="29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Cheap to do; metrics rarely move meaningfully.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Q4 · LOW IMPACT · HIGH LIFT</a:t>
            </a:r>
          </a:p>
        </p:txBody>
      </p:sp>
      <p:sp>
        <p:nvSpPr>
          <p:cNvPr id="31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Voice control expansion.</a:t>
            </a:r>
          </a:p>
        </p:txBody>
      </p:sp>
      <p:sp>
        <p:nvSpPr>
          <p:cNvPr id="32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Significant engineering and QA cost; adoption has plateaued.</a:t>
            </a:r>
          </a:p>
        </p:txBody>
      </p:sp>
      <p:sp>
        <p:nvSpPr>
          <p:cNvPr id="33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EFFORT TO SHIP</a:t>
            </a:r>
          </a:p>
        </p:txBody>
      </p:sp>
      <p:sp>
        <p:nvSpPr>
          <p:cNvPr id="34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Waterfall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REVENUE BRIDGE · EUR BN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Revenue grows 5.1% YoY; platform and services offset a mild decline in legacy 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6C6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6C6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41413"/>
                </a:solidFill>
                <a:latin typeface="JetBrains Mono"/>
              </a:rPr>
              <a:t>13.4</a:t>
            </a:r>
          </a:p>
        </p:txBody>
      </p:sp>
      <p:sp>
        <p:nvSpPr>
          <p:cNvPr id="37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FY24 BASE</a:t>
            </a:r>
          </a:p>
        </p:txBody>
      </p:sp>
      <p:sp>
        <p:nvSpPr>
          <p:cNvPr id="38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+0.6</a:t>
            </a:r>
          </a:p>
        </p:txBody>
      </p:sp>
      <p:sp>
        <p:nvSpPr>
          <p:cNvPr id="39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CONSUMER</a:t>
            </a:r>
          </a:p>
        </p:txBody>
      </p:sp>
      <p:sp>
        <p:nvSpPr>
          <p:cNvPr id="40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+0.4</a:t>
            </a:r>
          </a:p>
        </p:txBody>
      </p:sp>
      <p:sp>
        <p:nvSpPr>
          <p:cNvPr id="41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PLATFORM</a:t>
            </a:r>
          </a:p>
        </p:txBody>
      </p:sp>
      <p:sp>
        <p:nvSpPr>
          <p:cNvPr id="42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+0.3</a:t>
            </a:r>
          </a:p>
        </p:txBody>
      </p:sp>
      <p:sp>
        <p:nvSpPr>
          <p:cNvPr id="43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SERVICES</a:t>
            </a:r>
          </a:p>
        </p:txBody>
      </p:sp>
      <p:sp>
        <p:nvSpPr>
          <p:cNvPr id="44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−0.3</a:t>
            </a:r>
          </a:p>
        </p:txBody>
      </p:sp>
      <p:sp>
        <p:nvSpPr>
          <p:cNvPr id="45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LEGACY</a:t>
            </a:r>
          </a:p>
        </p:txBody>
      </p:sp>
      <p:sp>
        <p:nvSpPr>
          <p:cNvPr id="46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−0.2</a:t>
            </a:r>
          </a:p>
        </p:txBody>
      </p:sp>
      <p:sp>
        <p:nvSpPr>
          <p:cNvPr id="47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FX</a:t>
            </a:r>
          </a:p>
        </p:txBody>
      </p:sp>
      <p:sp>
        <p:nvSpPr>
          <p:cNvPr id="48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41413"/>
                </a:solidFill>
                <a:latin typeface="JetBrains Mono"/>
              </a:rPr>
              <a:t>14.1</a:t>
            </a:r>
          </a:p>
        </p:txBody>
      </p:sp>
      <p:sp>
        <p:nvSpPr>
          <p:cNvPr id="49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FY25 TOTAL</a:t>
            </a:r>
          </a:p>
        </p:txBody>
      </p:sp>
      <p:sp>
        <p:nvSpPr>
          <p:cNvPr id="5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Process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DELIVERY SEQUENCE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Five stages · pilot highlights the current phase.</a:t>
            </a:r>
          </a:p>
        </p:txBody>
      </p:sp>
      <p:sp>
        <p:nvSpPr>
          <p:cNvPr id="10" name="Pentagon 9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01</a:t>
            </a:r>
          </a:p>
        </p:txBody>
      </p:sp>
      <p:sp>
        <p:nvSpPr>
          <p:cNvPr id="16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Frame</a:t>
            </a:r>
          </a:p>
        </p:txBody>
      </p:sp>
      <p:sp>
        <p:nvSpPr>
          <p:cNvPr id="17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Clarify the problem and the one outcome that matters.</a:t>
            </a:r>
          </a:p>
        </p:txBody>
      </p:sp>
      <p:sp>
        <p:nvSpPr>
          <p:cNvPr id="18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02</a:t>
            </a:r>
          </a:p>
        </p:txBody>
      </p:sp>
      <p:sp>
        <p:nvSpPr>
          <p:cNvPr id="19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Prototype</a:t>
            </a:r>
          </a:p>
        </p:txBody>
      </p:sp>
      <p:sp>
        <p:nvSpPr>
          <p:cNvPr id="20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Build the thin vertical slice end-to-end.</a:t>
            </a:r>
          </a:p>
        </p:txBody>
      </p:sp>
      <p:sp>
        <p:nvSpPr>
          <p:cNvPr id="21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03</a:t>
            </a:r>
          </a:p>
        </p:txBody>
      </p:sp>
      <p:sp>
        <p:nvSpPr>
          <p:cNvPr id="22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Pilot</a:t>
            </a:r>
          </a:p>
        </p:txBody>
      </p:sp>
      <p:sp>
        <p:nvSpPr>
          <p:cNvPr id="23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"/>
              </a:rPr>
              <a:t>Run it with real users on real data.</a:t>
            </a:r>
          </a:p>
        </p:txBody>
      </p:sp>
      <p:sp>
        <p:nvSpPr>
          <p:cNvPr id="24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04</a:t>
            </a:r>
          </a:p>
        </p:txBody>
      </p:sp>
      <p:sp>
        <p:nvSpPr>
          <p:cNvPr id="25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Harden</a:t>
            </a:r>
          </a:p>
        </p:txBody>
      </p:sp>
      <p:sp>
        <p:nvSpPr>
          <p:cNvPr id="26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Fix what the pilot surfaces; add observability.</a:t>
            </a:r>
          </a:p>
        </p:txBody>
      </p:sp>
      <p:sp>
        <p:nvSpPr>
          <p:cNvPr id="27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05</a:t>
            </a:r>
          </a:p>
        </p:txBody>
      </p:sp>
      <p:sp>
        <p:nvSpPr>
          <p:cNvPr id="28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Scale</a:t>
            </a:r>
          </a:p>
        </p:txBody>
      </p:sp>
      <p:sp>
        <p:nvSpPr>
          <p:cNvPr id="29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 out to remaining regions and SKUs.</a:t>
            </a:r>
          </a:p>
        </p:txBody>
      </p:sp>
      <p:sp>
        <p:nvSpPr>
          <p:cNvPr id="3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Data · Revenue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MIX ·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Platform revenue is the fastest-growing share; legacy hardware is flat in absolute terms.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4.2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2.1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1.4</a:t>
            </a:r>
          </a:p>
        </p:txBody>
      </p:sp>
      <p:sp>
        <p:nvSpPr>
          <p:cNvPr id="48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11.9</a:t>
            </a:r>
          </a:p>
        </p:txBody>
      </p:sp>
      <p:sp>
        <p:nvSpPr>
          <p:cNvPr id="49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FY21</a:t>
            </a:r>
          </a:p>
        </p:txBody>
      </p:sp>
      <p:sp>
        <p:nvSpPr>
          <p:cNvPr id="50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12.4</a:t>
            </a:r>
          </a:p>
        </p:txBody>
      </p:sp>
      <p:sp>
        <p:nvSpPr>
          <p:cNvPr id="51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FY22</a:t>
            </a:r>
          </a:p>
        </p:txBody>
      </p:sp>
      <p:sp>
        <p:nvSpPr>
          <p:cNvPr id="52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12.9</a:t>
            </a:r>
          </a:p>
        </p:txBody>
      </p:sp>
      <p:sp>
        <p:nvSpPr>
          <p:cNvPr id="53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FY23</a:t>
            </a:r>
          </a:p>
        </p:txBody>
      </p:sp>
      <p:sp>
        <p:nvSpPr>
          <p:cNvPr id="54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13.4</a:t>
            </a:r>
          </a:p>
        </p:txBody>
      </p:sp>
      <p:sp>
        <p:nvSpPr>
          <p:cNvPr id="55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FY24</a:t>
            </a:r>
          </a:p>
        </p:txBody>
      </p:sp>
      <p:sp>
        <p:nvSpPr>
          <p:cNvPr id="56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14.1</a:t>
            </a:r>
          </a:p>
        </p:txBody>
      </p:sp>
      <p:sp>
        <p:nvSpPr>
          <p:cNvPr id="57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FY25</a:t>
            </a:r>
          </a:p>
        </p:txBody>
      </p:sp>
      <p:sp>
        <p:nvSpPr>
          <p:cNvPr id="58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141413"/>
                </a:solidFill>
                <a:latin typeface="JetBrains Mono"/>
              </a:rPr>
              <a:t>SEGMENT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Legacy hardware</a:t>
            </a:r>
          </a:p>
        </p:txBody>
      </p:sp>
      <p:sp>
        <p:nvSpPr>
          <p:cNvPr id="61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−6% · 5y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Consumer products</a:t>
            </a:r>
          </a:p>
        </p:txBody>
      </p:sp>
      <p:sp>
        <p:nvSpPr>
          <p:cNvPr id="64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+31%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Commercial</a:t>
            </a:r>
          </a:p>
        </p:txBody>
      </p:sp>
      <p:sp>
        <p:nvSpPr>
          <p:cNvPr id="67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Platform &amp; services</a:t>
            </a:r>
          </a:p>
        </p:txBody>
      </p:sp>
      <p:sp>
        <p:nvSpPr>
          <p:cNvPr id="70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+367% · 5y</a:t>
            </a:r>
          </a:p>
        </p:txBody>
      </p:sp>
      <p:sp>
        <p:nvSpPr>
          <p:cNvPr id="7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FY25 PRELIMINARY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Across five product lines, only the two flagship lines beat both revenue and margin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PRODUCT LINE</a:t>
            </a:r>
          </a:p>
        </p:txBody>
      </p:sp>
      <p:sp>
        <p:nvSpPr>
          <p:cNvPr id="17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REVENUE · €M</a:t>
            </a:r>
          </a:p>
        </p:txBody>
      </p:sp>
      <p:sp>
        <p:nvSpPr>
          <p:cNvPr id="18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VS. PLAN</a:t>
            </a:r>
          </a:p>
        </p:txBody>
      </p:sp>
      <p:sp>
        <p:nvSpPr>
          <p:cNvPr id="19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MARGIN</a:t>
            </a:r>
          </a:p>
        </p:txBody>
      </p:sp>
      <p:sp>
        <p:nvSpPr>
          <p:cNvPr id="20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VS. PLAN</a:t>
            </a:r>
          </a:p>
        </p:txBody>
      </p:sp>
      <p:sp>
        <p:nvSpPr>
          <p:cNvPr id="21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Flagship A</a:t>
            </a:r>
          </a:p>
        </p:txBody>
      </p:sp>
      <p:sp>
        <p:nvSpPr>
          <p:cNvPr id="22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Pro line</a:t>
            </a:r>
          </a:p>
        </p:txBody>
      </p:sp>
      <p:sp>
        <p:nvSpPr>
          <p:cNvPr id="23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Standard line</a:t>
            </a:r>
          </a:p>
        </p:txBody>
      </p:sp>
      <p:sp>
        <p:nvSpPr>
          <p:cNvPr id="24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Compact line</a:t>
            </a:r>
          </a:p>
        </p:txBody>
      </p:sp>
      <p:sp>
        <p:nvSpPr>
          <p:cNvPr id="25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Accessories</a:t>
            </a:r>
          </a:p>
        </p:txBody>
      </p:sp>
      <p:sp>
        <p:nvSpPr>
          <p:cNvPr id="26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3,240</a:t>
            </a:r>
          </a:p>
        </p:txBody>
      </p:sp>
      <p:sp>
        <p:nvSpPr>
          <p:cNvPr id="27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+3.8%</a:t>
            </a:r>
          </a:p>
        </p:txBody>
      </p:sp>
      <p:sp>
        <p:nvSpPr>
          <p:cNvPr id="28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14.2%</a:t>
            </a:r>
          </a:p>
        </p:txBody>
      </p:sp>
      <p:sp>
        <p:nvSpPr>
          <p:cNvPr id="29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+0.6 pt</a:t>
            </a:r>
          </a:p>
        </p:txBody>
      </p:sp>
      <p:sp>
        <p:nvSpPr>
          <p:cNvPr id="30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2,910</a:t>
            </a:r>
          </a:p>
        </p:txBody>
      </p:sp>
      <p:sp>
        <p:nvSpPr>
          <p:cNvPr id="31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+2.2%</a:t>
            </a:r>
          </a:p>
        </p:txBody>
      </p:sp>
      <p:sp>
        <p:nvSpPr>
          <p:cNvPr id="32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13.5%</a:t>
            </a:r>
          </a:p>
        </p:txBody>
      </p:sp>
      <p:sp>
        <p:nvSpPr>
          <p:cNvPr id="33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+0.4 pt</a:t>
            </a:r>
          </a:p>
        </p:txBody>
      </p:sp>
      <p:sp>
        <p:nvSpPr>
          <p:cNvPr id="34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3,480</a:t>
            </a:r>
          </a:p>
        </p:txBody>
      </p:sp>
      <p:sp>
        <p:nvSpPr>
          <p:cNvPr id="35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+0.3%</a:t>
            </a:r>
          </a:p>
        </p:txBody>
      </p:sp>
      <p:sp>
        <p:nvSpPr>
          <p:cNvPr id="36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11.1%</a:t>
            </a:r>
          </a:p>
        </p:txBody>
      </p:sp>
      <p:sp>
        <p:nvSpPr>
          <p:cNvPr id="37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−0.2 pt</a:t>
            </a:r>
          </a:p>
        </p:txBody>
      </p:sp>
      <p:sp>
        <p:nvSpPr>
          <p:cNvPr id="38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2,610</a:t>
            </a:r>
          </a:p>
        </p:txBody>
      </p:sp>
      <p:sp>
        <p:nvSpPr>
          <p:cNvPr id="39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−0.9%</a:t>
            </a:r>
          </a:p>
        </p:txBody>
      </p:sp>
      <p:sp>
        <p:nvSpPr>
          <p:cNvPr id="40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10.4%</a:t>
            </a:r>
          </a:p>
        </p:txBody>
      </p:sp>
      <p:sp>
        <p:nvSpPr>
          <p:cNvPr id="41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−0.3 pt</a:t>
            </a:r>
          </a:p>
        </p:txBody>
      </p:sp>
      <p:sp>
        <p:nvSpPr>
          <p:cNvPr id="42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1,860</a:t>
            </a:r>
          </a:p>
        </p:txBody>
      </p:sp>
      <p:sp>
        <p:nvSpPr>
          <p:cNvPr id="43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−1.4%</a:t>
            </a:r>
          </a:p>
        </p:txBody>
      </p:sp>
      <p:sp>
        <p:nvSpPr>
          <p:cNvPr id="44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9.2%</a:t>
            </a:r>
          </a:p>
        </p:txBody>
      </p:sp>
      <p:sp>
        <p:nvSpPr>
          <p:cNvPr id="45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−0.7 pt</a:t>
            </a:r>
          </a:p>
        </p:txBody>
      </p:sp>
      <p:sp>
        <p:nvSpPr>
          <p:cNvPr id="46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Pyramid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CUSTOMER VALUE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Three tiers of value: a solid product, an honest relationship, a measured experience.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A measured experience.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03 · MEANING</a:t>
            </a:r>
          </a:p>
        </p:txBody>
      </p:sp>
      <p:sp>
        <p:nvSpPr>
          <p:cNvPr id="16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Time given back; one less thing to think about.</a:t>
            </a:r>
          </a:p>
        </p:txBody>
      </p:sp>
      <p:sp>
        <p:nvSpPr>
          <p:cNvPr id="17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Copernicus Medium"/>
              </a:rPr>
              <a:t>An honest relationship.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02 · TRUST</a:t>
            </a:r>
          </a:p>
        </p:txBody>
      </p:sp>
      <p:sp>
        <p:nvSpPr>
          <p:cNvPr id="20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The product tells you the truth about itself — status, usage, when to act.</a:t>
            </a:r>
          </a:p>
        </p:txBody>
      </p:sp>
      <p:sp>
        <p:nvSpPr>
          <p:cNvPr id="21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Copernicus Medium"/>
              </a:rPr>
              <a:t>A solid product.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01 · FOUNDATION</a:t>
            </a:r>
          </a:p>
        </p:txBody>
      </p:sp>
      <p:sp>
        <p:nvSpPr>
          <p:cNvPr id="24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KEY TAKEAWAYS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50" b="1" spc="-28">
                <a:solidFill>
                  <a:srgbClr val="FFFFFF"/>
                </a:solidFill>
                <a:latin typeface="Copernicus"/>
              </a:rPr>
              <a:t>Three things to remember: platform first, measure the experience, write plainly.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</a:t>
            </a:r>
          </a:p>
        </p:txBody>
      </p:sp>
      <p:sp>
        <p:nvSpPr>
          <p:cNvPr id="12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Platform first.</a:t>
            </a:r>
          </a:p>
        </p:txBody>
      </p:sp>
      <p:sp>
        <p:nvSpPr>
          <p:cNvPr id="13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4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PLATFORM VP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</a:t>
            </a:r>
          </a:p>
        </p:txBody>
      </p:sp>
      <p:sp>
        <p:nvSpPr>
          <p:cNvPr id="17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Measure the experience.</a:t>
            </a:r>
          </a:p>
        </p:txBody>
      </p:sp>
      <p:sp>
        <p:nvSpPr>
          <p:cNvPr id="18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19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DATA LEAD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</a:t>
            </a:r>
          </a:p>
        </p:txBody>
      </p:sp>
      <p:sp>
        <p:nvSpPr>
          <p:cNvPr id="22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Write plainly.</a:t>
            </a:r>
          </a:p>
        </p:txBody>
      </p:sp>
      <p:sp>
        <p:nvSpPr>
          <p:cNvPr id="23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4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CONTENT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04</a:t>
            </a:r>
          </a:p>
        </p:txBody>
      </p:sp>
      <p:sp>
        <p:nvSpPr>
          <p:cNvPr id="27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Ship weekly.</a:t>
            </a:r>
          </a:p>
        </p:txBody>
      </p:sp>
      <p:sp>
        <p:nvSpPr>
          <p:cNvPr id="28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29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EXECUTIVE SUMMARY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Four insights, three next steps — the 2026 plan on one page.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1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C785C"/>
                </a:solidFill>
                <a:latin typeface="JetBrains Mono"/>
              </a:rPr>
              <a:t>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Platform share is compounding.</a:t>
            </a:r>
          </a:p>
        </p:txBody>
      </p:sp>
      <p:sp>
        <p:nvSpPr>
          <p:cNvPr id="15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First-run pairing is the biggest leak.</a:t>
            </a:r>
          </a:p>
        </p:txBody>
      </p:sp>
      <p:sp>
        <p:nvSpPr>
          <p:cNvPr id="18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Telemetry is now default-on.</a:t>
            </a:r>
          </a:p>
        </p:txBody>
      </p:sp>
      <p:sp>
        <p:nvSpPr>
          <p:cNvPr id="21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Hybrid platform beats build-vs-buy.</a:t>
            </a:r>
          </a:p>
        </p:txBody>
      </p:sp>
      <p:sp>
        <p:nvSpPr>
          <p:cNvPr id="24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5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C785C"/>
                </a:solidFill>
                <a:latin typeface="JetBrains Mono"/>
              </a:rPr>
              <a:t>NEXT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Consolidate firmware across SKUs.</a:t>
            </a:r>
          </a:p>
        </p:txBody>
      </p:sp>
      <p:sp>
        <p:nvSpPr>
          <p:cNvPr id="29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Retire the last two forks; every line onto the shared OS core by end of Q2.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Ship the pairing-flow fix.</a:t>
            </a:r>
          </a:p>
        </p:txBody>
      </p:sp>
      <p:sp>
        <p:nvSpPr>
          <p:cNvPr id="32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Open the developer API preview.</a:t>
            </a:r>
          </a:p>
        </p:txBody>
      </p:sp>
      <p:sp>
        <p:nvSpPr>
          <p:cNvPr id="35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Partner preview end of H1, GA at year-end — 30 design partners already signed.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Lock the hybrid platform deal.</a:t>
            </a:r>
          </a:p>
        </p:txBody>
      </p:sp>
      <p:sp>
        <p:nvSpPr>
          <p:cNvPr id="38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Finalise cloud and ML vendor terms; platform group staffed and chartered for a Q2 kick-off.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+43</a:t>
            </a:r>
          </a:p>
        </p:txBody>
      </p:sp>
      <p:sp>
        <p:nvSpPr>
          <p:cNvPr id="42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43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ACTIVE TIME · 5Y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14</a:t>
            </a:r>
          </a:p>
        </p:txBody>
      </p:sp>
      <p:sp>
        <p:nvSpPr>
          <p:cNvPr id="46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 bn</a:t>
            </a:r>
          </a:p>
        </p:txBody>
      </p:sp>
      <p:sp>
        <p:nvSpPr>
          <p:cNvPr id="47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REVENUE · EUR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95</a:t>
            </a:r>
          </a:p>
        </p:txBody>
      </p:sp>
      <p:sp>
        <p:nvSpPr>
          <p:cNvPr id="50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51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TELEMETRY OPT-IN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Line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PER-ACCOUNT METRICS,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150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FY21</a:t>
            </a:r>
          </a:p>
        </p:txBody>
      </p:sp>
      <p:sp>
        <p:nvSpPr>
          <p:cNvPr id="33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FY22</a:t>
            </a:r>
          </a:p>
        </p:txBody>
      </p:sp>
      <p:sp>
        <p:nvSpPr>
          <p:cNvPr id="34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FY23</a:t>
            </a:r>
          </a:p>
        </p:txBody>
      </p:sp>
      <p:sp>
        <p:nvSpPr>
          <p:cNvPr id="35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FY24</a:t>
            </a:r>
          </a:p>
        </p:txBody>
      </p:sp>
      <p:sp>
        <p:nvSpPr>
          <p:cNvPr id="36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 Medium"/>
              </a:rPr>
              <a:t>Active time per account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 Medium"/>
              </a:rPr>
              <a:t>Cloud cost per account</a:t>
            </a:r>
          </a:p>
        </p:txBody>
      </p:sp>
      <p:sp>
        <p:nvSpPr>
          <p:cNvPr id="41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PORTFOLIO HEALTH · FY25 Q3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Q1 FY25</a:t>
            </a:r>
          </a:p>
        </p:txBody>
      </p:sp>
      <p:sp>
        <p:nvSpPr>
          <p:cNvPr id="35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Q2 FY25</a:t>
            </a:r>
          </a:p>
        </p:txBody>
      </p:sp>
      <p:sp>
        <p:nvSpPr>
          <p:cNvPr id="36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Q3 FY25</a:t>
            </a:r>
          </a:p>
        </p:txBody>
      </p:sp>
      <p:sp>
        <p:nvSpPr>
          <p:cNvPr id="37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Q4 FY25</a:t>
            </a:r>
          </a:p>
        </p:txBody>
      </p:sp>
      <p:sp>
        <p:nvSpPr>
          <p:cNvPr id="38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Firmware consolidation</a:t>
            </a:r>
          </a:p>
        </p:txBody>
      </p:sp>
      <p:sp>
        <p:nvSpPr>
          <p:cNvPr id="39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Default-on telemetry</a:t>
            </a:r>
          </a:p>
        </p:txBody>
      </p:sp>
      <p:sp>
        <p:nvSpPr>
          <p:cNvPr id="40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Developer API</a:t>
            </a:r>
          </a:p>
        </p:txBody>
      </p:sp>
      <p:sp>
        <p:nvSpPr>
          <p:cNvPr id="41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Data-platform integration</a:t>
            </a:r>
          </a:p>
        </p:txBody>
      </p:sp>
      <p:sp>
        <p:nvSpPr>
          <p:cNvPr id="42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Cutover · 62%</a:t>
            </a:r>
          </a:p>
        </p:txBody>
      </p:sp>
      <p:sp>
        <p:nvSpPr>
          <p:cNvPr id="43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Cutover · 100%</a:t>
            </a:r>
          </a:p>
        </p:txBody>
      </p:sp>
      <p:sp>
        <p:nvSpPr>
          <p:cNvPr id="44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Shipped</a:t>
            </a:r>
          </a:p>
        </p:txBody>
      </p:sp>
      <p:sp>
        <p:nvSpPr>
          <p:cNvPr id="45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Stable</a:t>
            </a:r>
          </a:p>
        </p:txBody>
      </p:sp>
      <p:sp>
        <p:nvSpPr>
          <p:cNvPr id="46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Pilot factories</a:t>
            </a:r>
          </a:p>
        </p:txBody>
      </p:sp>
      <p:sp>
        <p:nvSpPr>
          <p:cNvPr id="47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Rollout 40%</a:t>
            </a:r>
          </a:p>
        </p:txBody>
      </p:sp>
      <p:sp>
        <p:nvSpPr>
          <p:cNvPr id="48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Rollout 85%</a:t>
            </a:r>
          </a:p>
        </p:txBody>
      </p:sp>
      <p:sp>
        <p:nvSpPr>
          <p:cNvPr id="49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Default-on</a:t>
            </a:r>
          </a:p>
        </p:txBody>
      </p:sp>
      <p:sp>
        <p:nvSpPr>
          <p:cNvPr id="50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Design only</a:t>
            </a:r>
          </a:p>
        </p:txBody>
      </p:sp>
      <p:sp>
        <p:nvSpPr>
          <p:cNvPr id="51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Preview private</a:t>
            </a:r>
          </a:p>
        </p:txBody>
      </p:sp>
      <p:sp>
        <p:nvSpPr>
          <p:cNvPr id="52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Preview public</a:t>
            </a:r>
          </a:p>
        </p:txBody>
      </p:sp>
      <p:sp>
        <p:nvSpPr>
          <p:cNvPr id="53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GA → Q4 slip</a:t>
            </a:r>
          </a:p>
        </p:txBody>
      </p:sp>
      <p:sp>
        <p:nvSpPr>
          <p:cNvPr id="54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Scope locked</a:t>
            </a:r>
          </a:p>
        </p:txBody>
      </p:sp>
      <p:sp>
        <p:nvSpPr>
          <p:cNvPr id="55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Vendor delay</a:t>
            </a:r>
          </a:p>
        </p:txBody>
      </p:sp>
      <p:sp>
        <p:nvSpPr>
          <p:cNvPr id="56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Off plan</a:t>
            </a:r>
          </a:p>
        </p:txBody>
      </p:sp>
      <p:sp>
        <p:nvSpPr>
          <p:cNvPr id="57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Re-baseline</a:t>
            </a:r>
          </a:p>
        </p:txBody>
      </p:sp>
      <p:sp>
        <p:nvSpPr>
          <p:cNvPr id="58" name="Oval 57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ON TRACK</a:t>
            </a:r>
          </a:p>
        </p:txBody>
      </p:sp>
      <p:sp>
        <p:nvSpPr>
          <p:cNvPr id="60" name="Oval 59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AT RISK</a:t>
            </a:r>
          </a:p>
        </p:txBody>
      </p:sp>
      <p:sp>
        <p:nvSpPr>
          <p:cNvPr id="62" name="Oval 61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OFF TRACK</a:t>
            </a:r>
          </a:p>
        </p:txBody>
      </p:sp>
      <p:sp>
        <p:nvSpPr>
          <p:cNvPr id="6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Gantt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WORKSTREAMS — FY25 DELIVERY PLAN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Firmware consolidation lands in Q2; the developer API goes GA in Q4, dependent on telemetry rollout.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iamond 84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Q1 · PLAN</a:t>
            </a:r>
          </a:p>
        </p:txBody>
      </p:sp>
      <p:sp>
        <p:nvSpPr>
          <p:cNvPr id="88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Q2 · BUILD</a:t>
            </a:r>
          </a:p>
        </p:txBody>
      </p:sp>
      <p:sp>
        <p:nvSpPr>
          <p:cNvPr id="89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Q3 · PILOT</a:t>
            </a:r>
          </a:p>
        </p:txBody>
      </p:sp>
      <p:sp>
        <p:nvSpPr>
          <p:cNvPr id="90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Q4 · SCALE</a:t>
            </a:r>
          </a:p>
        </p:txBody>
      </p:sp>
      <p:sp>
        <p:nvSpPr>
          <p:cNvPr id="91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2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DATA</a:t>
            </a:r>
          </a:p>
        </p:txBody>
      </p:sp>
      <p:sp>
        <p:nvSpPr>
          <p:cNvPr id="93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CONSUMER</a:t>
            </a:r>
          </a:p>
        </p:txBody>
      </p:sp>
      <p:sp>
        <p:nvSpPr>
          <p:cNvPr id="94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5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CUTOVER · ALL SKUS</a:t>
            </a:r>
          </a:p>
        </p:txBody>
      </p:sp>
      <p:sp>
        <p:nvSpPr>
          <p:cNvPr id="96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FACTORY ROLLOUT</a:t>
            </a:r>
          </a:p>
        </p:txBody>
      </p:sp>
      <p:sp>
        <p:nvSpPr>
          <p:cNvPr id="97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INSTRUMENTED STUDY</a:t>
            </a:r>
          </a:p>
        </p:txBody>
      </p:sp>
      <p:sp>
        <p:nvSpPr>
          <p:cNvPr id="98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PREVIEW</a:t>
            </a:r>
          </a:p>
        </p:txBody>
      </p:sp>
      <p:sp>
        <p:nvSpPr>
          <p:cNvPr id="99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GA</a:t>
            </a:r>
          </a:p>
        </p:txBody>
      </p:sp>
      <p:sp>
        <p:nvSpPr>
          <p:cNvPr id="100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APP ACTIVATION FUNNEL · Q4 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0" name="Freeform 9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Product sold</a:t>
            </a:r>
          </a:p>
        </p:txBody>
      </p:sp>
      <p:sp>
        <p:nvSpPr>
          <p:cNvPr id="16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Shipment, any SKU</a:t>
            </a:r>
          </a:p>
        </p:txBody>
      </p:sp>
      <p:sp>
        <p:nvSpPr>
          <p:cNvPr id="17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2.4 M</a:t>
            </a:r>
          </a:p>
        </p:txBody>
      </p:sp>
      <p:sp>
        <p:nvSpPr>
          <p:cNvPr id="18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App installed</a:t>
            </a:r>
          </a:p>
        </p:txBody>
      </p:sp>
      <p:sp>
        <p:nvSpPr>
          <p:cNvPr id="21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Within 30 days of purchase</a:t>
            </a:r>
          </a:p>
        </p:txBody>
      </p:sp>
      <p:sp>
        <p:nvSpPr>
          <p:cNvPr id="22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2.0 M</a:t>
            </a:r>
          </a:p>
        </p:txBody>
      </p:sp>
      <p:sp>
        <p:nvSpPr>
          <p:cNvPr id="23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84%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Product paired</a:t>
            </a:r>
          </a:p>
        </p:txBody>
      </p:sp>
      <p:sp>
        <p:nvSpPr>
          <p:cNvPr id="26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First-run setup completed</a:t>
            </a:r>
          </a:p>
        </p:txBody>
      </p:sp>
      <p:sp>
        <p:nvSpPr>
          <p:cNvPr id="27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1.5 M</a:t>
            </a:r>
          </a:p>
        </p:txBody>
      </p:sp>
      <p:sp>
        <p:nvSpPr>
          <p:cNvPr id="28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62%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Active at 90 days</a:t>
            </a:r>
          </a:p>
        </p:txBody>
      </p:sp>
      <p:sp>
        <p:nvSpPr>
          <p:cNvPr id="31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≥4 cycles in last month</a:t>
            </a:r>
          </a:p>
        </p:txBody>
      </p:sp>
      <p:sp>
        <p:nvSpPr>
          <p:cNvPr id="32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870 K</a:t>
            </a:r>
          </a:p>
        </p:txBody>
      </p:sp>
      <p:sp>
        <p:nvSpPr>
          <p:cNvPr id="33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36%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C785C"/>
                </a:solidFill>
                <a:latin typeface="Copernicus Light"/>
              </a:rPr>
              <a:t>−22 pt</a:t>
            </a:r>
          </a:p>
        </p:txBody>
      </p:sp>
      <p:sp>
        <p:nvSpPr>
          <p:cNvPr id="36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TRIAL → ACTIVATE</a:t>
            </a:r>
          </a:p>
        </p:txBody>
      </p:sp>
      <p:sp>
        <p:nvSpPr>
          <p:cNvPr id="37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52523"/>
                </a:solidFill>
                <a:latin typeface="Copernicus"/>
              </a:rPr>
              <a:t>Activation fails on mixed-SSID routers and Wi-Fi 6 backward compatibility. Fix is scoped for Q1.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C785C"/>
                </a:solidFill>
                <a:latin typeface="Copernicus Light"/>
              </a:rPr>
              <a:t>−14 pt</a:t>
            </a:r>
          </a:p>
        </p:txBody>
      </p:sp>
      <p:sp>
        <p:nvSpPr>
          <p:cNvPr id="40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FEATURE → 90D ACTIVE</a:t>
            </a:r>
          </a:p>
        </p:txBody>
      </p:sp>
      <p:sp>
        <p:nvSpPr>
          <p:cNvPr id="41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52523"/>
                </a:solidFill>
                <a:latin typeface="Copernicus"/>
              </a:rPr>
              <a:t>Users try one session then default to the panel. Cadence nudges in-app are live in Q2.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4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Venn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WHERE THE THREE BUSINESSES MEET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0" name="Oval 9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CC785C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141413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252523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AF9F5"/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CONSUMER</a:t>
            </a:r>
          </a:p>
        </p:txBody>
      </p:sp>
      <p:sp>
        <p:nvSpPr>
          <p:cNvPr id="15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Product + brand</a:t>
            </a:r>
          </a:p>
        </p:txBody>
      </p:sp>
      <p:sp>
        <p:nvSpPr>
          <p:cNvPr id="16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PLATFORM</a:t>
            </a:r>
          </a:p>
        </p:txBody>
      </p:sp>
      <p:sp>
        <p:nvSpPr>
          <p:cNvPr id="17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Firmware + API</a:t>
            </a:r>
          </a:p>
        </p:txBody>
      </p:sp>
      <p:sp>
        <p:nvSpPr>
          <p:cNvPr id="18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SERVICES</a:t>
            </a:r>
          </a:p>
        </p:txBody>
      </p:sp>
      <p:sp>
        <p:nvSpPr>
          <p:cNvPr id="19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Install · repair</a:t>
            </a:r>
          </a:p>
        </p:txBody>
      </p:sp>
      <p:sp>
        <p:nvSpPr>
          <p:cNvPr id="20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Smart product</a:t>
            </a:r>
          </a:p>
        </p:txBody>
      </p:sp>
      <p:sp>
        <p:nvSpPr>
          <p:cNvPr id="21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In-home install</a:t>
            </a:r>
          </a:p>
        </p:txBody>
      </p:sp>
      <p:sp>
        <p:nvSpPr>
          <p:cNvPr id="22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Remote diagnostics</a:t>
            </a:r>
          </a:p>
        </p:txBody>
      </p:sp>
      <p:sp>
        <p:nvSpPr>
          <p:cNvPr id="23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141413"/>
                </a:solidFill>
                <a:latin typeface="Copernicus"/>
              </a:rPr>
              <a:t>Connected platform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01 · CONSUMER × PLATFORM</a:t>
            </a:r>
          </a:p>
        </p:txBody>
      </p:sp>
      <p:sp>
        <p:nvSpPr>
          <p:cNvPr id="26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Smart product</a:t>
            </a:r>
          </a:p>
        </p:txBody>
      </p:sp>
      <p:sp>
        <p:nvSpPr>
          <p:cNvPr id="27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Firmware turns the object into an addressable node — the basis for every service we layer on top.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02 · PLATFORM × SERVICES</a:t>
            </a:r>
          </a:p>
        </p:txBody>
      </p:sp>
      <p:sp>
        <p:nvSpPr>
          <p:cNvPr id="30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Remote diagnostics</a:t>
            </a:r>
          </a:p>
        </p:txBody>
      </p:sp>
      <p:sp>
        <p:nvSpPr>
          <p:cNvPr id="31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Telemetry lets service pre-triage a call; first-time-fix rate rises, truck rolls fall.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03 · CONSUMER × SERVICES</a:t>
            </a:r>
          </a:p>
        </p:txBody>
      </p:sp>
      <p:sp>
        <p:nvSpPr>
          <p:cNvPr id="34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In-home install</a:t>
            </a:r>
          </a:p>
        </p:txBody>
      </p:sp>
      <p:sp>
        <p:nvSpPr>
          <p:cNvPr id="35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Existing service relationship carries trust; we extend it into the subscription tier.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CENTER</a:t>
            </a:r>
          </a:p>
        </p:txBody>
      </p:sp>
      <p:sp>
        <p:nvSpPr>
          <p:cNvPr id="38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Connected platform</a:t>
            </a:r>
          </a:p>
        </p:txBody>
      </p:sp>
      <p:sp>
        <p:nvSpPr>
          <p:cNvPr id="39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E6DFD8"/>
          </a:solidFill>
          <a:ln w="6350">
            <a:solidFill>
              <a:srgbClr val="8E8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08">
                <a:solidFill>
                  <a:srgbClr val="252523"/>
                </a:solidFill>
                <a:latin typeface="JetBrains Mono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DIAGRAM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spc="-37">
                <a:solidFill>
                  <a:srgbClr val="141413"/>
                </a:solidFill>
                <a:latin typeface="Copernicus Light"/>
              </a:rPr>
              <a:t>Architectural overview goes here.</a:t>
            </a:r>
          </a:p>
        </p:txBody>
      </p:sp>
      <p:sp>
        <p:nvSpPr>
          <p:cNvPr id="12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V-Model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VERIFICATION · VALIDATION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141413"/>
                </a:solidFill>
                <a:latin typeface="Copernicus Medium"/>
              </a:rPr>
              <a:t>Every design step on the left has a matching test on the right — the V-model pairs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01</a:t>
            </a:r>
          </a:p>
        </p:txBody>
      </p:sp>
      <p:sp>
        <p:nvSpPr>
          <p:cNvPr id="250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Requirement gathering</a:t>
            </a:r>
          </a:p>
        </p:txBody>
      </p:sp>
      <p:sp>
        <p:nvSpPr>
          <p:cNvPr id="251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01</a:t>
            </a:r>
          </a:p>
        </p:txBody>
      </p:sp>
      <p:sp>
        <p:nvSpPr>
          <p:cNvPr id="252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Acceptance testing</a:t>
            </a:r>
          </a:p>
        </p:txBody>
      </p:sp>
      <p:sp>
        <p:nvSpPr>
          <p:cNvPr id="253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ACCEPTANCE PLAN</a:t>
            </a:r>
          </a:p>
        </p:txBody>
      </p:sp>
      <p:sp>
        <p:nvSpPr>
          <p:cNvPr id="254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02</a:t>
            </a:r>
          </a:p>
        </p:txBody>
      </p:sp>
      <p:sp>
        <p:nvSpPr>
          <p:cNvPr id="255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System analysis</a:t>
            </a:r>
          </a:p>
        </p:txBody>
      </p:sp>
      <p:sp>
        <p:nvSpPr>
          <p:cNvPr id="256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02</a:t>
            </a:r>
          </a:p>
        </p:txBody>
      </p:sp>
      <p:sp>
        <p:nvSpPr>
          <p:cNvPr id="257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System testing</a:t>
            </a:r>
          </a:p>
        </p:txBody>
      </p:sp>
      <p:sp>
        <p:nvSpPr>
          <p:cNvPr id="258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SYSTEM TEST PLAN</a:t>
            </a:r>
          </a:p>
        </p:txBody>
      </p:sp>
      <p:sp>
        <p:nvSpPr>
          <p:cNvPr id="259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03</a:t>
            </a:r>
          </a:p>
        </p:txBody>
      </p:sp>
      <p:sp>
        <p:nvSpPr>
          <p:cNvPr id="260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Software design</a:t>
            </a:r>
          </a:p>
        </p:txBody>
      </p:sp>
      <p:sp>
        <p:nvSpPr>
          <p:cNvPr id="261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03</a:t>
            </a:r>
          </a:p>
        </p:txBody>
      </p:sp>
      <p:sp>
        <p:nvSpPr>
          <p:cNvPr id="262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Integration testing</a:t>
            </a:r>
          </a:p>
        </p:txBody>
      </p:sp>
      <p:sp>
        <p:nvSpPr>
          <p:cNvPr id="263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INTEGRATION</a:t>
            </a:r>
          </a:p>
        </p:txBody>
      </p:sp>
      <p:sp>
        <p:nvSpPr>
          <p:cNvPr id="264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04</a:t>
            </a:r>
          </a:p>
        </p:txBody>
      </p:sp>
      <p:sp>
        <p:nvSpPr>
          <p:cNvPr id="265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Module design</a:t>
            </a:r>
          </a:p>
        </p:txBody>
      </p:sp>
      <p:sp>
        <p:nvSpPr>
          <p:cNvPr id="266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04</a:t>
            </a:r>
          </a:p>
        </p:txBody>
      </p:sp>
      <p:sp>
        <p:nvSpPr>
          <p:cNvPr id="267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Unit testing</a:t>
            </a:r>
          </a:p>
        </p:txBody>
      </p:sp>
      <p:sp>
        <p:nvSpPr>
          <p:cNvPr id="268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UNIT TESTS</a:t>
            </a:r>
          </a:p>
        </p:txBody>
      </p:sp>
      <p:sp>
        <p:nvSpPr>
          <p:cNvPr id="269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CC785C"/>
                </a:solidFill>
                <a:latin typeface="JetBrains Mono"/>
              </a:rPr>
              <a:t>PIVOT</a:t>
            </a:r>
          </a:p>
        </p:txBody>
      </p:sp>
      <p:sp>
        <p:nvSpPr>
          <p:cNvPr id="270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Copernicu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chapter accent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01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Chapter.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inschliff">
      <a:dk1>
        <a:sysClr val="windowText" lastClr="141413"/>
      </a:dk1>
      <a:lt1>
        <a:sysClr val="window" lastClr="FFFFFF"/>
      </a:lt1>
      <a:dk2>
        <a:srgbClr val="141413"/>
      </a:dk2>
      <a:lt2>
        <a:srgbClr val="FAF9F5"/>
      </a:lt2>
      <a:accent1>
        <a:srgbClr val="CC785C"/>
      </a:accent1>
      <a:accent2>
        <a:srgbClr val="E8A55A"/>
      </a:accent2>
      <a:accent3>
        <a:srgbClr val="252523"/>
      </a:accent3>
      <a:accent4>
        <a:srgbClr val="6C6A64"/>
      </a:accent4>
      <a:accent5>
        <a:srgbClr val="8E8B82"/>
      </a:accent5>
      <a:accent6>
        <a:srgbClr val="E6DFD8"/>
      </a:accent6>
      <a:hlink>
        <a:srgbClr val="A9583E"/>
      </a:hlink>
      <a:folHlink>
        <a:srgbClr val="CC785C"/>
      </a:folHlink>
    </a:clrScheme>
    <a:fontScheme name="Feinschliff">
      <a:majorFont>
        <a:latin typeface="Copernicus" panose="020B0604020202020204"/>
        <a:ea typeface=""/>
        <a:cs typeface=""/>
      </a:majorFont>
      <a:minorFont>
        <a:latin typeface="Copernicu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