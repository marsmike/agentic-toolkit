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  <a:gradFill flip="none" rotWithShape="1">
            <a:gsLst>
              <a:gs pos="0">
                <a:srgbClr val="FCD535"/>
              </a:gs>
              <a:gs pos="100000">
                <a:srgbClr val="0B0E11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0B0E11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0B0E11"/>
                </a:solidFill>
                <a:latin typeface="BinanceNova SemiBold"/>
              </a:rPr>
              <a:t>EXCHANGE · 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0B0E11"/>
                </a:solidFill>
                <a:latin typeface="BinanceNova"/>
              </a:rPr>
              <a:t>EXCHANGE · LIVE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2413000"/>
            <a:ext cx="10922000" cy="152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b="1" spc="-250">
                <a:solidFill>
                  <a:srgbClr val="FFFFFF"/>
                </a:solidFill>
                <a:latin typeface="BinancePlex"/>
              </a:rPr>
              <a:t>$4,000,000</a:t>
            </a:r>
          </a:p>
        </p:txBody>
      </p:sp>
      <p:sp>
        <p:nvSpPr>
          <p:cNvPr id="13" name="Subtitle"/>
          <p:cNvSpPr>
            <a:spLocks noGrp="1"/>
          </p:cNvSpPr>
          <p:nvPr>
            <p:ph type="body" idx="11"/>
          </p:nvPr>
        </p:nvSpPr>
        <p:spPr>
          <a:xfrm>
            <a:off x="635000" y="4064000"/>
            <a:ext cx="10922000" cy="50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>
                <a:solidFill>
                  <a:srgbClr val="FFFFFF"/>
                </a:solidFill>
                <a:latin typeface="BinanceNova"/>
              </a:rPr>
              <a:t>USDT prize pool · Futures Masters Arena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34000" y="5461000"/>
            <a:ext cx="1524000" cy="5080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4000" y="5461000"/>
            <a:ext cx="1524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JOIN NOW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2032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EXCHANGE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349500"/>
            <a:ext cx="5207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spc="-96">
                <a:solidFill>
                  <a:srgbClr val="FFFFFF"/>
                </a:solidFill>
                <a:latin typeface="BinanceNova"/>
              </a:rPr>
              <a:t>316M users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800" b="1" spc="-96">
                <a:solidFill>
                  <a:srgbClr val="FFFFFF"/>
                </a:solidFill>
                <a:latin typeface="BinanceNova"/>
              </a:rPr>
              <a:t>trust Binance.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35000" y="4572000"/>
            <a:ext cx="5207000" cy="76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B7BDC6"/>
                </a:solidFill>
                <a:latin typeface="BinanceNova"/>
              </a:rPr>
              <a:t>The world's largest crypto exchange — spot, futures, savings, and Web3.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55245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55245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32000" y="5524500"/>
            <a:ext cx="1524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>
                <a:solidFill>
                  <a:srgbClr val="EAECEF"/>
                </a:solidFill>
                <a:latin typeface="BinanceNova"/>
              </a:rPr>
              <a:t>Already a user? Log 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0000" y="1270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FCD535"/>
                </a:solidFill>
                <a:latin typeface="BinanceNova SemiBold"/>
              </a:rPr>
              <a:t>POPULAR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2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NEW LISTING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TOP GAINERS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53200" y="1701800"/>
            <a:ext cx="558800" cy="127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53200" y="1828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45300" y="1981200"/>
            <a:ext cx="1397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 b="0">
                <a:solidFill>
                  <a:srgbClr val="848E9C"/>
                </a:solidFill>
                <a:latin typeface="BinanceNova SemiBold"/>
              </a:rPr>
              <a:t>PAIR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2800" y="1981200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LAST PRICE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56800" y="1981200"/>
            <a:ext cx="1143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24H CHANGE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3200" y="21844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53200" y="2374900"/>
            <a:ext cx="203200" cy="203200"/>
          </a:xfrm>
          <a:prstGeom prst="ellipse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2374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45300" y="2298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BTC/USDT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2800" y="2298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79,065.04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56800" y="2298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+0.45%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9800" y="2298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53200" y="26543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553200" y="2946400"/>
            <a:ext cx="203200" cy="203200"/>
          </a:xfrm>
          <a:prstGeom prst="ellipse">
            <a:avLst/>
          </a:prstGeom>
          <a:solidFill>
            <a:srgbClr val="62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53200" y="2946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45300" y="2870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ETH/USDT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2800" y="2870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2,348.91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56800" y="2870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+1.20%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99800" y="2870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53200" y="3225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553200" y="3517900"/>
            <a:ext cx="203200" cy="203200"/>
          </a:xfrm>
          <a:prstGeom prst="ellipse">
            <a:avLst/>
          </a:prstGeom>
          <a:solidFill>
            <a:srgbClr val="994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53200" y="3517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45300" y="3441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SOL/USDT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32800" y="3441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151.62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56800" y="3441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6465D"/>
                </a:solidFill>
                <a:latin typeface="BinancePlex Medium"/>
              </a:rPr>
              <a:t>▼ −0.62%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99800" y="3441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53200" y="37973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553200" y="4089400"/>
            <a:ext cx="203200" cy="203200"/>
          </a:xfrm>
          <a:prstGeom prst="ellipse">
            <a:avLst/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53200" y="4089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45300" y="4013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BNB/USDT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32800" y="4013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612.30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56800" y="4013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+0.18%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99800" y="4013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53200" y="4368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553200" y="4660900"/>
            <a:ext cx="203200" cy="203200"/>
          </a:xfrm>
          <a:prstGeom prst="ellipse">
            <a:avLst/>
          </a:prstGeom>
          <a:solidFill>
            <a:srgbClr val="26A1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53200" y="4660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45300" y="4584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USDT/USD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32800" y="4584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1.0001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56800" y="4584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848E9C"/>
                </a:solidFill>
                <a:latin typeface="BinancePlex Medium"/>
              </a:rPr>
              <a:t>0.00%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099800" y="4584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TITLE + PICTURE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LAYOUT 03 · TITLE + PICTURE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Pair a title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with a product.</a:t>
            </a:r>
          </a:p>
        </p:txBody>
      </p:sp>
      <p:sp>
        <p:nvSpPr>
          <p:cNvPr id="15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AGENDA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ONLY TITLE LAYOUT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What we'll cover.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01 / 06</a:t>
            </a:r>
          </a:p>
        </p:txBody>
      </p:sp>
      <p:sp>
        <p:nvSpPr>
          <p:cNvPr id="15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Brand mark</a:t>
            </a:r>
          </a:p>
        </p:txBody>
      </p:sp>
      <p:sp>
        <p:nvSpPr>
          <p:cNvPr id="16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Wordmark, contrast, clear space.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02 / 06</a:t>
            </a:r>
          </a:p>
        </p:txBody>
      </p:sp>
      <p:sp>
        <p:nvSpPr>
          <p:cNvPr id="19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Colour</a:t>
            </a:r>
          </a:p>
        </p:txBody>
      </p:sp>
      <p:sp>
        <p:nvSpPr>
          <p:cNvPr id="20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One orange, seven neutrals.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03 / 06</a:t>
            </a:r>
          </a:p>
        </p:txBody>
      </p:sp>
      <p:sp>
        <p:nvSpPr>
          <p:cNvPr id="23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Type</a:t>
            </a:r>
          </a:p>
        </p:txBody>
      </p:sp>
      <p:sp>
        <p:nvSpPr>
          <p:cNvPr id="24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Noto Sans, 28pt titles.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04 / 06</a:t>
            </a:r>
          </a:p>
        </p:txBody>
      </p:sp>
      <p:sp>
        <p:nvSpPr>
          <p:cNvPr id="27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Layouts</a:t>
            </a:r>
          </a:p>
        </p:txBody>
      </p:sp>
      <p:sp>
        <p:nvSpPr>
          <p:cNvPr id="28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Chapter, content, picture, data.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05 / 06</a:t>
            </a:r>
          </a:p>
        </p:txBody>
      </p:sp>
      <p:sp>
        <p:nvSpPr>
          <p:cNvPr id="31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Components</a:t>
            </a:r>
          </a:p>
        </p:txBody>
      </p:sp>
      <p:sp>
        <p:nvSpPr>
          <p:cNvPr id="32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Buttons, chips, KPIs, rules.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06 / 06</a:t>
            </a:r>
          </a:p>
        </p:txBody>
      </p:sp>
      <p:sp>
        <p:nvSpPr>
          <p:cNvPr id="35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Voice</a:t>
            </a:r>
          </a:p>
        </p:txBody>
      </p:sp>
      <p:sp>
        <p:nvSpPr>
          <p:cNvPr id="36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057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0B0E11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0B0E11"/>
                </a:solidFill>
                <a:latin typeface="BinanceNova SemiBold"/>
              </a:rPr>
              <a:t>CHAPTER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TextBox 10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b="1" spc="-440">
                <a:solidFill>
                  <a:srgbClr val="FFFFFF">
                    <a:alpha val="18000"/>
                  </a:srgbClr>
                </a:solidFill>
                <a:latin typeface="BinancePlex"/>
              </a:rPr>
              <a:t>01 / 06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794000"/>
            <a:ext cx="50800" cy="2413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CHAPTER · ACCENT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3111500"/>
            <a:ext cx="8255000" cy="241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01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B7BDC6"/>
                </a:solidFill>
                <a:latin typeface="BinancePlex"/>
              </a:rPr>
              <a:t>CHAPTER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CHAPTER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2794000"/>
            <a:ext cx="50800" cy="2413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2794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CHAPTER · INK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3111500"/>
            <a:ext cx="5207000" cy="241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02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Funds Are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Safu.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EXCHANGE · 2026 · TRUST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Why Binance.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Value"/>
          <p:cNvSpPr>
            <a:spLocks noGrp="1"/>
          </p:cNvSpPr>
          <p:nvPr>
            <p:ph type="body" idx="20"/>
          </p:nvPr>
        </p:nvSpPr>
        <p:spPr>
          <a:xfrm>
            <a:off x="8382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316M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1"/>
          </p:nvPr>
        </p:nvSpPr>
        <p:spPr>
          <a:xfrm>
            <a:off x="8382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USERS WORLDWIDE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2"/>
          </p:nvPr>
        </p:nvSpPr>
        <p:spPr>
          <a:xfrm>
            <a:off x="8382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0ECB81"/>
                </a:solidFill>
                <a:latin typeface="BinancePlex Medium"/>
              </a:rPr>
              <a:t>▲ +3.1% YoY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163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24"/>
          </p:nvPr>
        </p:nvSpPr>
        <p:spPr>
          <a:xfrm>
            <a:off x="36195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$429M</a:t>
            </a:r>
          </a:p>
        </p:txBody>
      </p:sp>
      <p:sp>
        <p:nvSpPr>
          <p:cNvPr id="19" name="KPI 2 Key"/>
          <p:cNvSpPr>
            <a:spLocks noGrp="1"/>
          </p:cNvSpPr>
          <p:nvPr>
            <p:ph type="body" idx="25"/>
          </p:nvPr>
        </p:nvSpPr>
        <p:spPr>
          <a:xfrm>
            <a:off x="36195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FUNDS RECOVERED</a:t>
            </a:r>
          </a:p>
        </p:txBody>
      </p:sp>
      <p:sp>
        <p:nvSpPr>
          <p:cNvPr id="20" name="KPI 2 Delta"/>
          <p:cNvSpPr>
            <a:spLocks noGrp="1"/>
          </p:cNvSpPr>
          <p:nvPr>
            <p:ph type="body" idx="26"/>
          </p:nvPr>
        </p:nvSpPr>
        <p:spPr>
          <a:xfrm>
            <a:off x="36195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B7BDC6"/>
                </a:solidFill>
                <a:latin typeface="BinancePlex Medium"/>
              </a:rPr>
              <a:t>Since 2018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76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3 Value"/>
          <p:cNvSpPr>
            <a:spLocks noGrp="1"/>
          </p:cNvSpPr>
          <p:nvPr>
            <p:ph type="body" idx="28"/>
          </p:nvPr>
        </p:nvSpPr>
        <p:spPr>
          <a:xfrm>
            <a:off x="64008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No.1</a:t>
            </a:r>
          </a:p>
        </p:txBody>
      </p:sp>
      <p:sp>
        <p:nvSpPr>
          <p:cNvPr id="23" name="KPI 3 Key"/>
          <p:cNvSpPr>
            <a:spLocks noGrp="1"/>
          </p:cNvSpPr>
          <p:nvPr>
            <p:ph type="body" idx="29"/>
          </p:nvPr>
        </p:nvSpPr>
        <p:spPr>
          <a:xfrm>
            <a:off x="64008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TRADING VOLUME</a:t>
            </a:r>
          </a:p>
        </p:txBody>
      </p:sp>
      <p:sp>
        <p:nvSpPr>
          <p:cNvPr id="24" name="KPI 3 Delta"/>
          <p:cNvSpPr>
            <a:spLocks noGrp="1"/>
          </p:cNvSpPr>
          <p:nvPr>
            <p:ph type="body" idx="30"/>
          </p:nvPr>
        </p:nvSpPr>
        <p:spPr>
          <a:xfrm>
            <a:off x="64008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B7BDC6"/>
                </a:solidFill>
                <a:latin typeface="BinancePlex Medium"/>
              </a:rPr>
              <a:t>Global rank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89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KPI 4 Value"/>
          <p:cNvSpPr>
            <a:spLocks noGrp="1"/>
          </p:cNvSpPr>
          <p:nvPr>
            <p:ph type="body" idx="32"/>
          </p:nvPr>
        </p:nvSpPr>
        <p:spPr>
          <a:xfrm>
            <a:off x="91821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100%</a:t>
            </a:r>
          </a:p>
        </p:txBody>
      </p:sp>
      <p:sp>
        <p:nvSpPr>
          <p:cNvPr id="27" name="KPI 4 Key"/>
          <p:cNvSpPr>
            <a:spLocks noGrp="1"/>
          </p:cNvSpPr>
          <p:nvPr>
            <p:ph type="body" idx="33"/>
          </p:nvPr>
        </p:nvSpPr>
        <p:spPr>
          <a:xfrm>
            <a:off x="91821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BINANCE-AUDITED</a:t>
            </a:r>
          </a:p>
        </p:txBody>
      </p:sp>
      <p:sp>
        <p:nvSpPr>
          <p:cNvPr id="28" name="KPI 4 Delta"/>
          <p:cNvSpPr>
            <a:spLocks noGrp="1"/>
          </p:cNvSpPr>
          <p:nvPr>
            <p:ph type="body" idx="34"/>
          </p:nvPr>
        </p:nvSpPr>
        <p:spPr>
          <a:xfrm>
            <a:off x="91821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0ECB81"/>
                </a:solidFill>
                <a:latin typeface="BinancePlex Medium"/>
              </a:rPr>
              <a:t>▲ PoR · Nov '26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2 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TWO COLUMNS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Two halves, one frame.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 · CONSUMER</a:t>
            </a:r>
          </a:p>
        </p:txBody>
      </p:sp>
      <p:sp>
        <p:nvSpPr>
          <p:cNvPr id="15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Products designed around daily use, not corner-case specs.</a:t>
            </a:r>
          </a:p>
        </p:txBody>
      </p:sp>
      <p:sp>
        <p:nvSpPr>
          <p:cNvPr id="16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Ship features users actually touch — fewer modes, sharper defaults, faster onboarding.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 · PLATFORM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A shared software backbone across every product we build.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3 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THREE PILLARS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Consumer, commercial, platform.</a:t>
            </a:r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Consumer.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Brand A, Brand B, Brand C, Brand D — placeholder column copy.</a:t>
            </a:r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Commercial.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Products engineered for the commercial sector — hotels, retail, services, multi-site.</a:t>
            </a:r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Platform.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ROADMAP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PLAN, BUILD, PILOT, SCALE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The year, in four quarters.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Q1 · PLAN</a:t>
            </a:r>
          </a:p>
        </p:txBody>
      </p:sp>
      <p:sp>
        <p:nvSpPr>
          <p:cNvPr id="15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Align the 2026 product roadmap across regions.</a:t>
            </a:r>
          </a:p>
        </p:txBody>
      </p:sp>
      <p:sp>
        <p:nvSpPr>
          <p:cNvPr id="16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Finalise priorities, staff crews, lock budget.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Q2 · BUILD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Ship the platform foundations and first feature set.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New OS core, updated Platform SDK.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Q3 · PILOT</a:t>
            </a:r>
          </a:p>
        </p:txBody>
      </p:sp>
      <p:sp>
        <p:nvSpPr>
          <p:cNvPr id="23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Field-test with 2,000 customers across three regions.</a:t>
            </a:r>
          </a:p>
        </p:txBody>
      </p:sp>
      <p:sp>
        <p:nvSpPr>
          <p:cNvPr id="24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Instrument, measure, iterate weekly.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Q4 · SCALE</a:t>
            </a:r>
          </a:p>
        </p:txBody>
      </p:sp>
      <p:sp>
        <p:nvSpPr>
          <p:cNvPr id="27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Roll out globally with phased regional launches.</a:t>
            </a:r>
          </a:p>
        </p:txBody>
      </p:sp>
      <p:sp>
        <p:nvSpPr>
          <p:cNvPr id="28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TEXT + PICTURE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FLAGSHIP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A flagship that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learns the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user.</a:t>
            </a:r>
          </a:p>
        </p:txBody>
      </p:sp>
      <p:sp>
        <p:nvSpPr>
          <p:cNvPr id="15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FCD535"/>
          </a:solidFill>
          <a:ln w="12700">
            <a:solidFill>
              <a:srgbClr val="FCD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900">
                <a:solidFill>
                  <a:srgbClr val="EAECEF"/>
                </a:solidFill>
                <a:latin typeface="BinanceNova Medium"/>
              </a:rPr>
              <a:t>Read the brief  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EA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900">
                <a:solidFill>
                  <a:srgbClr val="EAECEF"/>
                </a:solidFill>
                <a:latin typeface="BinanceNova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B7BDC6"/>
                </a:solidFill>
                <a:latin typeface="BinancePlex"/>
              </a:rPr>
              <a:t>LIFESTYLE PHOTO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APP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635000" y="3810000"/>
            <a:ext cx="4445000" cy="2540000"/>
          </a:xfrm>
          <a:prstGeom prst="roundRect">
            <a:avLst>
              <a:gd name="adj" fmla="val 6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38200" y="4013200"/>
            <a:ext cx="4038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APP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38200" y="4330700"/>
            <a:ext cx="4038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800" spc="-42">
                <a:solidFill>
                  <a:srgbClr val="FFFFFF"/>
                </a:solidFill>
                <a:latin typeface="BinanceNova"/>
              </a:rPr>
              <a:t>Trade on the go.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2800" spc="-42">
                <a:solidFill>
                  <a:srgbClr val="FFFFFF"/>
                </a:solidFill>
                <a:latin typeface="BinanceNova"/>
              </a:rPr>
              <a:t>Anywhere, anytime.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200" y="5740400"/>
            <a:ext cx="1524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" y="5740400"/>
            <a:ext cx="1524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GET THE APP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DATA · Q3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SHARE OF REVENUE BY REGION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EMEA still leads; NAM closing the gap.</a:t>
            </a:r>
          </a:p>
        </p:txBody>
      </p:sp>
      <p:sp>
        <p:nvSpPr>
          <p:cNvPr id="13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EMEA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62%</a:t>
            </a:r>
          </a:p>
        </p:txBody>
      </p:sp>
      <p:sp>
        <p:nvSpPr>
          <p:cNvPr id="17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NAM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24%</a:t>
            </a:r>
          </a:p>
        </p:txBody>
      </p:sp>
      <p:sp>
        <p:nvSpPr>
          <p:cNvPr id="21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APAC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11%</a:t>
            </a:r>
          </a:p>
        </p:txBody>
      </p:sp>
      <p:sp>
        <p:nvSpPr>
          <p:cNvPr id="25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LATAM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3%</a:t>
            </a:r>
          </a:p>
        </p:txBody>
      </p:sp>
      <p:sp>
        <p:nvSpPr>
          <p:cNvPr id="29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UI KIT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UI LIBRARY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Pills, ticker, badges.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429000"/>
            <a:ext cx="5359400" cy="3048000"/>
          </a:xfrm>
          <a:prstGeom prst="roundRect">
            <a:avLst>
              <a:gd name="adj" fmla="val 5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200" y="3632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PILLS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200" y="40132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" y="40132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35200" y="40132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35200" y="40132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EAECEF"/>
                </a:solidFill>
                <a:latin typeface="BinanceNova SemiBold"/>
              </a:rPr>
              <a:t>LOG 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47117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TRADING CHIPS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8200" y="5029200"/>
            <a:ext cx="635000" cy="228600"/>
          </a:xfrm>
          <a:prstGeom prst="roundRect">
            <a:avLst>
              <a:gd name="adj" fmla="val 22222"/>
            </a:avLst>
          </a:prstGeom>
          <a:solidFill>
            <a:srgbClr val="0EC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" y="50292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spc="65">
                <a:solidFill>
                  <a:srgbClr val="FFFFFF"/>
                </a:solidFill>
                <a:latin typeface="BinanceNova"/>
              </a:rPr>
              <a:t>BUY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63700" y="5029200"/>
            <a:ext cx="635000" cy="228600"/>
          </a:xfrm>
          <a:prstGeom prst="roundRect">
            <a:avLst>
              <a:gd name="adj" fmla="val 22222"/>
            </a:avLst>
          </a:prstGeom>
          <a:solidFill>
            <a:srgbClr val="F64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63700" y="50292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spc="65">
                <a:solidFill>
                  <a:srgbClr val="FFFFFF"/>
                </a:solidFill>
                <a:latin typeface="BinanceNova"/>
              </a:rPr>
              <a:t>SELL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5664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TRUST BADGE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8200" y="5981700"/>
            <a:ext cx="2286000" cy="355600"/>
          </a:xfrm>
          <a:prstGeom prst="roundRect">
            <a:avLst>
              <a:gd name="adj" fmla="val 28571"/>
            </a:avLst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5200" y="5981700"/>
            <a:ext cx="508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CD535"/>
                </a:solidFill>
                <a:latin typeface="BinancePlex"/>
              </a:rPr>
              <a:t>No.1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700" y="5981700"/>
            <a:ext cx="14605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spc="65" b="0">
                <a:solidFill>
                  <a:srgbClr val="EAECEF"/>
                </a:solidFill>
                <a:latin typeface="BinanceNova SemiBold"/>
              </a:rPr>
              <a:t>TRADING VOLUME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7600" y="3429000"/>
            <a:ext cx="5359400" cy="3048000"/>
          </a:xfrm>
          <a:prstGeom prst="roundRect">
            <a:avLst>
              <a:gd name="adj" fmla="val 5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632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MARKETS TICKER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0" y="4089400"/>
            <a:ext cx="203200" cy="203200"/>
          </a:xfrm>
          <a:prstGeom prst="ellipse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089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92900" y="4013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BTC/USDT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2800" y="4013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79,065.04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56800" y="4013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+0.45%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99800" y="4013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3688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00800" y="4660900"/>
            <a:ext cx="203200" cy="203200"/>
          </a:xfrm>
          <a:prstGeom prst="ellipse">
            <a:avLst/>
          </a:prstGeom>
          <a:solidFill>
            <a:srgbClr val="62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4660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92900" y="4584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ETH/USDT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32800" y="4584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2,348.91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56800" y="4584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+1.20%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99800" y="4584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49403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00800" y="5232400"/>
            <a:ext cx="203200" cy="203200"/>
          </a:xfrm>
          <a:prstGeom prst="ellipse">
            <a:avLst/>
          </a:prstGeom>
          <a:solidFill>
            <a:srgbClr val="994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5232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92900" y="5156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SOL/USDT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32800" y="5156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151.62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56800" y="5156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6465D"/>
                </a:solidFill>
                <a:latin typeface="BinancePlex Medium"/>
              </a:rPr>
              <a:t>▼ −0.62%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99800" y="5156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5918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HAIRLINE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62357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2413000"/>
            <a:ext cx="50800" cy="2794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Quote"/>
          <p:cNvSpPr>
            <a:spLocks noGrp="1"/>
          </p:cNvSpPr>
          <p:nvPr>
            <p:ph type="title"/>
          </p:nvPr>
        </p:nvSpPr>
        <p:spPr>
          <a:xfrm>
            <a:off x="889000" y="2413000"/>
            <a:ext cx="10414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spc="-54">
                <a:solidFill>
                  <a:srgbClr val="FFFFFF"/>
                </a:solidFill>
                <a:latin typeface="BinanceNova"/>
              </a:rPr>
              <a:t>“Trust isn’t a brand color. It’s the price feed you can verify and the funds you can withdraw, every day.”</a:t>
            </a:r>
          </a:p>
        </p:txBody>
      </p:sp>
      <p:sp>
        <p:nvSpPr>
          <p:cNvPr id="12" name="Attribution"/>
          <p:cNvSpPr>
            <a:spLocks noGrp="1"/>
          </p:cNvSpPr>
          <p:nvPr>
            <p:ph type="body" idx="10"/>
          </p:nvPr>
        </p:nvSpPr>
        <p:spPr>
          <a:xfrm>
            <a:off x="889000" y="5461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848E9C"/>
                </a:solidFill>
                <a:latin typeface="BinanceNova"/>
              </a:rPr>
              <a:t>BINANCE · TRUST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143500"/>
            <a:ext cx="12192000" cy="17145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Cap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0B0E11"/>
                </a:solidFill>
                <a:latin typeface="BinanceNova"/>
              </a:rPr>
              <a:t>BINANCE · DESIGN SYSTEM · V1.0 · 2026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905000"/>
            <a:ext cx="10922000" cy="1270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0" b="1" spc="-120">
                <a:solidFill>
                  <a:srgbClr val="FCD535"/>
                </a:solidFill>
                <a:latin typeface="BinanceNova"/>
              </a:rPr>
              <a:t>Trade on Binance.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34000" y="3429000"/>
            <a:ext cx="1524000" cy="5080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34000" y="3429000"/>
            <a:ext cx="1524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GRAPHICAL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SHARE OF REVENUE BY REGION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EMEA still leads; NAM closing the gap.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EMEA</a:t>
            </a:r>
          </a:p>
        </p:txBody>
      </p:sp>
      <p:sp>
        <p:nvSpPr>
          <p:cNvPr id="22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62%</a:t>
            </a:r>
          </a:p>
        </p:txBody>
      </p:sp>
      <p:sp>
        <p:nvSpPr>
          <p:cNvPr id="23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NAM</a:t>
            </a:r>
          </a:p>
        </p:txBody>
      </p:sp>
      <p:sp>
        <p:nvSpPr>
          <p:cNvPr id="24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24%</a:t>
            </a:r>
          </a:p>
        </p:txBody>
      </p:sp>
      <p:sp>
        <p:nvSpPr>
          <p:cNvPr id="25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APAC</a:t>
            </a:r>
          </a:p>
        </p:txBody>
      </p:sp>
      <p:sp>
        <p:nvSpPr>
          <p:cNvPr id="26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11%</a:t>
            </a:r>
          </a:p>
        </p:txBody>
      </p:sp>
      <p:sp>
        <p:nvSpPr>
          <p:cNvPr id="27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LATAM</a:t>
            </a:r>
          </a:p>
        </p:txBody>
      </p:sp>
      <p:sp>
        <p:nvSpPr>
          <p:cNvPr id="28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3%</a:t>
            </a:r>
          </a:p>
        </p:txBody>
      </p:sp>
      <p:sp>
        <p:nvSpPr>
          <p:cNvPr id="29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MCK · ACTION TITLE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ACTION-TITLE LAYOUT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EAECEF"/>
                </a:solidFill>
                <a:latin typeface="BinanceNova Medium"/>
              </a:rPr>
              <a:t>Adopting the new platform will lift per-account active time by ~18% within two release cycles.</a:t>
            </a:r>
          </a:p>
        </p:txBody>
      </p:sp>
      <p:sp>
        <p:nvSpPr>
          <p:cNvPr id="12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3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+18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ACTIVE TIME / WEEK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0B90B"/>
                </a:solidFill>
                <a:latin typeface="BinancePlex"/>
              </a:rPr>
              <a:t>vs. prior platform</a:t>
            </a:r>
          </a:p>
        </p:txBody>
      </p:sp>
      <p:sp>
        <p:nvSpPr>
          <p:cNvPr id="17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2.3</a:t>
            </a:r>
          </a:p>
        </p:txBody>
      </p:sp>
      <p:sp>
        <p:nvSpPr>
          <p:cNvPr id="18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FFFFFF"/>
                </a:solidFill>
                <a:latin typeface="BinanceNova"/>
              </a:rPr>
              <a:t>×</a:t>
            </a:r>
          </a:p>
        </p:txBody>
      </p:sp>
      <p:sp>
        <p:nvSpPr>
          <p:cNvPr id="19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APP OPEN RATE</a:t>
            </a:r>
          </a:p>
        </p:txBody>
      </p:sp>
      <p:sp>
        <p:nvSpPr>
          <p:cNvPr id="20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0B90B"/>
                </a:solidFill>
                <a:latin typeface="BinancePlex"/>
              </a:rPr>
              <a:t>trailing 30 days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HORIZONTAL BULLETS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CONTEXT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Three forces pull the 2026 roadmap: regulation, margin, and shared software.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 · REGULATION</a:t>
            </a:r>
          </a:p>
        </p:txBody>
      </p:sp>
      <p:sp>
        <p:nvSpPr>
          <p:cNvPr id="16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Energy and repair rules are tightening across EMEA.</a:t>
            </a:r>
          </a:p>
        </p:txBody>
      </p:sp>
      <p:sp>
        <p:nvSpPr>
          <p:cNvPr id="17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Refrigerant phase-down accelerates for commercial lines.</a:t>
            </a:r>
          </a:p>
        </p:txBody>
      </p:sp>
      <p:sp>
        <p:nvSpPr>
          <p:cNvPr id="18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 · MARGIN</a:t>
            </a:r>
          </a:p>
        </p:txBody>
      </p:sp>
      <p:sp>
        <p:nvSpPr>
          <p:cNvPr id="19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Component cost is stable but service cost is climbing.</a:t>
            </a:r>
          </a:p>
        </p:txBody>
      </p:sp>
      <p:sp>
        <p:nvSpPr>
          <p:cNvPr id="20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Remote-diagnosis deflection saves an average 38 EUR / visit.</a:t>
            </a:r>
          </a:p>
        </p:txBody>
      </p:sp>
      <p:sp>
        <p:nvSpPr>
          <p:cNvPr id="21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 · PLATFORM</a:t>
            </a:r>
          </a:p>
        </p:txBody>
      </p:sp>
      <p:sp>
        <p:nvSpPr>
          <p:cNvPr id="22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The platform is becoming the product, not an add-on.</a:t>
            </a:r>
          </a:p>
        </p:txBody>
      </p:sp>
      <p:sp>
        <p:nvSpPr>
          <p:cNvPr id="23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Shared telemetry unlocks usage-driven feature priority.</a:t>
            </a:r>
          </a:p>
        </p:txBody>
      </p:sp>
      <p:sp>
        <p:nvSpPr>
          <p:cNvPr id="2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VERTICAL BULLETS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889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889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PLAN OF RECORD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206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Five moves define the first half: consolidate, instrument, retire, pilot, publish.</a:t>
            </a:r>
          </a:p>
        </p:txBody>
      </p:sp>
      <p:sp>
        <p:nvSpPr>
          <p:cNvPr id="13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01 / 06</a:t>
            </a:r>
          </a:p>
        </p:txBody>
      </p:sp>
      <p:sp>
        <p:nvSpPr>
          <p:cNvPr id="16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Consolidate the firmware stack.</a:t>
            </a:r>
          </a:p>
        </p:txBody>
      </p:sp>
      <p:sp>
        <p:nvSpPr>
          <p:cNvPr id="17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Move the remaining three product lines onto the unified OS core by end of Q2.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02 / 06</a:t>
            </a:r>
          </a:p>
        </p:txBody>
      </p:sp>
      <p:sp>
        <p:nvSpPr>
          <p:cNvPr id="20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Instrument every SKU.</a:t>
            </a:r>
          </a:p>
        </p:txBody>
      </p:sp>
      <p:sp>
        <p:nvSpPr>
          <p:cNvPr id="21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Every production unit leaving the factory reports health and usage by default.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03 / 06</a:t>
            </a:r>
          </a:p>
        </p:txBody>
      </p:sp>
      <p:sp>
        <p:nvSpPr>
          <p:cNvPr id="24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Retire the legacy app.</a:t>
            </a:r>
          </a:p>
        </p:txBody>
      </p:sp>
      <p:sp>
        <p:nvSpPr>
          <p:cNvPr id="25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Archive the legacy companion app once the new platform reaches 70% coverage.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04 / 06</a:t>
            </a:r>
          </a:p>
        </p:txBody>
      </p:sp>
      <p:sp>
        <p:nvSpPr>
          <p:cNvPr id="28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Pilot guided sessions.</a:t>
            </a:r>
          </a:p>
        </p:txBody>
      </p:sp>
      <p:sp>
        <p:nvSpPr>
          <p:cNvPr id="29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Run a two-thousand-customer test of the adaptive programme across three regions.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05 / 06</a:t>
            </a:r>
          </a:p>
        </p:txBody>
      </p:sp>
      <p:sp>
        <p:nvSpPr>
          <p:cNvPr id="32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Publish the API.</a:t>
            </a:r>
          </a:p>
        </p:txBody>
      </p:sp>
      <p:sp>
        <p:nvSpPr>
          <p:cNvPr id="33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Open the developer preview to partners at the end of H1.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06 / 06</a:t>
            </a:r>
          </a:p>
        </p:txBody>
      </p:sp>
      <p:sp>
        <p:nvSpPr>
          <p:cNvPr id="36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Review monthly.</a:t>
            </a:r>
          </a:p>
        </p:txBody>
      </p:sp>
      <p:sp>
        <p:nvSpPr>
          <p:cNvPr id="37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Each move is owned by one VP and reviewed at the monthly operating meeting.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2×2 MATRIX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PRIORITISATION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Invest in the top-right quadrant first: high impact, low lift.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Triangle 18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FFFFFF"/>
                </a:solidFill>
                <a:latin typeface="BinancePlex"/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EAECEF"/>
                </a:solidFill>
                <a:latin typeface="BinancePlex"/>
              </a:rPr>
              <a:t>Q1 · HIGH IMPACT · LOW LIFT</a:t>
            </a:r>
          </a:p>
        </p:txBody>
      </p:sp>
      <p:sp>
        <p:nvSpPr>
          <p:cNvPr id="25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Guided sessions on the flagship line.</a:t>
            </a:r>
          </a:p>
        </p:txBody>
      </p:sp>
      <p:sp>
        <p:nvSpPr>
          <p:cNvPr id="26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B0E11"/>
                </a:solidFill>
                <a:latin typeface="BinanceNova"/>
              </a:rPr>
              <a:t>Ships on existing hardware; telemetry already collected; known user need.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Q2 · HIGH IMPACT · HIGH LIFT</a:t>
            </a:r>
          </a:p>
        </p:txBody>
      </p:sp>
      <p:sp>
        <p:nvSpPr>
          <p:cNvPr id="28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Full remote diagnosis across every product line.</a:t>
            </a:r>
          </a:p>
        </p:txBody>
      </p:sp>
      <p:sp>
        <p:nvSpPr>
          <p:cNvPr id="29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Large prize; requires firmware convergence and a new field-service workflow.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Q3 · LOW IMPACT · LOW LIFT</a:t>
            </a:r>
          </a:p>
        </p:txBody>
      </p:sp>
      <p:sp>
        <p:nvSpPr>
          <p:cNvPr id="31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Cosmetic refresh of onboarding.</a:t>
            </a:r>
          </a:p>
        </p:txBody>
      </p:sp>
      <p:sp>
        <p:nvSpPr>
          <p:cNvPr id="32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Cheap to do; metrics rarely move meaningfully.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Q4 · LOW IMPACT · HIGH LIFT</a:t>
            </a:r>
          </a:p>
        </p:txBody>
      </p:sp>
      <p:sp>
        <p:nvSpPr>
          <p:cNvPr id="34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Voice control expansion.</a:t>
            </a:r>
          </a:p>
        </p:txBody>
      </p:sp>
      <p:sp>
        <p:nvSpPr>
          <p:cNvPr id="35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Significant engineering and QA cost; adoption has plateaued.</a:t>
            </a:r>
          </a:p>
        </p:txBody>
      </p:sp>
      <p:sp>
        <p:nvSpPr>
          <p:cNvPr id="36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EFFORT TO SHIP</a:t>
            </a:r>
          </a:p>
        </p:txBody>
      </p:sp>
      <p:sp>
        <p:nvSpPr>
          <p:cNvPr id="37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WATERFALL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REVENUE BRIDGE · EUR BN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Revenue grows 5.1% YoY; platform and services offset a mild decline in legacy lines.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EAECEF"/>
                </a:solidFill>
                <a:latin typeface="BinancePlex"/>
              </a:rPr>
              <a:t>13.4</a:t>
            </a:r>
          </a:p>
        </p:txBody>
      </p:sp>
      <p:sp>
        <p:nvSpPr>
          <p:cNvPr id="40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FY24 BASE</a:t>
            </a:r>
          </a:p>
        </p:txBody>
      </p:sp>
      <p:sp>
        <p:nvSpPr>
          <p:cNvPr id="41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+0.6</a:t>
            </a:r>
          </a:p>
        </p:txBody>
      </p:sp>
      <p:sp>
        <p:nvSpPr>
          <p:cNvPr id="42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CONSUMER</a:t>
            </a:r>
          </a:p>
        </p:txBody>
      </p:sp>
      <p:sp>
        <p:nvSpPr>
          <p:cNvPr id="43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+0.4</a:t>
            </a:r>
          </a:p>
        </p:txBody>
      </p:sp>
      <p:sp>
        <p:nvSpPr>
          <p:cNvPr id="44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PLATFORM</a:t>
            </a:r>
          </a:p>
        </p:txBody>
      </p:sp>
      <p:sp>
        <p:nvSpPr>
          <p:cNvPr id="45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+0.3</a:t>
            </a:r>
          </a:p>
        </p:txBody>
      </p:sp>
      <p:sp>
        <p:nvSpPr>
          <p:cNvPr id="46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SERVICES</a:t>
            </a:r>
          </a:p>
        </p:txBody>
      </p:sp>
      <p:sp>
        <p:nvSpPr>
          <p:cNvPr id="47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−0.3</a:t>
            </a:r>
          </a:p>
        </p:txBody>
      </p:sp>
      <p:sp>
        <p:nvSpPr>
          <p:cNvPr id="48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LEGACY</a:t>
            </a:r>
          </a:p>
        </p:txBody>
      </p:sp>
      <p:sp>
        <p:nvSpPr>
          <p:cNvPr id="49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−0.2</a:t>
            </a:r>
          </a:p>
        </p:txBody>
      </p:sp>
      <p:sp>
        <p:nvSpPr>
          <p:cNvPr id="50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FX</a:t>
            </a:r>
          </a:p>
        </p:txBody>
      </p:sp>
      <p:sp>
        <p:nvSpPr>
          <p:cNvPr id="51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EAECEF"/>
                </a:solidFill>
                <a:latin typeface="BinancePlex"/>
              </a:rPr>
              <a:t>14.1</a:t>
            </a:r>
          </a:p>
        </p:txBody>
      </p:sp>
      <p:sp>
        <p:nvSpPr>
          <p:cNvPr id="52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FY25 TOTAL</a:t>
            </a:r>
          </a:p>
        </p:txBody>
      </p:sp>
      <p:sp>
        <p:nvSpPr>
          <p:cNvPr id="5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PROCESS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DELIVERY SEQUENCE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Five stages · pilot highlights the current phase.</a:t>
            </a:r>
          </a:p>
        </p:txBody>
      </p:sp>
      <p:sp>
        <p:nvSpPr>
          <p:cNvPr id="13" name="Pentagon 12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01</a:t>
            </a:r>
          </a:p>
        </p:txBody>
      </p:sp>
      <p:sp>
        <p:nvSpPr>
          <p:cNvPr id="19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Frame</a:t>
            </a:r>
          </a:p>
        </p:txBody>
      </p:sp>
      <p:sp>
        <p:nvSpPr>
          <p:cNvPr id="20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Clarify the problem and the one outcome that matters.</a:t>
            </a:r>
          </a:p>
        </p:txBody>
      </p:sp>
      <p:sp>
        <p:nvSpPr>
          <p:cNvPr id="21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02</a:t>
            </a:r>
          </a:p>
        </p:txBody>
      </p:sp>
      <p:sp>
        <p:nvSpPr>
          <p:cNvPr id="22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Prototype</a:t>
            </a:r>
          </a:p>
        </p:txBody>
      </p:sp>
      <p:sp>
        <p:nvSpPr>
          <p:cNvPr id="23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Build the thin vertical slice end-to-end.</a:t>
            </a:r>
          </a:p>
        </p:txBody>
      </p:sp>
      <p:sp>
        <p:nvSpPr>
          <p:cNvPr id="24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03</a:t>
            </a:r>
          </a:p>
        </p:txBody>
      </p:sp>
      <p:sp>
        <p:nvSpPr>
          <p:cNvPr id="25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Pilot</a:t>
            </a:r>
          </a:p>
        </p:txBody>
      </p:sp>
      <p:sp>
        <p:nvSpPr>
          <p:cNvPr id="26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"/>
              </a:rPr>
              <a:t>Run it with real users on real data.</a:t>
            </a:r>
          </a:p>
        </p:txBody>
      </p:sp>
      <p:sp>
        <p:nvSpPr>
          <p:cNvPr id="27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04</a:t>
            </a:r>
          </a:p>
        </p:txBody>
      </p:sp>
      <p:sp>
        <p:nvSpPr>
          <p:cNvPr id="28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Harden</a:t>
            </a:r>
          </a:p>
        </p:txBody>
      </p:sp>
      <p:sp>
        <p:nvSpPr>
          <p:cNvPr id="29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Fix what the pilot surfaces; add observability.</a:t>
            </a:r>
          </a:p>
        </p:txBody>
      </p:sp>
      <p:sp>
        <p:nvSpPr>
          <p:cNvPr id="30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05</a:t>
            </a:r>
          </a:p>
        </p:txBody>
      </p:sp>
      <p:sp>
        <p:nvSpPr>
          <p:cNvPr id="31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Scale</a:t>
            </a:r>
          </a:p>
        </p:txBody>
      </p:sp>
      <p:sp>
        <p:nvSpPr>
          <p:cNvPr id="32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 out to remaining regions and SKUs.</a:t>
            </a:r>
          </a:p>
        </p:txBody>
      </p:sp>
      <p:sp>
        <p:nvSpPr>
          <p:cNvPr id="3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DATA · REVENUE MIX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MIX · FY21–FY25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Platform revenue is the fastest-growing share; legacy hardware is flat in absolute terms.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EAECEF"/>
                </a:solidFill>
                <a:latin typeface="BinancePlex"/>
              </a:rPr>
              <a:t>1.1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4.2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2.1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EAECEF"/>
                </a:solidFill>
                <a:latin typeface="BinancePlex"/>
              </a:rPr>
              <a:t>1.4</a:t>
            </a:r>
          </a:p>
        </p:txBody>
      </p:sp>
      <p:sp>
        <p:nvSpPr>
          <p:cNvPr id="51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11.9</a:t>
            </a:r>
          </a:p>
        </p:txBody>
      </p:sp>
      <p:sp>
        <p:nvSpPr>
          <p:cNvPr id="52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FY21</a:t>
            </a:r>
          </a:p>
        </p:txBody>
      </p:sp>
      <p:sp>
        <p:nvSpPr>
          <p:cNvPr id="53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12.4</a:t>
            </a:r>
          </a:p>
        </p:txBody>
      </p:sp>
      <p:sp>
        <p:nvSpPr>
          <p:cNvPr id="54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FY22</a:t>
            </a:r>
          </a:p>
        </p:txBody>
      </p:sp>
      <p:sp>
        <p:nvSpPr>
          <p:cNvPr id="55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12.9</a:t>
            </a:r>
          </a:p>
        </p:txBody>
      </p:sp>
      <p:sp>
        <p:nvSpPr>
          <p:cNvPr id="56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FY23</a:t>
            </a:r>
          </a:p>
        </p:txBody>
      </p:sp>
      <p:sp>
        <p:nvSpPr>
          <p:cNvPr id="57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13.4</a:t>
            </a:r>
          </a:p>
        </p:txBody>
      </p:sp>
      <p:sp>
        <p:nvSpPr>
          <p:cNvPr id="58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FY24</a:t>
            </a:r>
          </a:p>
        </p:txBody>
      </p:sp>
      <p:sp>
        <p:nvSpPr>
          <p:cNvPr id="59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14.1</a:t>
            </a:r>
          </a:p>
        </p:txBody>
      </p:sp>
      <p:sp>
        <p:nvSpPr>
          <p:cNvPr id="60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FY25</a:t>
            </a:r>
          </a:p>
        </p:txBody>
      </p:sp>
      <p:sp>
        <p:nvSpPr>
          <p:cNvPr id="61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EAECEF"/>
                </a:solidFill>
                <a:latin typeface="BinancePlex"/>
              </a:rPr>
              <a:t>SEGMENT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Legacy hardware</a:t>
            </a:r>
          </a:p>
        </p:txBody>
      </p:sp>
      <p:sp>
        <p:nvSpPr>
          <p:cNvPr id="64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−6%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Consumer products</a:t>
            </a:r>
          </a:p>
        </p:txBody>
      </p:sp>
      <p:sp>
        <p:nvSpPr>
          <p:cNvPr id="67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Commercial</a:t>
            </a:r>
          </a:p>
        </p:txBody>
      </p:sp>
      <p:sp>
        <p:nvSpPr>
          <p:cNvPr id="70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+31% · 5y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Platform &amp; services</a:t>
            </a:r>
          </a:p>
        </p:txBody>
      </p:sp>
      <p:sp>
        <p:nvSpPr>
          <p:cNvPr id="73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+367% · 5y</a:t>
            </a:r>
          </a:p>
        </p:txBody>
      </p:sp>
      <p:sp>
        <p:nvSpPr>
          <p:cNvPr id="74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FY25 PRELIMINARY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Across five product lines, only the two flagship lines beat both revenue and margin plan.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PRODUCT LINE</a:t>
            </a:r>
          </a:p>
        </p:txBody>
      </p:sp>
      <p:sp>
        <p:nvSpPr>
          <p:cNvPr id="20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REVENUE · €M</a:t>
            </a:r>
          </a:p>
        </p:txBody>
      </p:sp>
      <p:sp>
        <p:nvSpPr>
          <p:cNvPr id="21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VS. PLAN</a:t>
            </a:r>
          </a:p>
        </p:txBody>
      </p:sp>
      <p:sp>
        <p:nvSpPr>
          <p:cNvPr id="22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MARGIN</a:t>
            </a:r>
          </a:p>
        </p:txBody>
      </p:sp>
      <p:sp>
        <p:nvSpPr>
          <p:cNvPr id="23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VS. PLAN</a:t>
            </a:r>
          </a:p>
        </p:txBody>
      </p:sp>
      <p:sp>
        <p:nvSpPr>
          <p:cNvPr id="24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Flagship A</a:t>
            </a:r>
          </a:p>
        </p:txBody>
      </p:sp>
      <p:sp>
        <p:nvSpPr>
          <p:cNvPr id="25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Pro line</a:t>
            </a:r>
          </a:p>
        </p:txBody>
      </p:sp>
      <p:sp>
        <p:nvSpPr>
          <p:cNvPr id="26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Standard line</a:t>
            </a:r>
          </a:p>
        </p:txBody>
      </p:sp>
      <p:sp>
        <p:nvSpPr>
          <p:cNvPr id="27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Compact line</a:t>
            </a:r>
          </a:p>
        </p:txBody>
      </p:sp>
      <p:sp>
        <p:nvSpPr>
          <p:cNvPr id="28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Accessories</a:t>
            </a:r>
          </a:p>
        </p:txBody>
      </p:sp>
      <p:sp>
        <p:nvSpPr>
          <p:cNvPr id="29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3,240</a:t>
            </a:r>
          </a:p>
        </p:txBody>
      </p:sp>
      <p:sp>
        <p:nvSpPr>
          <p:cNvPr id="30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+3.8%</a:t>
            </a:r>
          </a:p>
        </p:txBody>
      </p:sp>
      <p:sp>
        <p:nvSpPr>
          <p:cNvPr id="31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14.2%</a:t>
            </a:r>
          </a:p>
        </p:txBody>
      </p:sp>
      <p:sp>
        <p:nvSpPr>
          <p:cNvPr id="32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+0.6 pt</a:t>
            </a:r>
          </a:p>
        </p:txBody>
      </p:sp>
      <p:sp>
        <p:nvSpPr>
          <p:cNvPr id="33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2,910</a:t>
            </a:r>
          </a:p>
        </p:txBody>
      </p:sp>
      <p:sp>
        <p:nvSpPr>
          <p:cNvPr id="34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+2.2%</a:t>
            </a:r>
          </a:p>
        </p:txBody>
      </p:sp>
      <p:sp>
        <p:nvSpPr>
          <p:cNvPr id="35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13.5%</a:t>
            </a:r>
          </a:p>
        </p:txBody>
      </p:sp>
      <p:sp>
        <p:nvSpPr>
          <p:cNvPr id="36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+0.4 pt</a:t>
            </a:r>
          </a:p>
        </p:txBody>
      </p:sp>
      <p:sp>
        <p:nvSpPr>
          <p:cNvPr id="37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3,480</a:t>
            </a:r>
          </a:p>
        </p:txBody>
      </p:sp>
      <p:sp>
        <p:nvSpPr>
          <p:cNvPr id="38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+0.3%</a:t>
            </a:r>
          </a:p>
        </p:txBody>
      </p:sp>
      <p:sp>
        <p:nvSpPr>
          <p:cNvPr id="39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11.1%</a:t>
            </a:r>
          </a:p>
        </p:txBody>
      </p:sp>
      <p:sp>
        <p:nvSpPr>
          <p:cNvPr id="40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−0.2 pt</a:t>
            </a:r>
          </a:p>
        </p:txBody>
      </p:sp>
      <p:sp>
        <p:nvSpPr>
          <p:cNvPr id="41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2,610</a:t>
            </a:r>
          </a:p>
        </p:txBody>
      </p:sp>
      <p:sp>
        <p:nvSpPr>
          <p:cNvPr id="42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−0.9%</a:t>
            </a:r>
          </a:p>
        </p:txBody>
      </p:sp>
      <p:sp>
        <p:nvSpPr>
          <p:cNvPr id="43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10.4%</a:t>
            </a:r>
          </a:p>
        </p:txBody>
      </p:sp>
      <p:sp>
        <p:nvSpPr>
          <p:cNvPr id="44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−0.3 pt</a:t>
            </a:r>
          </a:p>
        </p:txBody>
      </p:sp>
      <p:sp>
        <p:nvSpPr>
          <p:cNvPr id="45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1,860</a:t>
            </a:r>
          </a:p>
        </p:txBody>
      </p:sp>
      <p:sp>
        <p:nvSpPr>
          <p:cNvPr id="46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−1.4%</a:t>
            </a:r>
          </a:p>
        </p:txBody>
      </p:sp>
      <p:sp>
        <p:nvSpPr>
          <p:cNvPr id="47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9.2%</a:t>
            </a:r>
          </a:p>
        </p:txBody>
      </p:sp>
      <p:sp>
        <p:nvSpPr>
          <p:cNvPr id="48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−0.7 pt</a:t>
            </a:r>
          </a:p>
        </p:txBody>
      </p:sp>
      <p:sp>
        <p:nvSpPr>
          <p:cNvPr id="49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PYRAMID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CUSTOMER VALUE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Three tiers of value: a solid product, an honest relationship, a measured experience.</a:t>
            </a:r>
          </a:p>
        </p:txBody>
      </p:sp>
      <p:sp>
        <p:nvSpPr>
          <p:cNvPr id="13" name="Isosceles Triangle 12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A measured experience.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03 · MEANING</a:t>
            </a:r>
          </a:p>
        </p:txBody>
      </p:sp>
      <p:sp>
        <p:nvSpPr>
          <p:cNvPr id="19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Time given back; one less thing to think about.</a:t>
            </a:r>
          </a:p>
        </p:txBody>
      </p:sp>
      <p:sp>
        <p:nvSpPr>
          <p:cNvPr id="20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0B0E11"/>
                </a:solidFill>
                <a:latin typeface="BinanceNova Medium"/>
              </a:rPr>
              <a:t>An honest relationship.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02 · TRUST</a:t>
            </a:r>
          </a:p>
        </p:txBody>
      </p:sp>
      <p:sp>
        <p:nvSpPr>
          <p:cNvPr id="23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The product tells you the truth about itself — status, usage, when to act.</a:t>
            </a:r>
          </a:p>
        </p:txBody>
      </p:sp>
      <p:sp>
        <p:nvSpPr>
          <p:cNvPr id="24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0B0E11"/>
                </a:solidFill>
                <a:latin typeface="BinanceNova Medium"/>
              </a:rPr>
              <a:t>A solid product.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01 · FOUNDATION</a:t>
            </a:r>
          </a:p>
        </p:txBody>
      </p:sp>
      <p:sp>
        <p:nvSpPr>
          <p:cNvPr id="27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KEY TAKEAWAYS</a:t>
            </a:r>
          </a:p>
        </p:txBody>
      </p:sp>
      <p:sp>
        <p:nvSpPr>
          <p:cNvPr id="12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200" b="1" spc="-48">
                <a:solidFill>
                  <a:srgbClr val="0B0E11"/>
                </a:solidFill>
                <a:latin typeface="BinanceNova"/>
              </a:rPr>
              <a:t>Three things to remember: platform first, measure the experience, write plainly.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</a:t>
            </a:r>
          </a:p>
        </p:txBody>
      </p:sp>
      <p:sp>
        <p:nvSpPr>
          <p:cNvPr id="15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Platform first.</a:t>
            </a:r>
          </a:p>
        </p:txBody>
      </p:sp>
      <p:sp>
        <p:nvSpPr>
          <p:cNvPr id="16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7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PLATFORM VP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</a:t>
            </a:r>
          </a:p>
        </p:txBody>
      </p:sp>
      <p:sp>
        <p:nvSpPr>
          <p:cNvPr id="20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Measure the experience.</a:t>
            </a:r>
          </a:p>
        </p:txBody>
      </p:sp>
      <p:sp>
        <p:nvSpPr>
          <p:cNvPr id="21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2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DATA LEAD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</a:t>
            </a:r>
          </a:p>
        </p:txBody>
      </p:sp>
      <p:sp>
        <p:nvSpPr>
          <p:cNvPr id="25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Write plainly.</a:t>
            </a:r>
          </a:p>
        </p:txBody>
      </p:sp>
      <p:sp>
        <p:nvSpPr>
          <p:cNvPr id="26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7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CONTENT LEAD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04</a:t>
            </a:r>
          </a:p>
        </p:txBody>
      </p:sp>
      <p:sp>
        <p:nvSpPr>
          <p:cNvPr id="30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Ship weekly.</a:t>
            </a:r>
          </a:p>
        </p:txBody>
      </p:sp>
      <p:sp>
        <p:nvSpPr>
          <p:cNvPr id="31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2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EXECUTIVE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889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889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EXECUTIVE SUMMARY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206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Four insights, three next steps — the 2026 plan on one page.</a:t>
            </a:r>
          </a:p>
        </p:txBody>
      </p:sp>
      <p:sp>
        <p:nvSpPr>
          <p:cNvPr id="13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4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FCD535"/>
                </a:solidFill>
                <a:latin typeface="BinancePlex"/>
              </a:rPr>
              <a:t>INSIGHTS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Platform share is compounding.</a:t>
            </a:r>
          </a:p>
        </p:txBody>
      </p:sp>
      <p:sp>
        <p:nvSpPr>
          <p:cNvPr id="18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First-run pairing is the biggest leak.</a:t>
            </a:r>
          </a:p>
        </p:txBody>
      </p:sp>
      <p:sp>
        <p:nvSpPr>
          <p:cNvPr id="21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Telemetry is now default-on.</a:t>
            </a:r>
          </a:p>
        </p:txBody>
      </p:sp>
      <p:sp>
        <p:nvSpPr>
          <p:cNvPr id="24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Hybrid platform beats build-vs-buy.</a:t>
            </a:r>
          </a:p>
        </p:txBody>
      </p:sp>
      <p:sp>
        <p:nvSpPr>
          <p:cNvPr id="27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8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FCD535"/>
                </a:solidFill>
                <a:latin typeface="BinancePlex"/>
              </a:rPr>
              <a:t>NEXT STEPS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Consolidate firmware across SKUs.</a:t>
            </a:r>
          </a:p>
        </p:txBody>
      </p:sp>
      <p:sp>
        <p:nvSpPr>
          <p:cNvPr id="32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Retire the last two forks; every line onto the shared OS core by end of Q2.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Ship the pairing-flow fix.</a:t>
            </a:r>
          </a:p>
        </p:txBody>
      </p:sp>
      <p:sp>
        <p:nvSpPr>
          <p:cNvPr id="35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Open the developer API preview.</a:t>
            </a:r>
          </a:p>
        </p:txBody>
      </p:sp>
      <p:sp>
        <p:nvSpPr>
          <p:cNvPr id="38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Partner preview end of H1, GA at year-end — 30 design partners already signed.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Lock the hybrid platform deal.</a:t>
            </a:r>
          </a:p>
        </p:txBody>
      </p:sp>
      <p:sp>
        <p:nvSpPr>
          <p:cNvPr id="41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Finalise cloud and ML vendor terms; platform group staffed and chartered for a Q2 kick-off.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+43</a:t>
            </a:r>
          </a:p>
        </p:txBody>
      </p:sp>
      <p:sp>
        <p:nvSpPr>
          <p:cNvPr id="45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46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ACTIVE TIME · 5Y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14</a:t>
            </a:r>
          </a:p>
        </p:txBody>
      </p:sp>
      <p:sp>
        <p:nvSpPr>
          <p:cNvPr id="49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 bn</a:t>
            </a:r>
          </a:p>
        </p:txBody>
      </p:sp>
      <p:sp>
        <p:nvSpPr>
          <p:cNvPr id="50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REVENUE · EUR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95</a:t>
            </a:r>
          </a:p>
        </p:txBody>
      </p:sp>
      <p:sp>
        <p:nvSpPr>
          <p:cNvPr id="53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54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TELEMETRY OPT-IN</a:t>
            </a:r>
          </a:p>
        </p:txBody>
      </p:sp>
      <p:sp>
        <p:nvSpPr>
          <p:cNvPr id="55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LINE CHART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PER-ACCOUNT METRICS, FY21–FY25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100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150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200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FCD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FY21</a:t>
            </a:r>
          </a:p>
        </p:txBody>
      </p:sp>
      <p:sp>
        <p:nvSpPr>
          <p:cNvPr id="36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FY22</a:t>
            </a:r>
          </a:p>
        </p:txBody>
      </p:sp>
      <p:sp>
        <p:nvSpPr>
          <p:cNvPr id="37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FY23</a:t>
            </a:r>
          </a:p>
        </p:txBody>
      </p:sp>
      <p:sp>
        <p:nvSpPr>
          <p:cNvPr id="38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FY24</a:t>
            </a:r>
          </a:p>
        </p:txBody>
      </p:sp>
      <p:sp>
        <p:nvSpPr>
          <p:cNvPr id="39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EAECEF"/>
                </a:solidFill>
                <a:latin typeface="BinanceNova Medium"/>
              </a:rPr>
              <a:t>Active time per account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EAECEF"/>
                </a:solidFill>
                <a:latin typeface="BinanceNova Medium"/>
              </a:rPr>
              <a:t>Cloud cost per account</a:t>
            </a:r>
          </a:p>
        </p:txBody>
      </p:sp>
      <p:sp>
        <p:nvSpPr>
          <p:cNvPr id="44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PORTFOLIO HEALTH · FY25 Q3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Q1 FY25</a:t>
            </a:r>
          </a:p>
        </p:txBody>
      </p:sp>
      <p:sp>
        <p:nvSpPr>
          <p:cNvPr id="38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Q2 FY25</a:t>
            </a:r>
          </a:p>
        </p:txBody>
      </p:sp>
      <p:sp>
        <p:nvSpPr>
          <p:cNvPr id="39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Q3 FY25</a:t>
            </a:r>
          </a:p>
        </p:txBody>
      </p:sp>
      <p:sp>
        <p:nvSpPr>
          <p:cNvPr id="40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Q4 FY25</a:t>
            </a:r>
          </a:p>
        </p:txBody>
      </p:sp>
      <p:sp>
        <p:nvSpPr>
          <p:cNvPr id="41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Firmware consolidation</a:t>
            </a:r>
          </a:p>
        </p:txBody>
      </p:sp>
      <p:sp>
        <p:nvSpPr>
          <p:cNvPr id="42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Default-on telemetry</a:t>
            </a:r>
          </a:p>
        </p:txBody>
      </p:sp>
      <p:sp>
        <p:nvSpPr>
          <p:cNvPr id="43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Developer API</a:t>
            </a:r>
          </a:p>
        </p:txBody>
      </p:sp>
      <p:sp>
        <p:nvSpPr>
          <p:cNvPr id="44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Data-platform integration</a:t>
            </a:r>
          </a:p>
        </p:txBody>
      </p:sp>
      <p:sp>
        <p:nvSpPr>
          <p:cNvPr id="45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Cutover · 62%</a:t>
            </a:r>
          </a:p>
        </p:txBody>
      </p:sp>
      <p:sp>
        <p:nvSpPr>
          <p:cNvPr id="46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Cutover · 100%</a:t>
            </a:r>
          </a:p>
        </p:txBody>
      </p:sp>
      <p:sp>
        <p:nvSpPr>
          <p:cNvPr id="47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Shipped</a:t>
            </a:r>
          </a:p>
        </p:txBody>
      </p:sp>
      <p:sp>
        <p:nvSpPr>
          <p:cNvPr id="48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Stable</a:t>
            </a:r>
          </a:p>
        </p:txBody>
      </p:sp>
      <p:sp>
        <p:nvSpPr>
          <p:cNvPr id="49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Pilot factories</a:t>
            </a:r>
          </a:p>
        </p:txBody>
      </p:sp>
      <p:sp>
        <p:nvSpPr>
          <p:cNvPr id="50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Rollout 40%</a:t>
            </a:r>
          </a:p>
        </p:txBody>
      </p:sp>
      <p:sp>
        <p:nvSpPr>
          <p:cNvPr id="51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Rollout 85%</a:t>
            </a:r>
          </a:p>
        </p:txBody>
      </p:sp>
      <p:sp>
        <p:nvSpPr>
          <p:cNvPr id="52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Default-on</a:t>
            </a:r>
          </a:p>
        </p:txBody>
      </p:sp>
      <p:sp>
        <p:nvSpPr>
          <p:cNvPr id="53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Design only</a:t>
            </a:r>
          </a:p>
        </p:txBody>
      </p:sp>
      <p:sp>
        <p:nvSpPr>
          <p:cNvPr id="54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Preview private</a:t>
            </a:r>
          </a:p>
        </p:txBody>
      </p:sp>
      <p:sp>
        <p:nvSpPr>
          <p:cNvPr id="55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Preview public</a:t>
            </a:r>
          </a:p>
        </p:txBody>
      </p:sp>
      <p:sp>
        <p:nvSpPr>
          <p:cNvPr id="56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GA → Q4 slip</a:t>
            </a:r>
          </a:p>
        </p:txBody>
      </p:sp>
      <p:sp>
        <p:nvSpPr>
          <p:cNvPr id="57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Scope locked</a:t>
            </a:r>
          </a:p>
        </p:txBody>
      </p:sp>
      <p:sp>
        <p:nvSpPr>
          <p:cNvPr id="58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Vendor delay</a:t>
            </a:r>
          </a:p>
        </p:txBody>
      </p:sp>
      <p:sp>
        <p:nvSpPr>
          <p:cNvPr id="59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Off plan</a:t>
            </a:r>
          </a:p>
        </p:txBody>
      </p:sp>
      <p:sp>
        <p:nvSpPr>
          <p:cNvPr id="60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Re-baseline</a:t>
            </a:r>
          </a:p>
        </p:txBody>
      </p:sp>
      <p:sp>
        <p:nvSpPr>
          <p:cNvPr id="61" name="Oval 60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ON TRACK</a:t>
            </a:r>
          </a:p>
        </p:txBody>
      </p:sp>
      <p:sp>
        <p:nvSpPr>
          <p:cNvPr id="63" name="Oval 62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AT RISK</a:t>
            </a:r>
          </a:p>
        </p:txBody>
      </p:sp>
      <p:sp>
        <p:nvSpPr>
          <p:cNvPr id="65" name="Oval 64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OFF TRACK</a:t>
            </a:r>
          </a:p>
        </p:txBody>
      </p:sp>
      <p:sp>
        <p:nvSpPr>
          <p:cNvPr id="67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GANTT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WORKSTREAMS — FY25 DELIVERY PLAN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Firmware consolidation lands in Q2; the developer API goes GA in Q4, dependent on telemetry rollout.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iamond 23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Diamond 87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Q1 · PLAN</a:t>
            </a:r>
          </a:p>
        </p:txBody>
      </p:sp>
      <p:sp>
        <p:nvSpPr>
          <p:cNvPr id="91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Q2 · BUILD</a:t>
            </a:r>
          </a:p>
        </p:txBody>
      </p:sp>
      <p:sp>
        <p:nvSpPr>
          <p:cNvPr id="92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Q3 · PILOT</a:t>
            </a:r>
          </a:p>
        </p:txBody>
      </p:sp>
      <p:sp>
        <p:nvSpPr>
          <p:cNvPr id="93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Q4 · SCALE</a:t>
            </a:r>
          </a:p>
        </p:txBody>
      </p:sp>
      <p:sp>
        <p:nvSpPr>
          <p:cNvPr id="94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PLATFORM</a:t>
            </a:r>
          </a:p>
        </p:txBody>
      </p:sp>
      <p:sp>
        <p:nvSpPr>
          <p:cNvPr id="95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DATA</a:t>
            </a:r>
          </a:p>
        </p:txBody>
      </p:sp>
      <p:sp>
        <p:nvSpPr>
          <p:cNvPr id="96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CONSUMER</a:t>
            </a:r>
          </a:p>
        </p:txBody>
      </p:sp>
      <p:sp>
        <p:nvSpPr>
          <p:cNvPr id="97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PLATFORM</a:t>
            </a:r>
          </a:p>
        </p:txBody>
      </p:sp>
      <p:sp>
        <p:nvSpPr>
          <p:cNvPr id="98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CUTOVER · ALL SKUS</a:t>
            </a:r>
          </a:p>
        </p:txBody>
      </p:sp>
      <p:sp>
        <p:nvSpPr>
          <p:cNvPr id="99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0E11"/>
                </a:solidFill>
                <a:latin typeface="BinancePlex"/>
              </a:rPr>
              <a:t>FACTORY ROLLOUT</a:t>
            </a:r>
          </a:p>
        </p:txBody>
      </p:sp>
      <p:sp>
        <p:nvSpPr>
          <p:cNvPr id="100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INSTRUMENTED STUDY</a:t>
            </a:r>
          </a:p>
        </p:txBody>
      </p:sp>
      <p:sp>
        <p:nvSpPr>
          <p:cNvPr id="101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0E11"/>
                </a:solidFill>
                <a:latin typeface="BinancePlex"/>
              </a:rPr>
              <a:t>PREVIEW</a:t>
            </a:r>
          </a:p>
        </p:txBody>
      </p:sp>
      <p:sp>
        <p:nvSpPr>
          <p:cNvPr id="102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GA</a:t>
            </a:r>
          </a:p>
        </p:txBody>
      </p:sp>
      <p:sp>
        <p:nvSpPr>
          <p:cNvPr id="103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FUNNEL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APP ACTIVATION FUNNEL · Q4 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3" name="Freeform 12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Product sold</a:t>
            </a:r>
          </a:p>
        </p:txBody>
      </p:sp>
      <p:sp>
        <p:nvSpPr>
          <p:cNvPr id="19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Shipment, any SKU</a:t>
            </a:r>
          </a:p>
        </p:txBody>
      </p:sp>
      <p:sp>
        <p:nvSpPr>
          <p:cNvPr id="20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2.4 M</a:t>
            </a:r>
          </a:p>
        </p:txBody>
      </p:sp>
      <p:sp>
        <p:nvSpPr>
          <p:cNvPr id="21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100%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App installed</a:t>
            </a:r>
          </a:p>
        </p:txBody>
      </p:sp>
      <p:sp>
        <p:nvSpPr>
          <p:cNvPr id="24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Within 30 days of purchase</a:t>
            </a:r>
          </a:p>
        </p:txBody>
      </p:sp>
      <p:sp>
        <p:nvSpPr>
          <p:cNvPr id="25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2.0 M</a:t>
            </a:r>
          </a:p>
        </p:txBody>
      </p:sp>
      <p:sp>
        <p:nvSpPr>
          <p:cNvPr id="26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84%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Product paired</a:t>
            </a:r>
          </a:p>
        </p:txBody>
      </p:sp>
      <p:sp>
        <p:nvSpPr>
          <p:cNvPr id="29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First-run setup completed</a:t>
            </a:r>
          </a:p>
        </p:txBody>
      </p:sp>
      <p:sp>
        <p:nvSpPr>
          <p:cNvPr id="30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1.5 M</a:t>
            </a:r>
          </a:p>
        </p:txBody>
      </p:sp>
      <p:sp>
        <p:nvSpPr>
          <p:cNvPr id="31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62%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Active at 90 days</a:t>
            </a:r>
          </a:p>
        </p:txBody>
      </p:sp>
      <p:sp>
        <p:nvSpPr>
          <p:cNvPr id="34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≥4 cycles in last month</a:t>
            </a:r>
          </a:p>
        </p:txBody>
      </p:sp>
      <p:sp>
        <p:nvSpPr>
          <p:cNvPr id="35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870 K</a:t>
            </a:r>
          </a:p>
        </p:txBody>
      </p:sp>
      <p:sp>
        <p:nvSpPr>
          <p:cNvPr id="36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36%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b="1" spc="-46">
                <a:solidFill>
                  <a:srgbClr val="FCD535"/>
                </a:solidFill>
                <a:latin typeface="BinanceNova"/>
              </a:rPr>
              <a:t>−22 pt</a:t>
            </a:r>
          </a:p>
        </p:txBody>
      </p:sp>
      <p:sp>
        <p:nvSpPr>
          <p:cNvPr id="39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TRIAL → ACTIVATE</a:t>
            </a:r>
          </a:p>
        </p:txBody>
      </p:sp>
      <p:sp>
        <p:nvSpPr>
          <p:cNvPr id="40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BinanceNova"/>
              </a:rPr>
              <a:t>Activation fails on mixed-SSID routers and Wi-Fi 6 backward compatibility. Fix is scoped for Q1.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b="1" spc="-46">
                <a:solidFill>
                  <a:srgbClr val="FCD535"/>
                </a:solidFill>
                <a:latin typeface="BinanceNova"/>
              </a:rPr>
              <a:t>−14 pt</a:t>
            </a:r>
          </a:p>
        </p:txBody>
      </p:sp>
      <p:sp>
        <p:nvSpPr>
          <p:cNvPr id="43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FEATURE → 90D ACTIVE</a:t>
            </a:r>
          </a:p>
        </p:txBody>
      </p:sp>
      <p:sp>
        <p:nvSpPr>
          <p:cNvPr id="44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BinanceNova"/>
              </a:rPr>
              <a:t>Users try one session then default to the panel. Cadence nudges in-app are live in Q2.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7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8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VENN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WHERE THE THREE BUSINESSES MEET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3" name="Oval 12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FCD535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B0E11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E2329"/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CONSUMER</a:t>
            </a:r>
          </a:p>
        </p:txBody>
      </p:sp>
      <p:sp>
        <p:nvSpPr>
          <p:cNvPr id="18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Product + brand</a:t>
            </a:r>
          </a:p>
        </p:txBody>
      </p:sp>
      <p:sp>
        <p:nvSpPr>
          <p:cNvPr id="19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PLATFORM</a:t>
            </a:r>
          </a:p>
        </p:txBody>
      </p:sp>
      <p:sp>
        <p:nvSpPr>
          <p:cNvPr id="20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Firmware + API</a:t>
            </a:r>
          </a:p>
        </p:txBody>
      </p:sp>
      <p:sp>
        <p:nvSpPr>
          <p:cNvPr id="21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SERVICES</a:t>
            </a:r>
          </a:p>
        </p:txBody>
      </p:sp>
      <p:sp>
        <p:nvSpPr>
          <p:cNvPr id="22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Install · repair</a:t>
            </a:r>
          </a:p>
        </p:txBody>
      </p:sp>
      <p:sp>
        <p:nvSpPr>
          <p:cNvPr id="23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Smart product</a:t>
            </a:r>
          </a:p>
        </p:txBody>
      </p:sp>
      <p:sp>
        <p:nvSpPr>
          <p:cNvPr id="24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In-home install</a:t>
            </a:r>
          </a:p>
        </p:txBody>
      </p:sp>
      <p:sp>
        <p:nvSpPr>
          <p:cNvPr id="25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Remote diagnostics</a:t>
            </a:r>
          </a:p>
        </p:txBody>
      </p:sp>
      <p:sp>
        <p:nvSpPr>
          <p:cNvPr id="26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B0E11"/>
                </a:solidFill>
                <a:latin typeface="BinanceNova"/>
              </a:rPr>
              <a:t>Connected platform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01 · CONSUMER × PLATFORM</a:t>
            </a:r>
          </a:p>
        </p:txBody>
      </p:sp>
      <p:sp>
        <p:nvSpPr>
          <p:cNvPr id="29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Smart product</a:t>
            </a:r>
          </a:p>
        </p:txBody>
      </p:sp>
      <p:sp>
        <p:nvSpPr>
          <p:cNvPr id="30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Firmware turns the object into an addressable node — the basis for every service we layer on top.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02 · PLATFORM × SERVICES</a:t>
            </a:r>
          </a:p>
        </p:txBody>
      </p:sp>
      <p:sp>
        <p:nvSpPr>
          <p:cNvPr id="33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Remote diagnostics</a:t>
            </a:r>
          </a:p>
        </p:txBody>
      </p:sp>
      <p:sp>
        <p:nvSpPr>
          <p:cNvPr id="34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Telemetry lets service pre-triage a call; first-time-fix rate rises, truck rolls fall.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03 · CONSUMER × SERVICES</a:t>
            </a:r>
          </a:p>
        </p:txBody>
      </p:sp>
      <p:sp>
        <p:nvSpPr>
          <p:cNvPr id="37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In-home install</a:t>
            </a:r>
          </a:p>
        </p:txBody>
      </p:sp>
      <p:sp>
        <p:nvSpPr>
          <p:cNvPr id="38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Existing service relationship carries trust; we extend it into the subscription tier.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CENTER</a:t>
            </a:r>
          </a:p>
        </p:txBody>
      </p:sp>
      <p:sp>
        <p:nvSpPr>
          <p:cNvPr id="41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Connected platform</a:t>
            </a:r>
          </a:p>
        </p:txBody>
      </p:sp>
      <p:sp>
        <p:nvSpPr>
          <p:cNvPr id="42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2B3139"/>
          </a:solidFill>
          <a:ln w="6350">
            <a:solidFill>
              <a:srgbClr val="848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 b="0">
                <a:solidFill>
                  <a:srgbClr val="FFFFFF"/>
                </a:solidFill>
                <a:latin typeface="BinanceNova SemiBold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DIAGRAM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LAYOUT · DIAGRAM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64">
                <a:solidFill>
                  <a:srgbClr val="EAECEF"/>
                </a:solidFill>
                <a:latin typeface="BinanceNova"/>
              </a:rPr>
              <a:t>Architectural overview goes here.</a:t>
            </a:r>
          </a:p>
        </p:txBody>
      </p:sp>
      <p:sp>
        <p:nvSpPr>
          <p:cNvPr id="15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V-MODEL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VERIFICATION · VALIDATION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EAECEF"/>
                </a:solidFill>
                <a:latin typeface="BinanceNova Medium"/>
              </a:rPr>
              <a:t>Every design step on the left has a matching test on the right — the V-model pairs them.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01</a:t>
            </a:r>
          </a:p>
        </p:txBody>
      </p:sp>
      <p:sp>
        <p:nvSpPr>
          <p:cNvPr id="253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Requirement gathering</a:t>
            </a:r>
          </a:p>
        </p:txBody>
      </p:sp>
      <p:sp>
        <p:nvSpPr>
          <p:cNvPr id="254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01</a:t>
            </a:r>
          </a:p>
        </p:txBody>
      </p:sp>
      <p:sp>
        <p:nvSpPr>
          <p:cNvPr id="255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Acceptance testing</a:t>
            </a:r>
          </a:p>
        </p:txBody>
      </p:sp>
      <p:sp>
        <p:nvSpPr>
          <p:cNvPr id="256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ACCEPTANCE PLAN</a:t>
            </a:r>
          </a:p>
        </p:txBody>
      </p:sp>
      <p:sp>
        <p:nvSpPr>
          <p:cNvPr id="257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02</a:t>
            </a:r>
          </a:p>
        </p:txBody>
      </p:sp>
      <p:sp>
        <p:nvSpPr>
          <p:cNvPr id="258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System analysis</a:t>
            </a:r>
          </a:p>
        </p:txBody>
      </p:sp>
      <p:sp>
        <p:nvSpPr>
          <p:cNvPr id="259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02</a:t>
            </a:r>
          </a:p>
        </p:txBody>
      </p:sp>
      <p:sp>
        <p:nvSpPr>
          <p:cNvPr id="260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System testing</a:t>
            </a:r>
          </a:p>
        </p:txBody>
      </p:sp>
      <p:sp>
        <p:nvSpPr>
          <p:cNvPr id="261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SYSTEM TEST PLAN</a:t>
            </a:r>
          </a:p>
        </p:txBody>
      </p:sp>
      <p:sp>
        <p:nvSpPr>
          <p:cNvPr id="262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03</a:t>
            </a:r>
          </a:p>
        </p:txBody>
      </p:sp>
      <p:sp>
        <p:nvSpPr>
          <p:cNvPr id="263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Software design</a:t>
            </a:r>
          </a:p>
        </p:txBody>
      </p:sp>
      <p:sp>
        <p:nvSpPr>
          <p:cNvPr id="264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03</a:t>
            </a:r>
          </a:p>
        </p:txBody>
      </p:sp>
      <p:sp>
        <p:nvSpPr>
          <p:cNvPr id="265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Integration testing</a:t>
            </a:r>
          </a:p>
        </p:txBody>
      </p:sp>
      <p:sp>
        <p:nvSpPr>
          <p:cNvPr id="266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INTEGRATION</a:t>
            </a:r>
          </a:p>
        </p:txBody>
      </p:sp>
      <p:sp>
        <p:nvSpPr>
          <p:cNvPr id="267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04</a:t>
            </a:r>
          </a:p>
        </p:txBody>
      </p:sp>
      <p:sp>
        <p:nvSpPr>
          <p:cNvPr id="268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Module design</a:t>
            </a:r>
          </a:p>
        </p:txBody>
      </p:sp>
      <p:sp>
        <p:nvSpPr>
          <p:cNvPr id="269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04</a:t>
            </a:r>
          </a:p>
        </p:txBody>
      </p:sp>
      <p:sp>
        <p:nvSpPr>
          <p:cNvPr id="270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Unit testing</a:t>
            </a:r>
          </a:p>
        </p:txBody>
      </p:sp>
      <p:sp>
        <p:nvSpPr>
          <p:cNvPr id="271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UNIT TESTS</a:t>
            </a:r>
          </a:p>
        </p:txBody>
      </p:sp>
      <p:sp>
        <p:nvSpPr>
          <p:cNvPr id="272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FCD535"/>
                </a:solidFill>
                <a:latin typeface="BinancePlex"/>
              </a:rPr>
              <a:t>PIVOT</a:t>
            </a:r>
          </a:p>
        </p:txBody>
      </p:sp>
      <p:sp>
        <p:nvSpPr>
          <p:cNvPr id="273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0B0E11"/>
                </a:solidFill>
                <a:latin typeface="BinanceNova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Layout · vertical bullets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Six numbered rows, plan-of-record style.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Subtitle line one.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01 / 06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Item 01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Description for item 01.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02 / 06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Item 02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Description for item 02.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03 / 06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Item 03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Description for item 03.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04 / 06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Item 04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Description for item 04.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05 / 06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Item 05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Description for item 05.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06 / 06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6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Item 06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idx="37"/>
          </p:nvPr>
        </p:nvSpPr>
        <p:spPr/>
        <p:txBody>
          <a:bodyPr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Description for item 06.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Subtitle line two.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inance">
      <a:dk1>
        <a:sysClr val="windowText" lastClr="EAECEF"/>
      </a:dk1>
      <a:lt1>
        <a:sysClr val="window" lastClr="0B0E11"/>
      </a:lt1>
      <a:dk2>
        <a:srgbClr val="0B0E11"/>
      </a:dk2>
      <a:lt2>
        <a:srgbClr val="1E2329"/>
      </a:lt2>
      <a:accent1>
        <a:srgbClr val="FCD535"/>
      </a:accent1>
      <a:accent2>
        <a:srgbClr val="FCD535"/>
      </a:accent2>
      <a:accent3>
        <a:srgbClr val="FFFFFF"/>
      </a:accent3>
      <a:accent4>
        <a:srgbClr val="B7BDC6"/>
      </a:accent4>
      <a:accent5>
        <a:srgbClr val="848E9C"/>
      </a:accent5>
      <a:accent6>
        <a:srgbClr val="2B3139"/>
      </a:accent6>
      <a:hlink>
        <a:srgbClr val="F0B90B"/>
      </a:hlink>
      <a:folHlink>
        <a:srgbClr val="FCD535"/>
      </a:folHlink>
    </a:clrScheme>
    <a:fontScheme name="Binance">
      <a:majorFont>
        <a:latin typeface="BinanceNova" panose="020B0604020202020204"/>
        <a:ea typeface=""/>
        <a:cs typeface=""/>
      </a:majorFont>
      <a:minorFont>
        <a:latin typeface="BinanceNova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