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32.xml" ContentType="application/vnd.openxmlformats-officedocument.presentationml.slideLayout+xml"/>
  <Override PartName="/ppt/slideLayouts/slideLayout33.xml" ContentType="application/vnd.openxmlformats-officedocument.presentationml.slideLayout+xml"/>
  <Override PartName="/ppt/slideLayouts/slideLayout34.xml" ContentType="application/vnd.openxmlformats-officedocument.presentationml.slideLayout+xml"/>
  <Override PartName="/ppt/slideLayouts/slideLayout35.xml" ContentType="application/vnd.openxmlformats-officedocument.presentationml.slideLayout+xml"/>
  <Override PartName="/ppt/slideLayouts/slideLayout36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4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69" r:id="rId20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20" Type="http://schemas.openxmlformats.org/officeDocument/2006/relationships/slide" Target="slides/slide14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Feinschliff · Title · Accent">
    <p:bg>
      <p:bgPr>
        <a:solidFill>
          <a:srgbClr val="0B0E1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  <a:effectLst/>
          <a:gradFill flip="none" rotWithShape="1">
            <a:gsLst>
              <a:gs pos="0">
                <a:srgbClr val="FCD535"/>
              </a:gs>
              <a:gs pos="100000">
                <a:srgbClr val="0B0E11"/>
              </a:gs>
            </a:gsLst>
            <a:lin ang="5400000" scaled="1"/>
          </a:gra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Freeform 2"/>
          <p:cNvSpPr/>
          <p:nvPr/>
        </p:nvSpPr>
        <p:spPr>
          <a:xfrm>
            <a:off x="723900" y="417068"/>
            <a:ext cx="49784" cy="49784"/>
          </a:xfrm>
          <a:custGeom>
            <a:avLst/>
            <a:gdLst/>
            <a:ahLst/>
            <a:cxnLst/>
            <a:rect l="l" t="t" r="r" b="b"/>
            <a:pathLst>
              <a:path w="49784" h="49784">
                <a:moveTo>
                  <a:pt x="0" y="0"/>
                </a:moveTo>
                <a:lnTo>
                  <a:pt x="49784" y="49784"/>
                </a:lnTo>
                <a:lnTo>
                  <a:pt x="0" y="49784"/>
                </a:lnTo>
                <a:close/>
              </a:path>
            </a:pathLst>
          </a:custGeom>
          <a:solidFill>
            <a:srgbClr val="0B0E1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Freeform 3"/>
          <p:cNvSpPr/>
          <p:nvPr/>
        </p:nvSpPr>
        <p:spPr>
          <a:xfrm>
            <a:off x="752348" y="445516"/>
            <a:ext cx="49784" cy="49784"/>
          </a:xfrm>
          <a:custGeom>
            <a:avLst/>
            <a:gdLst/>
            <a:ahLst/>
            <a:cxnLst/>
            <a:rect l="l" t="t" r="r" b="b"/>
            <a:pathLst>
              <a:path w="49784" h="49784">
                <a:moveTo>
                  <a:pt x="49784" y="49784"/>
                </a:moveTo>
                <a:lnTo>
                  <a:pt x="0" y="0"/>
                </a:lnTo>
                <a:lnTo>
                  <a:pt x="0" y="49784"/>
                </a:lnTo>
                <a:close/>
              </a:path>
            </a:pathLst>
          </a:custGeom>
          <a:solidFill>
            <a:srgbClr val="0B0E1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Freeform 4"/>
          <p:cNvSpPr/>
          <p:nvPr/>
        </p:nvSpPr>
        <p:spPr>
          <a:xfrm>
            <a:off x="674116" y="523748"/>
            <a:ext cx="49784" cy="49784"/>
          </a:xfrm>
          <a:custGeom>
            <a:avLst/>
            <a:gdLst/>
            <a:ahLst/>
            <a:cxnLst/>
            <a:rect l="l" t="t" r="r" b="b"/>
            <a:pathLst>
              <a:path w="49784" h="49784">
                <a:moveTo>
                  <a:pt x="49784" y="49784"/>
                </a:moveTo>
                <a:lnTo>
                  <a:pt x="0" y="0"/>
                </a:lnTo>
                <a:lnTo>
                  <a:pt x="49784" y="0"/>
                </a:lnTo>
                <a:close/>
              </a:path>
            </a:pathLst>
          </a:custGeom>
          <a:solidFill>
            <a:srgbClr val="0B0E1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Freeform 5"/>
          <p:cNvSpPr/>
          <p:nvPr/>
        </p:nvSpPr>
        <p:spPr>
          <a:xfrm>
            <a:off x="645668" y="495300"/>
            <a:ext cx="49784" cy="49784"/>
          </a:xfrm>
          <a:custGeom>
            <a:avLst/>
            <a:gdLst/>
            <a:ahLst/>
            <a:cxnLst/>
            <a:rect l="l" t="t" r="r" b="b"/>
            <a:pathLst>
              <a:path w="49784" h="49784">
                <a:moveTo>
                  <a:pt x="0" y="0"/>
                </a:moveTo>
                <a:lnTo>
                  <a:pt x="49784" y="49784"/>
                </a:lnTo>
                <a:lnTo>
                  <a:pt x="49784" y="0"/>
                </a:lnTo>
                <a:close/>
              </a:path>
            </a:pathLst>
          </a:custGeom>
          <a:solidFill>
            <a:srgbClr val="0B0E1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01700" y="406400"/>
            <a:ext cx="2032000" cy="25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 spc="110">
                <a:solidFill>
                  <a:srgbClr val="0B0E11"/>
                </a:solidFill>
                <a:latin typeface="BinanceNova"/>
              </a:rPr>
              <a:t>BINANCE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017000" y="508000"/>
            <a:ext cx="2667000" cy="177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700" spc="70" b="0">
                <a:solidFill>
                  <a:srgbClr val="0B0E11"/>
                </a:solidFill>
                <a:latin typeface="BinanceNova SemiBold"/>
              </a:rPr>
              <a:t>EXCHANGE · LIVE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62000" y="6540500"/>
            <a:ext cx="4445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650" spc="65" b="0">
                <a:solidFill>
                  <a:srgbClr val="0B0E11"/>
                </a:solidFill>
                <a:latin typeface="BinanceNova SemiBold"/>
              </a:rPr>
              <a:t>JAN 2026 · SHOWCASE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985000" y="6540500"/>
            <a:ext cx="4445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lang="en-US" dirty="0" sz="650" b="0" spc="65">
                <a:solidFill>
                  <a:srgbClr val="0B0E11"/>
                </a:solidFill>
                <a:latin typeface="BinanceNova SemiBold"/>
              </a:rPr>
              <a:t>SLIDE </a:t>
            </a:r>
            <a:fld id="{A1B2C3D4-E5F6-4890-ABCD-EF0123456789}" type="slidenum">
              <a:rPr lang="en-US" dirty="0" sz="650" b="0" spc="65">
                <a:solidFill>
                  <a:srgbClr val="0B0E11"/>
                </a:solidFill>
                <a:latin typeface="BinanceNova SemiBold"/>
              </a:rPr>
              <a:t>1</a:t>
            </a:fld>
          </a:p>
        </p:txBody>
      </p:sp>
      <p:sp>
        <p:nvSpPr>
          <p:cNvPr id="11" name="Eyebrow"/>
          <p:cNvSpPr>
            <a:spLocks noGrp="1"/>
          </p:cNvSpPr>
          <p:nvPr>
            <p:ph type="body" idx="10"/>
          </p:nvPr>
        </p:nvSpPr>
        <p:spPr>
          <a:xfrm>
            <a:off x="635000" y="1905000"/>
            <a:ext cx="10922000" cy="190500"/>
          </a:xfrm>
        </p:spPr>
        <p:txBody>
          <a:bodyPr lIns="0" tIns="0" rIns="0" bIns="0" wrap="square" anchor="t"/>
          <a:lstStyle/>
          <a:p>
            <a:pPr marL="0" indent="0" algn="ctr">
              <a:buNone/>
            </a:pPr>
            <a:r>
              <a:rPr lang="en-US" sz="800" spc="80" cap="all">
                <a:solidFill>
                  <a:srgbClr val="0B0E11"/>
                </a:solidFill>
                <a:latin typeface="BinanceNova"/>
              </a:rPr>
              <a:t>EXCHANGE · LIVE</a:t>
            </a:r>
          </a:p>
        </p:txBody>
      </p:sp>
      <p:sp>
        <p:nvSpPr>
          <p:cNvPr id="12" name="Title"/>
          <p:cNvSpPr>
            <a:spLocks noGrp="1"/>
          </p:cNvSpPr>
          <p:nvPr>
            <p:ph type="title"/>
          </p:nvPr>
        </p:nvSpPr>
        <p:spPr>
          <a:xfrm>
            <a:off x="635000" y="2413000"/>
            <a:ext cx="10922000" cy="1524000"/>
          </a:xfrm>
        </p:spPr>
        <p:txBody>
          <a:bodyPr lIns="0" tIns="0" rIns="0" bIns="0" wrap="square" anchor="t"/>
          <a:lstStyle/>
          <a:p>
            <a:pPr marL="0" indent="0" algn="ctr">
              <a:buNone/>
            </a:pPr>
            <a:r>
              <a:rPr lang="en-US" sz="10000" b="1" spc="-250">
                <a:solidFill>
                  <a:srgbClr val="FFFFFF"/>
                </a:solidFill>
                <a:latin typeface="BinancePlex"/>
              </a:rPr>
              <a:t>$4,000,000</a:t>
            </a:r>
          </a:p>
        </p:txBody>
      </p:sp>
      <p:sp>
        <p:nvSpPr>
          <p:cNvPr id="13" name="Subtitle"/>
          <p:cNvSpPr>
            <a:spLocks noGrp="1"/>
          </p:cNvSpPr>
          <p:nvPr>
            <p:ph type="body" idx="11"/>
          </p:nvPr>
        </p:nvSpPr>
        <p:spPr>
          <a:xfrm>
            <a:off x="635000" y="4064000"/>
            <a:ext cx="10922000" cy="508000"/>
          </a:xfrm>
        </p:spPr>
        <p:txBody>
          <a:bodyPr lIns="0" tIns="0" rIns="0" bIns="0" wrap="square" anchor="t"/>
          <a:lstStyle/>
          <a:p>
            <a:pPr marL="0" indent="0" algn="ctr">
              <a:lnSpc>
                <a:spcPct val="120000"/>
              </a:lnSpc>
              <a:buNone/>
            </a:pPr>
            <a:r>
              <a:rPr lang="en-US" sz="1600">
                <a:solidFill>
                  <a:srgbClr val="FFFFFF"/>
                </a:solidFill>
                <a:latin typeface="BinanceNova"/>
              </a:rPr>
              <a:t>USDT prize pool · Futures Masters Arena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5334000" y="5461000"/>
            <a:ext cx="1524000" cy="508000"/>
          </a:xfrm>
          <a:prstGeom prst="roundRect">
            <a:avLst>
              <a:gd name="adj" fmla="val 50000"/>
            </a:avLst>
          </a:prstGeom>
          <a:solidFill>
            <a:srgbClr val="FCD53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5334000" y="5461000"/>
            <a:ext cx="1524000" cy="508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900" spc="90" b="0">
                <a:solidFill>
                  <a:srgbClr val="0B0E11"/>
                </a:solidFill>
                <a:latin typeface="BinanceNova SemiBold"/>
              </a:rPr>
              <a:t>JOIN NOW</a:t>
            </a:r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Feinschliff · Title · Ink">
    <p:bg>
      <p:bgPr>
        <a:solidFill>
          <a:srgbClr val="0B0E1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1"/>
          <p:cNvSpPr/>
          <p:nvPr/>
        </p:nvSpPr>
        <p:spPr>
          <a:xfrm>
            <a:off x="723900" y="417068"/>
            <a:ext cx="49784" cy="49784"/>
          </a:xfrm>
          <a:custGeom>
            <a:avLst/>
            <a:gdLst/>
            <a:ahLst/>
            <a:cxnLst/>
            <a:rect l="l" t="t" r="r" b="b"/>
            <a:pathLst>
              <a:path w="49784" h="49784">
                <a:moveTo>
                  <a:pt x="0" y="0"/>
                </a:moveTo>
                <a:lnTo>
                  <a:pt x="49784" y="49784"/>
                </a:lnTo>
                <a:lnTo>
                  <a:pt x="0" y="49784"/>
                </a:lnTo>
                <a:close/>
              </a:path>
            </a:pathLst>
          </a:custGeom>
          <a:solidFill>
            <a:srgbClr val="FCD5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Freeform 2"/>
          <p:cNvSpPr/>
          <p:nvPr/>
        </p:nvSpPr>
        <p:spPr>
          <a:xfrm>
            <a:off x="752348" y="445516"/>
            <a:ext cx="49784" cy="49784"/>
          </a:xfrm>
          <a:custGeom>
            <a:avLst/>
            <a:gdLst/>
            <a:ahLst/>
            <a:cxnLst/>
            <a:rect l="l" t="t" r="r" b="b"/>
            <a:pathLst>
              <a:path w="49784" h="49784">
                <a:moveTo>
                  <a:pt x="49784" y="49784"/>
                </a:moveTo>
                <a:lnTo>
                  <a:pt x="0" y="0"/>
                </a:lnTo>
                <a:lnTo>
                  <a:pt x="0" y="49784"/>
                </a:lnTo>
                <a:close/>
              </a:path>
            </a:pathLst>
          </a:custGeom>
          <a:solidFill>
            <a:srgbClr val="FCD5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Freeform 3"/>
          <p:cNvSpPr/>
          <p:nvPr/>
        </p:nvSpPr>
        <p:spPr>
          <a:xfrm>
            <a:off x="674116" y="523748"/>
            <a:ext cx="49784" cy="49784"/>
          </a:xfrm>
          <a:custGeom>
            <a:avLst/>
            <a:gdLst/>
            <a:ahLst/>
            <a:cxnLst/>
            <a:rect l="l" t="t" r="r" b="b"/>
            <a:pathLst>
              <a:path w="49784" h="49784">
                <a:moveTo>
                  <a:pt x="49784" y="49784"/>
                </a:moveTo>
                <a:lnTo>
                  <a:pt x="0" y="0"/>
                </a:lnTo>
                <a:lnTo>
                  <a:pt x="49784" y="0"/>
                </a:lnTo>
                <a:close/>
              </a:path>
            </a:pathLst>
          </a:custGeom>
          <a:solidFill>
            <a:srgbClr val="FCD5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Freeform 4"/>
          <p:cNvSpPr/>
          <p:nvPr/>
        </p:nvSpPr>
        <p:spPr>
          <a:xfrm>
            <a:off x="645668" y="495300"/>
            <a:ext cx="49784" cy="49784"/>
          </a:xfrm>
          <a:custGeom>
            <a:avLst/>
            <a:gdLst/>
            <a:ahLst/>
            <a:cxnLst/>
            <a:rect l="l" t="t" r="r" b="b"/>
            <a:pathLst>
              <a:path w="49784" h="49784">
                <a:moveTo>
                  <a:pt x="0" y="0"/>
                </a:moveTo>
                <a:lnTo>
                  <a:pt x="49784" y="49784"/>
                </a:lnTo>
                <a:lnTo>
                  <a:pt x="49784" y="0"/>
                </a:lnTo>
                <a:close/>
              </a:path>
            </a:pathLst>
          </a:custGeom>
          <a:solidFill>
            <a:srgbClr val="FCD5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01700" y="406400"/>
            <a:ext cx="2032000" cy="25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 spc="110">
                <a:solidFill>
                  <a:srgbClr val="FCD535"/>
                </a:solidFill>
                <a:latin typeface="BinanceNova"/>
              </a:rPr>
              <a:t>BINANCE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017000" y="508000"/>
            <a:ext cx="2667000" cy="177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700" spc="70" b="0">
                <a:solidFill>
                  <a:srgbClr val="848E9C"/>
                </a:solidFill>
                <a:latin typeface="BinanceNova SemiBold"/>
              </a:rPr>
              <a:t>EXCHANGE · 2026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62000" y="6540500"/>
            <a:ext cx="4445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650" spc="65" b="0">
                <a:solidFill>
                  <a:srgbClr val="848E9C"/>
                </a:solidFill>
                <a:latin typeface="BinanceNova SemiBold"/>
              </a:rPr>
              <a:t>JAN 2026 · SHOWCASE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985000" y="6540500"/>
            <a:ext cx="4445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lang="en-US" dirty="0" sz="650" b="0" spc="65">
                <a:solidFill>
                  <a:srgbClr val="848E9C"/>
                </a:solidFill>
                <a:latin typeface="BinanceNova SemiBold"/>
              </a:rPr>
              <a:t>SLIDE </a:t>
            </a:r>
            <a:fld id="{A1B2C3D4-E5F6-4890-ABCD-EF0123456789}" type="slidenum">
              <a:rPr lang="en-US" dirty="0" sz="650" b="0" spc="65">
                <a:solidFill>
                  <a:srgbClr val="848E9C"/>
                </a:solidFill>
                <a:latin typeface="BinanceNova SemiBold"/>
              </a:rPr>
              <a:t>1</a:t>
            </a:fld>
          </a:p>
        </p:txBody>
      </p:sp>
      <p:sp>
        <p:nvSpPr>
          <p:cNvPr id="10" name="Eyebrow"/>
          <p:cNvSpPr>
            <a:spLocks noGrp="1"/>
          </p:cNvSpPr>
          <p:nvPr>
            <p:ph type="body" idx="10"/>
          </p:nvPr>
        </p:nvSpPr>
        <p:spPr>
          <a:xfrm>
            <a:off x="635000" y="2032000"/>
            <a:ext cx="5207000" cy="1778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800" spc="80" cap="all">
                <a:solidFill>
                  <a:srgbClr val="FCD535"/>
                </a:solidFill>
                <a:latin typeface="BinanceNova"/>
              </a:rPr>
              <a:t>EXCHANGE · 2026</a:t>
            </a:r>
          </a:p>
        </p:txBody>
      </p:sp>
      <p:sp>
        <p:nvSpPr>
          <p:cNvPr id="11" name="Title"/>
          <p:cNvSpPr>
            <a:spLocks noGrp="1"/>
          </p:cNvSpPr>
          <p:nvPr>
            <p:ph type="title"/>
          </p:nvPr>
        </p:nvSpPr>
        <p:spPr>
          <a:xfrm>
            <a:off x="635000" y="2349500"/>
            <a:ext cx="5207000" cy="1905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05000"/>
              </a:lnSpc>
              <a:buNone/>
            </a:pPr>
            <a:r>
              <a:rPr lang="en-US" sz="4800" b="1" spc="-96">
                <a:solidFill>
                  <a:srgbClr val="FFFFFF"/>
                </a:solidFill>
                <a:latin typeface="BinanceNova"/>
              </a:rPr>
              <a:t>316M users</a:t>
            </a:r>
          </a:p>
          <a:p>
            <a:pPr marL="0" indent="0" algn="l">
              <a:lnSpc>
                <a:spcPct val="105000"/>
              </a:lnSpc>
              <a:buNone/>
            </a:pPr>
            <a:r>
              <a:rPr lang="en-US" sz="4800" b="1" spc="-96">
                <a:solidFill>
                  <a:srgbClr val="FFFFFF"/>
                </a:solidFill>
                <a:latin typeface="BinanceNova"/>
              </a:rPr>
              <a:t>trust Binance.</a:t>
            </a:r>
          </a:p>
        </p:txBody>
      </p:sp>
      <p:sp>
        <p:nvSpPr>
          <p:cNvPr id="12" name="Subtitle"/>
          <p:cNvSpPr>
            <a:spLocks noGrp="1"/>
          </p:cNvSpPr>
          <p:nvPr>
            <p:ph type="body" idx="11"/>
          </p:nvPr>
        </p:nvSpPr>
        <p:spPr>
          <a:xfrm>
            <a:off x="635000" y="4572000"/>
            <a:ext cx="5207000" cy="762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40000"/>
              </a:lnSpc>
              <a:buNone/>
            </a:pPr>
            <a:r>
              <a:rPr lang="en-US" sz="1300">
                <a:solidFill>
                  <a:srgbClr val="B7BDC6"/>
                </a:solidFill>
                <a:latin typeface="BinanceNova"/>
              </a:rPr>
              <a:t>The world's largest crypto exchange — spot, futures, savings, and Web3.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35000" y="5524500"/>
            <a:ext cx="1270000" cy="406400"/>
          </a:xfrm>
          <a:prstGeom prst="roundRect">
            <a:avLst>
              <a:gd name="adj" fmla="val 50000"/>
            </a:avLst>
          </a:prstGeom>
          <a:solidFill>
            <a:srgbClr val="FCD53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35000" y="5524500"/>
            <a:ext cx="1270000" cy="4064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900" spc="90" b="0">
                <a:solidFill>
                  <a:srgbClr val="0B0E11"/>
                </a:solidFill>
                <a:latin typeface="BinanceNova SemiBold"/>
              </a:rPr>
              <a:t>SIGN UP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032000" y="5524500"/>
            <a:ext cx="1524000" cy="4064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900">
                <a:solidFill>
                  <a:srgbClr val="EAECEF"/>
                </a:solidFill>
                <a:latin typeface="BinanceNova"/>
              </a:rPr>
              <a:t>Already a user? Log In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350000" y="1270000"/>
            <a:ext cx="5207000" cy="4572000"/>
          </a:xfrm>
          <a:prstGeom prst="roundRect">
            <a:avLst>
              <a:gd name="adj" fmla="val 3333"/>
            </a:avLst>
          </a:prstGeom>
          <a:solidFill>
            <a:srgbClr val="1E232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553200" y="1473200"/>
            <a:ext cx="1270000" cy="177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650" spc="65" b="0">
                <a:solidFill>
                  <a:srgbClr val="FCD535"/>
                </a:solidFill>
                <a:latin typeface="BinanceNova SemiBold"/>
              </a:rPr>
              <a:t>POPULAR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823200" y="1473200"/>
            <a:ext cx="1270000" cy="177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650" spc="65" b="0">
                <a:solidFill>
                  <a:srgbClr val="848E9C"/>
                </a:solidFill>
                <a:latin typeface="BinanceNova SemiBold"/>
              </a:rPr>
              <a:t>NEW LISTING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093200" y="1473200"/>
            <a:ext cx="1270000" cy="177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650" spc="65" b="0">
                <a:solidFill>
                  <a:srgbClr val="848E9C"/>
                </a:solidFill>
                <a:latin typeface="BinanceNova SemiBold"/>
              </a:rPr>
              <a:t>TOP GAINERS</a:t>
            </a:r>
          </a:p>
        </p:txBody>
      </p:sp>
      <p:sp>
        <p:nvSpPr>
          <p:cNvPr id="20" name="Rectangle 19"/>
          <p:cNvSpPr/>
          <p:nvPr/>
        </p:nvSpPr>
        <p:spPr>
          <a:xfrm>
            <a:off x="6553200" y="1701800"/>
            <a:ext cx="558800" cy="12700"/>
          </a:xfrm>
          <a:prstGeom prst="rect">
            <a:avLst/>
          </a:prstGeom>
          <a:solidFill>
            <a:srgbClr val="FCD53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6553200" y="1828800"/>
            <a:ext cx="4800600" cy="6350"/>
          </a:xfrm>
          <a:prstGeom prst="rect">
            <a:avLst/>
          </a:prstGeom>
          <a:solidFill>
            <a:srgbClr val="2B313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845300" y="1981200"/>
            <a:ext cx="1397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700" spc="70" b="0">
                <a:solidFill>
                  <a:srgbClr val="848E9C"/>
                </a:solidFill>
                <a:latin typeface="BinanceNova SemiBold"/>
              </a:rPr>
              <a:t>PAIR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432800" y="1981200"/>
            <a:ext cx="1524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700" spc="70" b="0">
                <a:solidFill>
                  <a:srgbClr val="848E9C"/>
                </a:solidFill>
                <a:latin typeface="BinanceNova SemiBold"/>
              </a:rPr>
              <a:t>LAST PRICE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9956800" y="1981200"/>
            <a:ext cx="1143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700" spc="70" b="0">
                <a:solidFill>
                  <a:srgbClr val="848E9C"/>
                </a:solidFill>
                <a:latin typeface="BinanceNova SemiBold"/>
              </a:rPr>
              <a:t>24H CHANGE</a:t>
            </a:r>
          </a:p>
        </p:txBody>
      </p:sp>
      <p:sp>
        <p:nvSpPr>
          <p:cNvPr id="25" name="Rectangle 24"/>
          <p:cNvSpPr/>
          <p:nvPr/>
        </p:nvSpPr>
        <p:spPr>
          <a:xfrm>
            <a:off x="6553200" y="2184400"/>
            <a:ext cx="4800600" cy="6350"/>
          </a:xfrm>
          <a:prstGeom prst="rect">
            <a:avLst/>
          </a:prstGeom>
          <a:solidFill>
            <a:srgbClr val="2B313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Oval 25"/>
          <p:cNvSpPr/>
          <p:nvPr/>
        </p:nvSpPr>
        <p:spPr>
          <a:xfrm>
            <a:off x="6553200" y="2374900"/>
            <a:ext cx="203200" cy="203200"/>
          </a:xfrm>
          <a:prstGeom prst="ellipse">
            <a:avLst/>
          </a:prstGeom>
          <a:solidFill>
            <a:srgbClr val="F793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6553200" y="2374900"/>
            <a:ext cx="203200" cy="203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700" b="1">
                <a:solidFill>
                  <a:srgbClr val="0B0E11"/>
                </a:solidFill>
                <a:latin typeface="BinanceNova"/>
              </a:rPr>
              <a:t>B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845300" y="2298700"/>
            <a:ext cx="1397000" cy="3556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100" b="0">
                <a:solidFill>
                  <a:srgbClr val="EAECEF"/>
                </a:solidFill>
                <a:latin typeface="BinanceNova SemiBold"/>
              </a:rPr>
              <a:t>BTC/USDT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8432800" y="2298700"/>
            <a:ext cx="1524000" cy="3556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/>
            <a:r>
              <a:rPr sz="1300" spc="-13" b="0">
                <a:solidFill>
                  <a:srgbClr val="EAECEF"/>
                </a:solidFill>
                <a:latin typeface="BinancePlex SemiBold"/>
              </a:rPr>
              <a:t>79,065.04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9956800" y="2298700"/>
            <a:ext cx="1143000" cy="3556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/>
            <a:r>
              <a:rPr sz="900" b="0">
                <a:solidFill>
                  <a:srgbClr val="0ECB81"/>
                </a:solidFill>
                <a:latin typeface="BinancePlex Medium"/>
              </a:rPr>
              <a:t>▲ +0.45%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1099800" y="2298700"/>
            <a:ext cx="254000" cy="3556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200">
                <a:solidFill>
                  <a:srgbClr val="848E9C"/>
                </a:solidFill>
                <a:latin typeface="BinanceNova"/>
              </a:rPr>
              <a:t>›</a:t>
            </a:r>
          </a:p>
        </p:txBody>
      </p:sp>
      <p:sp>
        <p:nvSpPr>
          <p:cNvPr id="32" name="Rectangle 31"/>
          <p:cNvSpPr/>
          <p:nvPr/>
        </p:nvSpPr>
        <p:spPr>
          <a:xfrm>
            <a:off x="6553200" y="2654300"/>
            <a:ext cx="4800600" cy="6350"/>
          </a:xfrm>
          <a:prstGeom prst="rect">
            <a:avLst/>
          </a:prstGeom>
          <a:solidFill>
            <a:srgbClr val="2B313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Oval 32"/>
          <p:cNvSpPr/>
          <p:nvPr/>
        </p:nvSpPr>
        <p:spPr>
          <a:xfrm>
            <a:off x="6553200" y="2946400"/>
            <a:ext cx="203200" cy="203200"/>
          </a:xfrm>
          <a:prstGeom prst="ellipse">
            <a:avLst/>
          </a:prstGeom>
          <a:solidFill>
            <a:srgbClr val="627E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6553200" y="2946400"/>
            <a:ext cx="203200" cy="203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700" b="1">
                <a:solidFill>
                  <a:srgbClr val="0B0E11"/>
                </a:solidFill>
                <a:latin typeface="BinanceNova"/>
              </a:rPr>
              <a:t>E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6845300" y="2870200"/>
            <a:ext cx="1397000" cy="3556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100" b="0">
                <a:solidFill>
                  <a:srgbClr val="EAECEF"/>
                </a:solidFill>
                <a:latin typeface="BinanceNova SemiBold"/>
              </a:rPr>
              <a:t>ETH/USDT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8432800" y="2870200"/>
            <a:ext cx="1524000" cy="3556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/>
            <a:r>
              <a:rPr sz="1300" spc="-13" b="0">
                <a:solidFill>
                  <a:srgbClr val="EAECEF"/>
                </a:solidFill>
                <a:latin typeface="BinancePlex SemiBold"/>
              </a:rPr>
              <a:t>2,348.91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9956800" y="2870200"/>
            <a:ext cx="1143000" cy="3556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/>
            <a:r>
              <a:rPr sz="900" b="0">
                <a:solidFill>
                  <a:srgbClr val="0ECB81"/>
                </a:solidFill>
                <a:latin typeface="BinancePlex Medium"/>
              </a:rPr>
              <a:t>▲ +1.20%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11099800" y="2870200"/>
            <a:ext cx="254000" cy="3556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200">
                <a:solidFill>
                  <a:srgbClr val="848E9C"/>
                </a:solidFill>
                <a:latin typeface="BinanceNova"/>
              </a:rPr>
              <a:t>›</a:t>
            </a:r>
          </a:p>
        </p:txBody>
      </p:sp>
      <p:sp>
        <p:nvSpPr>
          <p:cNvPr id="39" name="Rectangle 38"/>
          <p:cNvSpPr/>
          <p:nvPr/>
        </p:nvSpPr>
        <p:spPr>
          <a:xfrm>
            <a:off x="6553200" y="3225800"/>
            <a:ext cx="4800600" cy="6350"/>
          </a:xfrm>
          <a:prstGeom prst="rect">
            <a:avLst/>
          </a:prstGeom>
          <a:solidFill>
            <a:srgbClr val="2B313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Oval 39"/>
          <p:cNvSpPr/>
          <p:nvPr/>
        </p:nvSpPr>
        <p:spPr>
          <a:xfrm>
            <a:off x="6553200" y="3517900"/>
            <a:ext cx="203200" cy="203200"/>
          </a:xfrm>
          <a:prstGeom prst="ellipse">
            <a:avLst/>
          </a:prstGeom>
          <a:solidFill>
            <a:srgbClr val="9945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6553200" y="3517900"/>
            <a:ext cx="203200" cy="203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700" b="1">
                <a:solidFill>
                  <a:srgbClr val="0B0E11"/>
                </a:solidFill>
                <a:latin typeface="BinanceNova"/>
              </a:rPr>
              <a:t>S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6845300" y="3441700"/>
            <a:ext cx="1397000" cy="3556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100" b="0">
                <a:solidFill>
                  <a:srgbClr val="EAECEF"/>
                </a:solidFill>
                <a:latin typeface="BinanceNova SemiBold"/>
              </a:rPr>
              <a:t>SOL/USDT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8432800" y="3441700"/>
            <a:ext cx="1524000" cy="3556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/>
            <a:r>
              <a:rPr sz="1300" spc="-13" b="0">
                <a:solidFill>
                  <a:srgbClr val="EAECEF"/>
                </a:solidFill>
                <a:latin typeface="BinancePlex SemiBold"/>
              </a:rPr>
              <a:t>151.62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9956800" y="3441700"/>
            <a:ext cx="1143000" cy="3556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/>
            <a:r>
              <a:rPr sz="900" b="0">
                <a:solidFill>
                  <a:srgbClr val="F6465D"/>
                </a:solidFill>
                <a:latin typeface="BinancePlex Medium"/>
              </a:rPr>
              <a:t>▼ −0.62%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11099800" y="3441700"/>
            <a:ext cx="254000" cy="3556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200">
                <a:solidFill>
                  <a:srgbClr val="848E9C"/>
                </a:solidFill>
                <a:latin typeface="BinanceNova"/>
              </a:rPr>
              <a:t>›</a:t>
            </a:r>
          </a:p>
        </p:txBody>
      </p:sp>
      <p:sp>
        <p:nvSpPr>
          <p:cNvPr id="46" name="Rectangle 45"/>
          <p:cNvSpPr/>
          <p:nvPr/>
        </p:nvSpPr>
        <p:spPr>
          <a:xfrm>
            <a:off x="6553200" y="3797300"/>
            <a:ext cx="4800600" cy="6350"/>
          </a:xfrm>
          <a:prstGeom prst="rect">
            <a:avLst/>
          </a:prstGeom>
          <a:solidFill>
            <a:srgbClr val="2B313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Oval 46"/>
          <p:cNvSpPr/>
          <p:nvPr/>
        </p:nvSpPr>
        <p:spPr>
          <a:xfrm>
            <a:off x="6553200" y="4089400"/>
            <a:ext cx="203200" cy="203200"/>
          </a:xfrm>
          <a:prstGeom prst="ellipse">
            <a:avLst/>
          </a:prstGeom>
          <a:solidFill>
            <a:srgbClr val="F0B9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6553200" y="4089400"/>
            <a:ext cx="203200" cy="203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700" b="1">
                <a:solidFill>
                  <a:srgbClr val="0B0E11"/>
                </a:solidFill>
                <a:latin typeface="BinanceNova"/>
              </a:rPr>
              <a:t>B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6845300" y="4013200"/>
            <a:ext cx="1397000" cy="3556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100" b="0">
                <a:solidFill>
                  <a:srgbClr val="EAECEF"/>
                </a:solidFill>
                <a:latin typeface="BinanceNova SemiBold"/>
              </a:rPr>
              <a:t>BNB/USDT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8432800" y="4013200"/>
            <a:ext cx="1524000" cy="3556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/>
            <a:r>
              <a:rPr sz="1300" spc="-13" b="0">
                <a:solidFill>
                  <a:srgbClr val="EAECEF"/>
                </a:solidFill>
                <a:latin typeface="BinancePlex SemiBold"/>
              </a:rPr>
              <a:t>612.30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9956800" y="4013200"/>
            <a:ext cx="1143000" cy="3556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/>
            <a:r>
              <a:rPr sz="900" b="0">
                <a:solidFill>
                  <a:srgbClr val="0ECB81"/>
                </a:solidFill>
                <a:latin typeface="BinancePlex Medium"/>
              </a:rPr>
              <a:t>▲ +0.18%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11099800" y="4013200"/>
            <a:ext cx="254000" cy="3556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200">
                <a:solidFill>
                  <a:srgbClr val="848E9C"/>
                </a:solidFill>
                <a:latin typeface="BinanceNova"/>
              </a:rPr>
              <a:t>›</a:t>
            </a:r>
          </a:p>
        </p:txBody>
      </p:sp>
      <p:sp>
        <p:nvSpPr>
          <p:cNvPr id="53" name="Rectangle 52"/>
          <p:cNvSpPr/>
          <p:nvPr/>
        </p:nvSpPr>
        <p:spPr>
          <a:xfrm>
            <a:off x="6553200" y="4368800"/>
            <a:ext cx="4800600" cy="6350"/>
          </a:xfrm>
          <a:prstGeom prst="rect">
            <a:avLst/>
          </a:prstGeom>
          <a:solidFill>
            <a:srgbClr val="2B313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Oval 53"/>
          <p:cNvSpPr/>
          <p:nvPr/>
        </p:nvSpPr>
        <p:spPr>
          <a:xfrm>
            <a:off x="6553200" y="4660900"/>
            <a:ext cx="203200" cy="203200"/>
          </a:xfrm>
          <a:prstGeom prst="ellipse">
            <a:avLst/>
          </a:prstGeom>
          <a:solidFill>
            <a:srgbClr val="26A1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TextBox 54"/>
          <p:cNvSpPr txBox="1"/>
          <p:nvPr/>
        </p:nvSpPr>
        <p:spPr>
          <a:xfrm>
            <a:off x="6553200" y="4660900"/>
            <a:ext cx="203200" cy="203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700" b="1">
                <a:solidFill>
                  <a:srgbClr val="0B0E11"/>
                </a:solidFill>
                <a:latin typeface="BinanceNova"/>
              </a:rPr>
              <a:t>T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6845300" y="4584700"/>
            <a:ext cx="1397000" cy="3556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100" b="0">
                <a:solidFill>
                  <a:srgbClr val="EAECEF"/>
                </a:solidFill>
                <a:latin typeface="BinanceNova SemiBold"/>
              </a:rPr>
              <a:t>USDT/USD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8432800" y="4584700"/>
            <a:ext cx="1524000" cy="3556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/>
            <a:r>
              <a:rPr sz="1300" spc="-13" b="0">
                <a:solidFill>
                  <a:srgbClr val="EAECEF"/>
                </a:solidFill>
                <a:latin typeface="BinancePlex SemiBold"/>
              </a:rPr>
              <a:t>1.0001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9956800" y="4584700"/>
            <a:ext cx="1143000" cy="3556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/>
            <a:r>
              <a:rPr sz="900" b="0">
                <a:solidFill>
                  <a:srgbClr val="848E9C"/>
                </a:solidFill>
                <a:latin typeface="BinancePlex Medium"/>
              </a:rPr>
              <a:t>0.00%</a:t>
            </a:r>
          </a:p>
        </p:txBody>
      </p:sp>
      <p:sp>
        <p:nvSpPr>
          <p:cNvPr id="59" name="TextBox 58"/>
          <p:cNvSpPr txBox="1"/>
          <p:nvPr/>
        </p:nvSpPr>
        <p:spPr>
          <a:xfrm>
            <a:off x="11099800" y="4584700"/>
            <a:ext cx="254000" cy="3556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200">
                <a:solidFill>
                  <a:srgbClr val="848E9C"/>
                </a:solidFill>
                <a:latin typeface="BinanceNova"/>
              </a:rPr>
              <a:t>›</a:t>
            </a:r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Feinschliff · Title + Picture">
    <p:bg>
      <p:bgPr>
        <a:solidFill>
          <a:srgbClr val="0B0E1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6096000" y="0"/>
            <a:ext cx="6096000" cy="6858000"/>
          </a:xfrm>
          <a:prstGeom prst="rect">
            <a:avLst/>
          </a:prstGeom>
          <a:pattFill prst="wdDnDiag">
            <a:fgClr>
              <a:srgbClr val="2B3139"/>
            </a:fgClr>
            <a:bgClr>
              <a:srgbClr val="1E2329"/>
            </a:bgClr>
          </a:patt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096000" y="0"/>
            <a:ext cx="6096000" cy="6858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800" spc="80">
                <a:solidFill>
                  <a:srgbClr val="FFFFFF"/>
                </a:solidFill>
                <a:latin typeface="BinancePlex"/>
              </a:rPr>
              <a:t>PRODUCT SHOT · 16:9</a:t>
            </a:r>
          </a:p>
        </p:txBody>
      </p:sp>
      <p:sp>
        <p:nvSpPr>
          <p:cNvPr id="4" name="Freeform 3"/>
          <p:cNvSpPr/>
          <p:nvPr/>
        </p:nvSpPr>
        <p:spPr>
          <a:xfrm>
            <a:off x="723900" y="417068"/>
            <a:ext cx="49784" cy="49784"/>
          </a:xfrm>
          <a:custGeom>
            <a:avLst/>
            <a:gdLst/>
            <a:ahLst/>
            <a:cxnLst/>
            <a:rect l="l" t="t" r="r" b="b"/>
            <a:pathLst>
              <a:path w="49784" h="49784">
                <a:moveTo>
                  <a:pt x="0" y="0"/>
                </a:moveTo>
                <a:lnTo>
                  <a:pt x="49784" y="49784"/>
                </a:lnTo>
                <a:lnTo>
                  <a:pt x="0" y="49784"/>
                </a:lnTo>
                <a:close/>
              </a:path>
            </a:pathLst>
          </a:custGeom>
          <a:solidFill>
            <a:srgbClr val="FCD5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Freeform 4"/>
          <p:cNvSpPr/>
          <p:nvPr/>
        </p:nvSpPr>
        <p:spPr>
          <a:xfrm>
            <a:off x="752348" y="445516"/>
            <a:ext cx="49784" cy="49784"/>
          </a:xfrm>
          <a:custGeom>
            <a:avLst/>
            <a:gdLst/>
            <a:ahLst/>
            <a:cxnLst/>
            <a:rect l="l" t="t" r="r" b="b"/>
            <a:pathLst>
              <a:path w="49784" h="49784">
                <a:moveTo>
                  <a:pt x="49784" y="49784"/>
                </a:moveTo>
                <a:lnTo>
                  <a:pt x="0" y="0"/>
                </a:lnTo>
                <a:lnTo>
                  <a:pt x="0" y="49784"/>
                </a:lnTo>
                <a:close/>
              </a:path>
            </a:pathLst>
          </a:custGeom>
          <a:solidFill>
            <a:srgbClr val="FCD5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Freeform 5"/>
          <p:cNvSpPr/>
          <p:nvPr/>
        </p:nvSpPr>
        <p:spPr>
          <a:xfrm>
            <a:off x="674116" y="523748"/>
            <a:ext cx="49784" cy="49784"/>
          </a:xfrm>
          <a:custGeom>
            <a:avLst/>
            <a:gdLst/>
            <a:ahLst/>
            <a:cxnLst/>
            <a:rect l="l" t="t" r="r" b="b"/>
            <a:pathLst>
              <a:path w="49784" h="49784">
                <a:moveTo>
                  <a:pt x="49784" y="49784"/>
                </a:moveTo>
                <a:lnTo>
                  <a:pt x="0" y="0"/>
                </a:lnTo>
                <a:lnTo>
                  <a:pt x="49784" y="0"/>
                </a:lnTo>
                <a:close/>
              </a:path>
            </a:pathLst>
          </a:custGeom>
          <a:solidFill>
            <a:srgbClr val="FCD5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Freeform 6"/>
          <p:cNvSpPr/>
          <p:nvPr/>
        </p:nvSpPr>
        <p:spPr>
          <a:xfrm>
            <a:off x="645668" y="495300"/>
            <a:ext cx="49784" cy="49784"/>
          </a:xfrm>
          <a:custGeom>
            <a:avLst/>
            <a:gdLst/>
            <a:ahLst/>
            <a:cxnLst/>
            <a:rect l="l" t="t" r="r" b="b"/>
            <a:pathLst>
              <a:path w="49784" h="49784">
                <a:moveTo>
                  <a:pt x="0" y="0"/>
                </a:moveTo>
                <a:lnTo>
                  <a:pt x="49784" y="49784"/>
                </a:lnTo>
                <a:lnTo>
                  <a:pt x="49784" y="0"/>
                </a:lnTo>
                <a:close/>
              </a:path>
            </a:pathLst>
          </a:custGeom>
          <a:solidFill>
            <a:srgbClr val="FCD5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01700" y="406400"/>
            <a:ext cx="2032000" cy="25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 spc="110">
                <a:solidFill>
                  <a:srgbClr val="FCD535"/>
                </a:solidFill>
                <a:latin typeface="BinanceNova"/>
              </a:rPr>
              <a:t>BINANCE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017000" y="508000"/>
            <a:ext cx="2667000" cy="177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700" spc="70" b="0">
                <a:solidFill>
                  <a:srgbClr val="848E9C"/>
                </a:solidFill>
                <a:latin typeface="BinanceNova SemiBold"/>
              </a:rPr>
              <a:t>TITLE + PICTURE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62000" y="6540500"/>
            <a:ext cx="4445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650" spc="65" b="0">
                <a:solidFill>
                  <a:srgbClr val="848E9C"/>
                </a:solidFill>
                <a:latin typeface="BinanceNova SemiBold"/>
              </a:rPr>
              <a:t>JAN 2026 · SHOWCASE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985000" y="6540500"/>
            <a:ext cx="4445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lang="en-US" dirty="0" sz="650" b="0" spc="65">
                <a:solidFill>
                  <a:srgbClr val="848E9C"/>
                </a:solidFill>
                <a:latin typeface="BinanceNova SemiBold"/>
              </a:rPr>
              <a:t>SLIDE </a:t>
            </a:r>
            <a:fld id="{A1B2C3D4-E5F6-4890-ABCD-EF0123456789}" type="slidenum">
              <a:rPr lang="en-US" dirty="0" sz="650" b="0" spc="65">
                <a:solidFill>
                  <a:srgbClr val="848E9C"/>
                </a:solidFill>
                <a:latin typeface="BinanceNova SemiBold"/>
              </a:rPr>
              <a:t>1</a:t>
            </a:fld>
          </a:p>
        </p:txBody>
      </p:sp>
      <p:sp>
        <p:nvSpPr>
          <p:cNvPr id="12" name="Rectangle 11"/>
          <p:cNvSpPr/>
          <p:nvPr/>
        </p:nvSpPr>
        <p:spPr>
          <a:xfrm>
            <a:off x="635000" y="2857500"/>
            <a:ext cx="508000" cy="25400"/>
          </a:xfrm>
          <a:prstGeom prst="rect">
            <a:avLst/>
          </a:prstGeom>
          <a:solidFill>
            <a:srgbClr val="FCD53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Eyebrow"/>
          <p:cNvSpPr>
            <a:spLocks noGrp="1"/>
          </p:cNvSpPr>
          <p:nvPr>
            <p:ph type="body" idx="10"/>
          </p:nvPr>
        </p:nvSpPr>
        <p:spPr>
          <a:xfrm>
            <a:off x="635000" y="3136900"/>
            <a:ext cx="52070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800" spc="80" cap="all">
                <a:solidFill>
                  <a:srgbClr val="EAECEF"/>
                </a:solidFill>
                <a:latin typeface="BinanceNova"/>
              </a:rPr>
              <a:t>LAYOUT 03 · TITLE + PICTURE</a:t>
            </a:r>
          </a:p>
        </p:txBody>
      </p:sp>
      <p:sp>
        <p:nvSpPr>
          <p:cNvPr id="14" name="Title"/>
          <p:cNvSpPr>
            <a:spLocks noGrp="1"/>
          </p:cNvSpPr>
          <p:nvPr>
            <p:ph type="title"/>
          </p:nvPr>
        </p:nvSpPr>
        <p:spPr>
          <a:xfrm>
            <a:off x="635000" y="3454400"/>
            <a:ext cx="5207000" cy="16510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6000" b="1" spc="-180">
                <a:solidFill>
                  <a:srgbClr val="EAECEF"/>
                </a:solidFill>
                <a:latin typeface="BinanceNova"/>
              </a:rPr>
              <a:t>Pair a title</a:t>
            </a:r>
          </a:p>
          <a:p>
            <a:pPr marL="0" indent="0" algn="l">
              <a:buNone/>
            </a:pPr>
            <a:r>
              <a:rPr lang="en-US" sz="6000" b="1" spc="-180">
                <a:solidFill>
                  <a:srgbClr val="EAECEF"/>
                </a:solidFill>
                <a:latin typeface="BinanceNova"/>
              </a:rPr>
              <a:t>with a product.</a:t>
            </a:r>
          </a:p>
        </p:txBody>
      </p:sp>
      <p:sp>
        <p:nvSpPr>
          <p:cNvPr id="15" name="Body"/>
          <p:cNvSpPr>
            <a:spLocks noGrp="1"/>
          </p:cNvSpPr>
          <p:nvPr>
            <p:ph type="body" idx="11"/>
          </p:nvPr>
        </p:nvSpPr>
        <p:spPr>
          <a:xfrm>
            <a:off x="635000" y="5207000"/>
            <a:ext cx="4953000" cy="635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1000">
                <a:solidFill>
                  <a:srgbClr val="FFFFFF"/>
                </a:solidFill>
                <a:latin typeface="BinanceNova"/>
              </a:rPr>
              <a:t>Full-bleed image on the right half, title stacked on the left. The logo and page meta sit on top, unchanged.</a:t>
            </a:r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Feinschliff · Agenda">
    <p:bg>
      <p:bgPr>
        <a:solidFill>
          <a:srgbClr val="0B0E1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1"/>
          <p:cNvSpPr/>
          <p:nvPr/>
        </p:nvSpPr>
        <p:spPr>
          <a:xfrm>
            <a:off x="723900" y="417068"/>
            <a:ext cx="49784" cy="49784"/>
          </a:xfrm>
          <a:custGeom>
            <a:avLst/>
            <a:gdLst/>
            <a:ahLst/>
            <a:cxnLst/>
            <a:rect l="l" t="t" r="r" b="b"/>
            <a:pathLst>
              <a:path w="49784" h="49784">
                <a:moveTo>
                  <a:pt x="0" y="0"/>
                </a:moveTo>
                <a:lnTo>
                  <a:pt x="49784" y="49784"/>
                </a:lnTo>
                <a:lnTo>
                  <a:pt x="0" y="49784"/>
                </a:lnTo>
                <a:close/>
              </a:path>
            </a:pathLst>
          </a:custGeom>
          <a:solidFill>
            <a:srgbClr val="FCD5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Freeform 2"/>
          <p:cNvSpPr/>
          <p:nvPr/>
        </p:nvSpPr>
        <p:spPr>
          <a:xfrm>
            <a:off x="752348" y="445516"/>
            <a:ext cx="49784" cy="49784"/>
          </a:xfrm>
          <a:custGeom>
            <a:avLst/>
            <a:gdLst/>
            <a:ahLst/>
            <a:cxnLst/>
            <a:rect l="l" t="t" r="r" b="b"/>
            <a:pathLst>
              <a:path w="49784" h="49784">
                <a:moveTo>
                  <a:pt x="49784" y="49784"/>
                </a:moveTo>
                <a:lnTo>
                  <a:pt x="0" y="0"/>
                </a:lnTo>
                <a:lnTo>
                  <a:pt x="0" y="49784"/>
                </a:lnTo>
                <a:close/>
              </a:path>
            </a:pathLst>
          </a:custGeom>
          <a:solidFill>
            <a:srgbClr val="FCD5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Freeform 3"/>
          <p:cNvSpPr/>
          <p:nvPr/>
        </p:nvSpPr>
        <p:spPr>
          <a:xfrm>
            <a:off x="674116" y="523748"/>
            <a:ext cx="49784" cy="49784"/>
          </a:xfrm>
          <a:custGeom>
            <a:avLst/>
            <a:gdLst/>
            <a:ahLst/>
            <a:cxnLst/>
            <a:rect l="l" t="t" r="r" b="b"/>
            <a:pathLst>
              <a:path w="49784" h="49784">
                <a:moveTo>
                  <a:pt x="49784" y="49784"/>
                </a:moveTo>
                <a:lnTo>
                  <a:pt x="0" y="0"/>
                </a:lnTo>
                <a:lnTo>
                  <a:pt x="49784" y="0"/>
                </a:lnTo>
                <a:close/>
              </a:path>
            </a:pathLst>
          </a:custGeom>
          <a:solidFill>
            <a:srgbClr val="FCD5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Freeform 4"/>
          <p:cNvSpPr/>
          <p:nvPr/>
        </p:nvSpPr>
        <p:spPr>
          <a:xfrm>
            <a:off x="645668" y="495300"/>
            <a:ext cx="49784" cy="49784"/>
          </a:xfrm>
          <a:custGeom>
            <a:avLst/>
            <a:gdLst/>
            <a:ahLst/>
            <a:cxnLst/>
            <a:rect l="l" t="t" r="r" b="b"/>
            <a:pathLst>
              <a:path w="49784" h="49784">
                <a:moveTo>
                  <a:pt x="0" y="0"/>
                </a:moveTo>
                <a:lnTo>
                  <a:pt x="49784" y="49784"/>
                </a:lnTo>
                <a:lnTo>
                  <a:pt x="49784" y="0"/>
                </a:lnTo>
                <a:close/>
              </a:path>
            </a:pathLst>
          </a:custGeom>
          <a:solidFill>
            <a:srgbClr val="FCD5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01700" y="406400"/>
            <a:ext cx="2032000" cy="25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 spc="110">
                <a:solidFill>
                  <a:srgbClr val="FCD535"/>
                </a:solidFill>
                <a:latin typeface="BinanceNova"/>
              </a:rPr>
              <a:t>BINANCE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017000" y="508000"/>
            <a:ext cx="2667000" cy="177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700" spc="70" b="0">
                <a:solidFill>
                  <a:srgbClr val="848E9C"/>
                </a:solidFill>
                <a:latin typeface="BinanceNova SemiBold"/>
              </a:rPr>
              <a:t>AGENDA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62000" y="6540500"/>
            <a:ext cx="4445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650" spc="65" b="0">
                <a:solidFill>
                  <a:srgbClr val="848E9C"/>
                </a:solidFill>
                <a:latin typeface="BinanceNova SemiBold"/>
              </a:rPr>
              <a:t>JAN 2026 · SHOWCASE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985000" y="6540500"/>
            <a:ext cx="4445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lang="en-US" dirty="0" sz="650" b="0" spc="65">
                <a:solidFill>
                  <a:srgbClr val="848E9C"/>
                </a:solidFill>
                <a:latin typeface="BinanceNova SemiBold"/>
              </a:rPr>
              <a:t>SLIDE </a:t>
            </a:r>
            <a:fld id="{A1B2C3D4-E5F6-4890-ABCD-EF0123456789}" type="slidenum">
              <a:rPr lang="en-US" dirty="0" sz="650" b="0" spc="65">
                <a:solidFill>
                  <a:srgbClr val="848E9C"/>
                </a:solidFill>
                <a:latin typeface="BinanceNova SemiBold"/>
              </a:rPr>
              <a:t>1</a:t>
            </a:fld>
          </a:p>
        </p:txBody>
      </p:sp>
      <p:sp>
        <p:nvSpPr>
          <p:cNvPr id="10" name="Rectangle 9"/>
          <p:cNvSpPr/>
          <p:nvPr/>
        </p:nvSpPr>
        <p:spPr>
          <a:xfrm>
            <a:off x="635000" y="1143000"/>
            <a:ext cx="508000" cy="25400"/>
          </a:xfrm>
          <a:prstGeom prst="rect">
            <a:avLst/>
          </a:prstGeom>
          <a:solidFill>
            <a:srgbClr val="FCD53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Eyebrow"/>
          <p:cNvSpPr>
            <a:spLocks noGrp="1"/>
          </p:cNvSpPr>
          <p:nvPr>
            <p:ph type="body" idx="10"/>
          </p:nvPr>
        </p:nvSpPr>
        <p:spPr>
          <a:xfrm>
            <a:off x="635000" y="1397000"/>
            <a:ext cx="101600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800" spc="80" cap="all">
                <a:solidFill>
                  <a:srgbClr val="EAECEF"/>
                </a:solidFill>
                <a:latin typeface="BinanceNova"/>
              </a:rPr>
              <a:t>ONLY TITLE LAYOUT</a:t>
            </a:r>
          </a:p>
        </p:txBody>
      </p:sp>
      <p:sp>
        <p:nvSpPr>
          <p:cNvPr id="12" name="Title"/>
          <p:cNvSpPr>
            <a:spLocks noGrp="1"/>
          </p:cNvSpPr>
          <p:nvPr>
            <p:ph type="title"/>
          </p:nvPr>
        </p:nvSpPr>
        <p:spPr>
          <a:xfrm>
            <a:off x="635000" y="1651000"/>
            <a:ext cx="10922000" cy="635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05000"/>
              </a:lnSpc>
              <a:buNone/>
            </a:pPr>
            <a:r>
              <a:rPr lang="en-US" sz="2800" b="1" spc="-56">
                <a:solidFill>
                  <a:srgbClr val="EAECEF"/>
                </a:solidFill>
                <a:latin typeface="BinanceNova"/>
              </a:rPr>
              <a:t>What we'll cover.</a:t>
            </a:r>
          </a:p>
        </p:txBody>
      </p:sp>
      <p:sp>
        <p:nvSpPr>
          <p:cNvPr id="13" name="Rectangle 12"/>
          <p:cNvSpPr/>
          <p:nvPr/>
        </p:nvSpPr>
        <p:spPr>
          <a:xfrm>
            <a:off x="635000" y="2667000"/>
            <a:ext cx="5461000" cy="6350"/>
          </a:xfrm>
          <a:prstGeom prst="rect">
            <a:avLst/>
          </a:prstGeom>
          <a:solidFill>
            <a:srgbClr val="2B313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ow 1 Num"/>
          <p:cNvSpPr>
            <a:spLocks noGrp="1"/>
          </p:cNvSpPr>
          <p:nvPr>
            <p:ph type="body" idx="20"/>
          </p:nvPr>
        </p:nvSpPr>
        <p:spPr>
          <a:xfrm>
            <a:off x="635000" y="2755900"/>
            <a:ext cx="6985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spc="56">
                <a:solidFill>
                  <a:srgbClr val="FCD535"/>
                </a:solidFill>
                <a:latin typeface="BinancePlex"/>
              </a:rPr>
              <a:t>01 / 06</a:t>
            </a:r>
          </a:p>
        </p:txBody>
      </p:sp>
      <p:sp>
        <p:nvSpPr>
          <p:cNvPr id="15" name="Row 1 Title"/>
          <p:cNvSpPr>
            <a:spLocks noGrp="1"/>
          </p:cNvSpPr>
          <p:nvPr>
            <p:ph type="body" idx="21"/>
          </p:nvPr>
        </p:nvSpPr>
        <p:spPr>
          <a:xfrm>
            <a:off x="1397000" y="2730500"/>
            <a:ext cx="4699000" cy="2540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1300" spc="-13">
                <a:solidFill>
                  <a:srgbClr val="EAECEF"/>
                </a:solidFill>
                <a:latin typeface="BinanceNova Medium"/>
              </a:rPr>
              <a:t>Brand mark</a:t>
            </a:r>
          </a:p>
        </p:txBody>
      </p:sp>
      <p:sp>
        <p:nvSpPr>
          <p:cNvPr id="16" name="Row 1 Desc"/>
          <p:cNvSpPr>
            <a:spLocks noGrp="1"/>
          </p:cNvSpPr>
          <p:nvPr>
            <p:ph type="body" idx="22"/>
          </p:nvPr>
        </p:nvSpPr>
        <p:spPr>
          <a:xfrm>
            <a:off x="1397000" y="2997200"/>
            <a:ext cx="4699000" cy="2032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900">
                <a:solidFill>
                  <a:srgbClr val="FFFFFF"/>
                </a:solidFill>
                <a:latin typeface="BinanceNova"/>
              </a:rPr>
              <a:t>Wordmark, contrast, clear space.</a:t>
            </a:r>
          </a:p>
        </p:txBody>
      </p:sp>
      <p:sp>
        <p:nvSpPr>
          <p:cNvPr id="17" name="Rectangle 16"/>
          <p:cNvSpPr/>
          <p:nvPr/>
        </p:nvSpPr>
        <p:spPr>
          <a:xfrm>
            <a:off x="6350000" y="2667000"/>
            <a:ext cx="5461000" cy="6350"/>
          </a:xfrm>
          <a:prstGeom prst="rect">
            <a:avLst/>
          </a:prstGeom>
          <a:solidFill>
            <a:srgbClr val="2B313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ow 2 Num"/>
          <p:cNvSpPr>
            <a:spLocks noGrp="1"/>
          </p:cNvSpPr>
          <p:nvPr>
            <p:ph type="body" idx="23"/>
          </p:nvPr>
        </p:nvSpPr>
        <p:spPr>
          <a:xfrm>
            <a:off x="6350000" y="2755900"/>
            <a:ext cx="6985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spc="56">
                <a:solidFill>
                  <a:srgbClr val="FCD535"/>
                </a:solidFill>
                <a:latin typeface="BinancePlex"/>
              </a:rPr>
              <a:t>02 / 06</a:t>
            </a:r>
          </a:p>
        </p:txBody>
      </p:sp>
      <p:sp>
        <p:nvSpPr>
          <p:cNvPr id="19" name="Row 2 Title"/>
          <p:cNvSpPr>
            <a:spLocks noGrp="1"/>
          </p:cNvSpPr>
          <p:nvPr>
            <p:ph type="body" idx="24"/>
          </p:nvPr>
        </p:nvSpPr>
        <p:spPr>
          <a:xfrm>
            <a:off x="7112000" y="2730500"/>
            <a:ext cx="4699000" cy="2540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1300" spc="-13">
                <a:solidFill>
                  <a:srgbClr val="EAECEF"/>
                </a:solidFill>
                <a:latin typeface="BinanceNova Medium"/>
              </a:rPr>
              <a:t>Colour</a:t>
            </a:r>
          </a:p>
        </p:txBody>
      </p:sp>
      <p:sp>
        <p:nvSpPr>
          <p:cNvPr id="20" name="Row 2 Desc"/>
          <p:cNvSpPr>
            <a:spLocks noGrp="1"/>
          </p:cNvSpPr>
          <p:nvPr>
            <p:ph type="body" idx="25"/>
          </p:nvPr>
        </p:nvSpPr>
        <p:spPr>
          <a:xfrm>
            <a:off x="7112000" y="2997200"/>
            <a:ext cx="4699000" cy="2032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900">
                <a:solidFill>
                  <a:srgbClr val="FFFFFF"/>
                </a:solidFill>
                <a:latin typeface="BinanceNova"/>
              </a:rPr>
              <a:t>One orange, seven neutrals.</a:t>
            </a:r>
          </a:p>
        </p:txBody>
      </p:sp>
      <p:sp>
        <p:nvSpPr>
          <p:cNvPr id="21" name="Rectangle 20"/>
          <p:cNvSpPr/>
          <p:nvPr/>
        </p:nvSpPr>
        <p:spPr>
          <a:xfrm>
            <a:off x="635000" y="3378200"/>
            <a:ext cx="5461000" cy="6350"/>
          </a:xfrm>
          <a:prstGeom prst="rect">
            <a:avLst/>
          </a:prstGeom>
          <a:solidFill>
            <a:srgbClr val="2B313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ow 3 Num"/>
          <p:cNvSpPr>
            <a:spLocks noGrp="1"/>
          </p:cNvSpPr>
          <p:nvPr>
            <p:ph type="body" idx="26"/>
          </p:nvPr>
        </p:nvSpPr>
        <p:spPr>
          <a:xfrm>
            <a:off x="635000" y="3467100"/>
            <a:ext cx="6985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spc="56">
                <a:solidFill>
                  <a:srgbClr val="FCD535"/>
                </a:solidFill>
                <a:latin typeface="BinancePlex"/>
              </a:rPr>
              <a:t>03 / 06</a:t>
            </a:r>
          </a:p>
        </p:txBody>
      </p:sp>
      <p:sp>
        <p:nvSpPr>
          <p:cNvPr id="23" name="Row 3 Title"/>
          <p:cNvSpPr>
            <a:spLocks noGrp="1"/>
          </p:cNvSpPr>
          <p:nvPr>
            <p:ph type="body" idx="27"/>
          </p:nvPr>
        </p:nvSpPr>
        <p:spPr>
          <a:xfrm>
            <a:off x="1397000" y="3441700"/>
            <a:ext cx="4699000" cy="2540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1300" spc="-13">
                <a:solidFill>
                  <a:srgbClr val="EAECEF"/>
                </a:solidFill>
                <a:latin typeface="BinanceNova Medium"/>
              </a:rPr>
              <a:t>Type</a:t>
            </a:r>
          </a:p>
        </p:txBody>
      </p:sp>
      <p:sp>
        <p:nvSpPr>
          <p:cNvPr id="24" name="Row 3 Desc"/>
          <p:cNvSpPr>
            <a:spLocks noGrp="1"/>
          </p:cNvSpPr>
          <p:nvPr>
            <p:ph type="body" idx="28"/>
          </p:nvPr>
        </p:nvSpPr>
        <p:spPr>
          <a:xfrm>
            <a:off x="1397000" y="3708400"/>
            <a:ext cx="4699000" cy="2032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900">
                <a:solidFill>
                  <a:srgbClr val="FFFFFF"/>
                </a:solidFill>
                <a:latin typeface="BinanceNova"/>
              </a:rPr>
              <a:t>Noto Sans, 28pt titles.</a:t>
            </a:r>
          </a:p>
        </p:txBody>
      </p:sp>
      <p:sp>
        <p:nvSpPr>
          <p:cNvPr id="25" name="Rectangle 24"/>
          <p:cNvSpPr/>
          <p:nvPr/>
        </p:nvSpPr>
        <p:spPr>
          <a:xfrm>
            <a:off x="6350000" y="3378200"/>
            <a:ext cx="5461000" cy="6350"/>
          </a:xfrm>
          <a:prstGeom prst="rect">
            <a:avLst/>
          </a:prstGeom>
          <a:solidFill>
            <a:srgbClr val="2B313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ow 4 Num"/>
          <p:cNvSpPr>
            <a:spLocks noGrp="1"/>
          </p:cNvSpPr>
          <p:nvPr>
            <p:ph type="body" idx="29"/>
          </p:nvPr>
        </p:nvSpPr>
        <p:spPr>
          <a:xfrm>
            <a:off x="6350000" y="3467100"/>
            <a:ext cx="6985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spc="56">
                <a:solidFill>
                  <a:srgbClr val="FCD535"/>
                </a:solidFill>
                <a:latin typeface="BinancePlex"/>
              </a:rPr>
              <a:t>04 / 06</a:t>
            </a:r>
          </a:p>
        </p:txBody>
      </p:sp>
      <p:sp>
        <p:nvSpPr>
          <p:cNvPr id="27" name="Row 4 Title"/>
          <p:cNvSpPr>
            <a:spLocks noGrp="1"/>
          </p:cNvSpPr>
          <p:nvPr>
            <p:ph type="body" idx="30"/>
          </p:nvPr>
        </p:nvSpPr>
        <p:spPr>
          <a:xfrm>
            <a:off x="7112000" y="3441700"/>
            <a:ext cx="4699000" cy="2540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1300" spc="-13">
                <a:solidFill>
                  <a:srgbClr val="EAECEF"/>
                </a:solidFill>
                <a:latin typeface="BinanceNova Medium"/>
              </a:rPr>
              <a:t>Layouts</a:t>
            </a:r>
          </a:p>
        </p:txBody>
      </p:sp>
      <p:sp>
        <p:nvSpPr>
          <p:cNvPr id="28" name="Row 4 Desc"/>
          <p:cNvSpPr>
            <a:spLocks noGrp="1"/>
          </p:cNvSpPr>
          <p:nvPr>
            <p:ph type="body" idx="31"/>
          </p:nvPr>
        </p:nvSpPr>
        <p:spPr>
          <a:xfrm>
            <a:off x="7112000" y="3708400"/>
            <a:ext cx="4699000" cy="2032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900">
                <a:solidFill>
                  <a:srgbClr val="FFFFFF"/>
                </a:solidFill>
                <a:latin typeface="BinanceNova"/>
              </a:rPr>
              <a:t>Chapter, content, picture, data.</a:t>
            </a:r>
          </a:p>
        </p:txBody>
      </p:sp>
      <p:sp>
        <p:nvSpPr>
          <p:cNvPr id="29" name="Rectangle 28"/>
          <p:cNvSpPr/>
          <p:nvPr/>
        </p:nvSpPr>
        <p:spPr>
          <a:xfrm>
            <a:off x="635000" y="4089400"/>
            <a:ext cx="5461000" cy="6350"/>
          </a:xfrm>
          <a:prstGeom prst="rect">
            <a:avLst/>
          </a:prstGeom>
          <a:solidFill>
            <a:srgbClr val="2B313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ow 5 Num"/>
          <p:cNvSpPr>
            <a:spLocks noGrp="1"/>
          </p:cNvSpPr>
          <p:nvPr>
            <p:ph type="body" idx="32"/>
          </p:nvPr>
        </p:nvSpPr>
        <p:spPr>
          <a:xfrm>
            <a:off x="635000" y="4178300"/>
            <a:ext cx="6985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spc="56">
                <a:solidFill>
                  <a:srgbClr val="FCD535"/>
                </a:solidFill>
                <a:latin typeface="BinancePlex"/>
              </a:rPr>
              <a:t>05 / 06</a:t>
            </a:r>
          </a:p>
        </p:txBody>
      </p:sp>
      <p:sp>
        <p:nvSpPr>
          <p:cNvPr id="31" name="Row 5 Title"/>
          <p:cNvSpPr>
            <a:spLocks noGrp="1"/>
          </p:cNvSpPr>
          <p:nvPr>
            <p:ph type="body" idx="33"/>
          </p:nvPr>
        </p:nvSpPr>
        <p:spPr>
          <a:xfrm>
            <a:off x="1397000" y="4152900"/>
            <a:ext cx="4699000" cy="2540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1300" spc="-13">
                <a:solidFill>
                  <a:srgbClr val="EAECEF"/>
                </a:solidFill>
                <a:latin typeface="BinanceNova Medium"/>
              </a:rPr>
              <a:t>Components</a:t>
            </a:r>
          </a:p>
        </p:txBody>
      </p:sp>
      <p:sp>
        <p:nvSpPr>
          <p:cNvPr id="32" name="Row 5 Desc"/>
          <p:cNvSpPr>
            <a:spLocks noGrp="1"/>
          </p:cNvSpPr>
          <p:nvPr>
            <p:ph type="body" idx="34"/>
          </p:nvPr>
        </p:nvSpPr>
        <p:spPr>
          <a:xfrm>
            <a:off x="1397000" y="4419600"/>
            <a:ext cx="4699000" cy="2032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900">
                <a:solidFill>
                  <a:srgbClr val="FFFFFF"/>
                </a:solidFill>
                <a:latin typeface="BinanceNova"/>
              </a:rPr>
              <a:t>Buttons, chips, KPIs, rules.</a:t>
            </a:r>
          </a:p>
        </p:txBody>
      </p:sp>
      <p:sp>
        <p:nvSpPr>
          <p:cNvPr id="33" name="Rectangle 32"/>
          <p:cNvSpPr/>
          <p:nvPr/>
        </p:nvSpPr>
        <p:spPr>
          <a:xfrm>
            <a:off x="6350000" y="4089400"/>
            <a:ext cx="5461000" cy="6350"/>
          </a:xfrm>
          <a:prstGeom prst="rect">
            <a:avLst/>
          </a:prstGeom>
          <a:solidFill>
            <a:srgbClr val="2B313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Row 6 Num"/>
          <p:cNvSpPr>
            <a:spLocks noGrp="1"/>
          </p:cNvSpPr>
          <p:nvPr>
            <p:ph type="body" idx="35"/>
          </p:nvPr>
        </p:nvSpPr>
        <p:spPr>
          <a:xfrm>
            <a:off x="6350000" y="4178300"/>
            <a:ext cx="6985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spc="56">
                <a:solidFill>
                  <a:srgbClr val="FCD535"/>
                </a:solidFill>
                <a:latin typeface="BinancePlex"/>
              </a:rPr>
              <a:t>06 / 06</a:t>
            </a:r>
          </a:p>
        </p:txBody>
      </p:sp>
      <p:sp>
        <p:nvSpPr>
          <p:cNvPr id="35" name="Row 6 Title"/>
          <p:cNvSpPr>
            <a:spLocks noGrp="1"/>
          </p:cNvSpPr>
          <p:nvPr>
            <p:ph type="body" idx="36"/>
          </p:nvPr>
        </p:nvSpPr>
        <p:spPr>
          <a:xfrm>
            <a:off x="7112000" y="4152900"/>
            <a:ext cx="4699000" cy="2540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1300" spc="-13">
                <a:solidFill>
                  <a:srgbClr val="EAECEF"/>
                </a:solidFill>
                <a:latin typeface="BinanceNova Medium"/>
              </a:rPr>
              <a:t>Voice</a:t>
            </a:r>
          </a:p>
        </p:txBody>
      </p:sp>
      <p:sp>
        <p:nvSpPr>
          <p:cNvPr id="36" name="Row 6 Desc"/>
          <p:cNvSpPr>
            <a:spLocks noGrp="1"/>
          </p:cNvSpPr>
          <p:nvPr>
            <p:ph type="body" idx="37"/>
          </p:nvPr>
        </p:nvSpPr>
        <p:spPr>
          <a:xfrm>
            <a:off x="7112000" y="4419600"/>
            <a:ext cx="4699000" cy="2032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900">
                <a:solidFill>
                  <a:srgbClr val="FFFFFF"/>
                </a:solidFill>
                <a:latin typeface="BinanceNova"/>
              </a:rPr>
              <a:t>Quiet confidence.</a:t>
            </a:r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Feinschliff · Chapter · Accent">
    <p:bg>
      <p:bgPr>
        <a:solidFill>
          <a:srgbClr val="0B0E1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2000" cy="2057400"/>
          </a:xfrm>
          <a:prstGeom prst="rect">
            <a:avLst/>
          </a:prstGeom>
          <a:solidFill>
            <a:srgbClr val="FCD53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Freeform 2"/>
          <p:cNvSpPr/>
          <p:nvPr/>
        </p:nvSpPr>
        <p:spPr>
          <a:xfrm>
            <a:off x="723900" y="417068"/>
            <a:ext cx="49784" cy="49784"/>
          </a:xfrm>
          <a:custGeom>
            <a:avLst/>
            <a:gdLst/>
            <a:ahLst/>
            <a:cxnLst/>
            <a:rect l="l" t="t" r="r" b="b"/>
            <a:pathLst>
              <a:path w="49784" h="49784">
                <a:moveTo>
                  <a:pt x="0" y="0"/>
                </a:moveTo>
                <a:lnTo>
                  <a:pt x="49784" y="49784"/>
                </a:lnTo>
                <a:lnTo>
                  <a:pt x="0" y="49784"/>
                </a:lnTo>
                <a:close/>
              </a:path>
            </a:pathLst>
          </a:custGeom>
          <a:solidFill>
            <a:srgbClr val="0B0E1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Freeform 3"/>
          <p:cNvSpPr/>
          <p:nvPr/>
        </p:nvSpPr>
        <p:spPr>
          <a:xfrm>
            <a:off x="752348" y="445516"/>
            <a:ext cx="49784" cy="49784"/>
          </a:xfrm>
          <a:custGeom>
            <a:avLst/>
            <a:gdLst/>
            <a:ahLst/>
            <a:cxnLst/>
            <a:rect l="l" t="t" r="r" b="b"/>
            <a:pathLst>
              <a:path w="49784" h="49784">
                <a:moveTo>
                  <a:pt x="49784" y="49784"/>
                </a:moveTo>
                <a:lnTo>
                  <a:pt x="0" y="0"/>
                </a:lnTo>
                <a:lnTo>
                  <a:pt x="0" y="49784"/>
                </a:lnTo>
                <a:close/>
              </a:path>
            </a:pathLst>
          </a:custGeom>
          <a:solidFill>
            <a:srgbClr val="0B0E1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Freeform 4"/>
          <p:cNvSpPr/>
          <p:nvPr/>
        </p:nvSpPr>
        <p:spPr>
          <a:xfrm>
            <a:off x="674116" y="523748"/>
            <a:ext cx="49784" cy="49784"/>
          </a:xfrm>
          <a:custGeom>
            <a:avLst/>
            <a:gdLst/>
            <a:ahLst/>
            <a:cxnLst/>
            <a:rect l="l" t="t" r="r" b="b"/>
            <a:pathLst>
              <a:path w="49784" h="49784">
                <a:moveTo>
                  <a:pt x="49784" y="49784"/>
                </a:moveTo>
                <a:lnTo>
                  <a:pt x="0" y="0"/>
                </a:lnTo>
                <a:lnTo>
                  <a:pt x="49784" y="0"/>
                </a:lnTo>
                <a:close/>
              </a:path>
            </a:pathLst>
          </a:custGeom>
          <a:solidFill>
            <a:srgbClr val="0B0E1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Freeform 5"/>
          <p:cNvSpPr/>
          <p:nvPr/>
        </p:nvSpPr>
        <p:spPr>
          <a:xfrm>
            <a:off x="645668" y="495300"/>
            <a:ext cx="49784" cy="49784"/>
          </a:xfrm>
          <a:custGeom>
            <a:avLst/>
            <a:gdLst/>
            <a:ahLst/>
            <a:cxnLst/>
            <a:rect l="l" t="t" r="r" b="b"/>
            <a:pathLst>
              <a:path w="49784" h="49784">
                <a:moveTo>
                  <a:pt x="0" y="0"/>
                </a:moveTo>
                <a:lnTo>
                  <a:pt x="49784" y="49784"/>
                </a:lnTo>
                <a:lnTo>
                  <a:pt x="49784" y="0"/>
                </a:lnTo>
                <a:close/>
              </a:path>
            </a:pathLst>
          </a:custGeom>
          <a:solidFill>
            <a:srgbClr val="0B0E1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01700" y="406400"/>
            <a:ext cx="2032000" cy="25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 spc="110">
                <a:solidFill>
                  <a:srgbClr val="0B0E11"/>
                </a:solidFill>
                <a:latin typeface="BinanceNova"/>
              </a:rPr>
              <a:t>BINANCE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017000" y="508000"/>
            <a:ext cx="2667000" cy="177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700" spc="70" b="0">
                <a:solidFill>
                  <a:srgbClr val="0B0E11"/>
                </a:solidFill>
                <a:latin typeface="BinanceNova SemiBold"/>
              </a:rPr>
              <a:t>CHAPTER 01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62000" y="6540500"/>
            <a:ext cx="4445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650" spc="65" b="0">
                <a:solidFill>
                  <a:srgbClr val="0B0E11"/>
                </a:solidFill>
                <a:latin typeface="BinanceNova SemiBold"/>
              </a:rPr>
              <a:t>JAN 2026 · SHOWCASE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985000" y="6540500"/>
            <a:ext cx="4445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lang="en-US" dirty="0" sz="650" b="0" spc="65">
                <a:solidFill>
                  <a:srgbClr val="0B0E11"/>
                </a:solidFill>
                <a:latin typeface="BinanceNova SemiBold"/>
              </a:rPr>
              <a:t>SLIDE </a:t>
            </a:r>
            <a:fld id="{A1B2C3D4-E5F6-4890-ABCD-EF0123456789}" type="slidenum">
              <a:rPr lang="en-US" dirty="0" sz="650" b="0" spc="65">
                <a:solidFill>
                  <a:srgbClr val="0B0E11"/>
                </a:solidFill>
                <a:latin typeface="BinanceNova SemiBold"/>
              </a:rPr>
              <a:t>1</a:t>
            </a:fld>
          </a:p>
        </p:txBody>
      </p:sp>
      <p:sp>
        <p:nvSpPr>
          <p:cNvPr id="11" name="TextBox 10"/>
          <p:cNvSpPr txBox="1"/>
          <p:nvPr/>
        </p:nvSpPr>
        <p:spPr>
          <a:xfrm>
            <a:off x="6985000" y="4953000"/>
            <a:ext cx="5080000" cy="1397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85000"/>
              </a:lnSpc>
            </a:pPr>
            <a:r>
              <a:rPr sz="11000" b="1" spc="-440">
                <a:solidFill>
                  <a:srgbClr val="FFFFFF">
                    <a:alpha val="18000"/>
                  </a:srgbClr>
                </a:solidFill>
                <a:latin typeface="BinancePlex"/>
              </a:rPr>
              <a:t>01 / 06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35000" y="2794000"/>
            <a:ext cx="50800" cy="2413000"/>
          </a:xfrm>
          <a:prstGeom prst="rect">
            <a:avLst/>
          </a:prstGeom>
          <a:solidFill>
            <a:srgbClr val="FCD53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Eyebrow"/>
          <p:cNvSpPr>
            <a:spLocks noGrp="1"/>
          </p:cNvSpPr>
          <p:nvPr>
            <p:ph type="body" idx="10"/>
          </p:nvPr>
        </p:nvSpPr>
        <p:spPr>
          <a:xfrm>
            <a:off x="889000" y="2794000"/>
            <a:ext cx="10160000" cy="1778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800" spc="80" cap="all">
                <a:solidFill>
                  <a:srgbClr val="FCD535"/>
                </a:solidFill>
                <a:latin typeface="BinanceNova"/>
              </a:rPr>
              <a:t>CHAPTER · ACCENT</a:t>
            </a:r>
          </a:p>
        </p:txBody>
      </p:sp>
      <p:sp>
        <p:nvSpPr>
          <p:cNvPr id="14" name="Title"/>
          <p:cNvSpPr>
            <a:spLocks noGrp="1"/>
          </p:cNvSpPr>
          <p:nvPr>
            <p:ph type="title"/>
          </p:nvPr>
        </p:nvSpPr>
        <p:spPr>
          <a:xfrm>
            <a:off x="889000" y="3111500"/>
            <a:ext cx="8255000" cy="2413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05000"/>
              </a:lnSpc>
              <a:buNone/>
            </a:pPr>
            <a:r>
              <a:rPr lang="en-US" sz="6000" b="1" spc="-120">
                <a:solidFill>
                  <a:srgbClr val="FFFFFF"/>
                </a:solidFill>
                <a:latin typeface="BinanceNova"/>
              </a:rPr>
              <a:t>01</a:t>
            </a:r>
          </a:p>
          <a:p>
            <a:pPr marL="0" indent="0" algn="l">
              <a:lnSpc>
                <a:spcPct val="105000"/>
              </a:lnSpc>
              <a:buNone/>
            </a:pPr>
            <a:r>
              <a:rPr lang="en-US" sz="6000" b="1" spc="-120">
                <a:solidFill>
                  <a:srgbClr val="FFFFFF"/>
                </a:solidFill>
                <a:latin typeface="BinanceNova"/>
              </a:rPr>
              <a:t>Brand.</a:t>
            </a:r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Feinschliff · Chapter · Ink + Picture">
    <p:bg>
      <p:bgPr>
        <a:solidFill>
          <a:srgbClr val="0B0E1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6096000" y="0"/>
            <a:ext cx="6096000" cy="6858000"/>
          </a:xfrm>
          <a:prstGeom prst="rect">
            <a:avLst/>
          </a:prstGeom>
          <a:pattFill prst="wdDnDiag">
            <a:fgClr>
              <a:srgbClr val="1A1A1A"/>
            </a:fgClr>
            <a:bgClr>
              <a:srgbClr val="222222"/>
            </a:bgClr>
          </a:patt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096000" y="0"/>
            <a:ext cx="6096000" cy="6858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800" spc="80">
                <a:solidFill>
                  <a:srgbClr val="B7BDC6"/>
                </a:solidFill>
                <a:latin typeface="BinancePlex"/>
              </a:rPr>
              <a:t>CHAPTER IMAGE · 16:9</a:t>
            </a:r>
          </a:p>
        </p:txBody>
      </p:sp>
      <p:sp>
        <p:nvSpPr>
          <p:cNvPr id="4" name="Freeform 3"/>
          <p:cNvSpPr/>
          <p:nvPr/>
        </p:nvSpPr>
        <p:spPr>
          <a:xfrm>
            <a:off x="723900" y="417068"/>
            <a:ext cx="49784" cy="49784"/>
          </a:xfrm>
          <a:custGeom>
            <a:avLst/>
            <a:gdLst/>
            <a:ahLst/>
            <a:cxnLst/>
            <a:rect l="l" t="t" r="r" b="b"/>
            <a:pathLst>
              <a:path w="49784" h="49784">
                <a:moveTo>
                  <a:pt x="0" y="0"/>
                </a:moveTo>
                <a:lnTo>
                  <a:pt x="49784" y="49784"/>
                </a:lnTo>
                <a:lnTo>
                  <a:pt x="0" y="49784"/>
                </a:lnTo>
                <a:close/>
              </a:path>
            </a:pathLst>
          </a:custGeom>
          <a:solidFill>
            <a:srgbClr val="FCD5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Freeform 4"/>
          <p:cNvSpPr/>
          <p:nvPr/>
        </p:nvSpPr>
        <p:spPr>
          <a:xfrm>
            <a:off x="752348" y="445516"/>
            <a:ext cx="49784" cy="49784"/>
          </a:xfrm>
          <a:custGeom>
            <a:avLst/>
            <a:gdLst/>
            <a:ahLst/>
            <a:cxnLst/>
            <a:rect l="l" t="t" r="r" b="b"/>
            <a:pathLst>
              <a:path w="49784" h="49784">
                <a:moveTo>
                  <a:pt x="49784" y="49784"/>
                </a:moveTo>
                <a:lnTo>
                  <a:pt x="0" y="0"/>
                </a:lnTo>
                <a:lnTo>
                  <a:pt x="0" y="49784"/>
                </a:lnTo>
                <a:close/>
              </a:path>
            </a:pathLst>
          </a:custGeom>
          <a:solidFill>
            <a:srgbClr val="FCD5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Freeform 5"/>
          <p:cNvSpPr/>
          <p:nvPr/>
        </p:nvSpPr>
        <p:spPr>
          <a:xfrm>
            <a:off x="674116" y="523748"/>
            <a:ext cx="49784" cy="49784"/>
          </a:xfrm>
          <a:custGeom>
            <a:avLst/>
            <a:gdLst/>
            <a:ahLst/>
            <a:cxnLst/>
            <a:rect l="l" t="t" r="r" b="b"/>
            <a:pathLst>
              <a:path w="49784" h="49784">
                <a:moveTo>
                  <a:pt x="49784" y="49784"/>
                </a:moveTo>
                <a:lnTo>
                  <a:pt x="0" y="0"/>
                </a:lnTo>
                <a:lnTo>
                  <a:pt x="49784" y="0"/>
                </a:lnTo>
                <a:close/>
              </a:path>
            </a:pathLst>
          </a:custGeom>
          <a:solidFill>
            <a:srgbClr val="FCD5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Freeform 6"/>
          <p:cNvSpPr/>
          <p:nvPr/>
        </p:nvSpPr>
        <p:spPr>
          <a:xfrm>
            <a:off x="645668" y="495300"/>
            <a:ext cx="49784" cy="49784"/>
          </a:xfrm>
          <a:custGeom>
            <a:avLst/>
            <a:gdLst/>
            <a:ahLst/>
            <a:cxnLst/>
            <a:rect l="l" t="t" r="r" b="b"/>
            <a:pathLst>
              <a:path w="49784" h="49784">
                <a:moveTo>
                  <a:pt x="0" y="0"/>
                </a:moveTo>
                <a:lnTo>
                  <a:pt x="49784" y="49784"/>
                </a:lnTo>
                <a:lnTo>
                  <a:pt x="49784" y="0"/>
                </a:lnTo>
                <a:close/>
              </a:path>
            </a:pathLst>
          </a:custGeom>
          <a:solidFill>
            <a:srgbClr val="FCD5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01700" y="406400"/>
            <a:ext cx="2032000" cy="25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 spc="110">
                <a:solidFill>
                  <a:srgbClr val="FCD535"/>
                </a:solidFill>
                <a:latin typeface="BinanceNova"/>
              </a:rPr>
              <a:t>BINANCE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017000" y="508000"/>
            <a:ext cx="2667000" cy="177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700" spc="70" b="0">
                <a:solidFill>
                  <a:srgbClr val="848E9C"/>
                </a:solidFill>
                <a:latin typeface="BinanceNova SemiBold"/>
              </a:rPr>
              <a:t>CHAPTER 02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62000" y="6540500"/>
            <a:ext cx="4445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650" spc="65" b="0">
                <a:solidFill>
                  <a:srgbClr val="848E9C"/>
                </a:solidFill>
                <a:latin typeface="BinanceNova SemiBold"/>
              </a:rPr>
              <a:t>JAN 2026 · SHOWCASE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985000" y="6540500"/>
            <a:ext cx="4445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lang="en-US" dirty="0" sz="650" b="0" spc="65">
                <a:solidFill>
                  <a:srgbClr val="848E9C"/>
                </a:solidFill>
                <a:latin typeface="BinanceNova SemiBold"/>
              </a:rPr>
              <a:t>SLIDE </a:t>
            </a:r>
            <a:fld id="{A1B2C3D4-E5F6-4890-ABCD-EF0123456789}" type="slidenum">
              <a:rPr lang="en-US" dirty="0" sz="650" b="0" spc="65">
                <a:solidFill>
                  <a:srgbClr val="848E9C"/>
                </a:solidFill>
                <a:latin typeface="BinanceNova SemiBold"/>
              </a:rPr>
              <a:t>1</a:t>
            </a:fld>
          </a:p>
        </p:txBody>
      </p:sp>
      <p:sp>
        <p:nvSpPr>
          <p:cNvPr id="12" name="Rectangle 11"/>
          <p:cNvSpPr/>
          <p:nvPr/>
        </p:nvSpPr>
        <p:spPr>
          <a:xfrm>
            <a:off x="635000" y="2794000"/>
            <a:ext cx="50800" cy="2413000"/>
          </a:xfrm>
          <a:prstGeom prst="rect">
            <a:avLst/>
          </a:prstGeom>
          <a:solidFill>
            <a:srgbClr val="FCD53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Eyebrow"/>
          <p:cNvSpPr>
            <a:spLocks noGrp="1"/>
          </p:cNvSpPr>
          <p:nvPr>
            <p:ph type="body" idx="10"/>
          </p:nvPr>
        </p:nvSpPr>
        <p:spPr>
          <a:xfrm>
            <a:off x="889000" y="2794000"/>
            <a:ext cx="5207000" cy="1778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800" spc="80" cap="all">
                <a:solidFill>
                  <a:srgbClr val="FCD535"/>
                </a:solidFill>
                <a:latin typeface="BinanceNova"/>
              </a:rPr>
              <a:t>CHAPTER · INK</a:t>
            </a:r>
          </a:p>
        </p:txBody>
      </p:sp>
      <p:sp>
        <p:nvSpPr>
          <p:cNvPr id="14" name="Title"/>
          <p:cNvSpPr>
            <a:spLocks noGrp="1"/>
          </p:cNvSpPr>
          <p:nvPr>
            <p:ph type="title"/>
          </p:nvPr>
        </p:nvSpPr>
        <p:spPr>
          <a:xfrm>
            <a:off x="889000" y="3111500"/>
            <a:ext cx="5207000" cy="2413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05000"/>
              </a:lnSpc>
              <a:buNone/>
            </a:pPr>
            <a:r>
              <a:rPr lang="en-US" sz="6000" b="1" spc="-120">
                <a:solidFill>
                  <a:srgbClr val="FFFFFF"/>
                </a:solidFill>
                <a:latin typeface="BinanceNova"/>
              </a:rPr>
              <a:t>02</a:t>
            </a:r>
          </a:p>
          <a:p>
            <a:pPr marL="0" indent="0" algn="l">
              <a:lnSpc>
                <a:spcPct val="105000"/>
              </a:lnSpc>
              <a:buNone/>
            </a:pPr>
            <a:r>
              <a:rPr lang="en-US" sz="6000" b="1" spc="-120">
                <a:solidFill>
                  <a:srgbClr val="FFFFFF"/>
                </a:solidFill>
                <a:latin typeface="BinanceNova"/>
              </a:rPr>
              <a:t>Funds Are</a:t>
            </a:r>
          </a:p>
          <a:p>
            <a:pPr marL="0" indent="0" algn="l">
              <a:lnSpc>
                <a:spcPct val="105000"/>
              </a:lnSpc>
              <a:buNone/>
            </a:pPr>
            <a:r>
              <a:rPr lang="en-US" sz="6000" b="1" spc="-120">
                <a:solidFill>
                  <a:srgbClr val="FFFFFF"/>
                </a:solidFill>
                <a:latin typeface="BinanceNova"/>
              </a:rPr>
              <a:t>Safu.</a:t>
            </a:r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Feinschliff · KPI Grid">
    <p:bg>
      <p:bgPr>
        <a:solidFill>
          <a:srgbClr val="0B0E1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1"/>
          <p:cNvSpPr/>
          <p:nvPr/>
        </p:nvSpPr>
        <p:spPr>
          <a:xfrm>
            <a:off x="723900" y="417068"/>
            <a:ext cx="49784" cy="49784"/>
          </a:xfrm>
          <a:custGeom>
            <a:avLst/>
            <a:gdLst/>
            <a:ahLst/>
            <a:cxnLst/>
            <a:rect l="l" t="t" r="r" b="b"/>
            <a:pathLst>
              <a:path w="49784" h="49784">
                <a:moveTo>
                  <a:pt x="0" y="0"/>
                </a:moveTo>
                <a:lnTo>
                  <a:pt x="49784" y="49784"/>
                </a:lnTo>
                <a:lnTo>
                  <a:pt x="0" y="49784"/>
                </a:lnTo>
                <a:close/>
              </a:path>
            </a:pathLst>
          </a:custGeom>
          <a:solidFill>
            <a:srgbClr val="FCD5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Freeform 2"/>
          <p:cNvSpPr/>
          <p:nvPr/>
        </p:nvSpPr>
        <p:spPr>
          <a:xfrm>
            <a:off x="752348" y="445516"/>
            <a:ext cx="49784" cy="49784"/>
          </a:xfrm>
          <a:custGeom>
            <a:avLst/>
            <a:gdLst/>
            <a:ahLst/>
            <a:cxnLst/>
            <a:rect l="l" t="t" r="r" b="b"/>
            <a:pathLst>
              <a:path w="49784" h="49784">
                <a:moveTo>
                  <a:pt x="49784" y="49784"/>
                </a:moveTo>
                <a:lnTo>
                  <a:pt x="0" y="0"/>
                </a:lnTo>
                <a:lnTo>
                  <a:pt x="0" y="49784"/>
                </a:lnTo>
                <a:close/>
              </a:path>
            </a:pathLst>
          </a:custGeom>
          <a:solidFill>
            <a:srgbClr val="FCD5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Freeform 3"/>
          <p:cNvSpPr/>
          <p:nvPr/>
        </p:nvSpPr>
        <p:spPr>
          <a:xfrm>
            <a:off x="674116" y="523748"/>
            <a:ext cx="49784" cy="49784"/>
          </a:xfrm>
          <a:custGeom>
            <a:avLst/>
            <a:gdLst/>
            <a:ahLst/>
            <a:cxnLst/>
            <a:rect l="l" t="t" r="r" b="b"/>
            <a:pathLst>
              <a:path w="49784" h="49784">
                <a:moveTo>
                  <a:pt x="49784" y="49784"/>
                </a:moveTo>
                <a:lnTo>
                  <a:pt x="0" y="0"/>
                </a:lnTo>
                <a:lnTo>
                  <a:pt x="49784" y="0"/>
                </a:lnTo>
                <a:close/>
              </a:path>
            </a:pathLst>
          </a:custGeom>
          <a:solidFill>
            <a:srgbClr val="FCD5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Freeform 4"/>
          <p:cNvSpPr/>
          <p:nvPr/>
        </p:nvSpPr>
        <p:spPr>
          <a:xfrm>
            <a:off x="645668" y="495300"/>
            <a:ext cx="49784" cy="49784"/>
          </a:xfrm>
          <a:custGeom>
            <a:avLst/>
            <a:gdLst/>
            <a:ahLst/>
            <a:cxnLst/>
            <a:rect l="l" t="t" r="r" b="b"/>
            <a:pathLst>
              <a:path w="49784" h="49784">
                <a:moveTo>
                  <a:pt x="0" y="0"/>
                </a:moveTo>
                <a:lnTo>
                  <a:pt x="49784" y="49784"/>
                </a:lnTo>
                <a:lnTo>
                  <a:pt x="49784" y="0"/>
                </a:lnTo>
                <a:close/>
              </a:path>
            </a:pathLst>
          </a:custGeom>
          <a:solidFill>
            <a:srgbClr val="FCD5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01700" y="406400"/>
            <a:ext cx="2032000" cy="25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 spc="110">
                <a:solidFill>
                  <a:srgbClr val="FCD535"/>
                </a:solidFill>
                <a:latin typeface="BinanceNova"/>
              </a:rPr>
              <a:t>BINANCE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017000" y="508000"/>
            <a:ext cx="2667000" cy="177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700" spc="70" b="0">
                <a:solidFill>
                  <a:srgbClr val="848E9C"/>
                </a:solidFill>
                <a:latin typeface="BinanceNova SemiBold"/>
              </a:rPr>
              <a:t>EXCHANGE · 2026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62000" y="6540500"/>
            <a:ext cx="4445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650" spc="65" b="0">
                <a:solidFill>
                  <a:srgbClr val="848E9C"/>
                </a:solidFill>
                <a:latin typeface="BinanceNova SemiBold"/>
              </a:rPr>
              <a:t>JAN 2026 · SHOWCASE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985000" y="6540500"/>
            <a:ext cx="4445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lang="en-US" dirty="0" sz="650" b="0" spc="65">
                <a:solidFill>
                  <a:srgbClr val="848E9C"/>
                </a:solidFill>
                <a:latin typeface="BinanceNova SemiBold"/>
              </a:rPr>
              <a:t>SLIDE </a:t>
            </a:r>
            <a:fld id="{A1B2C3D4-E5F6-4890-ABCD-EF0123456789}" type="slidenum">
              <a:rPr lang="en-US" dirty="0" sz="650" b="0" spc="65">
                <a:solidFill>
                  <a:srgbClr val="848E9C"/>
                </a:solidFill>
                <a:latin typeface="BinanceNova SemiBold"/>
              </a:rPr>
              <a:t>1</a:t>
            </a:fld>
          </a:p>
        </p:txBody>
      </p:sp>
      <p:sp>
        <p:nvSpPr>
          <p:cNvPr id="10" name="Rectangle 9"/>
          <p:cNvSpPr/>
          <p:nvPr/>
        </p:nvSpPr>
        <p:spPr>
          <a:xfrm>
            <a:off x="635000" y="1651000"/>
            <a:ext cx="50800" cy="876300"/>
          </a:xfrm>
          <a:prstGeom prst="rect">
            <a:avLst/>
          </a:prstGeom>
          <a:solidFill>
            <a:srgbClr val="FCD53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Eyebrow"/>
          <p:cNvSpPr>
            <a:spLocks noGrp="1"/>
          </p:cNvSpPr>
          <p:nvPr>
            <p:ph type="body" idx="10"/>
          </p:nvPr>
        </p:nvSpPr>
        <p:spPr>
          <a:xfrm>
            <a:off x="838200" y="1651000"/>
            <a:ext cx="101600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800" spc="80" cap="all">
                <a:solidFill>
                  <a:srgbClr val="FCD535"/>
                </a:solidFill>
                <a:latin typeface="BinanceNova"/>
              </a:rPr>
              <a:t>EXCHANGE · 2026 · TRUST</a:t>
            </a:r>
          </a:p>
        </p:txBody>
      </p:sp>
      <p:sp>
        <p:nvSpPr>
          <p:cNvPr id="12" name="Title"/>
          <p:cNvSpPr>
            <a:spLocks noGrp="1"/>
          </p:cNvSpPr>
          <p:nvPr>
            <p:ph type="title"/>
          </p:nvPr>
        </p:nvSpPr>
        <p:spPr>
          <a:xfrm>
            <a:off x="838200" y="1968500"/>
            <a:ext cx="10922000" cy="635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3200" spc="-48">
                <a:solidFill>
                  <a:srgbClr val="FFFFFF"/>
                </a:solidFill>
                <a:latin typeface="BinanceNova"/>
              </a:rPr>
              <a:t>Why Binance.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35000" y="3429000"/>
            <a:ext cx="2578100" cy="2286000"/>
          </a:xfrm>
          <a:prstGeom prst="roundRect">
            <a:avLst>
              <a:gd name="adj" fmla="val 6666"/>
            </a:avLst>
          </a:prstGeom>
          <a:solidFill>
            <a:srgbClr val="1E232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KPI 1 Value"/>
          <p:cNvSpPr>
            <a:spLocks noGrp="1"/>
          </p:cNvSpPr>
          <p:nvPr>
            <p:ph type="body" idx="20"/>
          </p:nvPr>
        </p:nvSpPr>
        <p:spPr>
          <a:xfrm>
            <a:off x="838200" y="3822700"/>
            <a:ext cx="2171700" cy="8890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4400" b="1" spc="-88">
                <a:solidFill>
                  <a:srgbClr val="FCD535"/>
                </a:solidFill>
                <a:latin typeface="BinancePlex"/>
              </a:rPr>
              <a:t>316M</a:t>
            </a:r>
          </a:p>
        </p:txBody>
      </p:sp>
      <p:sp>
        <p:nvSpPr>
          <p:cNvPr id="15" name="KPI 1 Key"/>
          <p:cNvSpPr>
            <a:spLocks noGrp="1"/>
          </p:cNvSpPr>
          <p:nvPr>
            <p:ph type="body" idx="21"/>
          </p:nvPr>
        </p:nvSpPr>
        <p:spPr>
          <a:xfrm>
            <a:off x="838200" y="4902200"/>
            <a:ext cx="2171700" cy="1778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spc="70" cap="all">
                <a:solidFill>
                  <a:srgbClr val="848E9C"/>
                </a:solidFill>
                <a:latin typeface="BinanceNova"/>
              </a:rPr>
              <a:t>USERS WORLDWIDE</a:t>
            </a:r>
          </a:p>
        </p:txBody>
      </p:sp>
      <p:sp>
        <p:nvSpPr>
          <p:cNvPr id="16" name="KPI 1 Delta"/>
          <p:cNvSpPr>
            <a:spLocks noGrp="1"/>
          </p:cNvSpPr>
          <p:nvPr>
            <p:ph type="body" idx="22"/>
          </p:nvPr>
        </p:nvSpPr>
        <p:spPr>
          <a:xfrm>
            <a:off x="838200" y="5156200"/>
            <a:ext cx="2171700" cy="1778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800">
                <a:solidFill>
                  <a:srgbClr val="0ECB81"/>
                </a:solidFill>
                <a:latin typeface="BinancePlex Medium"/>
              </a:rPr>
              <a:t>▲ +3.1% YoY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3416300" y="3429000"/>
            <a:ext cx="2578100" cy="2286000"/>
          </a:xfrm>
          <a:prstGeom prst="roundRect">
            <a:avLst>
              <a:gd name="adj" fmla="val 6666"/>
            </a:avLst>
          </a:prstGeom>
          <a:solidFill>
            <a:srgbClr val="1E232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KPI 2 Value"/>
          <p:cNvSpPr>
            <a:spLocks noGrp="1"/>
          </p:cNvSpPr>
          <p:nvPr>
            <p:ph type="body" idx="24"/>
          </p:nvPr>
        </p:nvSpPr>
        <p:spPr>
          <a:xfrm>
            <a:off x="3619500" y="3822700"/>
            <a:ext cx="2171700" cy="8890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4400" b="1" spc="-88">
                <a:solidFill>
                  <a:srgbClr val="FCD535"/>
                </a:solidFill>
                <a:latin typeface="BinancePlex"/>
              </a:rPr>
              <a:t>$429M</a:t>
            </a:r>
          </a:p>
        </p:txBody>
      </p:sp>
      <p:sp>
        <p:nvSpPr>
          <p:cNvPr id="19" name="KPI 2 Key"/>
          <p:cNvSpPr>
            <a:spLocks noGrp="1"/>
          </p:cNvSpPr>
          <p:nvPr>
            <p:ph type="body" idx="25"/>
          </p:nvPr>
        </p:nvSpPr>
        <p:spPr>
          <a:xfrm>
            <a:off x="3619500" y="4902200"/>
            <a:ext cx="2171700" cy="1778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spc="70" cap="all">
                <a:solidFill>
                  <a:srgbClr val="848E9C"/>
                </a:solidFill>
                <a:latin typeface="BinanceNova"/>
              </a:rPr>
              <a:t>FUNDS RECOVERED</a:t>
            </a:r>
          </a:p>
        </p:txBody>
      </p:sp>
      <p:sp>
        <p:nvSpPr>
          <p:cNvPr id="20" name="KPI 2 Delta"/>
          <p:cNvSpPr>
            <a:spLocks noGrp="1"/>
          </p:cNvSpPr>
          <p:nvPr>
            <p:ph type="body" idx="26"/>
          </p:nvPr>
        </p:nvSpPr>
        <p:spPr>
          <a:xfrm>
            <a:off x="3619500" y="5156200"/>
            <a:ext cx="2171700" cy="1778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800">
                <a:solidFill>
                  <a:srgbClr val="B7BDC6"/>
                </a:solidFill>
                <a:latin typeface="BinancePlex Medium"/>
              </a:rPr>
              <a:t>Since 2018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197600" y="3429000"/>
            <a:ext cx="2578100" cy="2286000"/>
          </a:xfrm>
          <a:prstGeom prst="roundRect">
            <a:avLst>
              <a:gd name="adj" fmla="val 6666"/>
            </a:avLst>
          </a:prstGeom>
          <a:solidFill>
            <a:srgbClr val="1E232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KPI 3 Value"/>
          <p:cNvSpPr>
            <a:spLocks noGrp="1"/>
          </p:cNvSpPr>
          <p:nvPr>
            <p:ph type="body" idx="28"/>
          </p:nvPr>
        </p:nvSpPr>
        <p:spPr>
          <a:xfrm>
            <a:off x="6400800" y="3822700"/>
            <a:ext cx="2171700" cy="8890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4400" b="1" spc="-88">
                <a:solidFill>
                  <a:srgbClr val="FCD535"/>
                </a:solidFill>
                <a:latin typeface="BinancePlex"/>
              </a:rPr>
              <a:t>No.1</a:t>
            </a:r>
          </a:p>
        </p:txBody>
      </p:sp>
      <p:sp>
        <p:nvSpPr>
          <p:cNvPr id="23" name="KPI 3 Key"/>
          <p:cNvSpPr>
            <a:spLocks noGrp="1"/>
          </p:cNvSpPr>
          <p:nvPr>
            <p:ph type="body" idx="29"/>
          </p:nvPr>
        </p:nvSpPr>
        <p:spPr>
          <a:xfrm>
            <a:off x="6400800" y="4902200"/>
            <a:ext cx="2171700" cy="1778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spc="70" cap="all">
                <a:solidFill>
                  <a:srgbClr val="848E9C"/>
                </a:solidFill>
                <a:latin typeface="BinanceNova"/>
              </a:rPr>
              <a:t>TRADING VOLUME</a:t>
            </a:r>
          </a:p>
        </p:txBody>
      </p:sp>
      <p:sp>
        <p:nvSpPr>
          <p:cNvPr id="24" name="KPI 3 Delta"/>
          <p:cNvSpPr>
            <a:spLocks noGrp="1"/>
          </p:cNvSpPr>
          <p:nvPr>
            <p:ph type="body" idx="30"/>
          </p:nvPr>
        </p:nvSpPr>
        <p:spPr>
          <a:xfrm>
            <a:off x="6400800" y="5156200"/>
            <a:ext cx="2171700" cy="1778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800">
                <a:solidFill>
                  <a:srgbClr val="B7BDC6"/>
                </a:solidFill>
                <a:latin typeface="BinancePlex Medium"/>
              </a:rPr>
              <a:t>Global rank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8978900" y="3429000"/>
            <a:ext cx="2578100" cy="2286000"/>
          </a:xfrm>
          <a:prstGeom prst="roundRect">
            <a:avLst>
              <a:gd name="adj" fmla="val 6666"/>
            </a:avLst>
          </a:prstGeom>
          <a:solidFill>
            <a:srgbClr val="1E232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KPI 4 Value"/>
          <p:cNvSpPr>
            <a:spLocks noGrp="1"/>
          </p:cNvSpPr>
          <p:nvPr>
            <p:ph type="body" idx="32"/>
          </p:nvPr>
        </p:nvSpPr>
        <p:spPr>
          <a:xfrm>
            <a:off x="9182100" y="3822700"/>
            <a:ext cx="2171700" cy="8890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4400" b="1" spc="-88">
                <a:solidFill>
                  <a:srgbClr val="FCD535"/>
                </a:solidFill>
                <a:latin typeface="BinancePlex"/>
              </a:rPr>
              <a:t>100%</a:t>
            </a:r>
          </a:p>
        </p:txBody>
      </p:sp>
      <p:sp>
        <p:nvSpPr>
          <p:cNvPr id="27" name="KPI 4 Key"/>
          <p:cNvSpPr>
            <a:spLocks noGrp="1"/>
          </p:cNvSpPr>
          <p:nvPr>
            <p:ph type="body" idx="33"/>
          </p:nvPr>
        </p:nvSpPr>
        <p:spPr>
          <a:xfrm>
            <a:off x="9182100" y="4902200"/>
            <a:ext cx="2171700" cy="1778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spc="70" cap="all">
                <a:solidFill>
                  <a:srgbClr val="848E9C"/>
                </a:solidFill>
                <a:latin typeface="BinanceNova"/>
              </a:rPr>
              <a:t>BINANCE-AUDITED</a:t>
            </a:r>
          </a:p>
        </p:txBody>
      </p:sp>
      <p:sp>
        <p:nvSpPr>
          <p:cNvPr id="28" name="KPI 4 Delta"/>
          <p:cNvSpPr>
            <a:spLocks noGrp="1"/>
          </p:cNvSpPr>
          <p:nvPr>
            <p:ph type="body" idx="34"/>
          </p:nvPr>
        </p:nvSpPr>
        <p:spPr>
          <a:xfrm>
            <a:off x="9182100" y="5156200"/>
            <a:ext cx="2171700" cy="1778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800">
                <a:solidFill>
                  <a:srgbClr val="0ECB81"/>
                </a:solidFill>
                <a:latin typeface="BinancePlex Medium"/>
              </a:rPr>
              <a:t>▲ PoR · Nov '26</a:t>
            </a:r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Feinschliff · 2-Column Cards">
    <p:bg>
      <p:bgPr>
        <a:solidFill>
          <a:srgbClr val="0B0E1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1"/>
          <p:cNvSpPr/>
          <p:nvPr/>
        </p:nvSpPr>
        <p:spPr>
          <a:xfrm>
            <a:off x="723900" y="417068"/>
            <a:ext cx="49784" cy="49784"/>
          </a:xfrm>
          <a:custGeom>
            <a:avLst/>
            <a:gdLst/>
            <a:ahLst/>
            <a:cxnLst/>
            <a:rect l="l" t="t" r="r" b="b"/>
            <a:pathLst>
              <a:path w="49784" h="49784">
                <a:moveTo>
                  <a:pt x="0" y="0"/>
                </a:moveTo>
                <a:lnTo>
                  <a:pt x="49784" y="49784"/>
                </a:lnTo>
                <a:lnTo>
                  <a:pt x="0" y="49784"/>
                </a:lnTo>
                <a:close/>
              </a:path>
            </a:pathLst>
          </a:custGeom>
          <a:solidFill>
            <a:srgbClr val="FCD5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Freeform 2"/>
          <p:cNvSpPr/>
          <p:nvPr/>
        </p:nvSpPr>
        <p:spPr>
          <a:xfrm>
            <a:off x="752348" y="445516"/>
            <a:ext cx="49784" cy="49784"/>
          </a:xfrm>
          <a:custGeom>
            <a:avLst/>
            <a:gdLst/>
            <a:ahLst/>
            <a:cxnLst/>
            <a:rect l="l" t="t" r="r" b="b"/>
            <a:pathLst>
              <a:path w="49784" h="49784">
                <a:moveTo>
                  <a:pt x="49784" y="49784"/>
                </a:moveTo>
                <a:lnTo>
                  <a:pt x="0" y="0"/>
                </a:lnTo>
                <a:lnTo>
                  <a:pt x="0" y="49784"/>
                </a:lnTo>
                <a:close/>
              </a:path>
            </a:pathLst>
          </a:custGeom>
          <a:solidFill>
            <a:srgbClr val="FCD5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Freeform 3"/>
          <p:cNvSpPr/>
          <p:nvPr/>
        </p:nvSpPr>
        <p:spPr>
          <a:xfrm>
            <a:off x="674116" y="523748"/>
            <a:ext cx="49784" cy="49784"/>
          </a:xfrm>
          <a:custGeom>
            <a:avLst/>
            <a:gdLst/>
            <a:ahLst/>
            <a:cxnLst/>
            <a:rect l="l" t="t" r="r" b="b"/>
            <a:pathLst>
              <a:path w="49784" h="49784">
                <a:moveTo>
                  <a:pt x="49784" y="49784"/>
                </a:moveTo>
                <a:lnTo>
                  <a:pt x="0" y="0"/>
                </a:lnTo>
                <a:lnTo>
                  <a:pt x="49784" y="0"/>
                </a:lnTo>
                <a:close/>
              </a:path>
            </a:pathLst>
          </a:custGeom>
          <a:solidFill>
            <a:srgbClr val="FCD5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Freeform 4"/>
          <p:cNvSpPr/>
          <p:nvPr/>
        </p:nvSpPr>
        <p:spPr>
          <a:xfrm>
            <a:off x="645668" y="495300"/>
            <a:ext cx="49784" cy="49784"/>
          </a:xfrm>
          <a:custGeom>
            <a:avLst/>
            <a:gdLst/>
            <a:ahLst/>
            <a:cxnLst/>
            <a:rect l="l" t="t" r="r" b="b"/>
            <a:pathLst>
              <a:path w="49784" h="49784">
                <a:moveTo>
                  <a:pt x="0" y="0"/>
                </a:moveTo>
                <a:lnTo>
                  <a:pt x="49784" y="49784"/>
                </a:lnTo>
                <a:lnTo>
                  <a:pt x="49784" y="0"/>
                </a:lnTo>
                <a:close/>
              </a:path>
            </a:pathLst>
          </a:custGeom>
          <a:solidFill>
            <a:srgbClr val="FCD5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01700" y="406400"/>
            <a:ext cx="2032000" cy="25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 spc="110">
                <a:solidFill>
                  <a:srgbClr val="FCD535"/>
                </a:solidFill>
                <a:latin typeface="BinanceNova"/>
              </a:rPr>
              <a:t>BINANCE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017000" y="508000"/>
            <a:ext cx="2667000" cy="177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700" spc="70" b="0">
                <a:solidFill>
                  <a:srgbClr val="848E9C"/>
                </a:solidFill>
                <a:latin typeface="BinanceNova SemiBold"/>
              </a:rPr>
              <a:t>LAYOUT · 2 CONTENTS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62000" y="6540500"/>
            <a:ext cx="4445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650" spc="65" b="0">
                <a:solidFill>
                  <a:srgbClr val="848E9C"/>
                </a:solidFill>
                <a:latin typeface="BinanceNova SemiBold"/>
              </a:rPr>
              <a:t>JAN 2026 · SHOWCASE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985000" y="6540500"/>
            <a:ext cx="4445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lang="en-US" dirty="0" sz="650" b="0" spc="65">
                <a:solidFill>
                  <a:srgbClr val="848E9C"/>
                </a:solidFill>
                <a:latin typeface="BinanceNova SemiBold"/>
              </a:rPr>
              <a:t>SLIDE </a:t>
            </a:r>
            <a:fld id="{A1B2C3D4-E5F6-4890-ABCD-EF0123456789}" type="slidenum">
              <a:rPr lang="en-US" dirty="0" sz="650" b="0" spc="65">
                <a:solidFill>
                  <a:srgbClr val="848E9C"/>
                </a:solidFill>
                <a:latin typeface="BinanceNova SemiBold"/>
              </a:rPr>
              <a:t>1</a:t>
            </a:fld>
          </a:p>
        </p:txBody>
      </p:sp>
      <p:sp>
        <p:nvSpPr>
          <p:cNvPr id="10" name="Rectangle 9"/>
          <p:cNvSpPr/>
          <p:nvPr/>
        </p:nvSpPr>
        <p:spPr>
          <a:xfrm>
            <a:off x="635000" y="1651000"/>
            <a:ext cx="50800" cy="876300"/>
          </a:xfrm>
          <a:prstGeom prst="rect">
            <a:avLst/>
          </a:prstGeom>
          <a:solidFill>
            <a:srgbClr val="FCD53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Eyebrow"/>
          <p:cNvSpPr>
            <a:spLocks noGrp="1"/>
          </p:cNvSpPr>
          <p:nvPr>
            <p:ph type="body" idx="10"/>
          </p:nvPr>
        </p:nvSpPr>
        <p:spPr>
          <a:xfrm>
            <a:off x="838200" y="1651000"/>
            <a:ext cx="101600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800" spc="80" cap="all">
                <a:solidFill>
                  <a:srgbClr val="FCD535"/>
                </a:solidFill>
                <a:latin typeface="BinanceNova"/>
              </a:rPr>
              <a:t>TWO COLUMNS</a:t>
            </a:r>
          </a:p>
        </p:txBody>
      </p:sp>
      <p:sp>
        <p:nvSpPr>
          <p:cNvPr id="12" name="Title"/>
          <p:cNvSpPr>
            <a:spLocks noGrp="1"/>
          </p:cNvSpPr>
          <p:nvPr>
            <p:ph type="title"/>
          </p:nvPr>
        </p:nvSpPr>
        <p:spPr>
          <a:xfrm>
            <a:off x="838200" y="1968500"/>
            <a:ext cx="10922000" cy="635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3200" spc="-48">
                <a:solidFill>
                  <a:srgbClr val="FFFFFF"/>
                </a:solidFill>
                <a:latin typeface="BinanceNova"/>
              </a:rPr>
              <a:t>Two halves, one frame.</a:t>
            </a:r>
          </a:p>
        </p:txBody>
      </p:sp>
      <p:sp>
        <p:nvSpPr>
          <p:cNvPr id="13" name="Rectangle 12"/>
          <p:cNvSpPr/>
          <p:nvPr/>
        </p:nvSpPr>
        <p:spPr>
          <a:xfrm>
            <a:off x="635000" y="3175000"/>
            <a:ext cx="5308600" cy="3175000"/>
          </a:xfrm>
          <a:prstGeom prst="rect">
            <a:avLst/>
          </a:prstGeom>
          <a:solidFill>
            <a:srgbClr val="1E232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Col20 Number"/>
          <p:cNvSpPr>
            <a:spLocks noGrp="1"/>
          </p:cNvSpPr>
          <p:nvPr>
            <p:ph type="body" idx="20"/>
          </p:nvPr>
        </p:nvSpPr>
        <p:spPr>
          <a:xfrm>
            <a:off x="889000" y="3429000"/>
            <a:ext cx="48006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spc="70" cap="all">
                <a:solidFill>
                  <a:srgbClr val="FCD535"/>
                </a:solidFill>
                <a:latin typeface="BinancePlex"/>
              </a:rPr>
              <a:t>01 · CONSUMER</a:t>
            </a:r>
          </a:p>
        </p:txBody>
      </p:sp>
      <p:sp>
        <p:nvSpPr>
          <p:cNvPr id="15" name="Col20 Title"/>
          <p:cNvSpPr>
            <a:spLocks noGrp="1"/>
          </p:cNvSpPr>
          <p:nvPr>
            <p:ph type="body" idx="21"/>
          </p:nvPr>
        </p:nvSpPr>
        <p:spPr>
          <a:xfrm>
            <a:off x="889000" y="3708400"/>
            <a:ext cx="4800600" cy="1016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4999"/>
              </a:lnSpc>
              <a:buNone/>
            </a:pPr>
            <a:r>
              <a:rPr lang="en-US" sz="1600" spc="-19">
                <a:solidFill>
                  <a:srgbClr val="FFFFFF"/>
                </a:solidFill>
                <a:latin typeface="BinanceNova"/>
              </a:rPr>
              <a:t>Products designed around daily use, not corner-case specs.</a:t>
            </a:r>
          </a:p>
        </p:txBody>
      </p:sp>
      <p:sp>
        <p:nvSpPr>
          <p:cNvPr id="16" name="Col20 Body"/>
          <p:cNvSpPr>
            <a:spLocks noGrp="1"/>
          </p:cNvSpPr>
          <p:nvPr>
            <p:ph type="body" idx="22"/>
          </p:nvPr>
        </p:nvSpPr>
        <p:spPr>
          <a:xfrm>
            <a:off x="889000" y="4826000"/>
            <a:ext cx="4800600" cy="1651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1000">
                <a:solidFill>
                  <a:srgbClr val="EAECEF"/>
                </a:solidFill>
                <a:latin typeface="BinanceNova"/>
              </a:rPr>
              <a:t>Ship features users actually touch — fewer modes, sharper defaults, faster onboarding.</a:t>
            </a:r>
          </a:p>
        </p:txBody>
      </p:sp>
      <p:sp>
        <p:nvSpPr>
          <p:cNvPr id="17" name="Rectangle 16"/>
          <p:cNvSpPr/>
          <p:nvPr/>
        </p:nvSpPr>
        <p:spPr>
          <a:xfrm>
            <a:off x="6248400" y="3175000"/>
            <a:ext cx="5308600" cy="3175000"/>
          </a:xfrm>
          <a:prstGeom prst="rect">
            <a:avLst/>
          </a:prstGeom>
          <a:solidFill>
            <a:srgbClr val="1E232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Col23 Number"/>
          <p:cNvSpPr>
            <a:spLocks noGrp="1"/>
          </p:cNvSpPr>
          <p:nvPr>
            <p:ph type="body" idx="23"/>
          </p:nvPr>
        </p:nvSpPr>
        <p:spPr>
          <a:xfrm>
            <a:off x="6502400" y="3429000"/>
            <a:ext cx="48006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spc="70" cap="all">
                <a:solidFill>
                  <a:srgbClr val="FCD535"/>
                </a:solidFill>
                <a:latin typeface="BinancePlex"/>
              </a:rPr>
              <a:t>02 · PLATFORM</a:t>
            </a:r>
          </a:p>
        </p:txBody>
      </p:sp>
      <p:sp>
        <p:nvSpPr>
          <p:cNvPr id="19" name="Col23 Title"/>
          <p:cNvSpPr>
            <a:spLocks noGrp="1"/>
          </p:cNvSpPr>
          <p:nvPr>
            <p:ph type="body" idx="24"/>
          </p:nvPr>
        </p:nvSpPr>
        <p:spPr>
          <a:xfrm>
            <a:off x="6502400" y="3708400"/>
            <a:ext cx="4800600" cy="1016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4999"/>
              </a:lnSpc>
              <a:buNone/>
            </a:pPr>
            <a:r>
              <a:rPr lang="en-US" sz="1600" spc="-19">
                <a:solidFill>
                  <a:srgbClr val="FFFFFF"/>
                </a:solidFill>
                <a:latin typeface="BinanceNova"/>
              </a:rPr>
              <a:t>A shared software backbone across every product we build.</a:t>
            </a:r>
          </a:p>
        </p:txBody>
      </p:sp>
      <p:sp>
        <p:nvSpPr>
          <p:cNvPr id="20" name="Col23 Body"/>
          <p:cNvSpPr>
            <a:spLocks noGrp="1"/>
          </p:cNvSpPr>
          <p:nvPr>
            <p:ph type="body" idx="25"/>
          </p:nvPr>
        </p:nvSpPr>
        <p:spPr>
          <a:xfrm>
            <a:off x="6502400" y="4826000"/>
            <a:ext cx="4800600" cy="1651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1000">
                <a:solidFill>
                  <a:srgbClr val="EAECEF"/>
                </a:solidFill>
                <a:latin typeface="BinanceNova"/>
              </a:rPr>
              <a:t>One OS means one update path, one data contract, and one place to measure real-world usage.</a:t>
            </a:r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Feinschliff · 3-Column">
    <p:bg>
      <p:bgPr>
        <a:solidFill>
          <a:srgbClr val="0B0E1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1"/>
          <p:cNvSpPr/>
          <p:nvPr/>
        </p:nvSpPr>
        <p:spPr>
          <a:xfrm>
            <a:off x="723900" y="417068"/>
            <a:ext cx="49784" cy="49784"/>
          </a:xfrm>
          <a:custGeom>
            <a:avLst/>
            <a:gdLst/>
            <a:ahLst/>
            <a:cxnLst/>
            <a:rect l="l" t="t" r="r" b="b"/>
            <a:pathLst>
              <a:path w="49784" h="49784">
                <a:moveTo>
                  <a:pt x="0" y="0"/>
                </a:moveTo>
                <a:lnTo>
                  <a:pt x="49784" y="49784"/>
                </a:lnTo>
                <a:lnTo>
                  <a:pt x="0" y="49784"/>
                </a:lnTo>
                <a:close/>
              </a:path>
            </a:pathLst>
          </a:custGeom>
          <a:solidFill>
            <a:srgbClr val="FCD5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Freeform 2"/>
          <p:cNvSpPr/>
          <p:nvPr/>
        </p:nvSpPr>
        <p:spPr>
          <a:xfrm>
            <a:off x="752348" y="445516"/>
            <a:ext cx="49784" cy="49784"/>
          </a:xfrm>
          <a:custGeom>
            <a:avLst/>
            <a:gdLst/>
            <a:ahLst/>
            <a:cxnLst/>
            <a:rect l="l" t="t" r="r" b="b"/>
            <a:pathLst>
              <a:path w="49784" h="49784">
                <a:moveTo>
                  <a:pt x="49784" y="49784"/>
                </a:moveTo>
                <a:lnTo>
                  <a:pt x="0" y="0"/>
                </a:lnTo>
                <a:lnTo>
                  <a:pt x="0" y="49784"/>
                </a:lnTo>
                <a:close/>
              </a:path>
            </a:pathLst>
          </a:custGeom>
          <a:solidFill>
            <a:srgbClr val="FCD5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Freeform 3"/>
          <p:cNvSpPr/>
          <p:nvPr/>
        </p:nvSpPr>
        <p:spPr>
          <a:xfrm>
            <a:off x="674116" y="523748"/>
            <a:ext cx="49784" cy="49784"/>
          </a:xfrm>
          <a:custGeom>
            <a:avLst/>
            <a:gdLst/>
            <a:ahLst/>
            <a:cxnLst/>
            <a:rect l="l" t="t" r="r" b="b"/>
            <a:pathLst>
              <a:path w="49784" h="49784">
                <a:moveTo>
                  <a:pt x="49784" y="49784"/>
                </a:moveTo>
                <a:lnTo>
                  <a:pt x="0" y="0"/>
                </a:lnTo>
                <a:lnTo>
                  <a:pt x="49784" y="0"/>
                </a:lnTo>
                <a:close/>
              </a:path>
            </a:pathLst>
          </a:custGeom>
          <a:solidFill>
            <a:srgbClr val="FCD5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Freeform 4"/>
          <p:cNvSpPr/>
          <p:nvPr/>
        </p:nvSpPr>
        <p:spPr>
          <a:xfrm>
            <a:off x="645668" y="495300"/>
            <a:ext cx="49784" cy="49784"/>
          </a:xfrm>
          <a:custGeom>
            <a:avLst/>
            <a:gdLst/>
            <a:ahLst/>
            <a:cxnLst/>
            <a:rect l="l" t="t" r="r" b="b"/>
            <a:pathLst>
              <a:path w="49784" h="49784">
                <a:moveTo>
                  <a:pt x="0" y="0"/>
                </a:moveTo>
                <a:lnTo>
                  <a:pt x="49784" y="49784"/>
                </a:lnTo>
                <a:lnTo>
                  <a:pt x="49784" y="0"/>
                </a:lnTo>
                <a:close/>
              </a:path>
            </a:pathLst>
          </a:custGeom>
          <a:solidFill>
            <a:srgbClr val="FCD5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01700" y="406400"/>
            <a:ext cx="2032000" cy="25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 spc="110">
                <a:solidFill>
                  <a:srgbClr val="FCD535"/>
                </a:solidFill>
                <a:latin typeface="BinanceNova"/>
              </a:rPr>
              <a:t>BINANCE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017000" y="508000"/>
            <a:ext cx="2667000" cy="177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700" spc="70" b="0">
                <a:solidFill>
                  <a:srgbClr val="848E9C"/>
                </a:solidFill>
                <a:latin typeface="BinanceNova SemiBold"/>
              </a:rPr>
              <a:t>LAYOUT · 3 CONTENTS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62000" y="6540500"/>
            <a:ext cx="4445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650" spc="65" b="0">
                <a:solidFill>
                  <a:srgbClr val="848E9C"/>
                </a:solidFill>
                <a:latin typeface="BinanceNova SemiBold"/>
              </a:rPr>
              <a:t>JAN 2026 · SHOWCASE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985000" y="6540500"/>
            <a:ext cx="4445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lang="en-US" dirty="0" sz="650" b="0" spc="65">
                <a:solidFill>
                  <a:srgbClr val="848E9C"/>
                </a:solidFill>
                <a:latin typeface="BinanceNova SemiBold"/>
              </a:rPr>
              <a:t>SLIDE </a:t>
            </a:r>
            <a:fld id="{A1B2C3D4-E5F6-4890-ABCD-EF0123456789}" type="slidenum">
              <a:rPr lang="en-US" dirty="0" sz="650" b="0" spc="65">
                <a:solidFill>
                  <a:srgbClr val="848E9C"/>
                </a:solidFill>
                <a:latin typeface="BinanceNova SemiBold"/>
              </a:rPr>
              <a:t>1</a:t>
            </a:fld>
          </a:p>
        </p:txBody>
      </p:sp>
      <p:sp>
        <p:nvSpPr>
          <p:cNvPr id="10" name="Rectangle 9"/>
          <p:cNvSpPr/>
          <p:nvPr/>
        </p:nvSpPr>
        <p:spPr>
          <a:xfrm>
            <a:off x="635000" y="1651000"/>
            <a:ext cx="50800" cy="876300"/>
          </a:xfrm>
          <a:prstGeom prst="rect">
            <a:avLst/>
          </a:prstGeom>
          <a:solidFill>
            <a:srgbClr val="FCD53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Eyebrow"/>
          <p:cNvSpPr>
            <a:spLocks noGrp="1"/>
          </p:cNvSpPr>
          <p:nvPr>
            <p:ph type="body" idx="10"/>
          </p:nvPr>
        </p:nvSpPr>
        <p:spPr>
          <a:xfrm>
            <a:off x="838200" y="1651000"/>
            <a:ext cx="101600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800" spc="80" cap="all">
                <a:solidFill>
                  <a:srgbClr val="FCD535"/>
                </a:solidFill>
                <a:latin typeface="BinanceNova"/>
              </a:rPr>
              <a:t>THREE PILLARS</a:t>
            </a:r>
          </a:p>
        </p:txBody>
      </p:sp>
      <p:sp>
        <p:nvSpPr>
          <p:cNvPr id="12" name="Title"/>
          <p:cNvSpPr>
            <a:spLocks noGrp="1"/>
          </p:cNvSpPr>
          <p:nvPr>
            <p:ph type="title"/>
          </p:nvPr>
        </p:nvSpPr>
        <p:spPr>
          <a:xfrm>
            <a:off x="838200" y="1968500"/>
            <a:ext cx="10922000" cy="635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3200" spc="-48">
                <a:solidFill>
                  <a:srgbClr val="FFFFFF"/>
                </a:solidFill>
                <a:latin typeface="BinanceNova"/>
              </a:rPr>
              <a:t>Consumer, commercial, platform.</a:t>
            </a:r>
          </a:p>
        </p:txBody>
      </p:sp>
      <p:sp>
        <p:nvSpPr>
          <p:cNvPr id="13" name="Col20 Number"/>
          <p:cNvSpPr>
            <a:spLocks noGrp="1"/>
          </p:cNvSpPr>
          <p:nvPr>
            <p:ph type="body" idx="20"/>
          </p:nvPr>
        </p:nvSpPr>
        <p:spPr>
          <a:xfrm>
            <a:off x="635000" y="3175000"/>
            <a:ext cx="343535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spc="70" cap="all">
                <a:solidFill>
                  <a:srgbClr val="FCD535"/>
                </a:solidFill>
                <a:latin typeface="BinancePlex"/>
              </a:rPr>
              <a:t>01</a:t>
            </a:r>
          </a:p>
        </p:txBody>
      </p:sp>
      <p:sp>
        <p:nvSpPr>
          <p:cNvPr id="14" name="Col20 Title"/>
          <p:cNvSpPr>
            <a:spLocks noGrp="1"/>
          </p:cNvSpPr>
          <p:nvPr>
            <p:ph type="body" idx="21"/>
          </p:nvPr>
        </p:nvSpPr>
        <p:spPr>
          <a:xfrm>
            <a:off x="635000" y="3454400"/>
            <a:ext cx="3435350" cy="1016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4999"/>
              </a:lnSpc>
              <a:buNone/>
            </a:pPr>
            <a:r>
              <a:rPr lang="en-US" sz="1600" spc="-19">
                <a:solidFill>
                  <a:srgbClr val="FFFFFF"/>
                </a:solidFill>
                <a:latin typeface="BinanceNova"/>
              </a:rPr>
              <a:t>Consumer.</a:t>
            </a:r>
          </a:p>
        </p:txBody>
      </p:sp>
      <p:sp>
        <p:nvSpPr>
          <p:cNvPr id="15" name="Col20 Body"/>
          <p:cNvSpPr>
            <a:spLocks noGrp="1"/>
          </p:cNvSpPr>
          <p:nvPr>
            <p:ph type="body" idx="22"/>
          </p:nvPr>
        </p:nvSpPr>
        <p:spPr>
          <a:xfrm>
            <a:off x="635000" y="4572000"/>
            <a:ext cx="3435350" cy="1651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1000">
                <a:solidFill>
                  <a:srgbClr val="EAECEF"/>
                </a:solidFill>
                <a:latin typeface="BinanceNova"/>
              </a:rPr>
              <a:t>Brand A, Brand B, Brand C, Brand D — placeholder column copy.</a:t>
            </a:r>
          </a:p>
        </p:txBody>
      </p:sp>
      <p:sp>
        <p:nvSpPr>
          <p:cNvPr id="16" name="Col23 Number"/>
          <p:cNvSpPr>
            <a:spLocks noGrp="1"/>
          </p:cNvSpPr>
          <p:nvPr>
            <p:ph type="body" idx="23"/>
          </p:nvPr>
        </p:nvSpPr>
        <p:spPr>
          <a:xfrm>
            <a:off x="4375150" y="3175000"/>
            <a:ext cx="343535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spc="70" cap="all">
                <a:solidFill>
                  <a:srgbClr val="FCD535"/>
                </a:solidFill>
                <a:latin typeface="BinancePlex"/>
              </a:rPr>
              <a:t>02</a:t>
            </a:r>
          </a:p>
        </p:txBody>
      </p:sp>
      <p:sp>
        <p:nvSpPr>
          <p:cNvPr id="17" name="Col23 Title"/>
          <p:cNvSpPr>
            <a:spLocks noGrp="1"/>
          </p:cNvSpPr>
          <p:nvPr>
            <p:ph type="body" idx="24"/>
          </p:nvPr>
        </p:nvSpPr>
        <p:spPr>
          <a:xfrm>
            <a:off x="4375150" y="3454400"/>
            <a:ext cx="3435350" cy="1016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4999"/>
              </a:lnSpc>
              <a:buNone/>
            </a:pPr>
            <a:r>
              <a:rPr lang="en-US" sz="1600" spc="-19">
                <a:solidFill>
                  <a:srgbClr val="FFFFFF"/>
                </a:solidFill>
                <a:latin typeface="BinanceNova"/>
              </a:rPr>
              <a:t>Commercial.</a:t>
            </a:r>
          </a:p>
        </p:txBody>
      </p:sp>
      <p:sp>
        <p:nvSpPr>
          <p:cNvPr id="18" name="Col23 Body"/>
          <p:cNvSpPr>
            <a:spLocks noGrp="1"/>
          </p:cNvSpPr>
          <p:nvPr>
            <p:ph type="body" idx="25"/>
          </p:nvPr>
        </p:nvSpPr>
        <p:spPr>
          <a:xfrm>
            <a:off x="4375150" y="4572000"/>
            <a:ext cx="3435350" cy="1651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1000">
                <a:solidFill>
                  <a:srgbClr val="EAECEF"/>
                </a:solidFill>
                <a:latin typeface="BinanceNova"/>
              </a:rPr>
              <a:t>Products engineered for the commercial sector — hotels, retail, services, multi-site.</a:t>
            </a:r>
          </a:p>
        </p:txBody>
      </p:sp>
      <p:sp>
        <p:nvSpPr>
          <p:cNvPr id="19" name="Col26 Number"/>
          <p:cNvSpPr>
            <a:spLocks noGrp="1"/>
          </p:cNvSpPr>
          <p:nvPr>
            <p:ph type="body" idx="26"/>
          </p:nvPr>
        </p:nvSpPr>
        <p:spPr>
          <a:xfrm>
            <a:off x="8115300" y="3175000"/>
            <a:ext cx="343535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spc="70" cap="all">
                <a:solidFill>
                  <a:srgbClr val="FCD535"/>
                </a:solidFill>
                <a:latin typeface="BinancePlex"/>
              </a:rPr>
              <a:t>03</a:t>
            </a:r>
          </a:p>
        </p:txBody>
      </p:sp>
      <p:sp>
        <p:nvSpPr>
          <p:cNvPr id="20" name="Col26 Title"/>
          <p:cNvSpPr>
            <a:spLocks noGrp="1"/>
          </p:cNvSpPr>
          <p:nvPr>
            <p:ph type="body" idx="27"/>
          </p:nvPr>
        </p:nvSpPr>
        <p:spPr>
          <a:xfrm>
            <a:off x="8115300" y="3454400"/>
            <a:ext cx="3435350" cy="1016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4999"/>
              </a:lnSpc>
              <a:buNone/>
            </a:pPr>
            <a:r>
              <a:rPr lang="en-US" sz="1600" spc="-19">
                <a:solidFill>
                  <a:srgbClr val="FFFFFF"/>
                </a:solidFill>
                <a:latin typeface="BinanceNova"/>
              </a:rPr>
              <a:t>Platform.</a:t>
            </a:r>
          </a:p>
        </p:txBody>
      </p:sp>
      <p:sp>
        <p:nvSpPr>
          <p:cNvPr id="21" name="Col26 Body"/>
          <p:cNvSpPr>
            <a:spLocks noGrp="1"/>
          </p:cNvSpPr>
          <p:nvPr>
            <p:ph type="body" idx="28"/>
          </p:nvPr>
        </p:nvSpPr>
        <p:spPr>
          <a:xfrm>
            <a:off x="8115300" y="4572000"/>
            <a:ext cx="3435350" cy="1651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1000">
                <a:solidFill>
                  <a:srgbClr val="EAECEF"/>
                </a:solidFill>
                <a:latin typeface="BinanceNova"/>
              </a:rPr>
              <a:t>Platform — the software layer shared across all of it.</a:t>
            </a:r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Feinschliff · 4-Column Cards">
    <p:bg>
      <p:bgPr>
        <a:solidFill>
          <a:srgbClr val="0B0E1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1"/>
          <p:cNvSpPr/>
          <p:nvPr/>
        </p:nvSpPr>
        <p:spPr>
          <a:xfrm>
            <a:off x="723900" y="417068"/>
            <a:ext cx="49784" cy="49784"/>
          </a:xfrm>
          <a:custGeom>
            <a:avLst/>
            <a:gdLst/>
            <a:ahLst/>
            <a:cxnLst/>
            <a:rect l="l" t="t" r="r" b="b"/>
            <a:pathLst>
              <a:path w="49784" h="49784">
                <a:moveTo>
                  <a:pt x="0" y="0"/>
                </a:moveTo>
                <a:lnTo>
                  <a:pt x="49784" y="49784"/>
                </a:lnTo>
                <a:lnTo>
                  <a:pt x="0" y="49784"/>
                </a:lnTo>
                <a:close/>
              </a:path>
            </a:pathLst>
          </a:custGeom>
          <a:solidFill>
            <a:srgbClr val="FCD5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Freeform 2"/>
          <p:cNvSpPr/>
          <p:nvPr/>
        </p:nvSpPr>
        <p:spPr>
          <a:xfrm>
            <a:off x="752348" y="445516"/>
            <a:ext cx="49784" cy="49784"/>
          </a:xfrm>
          <a:custGeom>
            <a:avLst/>
            <a:gdLst/>
            <a:ahLst/>
            <a:cxnLst/>
            <a:rect l="l" t="t" r="r" b="b"/>
            <a:pathLst>
              <a:path w="49784" h="49784">
                <a:moveTo>
                  <a:pt x="49784" y="49784"/>
                </a:moveTo>
                <a:lnTo>
                  <a:pt x="0" y="0"/>
                </a:lnTo>
                <a:lnTo>
                  <a:pt x="0" y="49784"/>
                </a:lnTo>
                <a:close/>
              </a:path>
            </a:pathLst>
          </a:custGeom>
          <a:solidFill>
            <a:srgbClr val="FCD5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Freeform 3"/>
          <p:cNvSpPr/>
          <p:nvPr/>
        </p:nvSpPr>
        <p:spPr>
          <a:xfrm>
            <a:off x="674116" y="523748"/>
            <a:ext cx="49784" cy="49784"/>
          </a:xfrm>
          <a:custGeom>
            <a:avLst/>
            <a:gdLst/>
            <a:ahLst/>
            <a:cxnLst/>
            <a:rect l="l" t="t" r="r" b="b"/>
            <a:pathLst>
              <a:path w="49784" h="49784">
                <a:moveTo>
                  <a:pt x="49784" y="49784"/>
                </a:moveTo>
                <a:lnTo>
                  <a:pt x="0" y="0"/>
                </a:lnTo>
                <a:lnTo>
                  <a:pt x="49784" y="0"/>
                </a:lnTo>
                <a:close/>
              </a:path>
            </a:pathLst>
          </a:custGeom>
          <a:solidFill>
            <a:srgbClr val="FCD5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Freeform 4"/>
          <p:cNvSpPr/>
          <p:nvPr/>
        </p:nvSpPr>
        <p:spPr>
          <a:xfrm>
            <a:off x="645668" y="495300"/>
            <a:ext cx="49784" cy="49784"/>
          </a:xfrm>
          <a:custGeom>
            <a:avLst/>
            <a:gdLst/>
            <a:ahLst/>
            <a:cxnLst/>
            <a:rect l="l" t="t" r="r" b="b"/>
            <a:pathLst>
              <a:path w="49784" h="49784">
                <a:moveTo>
                  <a:pt x="0" y="0"/>
                </a:moveTo>
                <a:lnTo>
                  <a:pt x="49784" y="49784"/>
                </a:lnTo>
                <a:lnTo>
                  <a:pt x="49784" y="0"/>
                </a:lnTo>
                <a:close/>
              </a:path>
            </a:pathLst>
          </a:custGeom>
          <a:solidFill>
            <a:srgbClr val="FCD5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01700" y="406400"/>
            <a:ext cx="2032000" cy="25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 spc="110">
                <a:solidFill>
                  <a:srgbClr val="FCD535"/>
                </a:solidFill>
                <a:latin typeface="BinanceNova"/>
              </a:rPr>
              <a:t>BINANCE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017000" y="508000"/>
            <a:ext cx="2667000" cy="177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700" spc="70" b="0">
                <a:solidFill>
                  <a:srgbClr val="848E9C"/>
                </a:solidFill>
                <a:latin typeface="BinanceNova SemiBold"/>
              </a:rPr>
              <a:t>ROADMAP · 2026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62000" y="6540500"/>
            <a:ext cx="4445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650" spc="65" b="0">
                <a:solidFill>
                  <a:srgbClr val="848E9C"/>
                </a:solidFill>
                <a:latin typeface="BinanceNova SemiBold"/>
              </a:rPr>
              <a:t>JAN 2026 · SHOWCASE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985000" y="6540500"/>
            <a:ext cx="4445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lang="en-US" dirty="0" sz="650" b="0" spc="65">
                <a:solidFill>
                  <a:srgbClr val="848E9C"/>
                </a:solidFill>
                <a:latin typeface="BinanceNova SemiBold"/>
              </a:rPr>
              <a:t>SLIDE </a:t>
            </a:r>
            <a:fld id="{A1B2C3D4-E5F6-4890-ABCD-EF0123456789}" type="slidenum">
              <a:rPr lang="en-US" dirty="0" sz="650" b="0" spc="65">
                <a:solidFill>
                  <a:srgbClr val="848E9C"/>
                </a:solidFill>
                <a:latin typeface="BinanceNova SemiBold"/>
              </a:rPr>
              <a:t>1</a:t>
            </a:fld>
          </a:p>
        </p:txBody>
      </p:sp>
      <p:sp>
        <p:nvSpPr>
          <p:cNvPr id="10" name="Rectangle 9"/>
          <p:cNvSpPr/>
          <p:nvPr/>
        </p:nvSpPr>
        <p:spPr>
          <a:xfrm>
            <a:off x="635000" y="1651000"/>
            <a:ext cx="50800" cy="876300"/>
          </a:xfrm>
          <a:prstGeom prst="rect">
            <a:avLst/>
          </a:prstGeom>
          <a:solidFill>
            <a:srgbClr val="FCD53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Eyebrow"/>
          <p:cNvSpPr>
            <a:spLocks noGrp="1"/>
          </p:cNvSpPr>
          <p:nvPr>
            <p:ph type="body" idx="10"/>
          </p:nvPr>
        </p:nvSpPr>
        <p:spPr>
          <a:xfrm>
            <a:off x="838200" y="1651000"/>
            <a:ext cx="101600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800" spc="80" cap="all">
                <a:solidFill>
                  <a:srgbClr val="FCD535"/>
                </a:solidFill>
                <a:latin typeface="BinanceNova"/>
              </a:rPr>
              <a:t>PLAN, BUILD, PILOT, SCALE</a:t>
            </a:r>
          </a:p>
        </p:txBody>
      </p:sp>
      <p:sp>
        <p:nvSpPr>
          <p:cNvPr id="12" name="Title"/>
          <p:cNvSpPr>
            <a:spLocks noGrp="1"/>
          </p:cNvSpPr>
          <p:nvPr>
            <p:ph type="title"/>
          </p:nvPr>
        </p:nvSpPr>
        <p:spPr>
          <a:xfrm>
            <a:off x="838200" y="1968500"/>
            <a:ext cx="10922000" cy="635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3200" spc="-48">
                <a:solidFill>
                  <a:srgbClr val="FFFFFF"/>
                </a:solidFill>
                <a:latin typeface="BinanceNova"/>
              </a:rPr>
              <a:t>The year, in four quarters.</a:t>
            </a:r>
          </a:p>
        </p:txBody>
      </p:sp>
      <p:sp>
        <p:nvSpPr>
          <p:cNvPr id="13" name="Rectangle 12"/>
          <p:cNvSpPr/>
          <p:nvPr/>
        </p:nvSpPr>
        <p:spPr>
          <a:xfrm>
            <a:off x="635000" y="3175000"/>
            <a:ext cx="2654300" cy="2794000"/>
          </a:xfrm>
          <a:prstGeom prst="rect">
            <a:avLst/>
          </a:prstGeom>
          <a:solidFill>
            <a:srgbClr val="1E232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Col20 Number"/>
          <p:cNvSpPr>
            <a:spLocks noGrp="1"/>
          </p:cNvSpPr>
          <p:nvPr>
            <p:ph type="body" idx="20"/>
          </p:nvPr>
        </p:nvSpPr>
        <p:spPr>
          <a:xfrm>
            <a:off x="838200" y="3429000"/>
            <a:ext cx="22479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spc="70" cap="all">
                <a:solidFill>
                  <a:srgbClr val="FCD535"/>
                </a:solidFill>
                <a:latin typeface="BinancePlex"/>
              </a:rPr>
              <a:t>Q1 · PLAN</a:t>
            </a:r>
          </a:p>
        </p:txBody>
      </p:sp>
      <p:sp>
        <p:nvSpPr>
          <p:cNvPr id="15" name="Col20 Title"/>
          <p:cNvSpPr>
            <a:spLocks noGrp="1"/>
          </p:cNvSpPr>
          <p:nvPr>
            <p:ph type="body" idx="21"/>
          </p:nvPr>
        </p:nvSpPr>
        <p:spPr>
          <a:xfrm>
            <a:off x="838200" y="3708400"/>
            <a:ext cx="2247900" cy="1016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4999"/>
              </a:lnSpc>
              <a:buNone/>
            </a:pPr>
            <a:r>
              <a:rPr lang="en-US" sz="1400" spc="-17">
                <a:solidFill>
                  <a:srgbClr val="FFFFFF"/>
                </a:solidFill>
                <a:latin typeface="BinanceNova"/>
              </a:rPr>
              <a:t>Align the 2026 product roadmap across regions.</a:t>
            </a:r>
          </a:p>
        </p:txBody>
      </p:sp>
      <p:sp>
        <p:nvSpPr>
          <p:cNvPr id="16" name="Col20 Body"/>
          <p:cNvSpPr>
            <a:spLocks noGrp="1"/>
          </p:cNvSpPr>
          <p:nvPr>
            <p:ph type="body" idx="22"/>
          </p:nvPr>
        </p:nvSpPr>
        <p:spPr>
          <a:xfrm>
            <a:off x="838200" y="4826000"/>
            <a:ext cx="2247900" cy="1651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1000">
                <a:solidFill>
                  <a:srgbClr val="EAECEF"/>
                </a:solidFill>
                <a:latin typeface="BinanceNova"/>
              </a:rPr>
              <a:t>Finalise priorities, staff crews, lock budget.</a:t>
            </a:r>
          </a:p>
        </p:txBody>
      </p:sp>
      <p:sp>
        <p:nvSpPr>
          <p:cNvPr id="17" name="Rectangle 16"/>
          <p:cNvSpPr/>
          <p:nvPr/>
        </p:nvSpPr>
        <p:spPr>
          <a:xfrm>
            <a:off x="3390900" y="3175000"/>
            <a:ext cx="2654300" cy="2794000"/>
          </a:xfrm>
          <a:prstGeom prst="rect">
            <a:avLst/>
          </a:prstGeom>
          <a:solidFill>
            <a:srgbClr val="1E232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Col23 Number"/>
          <p:cNvSpPr>
            <a:spLocks noGrp="1"/>
          </p:cNvSpPr>
          <p:nvPr>
            <p:ph type="body" idx="23"/>
          </p:nvPr>
        </p:nvSpPr>
        <p:spPr>
          <a:xfrm>
            <a:off x="3594100" y="3429000"/>
            <a:ext cx="22479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spc="70" cap="all">
                <a:solidFill>
                  <a:srgbClr val="FCD535"/>
                </a:solidFill>
                <a:latin typeface="BinancePlex"/>
              </a:rPr>
              <a:t>Q2 · BUILD</a:t>
            </a:r>
          </a:p>
        </p:txBody>
      </p:sp>
      <p:sp>
        <p:nvSpPr>
          <p:cNvPr id="19" name="Col23 Title"/>
          <p:cNvSpPr>
            <a:spLocks noGrp="1"/>
          </p:cNvSpPr>
          <p:nvPr>
            <p:ph type="body" idx="24"/>
          </p:nvPr>
        </p:nvSpPr>
        <p:spPr>
          <a:xfrm>
            <a:off x="3594100" y="3708400"/>
            <a:ext cx="2247900" cy="1016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4999"/>
              </a:lnSpc>
              <a:buNone/>
            </a:pPr>
            <a:r>
              <a:rPr lang="en-US" sz="1400" spc="-17">
                <a:solidFill>
                  <a:srgbClr val="FFFFFF"/>
                </a:solidFill>
                <a:latin typeface="BinanceNova"/>
              </a:rPr>
              <a:t>Ship the platform foundations and first feature set.</a:t>
            </a:r>
          </a:p>
        </p:txBody>
      </p:sp>
      <p:sp>
        <p:nvSpPr>
          <p:cNvPr id="20" name="Col23 Body"/>
          <p:cNvSpPr>
            <a:spLocks noGrp="1"/>
          </p:cNvSpPr>
          <p:nvPr>
            <p:ph type="body" idx="25"/>
          </p:nvPr>
        </p:nvSpPr>
        <p:spPr>
          <a:xfrm>
            <a:off x="3594100" y="4826000"/>
            <a:ext cx="2247900" cy="1651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1000">
                <a:solidFill>
                  <a:srgbClr val="EAECEF"/>
                </a:solidFill>
                <a:latin typeface="BinanceNova"/>
              </a:rPr>
              <a:t>New OS core, updated Platform SDK.</a:t>
            </a:r>
          </a:p>
        </p:txBody>
      </p:sp>
      <p:sp>
        <p:nvSpPr>
          <p:cNvPr id="21" name="Rectangle 20"/>
          <p:cNvSpPr/>
          <p:nvPr/>
        </p:nvSpPr>
        <p:spPr>
          <a:xfrm>
            <a:off x="6146800" y="3175000"/>
            <a:ext cx="2654300" cy="2794000"/>
          </a:xfrm>
          <a:prstGeom prst="rect">
            <a:avLst/>
          </a:prstGeom>
          <a:solidFill>
            <a:srgbClr val="1E232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Col26 Number"/>
          <p:cNvSpPr>
            <a:spLocks noGrp="1"/>
          </p:cNvSpPr>
          <p:nvPr>
            <p:ph type="body" idx="26"/>
          </p:nvPr>
        </p:nvSpPr>
        <p:spPr>
          <a:xfrm>
            <a:off x="6350000" y="3429000"/>
            <a:ext cx="22479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spc="70" cap="all">
                <a:solidFill>
                  <a:srgbClr val="FCD535"/>
                </a:solidFill>
                <a:latin typeface="BinancePlex"/>
              </a:rPr>
              <a:t>Q3 · PILOT</a:t>
            </a:r>
          </a:p>
        </p:txBody>
      </p:sp>
      <p:sp>
        <p:nvSpPr>
          <p:cNvPr id="23" name="Col26 Title"/>
          <p:cNvSpPr>
            <a:spLocks noGrp="1"/>
          </p:cNvSpPr>
          <p:nvPr>
            <p:ph type="body" idx="27"/>
          </p:nvPr>
        </p:nvSpPr>
        <p:spPr>
          <a:xfrm>
            <a:off x="6350000" y="3708400"/>
            <a:ext cx="2247900" cy="1016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4999"/>
              </a:lnSpc>
              <a:buNone/>
            </a:pPr>
            <a:r>
              <a:rPr lang="en-US" sz="1400" spc="-17">
                <a:solidFill>
                  <a:srgbClr val="FFFFFF"/>
                </a:solidFill>
                <a:latin typeface="BinanceNova"/>
              </a:rPr>
              <a:t>Field-test with 2,000 customers across three regions.</a:t>
            </a:r>
          </a:p>
        </p:txBody>
      </p:sp>
      <p:sp>
        <p:nvSpPr>
          <p:cNvPr id="24" name="Col26 Body"/>
          <p:cNvSpPr>
            <a:spLocks noGrp="1"/>
          </p:cNvSpPr>
          <p:nvPr>
            <p:ph type="body" idx="28"/>
          </p:nvPr>
        </p:nvSpPr>
        <p:spPr>
          <a:xfrm>
            <a:off x="6350000" y="4826000"/>
            <a:ext cx="2247900" cy="1651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1000">
                <a:solidFill>
                  <a:srgbClr val="EAECEF"/>
                </a:solidFill>
                <a:latin typeface="BinanceNova"/>
              </a:rPr>
              <a:t>Instrument, measure, iterate weekly.</a:t>
            </a:r>
          </a:p>
        </p:txBody>
      </p:sp>
      <p:sp>
        <p:nvSpPr>
          <p:cNvPr id="25" name="Rectangle 24"/>
          <p:cNvSpPr/>
          <p:nvPr/>
        </p:nvSpPr>
        <p:spPr>
          <a:xfrm>
            <a:off x="8902700" y="3175000"/>
            <a:ext cx="2654300" cy="2794000"/>
          </a:xfrm>
          <a:prstGeom prst="rect">
            <a:avLst/>
          </a:prstGeom>
          <a:solidFill>
            <a:srgbClr val="1E232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Col29 Number"/>
          <p:cNvSpPr>
            <a:spLocks noGrp="1"/>
          </p:cNvSpPr>
          <p:nvPr>
            <p:ph type="body" idx="29"/>
          </p:nvPr>
        </p:nvSpPr>
        <p:spPr>
          <a:xfrm>
            <a:off x="9105900" y="3429000"/>
            <a:ext cx="22479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spc="70" cap="all">
                <a:solidFill>
                  <a:srgbClr val="FCD535"/>
                </a:solidFill>
                <a:latin typeface="BinancePlex"/>
              </a:rPr>
              <a:t>Q4 · SCALE</a:t>
            </a:r>
          </a:p>
        </p:txBody>
      </p:sp>
      <p:sp>
        <p:nvSpPr>
          <p:cNvPr id="27" name="Col29 Title"/>
          <p:cNvSpPr>
            <a:spLocks noGrp="1"/>
          </p:cNvSpPr>
          <p:nvPr>
            <p:ph type="body" idx="30"/>
          </p:nvPr>
        </p:nvSpPr>
        <p:spPr>
          <a:xfrm>
            <a:off x="9105900" y="3708400"/>
            <a:ext cx="2247900" cy="1016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4999"/>
              </a:lnSpc>
              <a:buNone/>
            </a:pPr>
            <a:r>
              <a:rPr lang="en-US" sz="1400" spc="-17">
                <a:solidFill>
                  <a:srgbClr val="FFFFFF"/>
                </a:solidFill>
                <a:latin typeface="BinanceNova"/>
              </a:rPr>
              <a:t>Roll out globally with phased regional launches.</a:t>
            </a:r>
          </a:p>
        </p:txBody>
      </p:sp>
      <p:sp>
        <p:nvSpPr>
          <p:cNvPr id="28" name="Col29 Body"/>
          <p:cNvSpPr>
            <a:spLocks noGrp="1"/>
          </p:cNvSpPr>
          <p:nvPr>
            <p:ph type="body" idx="31"/>
          </p:nvPr>
        </p:nvSpPr>
        <p:spPr>
          <a:xfrm>
            <a:off x="9105900" y="4826000"/>
            <a:ext cx="2247900" cy="1651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1000">
                <a:solidFill>
                  <a:srgbClr val="EAECEF"/>
                </a:solidFill>
                <a:latin typeface="BinanceNova"/>
              </a:rPr>
              <a:t>EMEA, then NAM, then APAC.</a:t>
            </a:r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Feinschliff · Text + Picture">
    <p:bg>
      <p:bgPr>
        <a:solidFill>
          <a:srgbClr val="0B0E1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6604000" y="1270000"/>
            <a:ext cx="4953000" cy="4572000"/>
          </a:xfrm>
          <a:prstGeom prst="rect">
            <a:avLst/>
          </a:prstGeom>
          <a:pattFill prst="wdDnDiag">
            <a:fgClr>
              <a:srgbClr val="2B3139"/>
            </a:fgClr>
            <a:bgClr>
              <a:srgbClr val="1E2329"/>
            </a:bgClr>
          </a:patt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604000" y="1270000"/>
            <a:ext cx="4953000" cy="4572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800" spc="80">
                <a:solidFill>
                  <a:srgbClr val="FFFFFF"/>
                </a:solidFill>
                <a:latin typeface="BinancePlex"/>
              </a:rPr>
              <a:t>PRODUCT HERO</a:t>
            </a:r>
          </a:p>
        </p:txBody>
      </p:sp>
      <p:sp>
        <p:nvSpPr>
          <p:cNvPr id="4" name="Freeform 3"/>
          <p:cNvSpPr/>
          <p:nvPr/>
        </p:nvSpPr>
        <p:spPr>
          <a:xfrm>
            <a:off x="723900" y="417068"/>
            <a:ext cx="49784" cy="49784"/>
          </a:xfrm>
          <a:custGeom>
            <a:avLst/>
            <a:gdLst/>
            <a:ahLst/>
            <a:cxnLst/>
            <a:rect l="l" t="t" r="r" b="b"/>
            <a:pathLst>
              <a:path w="49784" h="49784">
                <a:moveTo>
                  <a:pt x="0" y="0"/>
                </a:moveTo>
                <a:lnTo>
                  <a:pt x="49784" y="49784"/>
                </a:lnTo>
                <a:lnTo>
                  <a:pt x="0" y="49784"/>
                </a:lnTo>
                <a:close/>
              </a:path>
            </a:pathLst>
          </a:custGeom>
          <a:solidFill>
            <a:srgbClr val="FCD5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Freeform 4"/>
          <p:cNvSpPr/>
          <p:nvPr/>
        </p:nvSpPr>
        <p:spPr>
          <a:xfrm>
            <a:off x="752348" y="445516"/>
            <a:ext cx="49784" cy="49784"/>
          </a:xfrm>
          <a:custGeom>
            <a:avLst/>
            <a:gdLst/>
            <a:ahLst/>
            <a:cxnLst/>
            <a:rect l="l" t="t" r="r" b="b"/>
            <a:pathLst>
              <a:path w="49784" h="49784">
                <a:moveTo>
                  <a:pt x="49784" y="49784"/>
                </a:moveTo>
                <a:lnTo>
                  <a:pt x="0" y="0"/>
                </a:lnTo>
                <a:lnTo>
                  <a:pt x="0" y="49784"/>
                </a:lnTo>
                <a:close/>
              </a:path>
            </a:pathLst>
          </a:custGeom>
          <a:solidFill>
            <a:srgbClr val="FCD5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Freeform 5"/>
          <p:cNvSpPr/>
          <p:nvPr/>
        </p:nvSpPr>
        <p:spPr>
          <a:xfrm>
            <a:off x="674116" y="523748"/>
            <a:ext cx="49784" cy="49784"/>
          </a:xfrm>
          <a:custGeom>
            <a:avLst/>
            <a:gdLst/>
            <a:ahLst/>
            <a:cxnLst/>
            <a:rect l="l" t="t" r="r" b="b"/>
            <a:pathLst>
              <a:path w="49784" h="49784">
                <a:moveTo>
                  <a:pt x="49784" y="49784"/>
                </a:moveTo>
                <a:lnTo>
                  <a:pt x="0" y="0"/>
                </a:lnTo>
                <a:lnTo>
                  <a:pt x="49784" y="0"/>
                </a:lnTo>
                <a:close/>
              </a:path>
            </a:pathLst>
          </a:custGeom>
          <a:solidFill>
            <a:srgbClr val="FCD5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Freeform 6"/>
          <p:cNvSpPr/>
          <p:nvPr/>
        </p:nvSpPr>
        <p:spPr>
          <a:xfrm>
            <a:off x="645668" y="495300"/>
            <a:ext cx="49784" cy="49784"/>
          </a:xfrm>
          <a:custGeom>
            <a:avLst/>
            <a:gdLst/>
            <a:ahLst/>
            <a:cxnLst/>
            <a:rect l="l" t="t" r="r" b="b"/>
            <a:pathLst>
              <a:path w="49784" h="49784">
                <a:moveTo>
                  <a:pt x="0" y="0"/>
                </a:moveTo>
                <a:lnTo>
                  <a:pt x="49784" y="49784"/>
                </a:lnTo>
                <a:lnTo>
                  <a:pt x="49784" y="0"/>
                </a:lnTo>
                <a:close/>
              </a:path>
            </a:pathLst>
          </a:custGeom>
          <a:solidFill>
            <a:srgbClr val="FCD5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01700" y="406400"/>
            <a:ext cx="2032000" cy="25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 spc="110">
                <a:solidFill>
                  <a:srgbClr val="FCD535"/>
                </a:solidFill>
                <a:latin typeface="BinanceNova"/>
              </a:rPr>
              <a:t>BINANCE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017000" y="508000"/>
            <a:ext cx="2667000" cy="177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700" spc="70" b="0">
                <a:solidFill>
                  <a:srgbClr val="848E9C"/>
                </a:solidFill>
                <a:latin typeface="BinanceNova SemiBold"/>
              </a:rPr>
              <a:t>LAYOUT · TEXT + PICTURE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62000" y="6540500"/>
            <a:ext cx="4445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650" spc="65" b="0">
                <a:solidFill>
                  <a:srgbClr val="848E9C"/>
                </a:solidFill>
                <a:latin typeface="BinanceNova SemiBold"/>
              </a:rPr>
              <a:t>JAN 2026 · SHOWCASE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985000" y="6540500"/>
            <a:ext cx="4445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lang="en-US" dirty="0" sz="650" b="0" spc="65">
                <a:solidFill>
                  <a:srgbClr val="848E9C"/>
                </a:solidFill>
                <a:latin typeface="BinanceNova SemiBold"/>
              </a:rPr>
              <a:t>SLIDE </a:t>
            </a:r>
            <a:fld id="{A1B2C3D4-E5F6-4890-ABCD-EF0123456789}" type="slidenum">
              <a:rPr lang="en-US" dirty="0" sz="650" b="0" spc="65">
                <a:solidFill>
                  <a:srgbClr val="848E9C"/>
                </a:solidFill>
                <a:latin typeface="BinanceNova SemiBold"/>
              </a:rPr>
              <a:t>1</a:t>
            </a:fld>
          </a:p>
        </p:txBody>
      </p:sp>
      <p:sp>
        <p:nvSpPr>
          <p:cNvPr id="12" name="Rectangle 11"/>
          <p:cNvSpPr/>
          <p:nvPr/>
        </p:nvSpPr>
        <p:spPr>
          <a:xfrm>
            <a:off x="635000" y="1270000"/>
            <a:ext cx="508000" cy="25400"/>
          </a:xfrm>
          <a:prstGeom prst="rect">
            <a:avLst/>
          </a:prstGeom>
          <a:solidFill>
            <a:srgbClr val="FCD53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Eyebrow"/>
          <p:cNvSpPr>
            <a:spLocks noGrp="1"/>
          </p:cNvSpPr>
          <p:nvPr>
            <p:ph type="body" idx="10"/>
          </p:nvPr>
        </p:nvSpPr>
        <p:spPr>
          <a:xfrm>
            <a:off x="635000" y="1524000"/>
            <a:ext cx="48260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800" spc="80" cap="all">
                <a:solidFill>
                  <a:srgbClr val="EAECEF"/>
                </a:solidFill>
                <a:latin typeface="BinanceNova"/>
              </a:rPr>
              <a:t>FLAGSHIP · 2026</a:t>
            </a:r>
          </a:p>
        </p:txBody>
      </p:sp>
      <p:sp>
        <p:nvSpPr>
          <p:cNvPr id="14" name="Title"/>
          <p:cNvSpPr>
            <a:spLocks noGrp="1"/>
          </p:cNvSpPr>
          <p:nvPr>
            <p:ph type="title"/>
          </p:nvPr>
        </p:nvSpPr>
        <p:spPr>
          <a:xfrm>
            <a:off x="635000" y="1778000"/>
            <a:ext cx="4826000" cy="24130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6000" b="1" spc="-180">
                <a:solidFill>
                  <a:srgbClr val="EAECEF"/>
                </a:solidFill>
                <a:latin typeface="BinanceNova"/>
              </a:rPr>
              <a:t>A flagship that</a:t>
            </a:r>
          </a:p>
          <a:p>
            <a:pPr marL="0" indent="0" algn="l">
              <a:buNone/>
            </a:pPr>
            <a:r>
              <a:rPr lang="en-US" sz="6000" b="1" spc="-180">
                <a:solidFill>
                  <a:srgbClr val="EAECEF"/>
                </a:solidFill>
                <a:latin typeface="BinanceNova"/>
              </a:rPr>
              <a:t>learns the</a:t>
            </a:r>
          </a:p>
          <a:p>
            <a:pPr marL="0" indent="0" algn="l">
              <a:buNone/>
            </a:pPr>
            <a:r>
              <a:rPr lang="en-US" sz="6000" b="1" spc="-180">
                <a:solidFill>
                  <a:srgbClr val="EAECEF"/>
                </a:solidFill>
                <a:latin typeface="BinanceNova"/>
              </a:rPr>
              <a:t>user.</a:t>
            </a:r>
          </a:p>
        </p:txBody>
      </p:sp>
      <p:sp>
        <p:nvSpPr>
          <p:cNvPr id="15" name="Body"/>
          <p:cNvSpPr>
            <a:spLocks noGrp="1"/>
          </p:cNvSpPr>
          <p:nvPr>
            <p:ph type="body" idx="11"/>
          </p:nvPr>
        </p:nvSpPr>
        <p:spPr>
          <a:xfrm>
            <a:off x="635000" y="4445000"/>
            <a:ext cx="4572000" cy="889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1000">
                <a:solidFill>
                  <a:srgbClr val="FFFFFF"/>
                </a:solidFill>
                <a:latin typeface="BinanceNova"/>
              </a:rPr>
              <a:t>Adaptive heat zones that calibrate to each pan automatically and hold their target to within 2 °C, across the whole surface.</a:t>
            </a:r>
          </a:p>
        </p:txBody>
      </p:sp>
      <p:sp>
        <p:nvSpPr>
          <p:cNvPr id="16" name="Rectangle 15"/>
          <p:cNvSpPr/>
          <p:nvPr/>
        </p:nvSpPr>
        <p:spPr>
          <a:xfrm>
            <a:off x="635000" y="5524500"/>
            <a:ext cx="1651000" cy="508000"/>
          </a:xfrm>
          <a:prstGeom prst="rect">
            <a:avLst/>
          </a:prstGeom>
          <a:solidFill>
            <a:srgbClr val="FCD535"/>
          </a:solidFill>
          <a:ln w="12700">
            <a:solidFill>
              <a:srgbClr val="FCD53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228600" rIns="228600"/>
          <a:lstStyle/>
          <a:p>
            <a:pPr algn="l"/>
            <a:r>
              <a:rPr sz="900">
                <a:solidFill>
                  <a:srgbClr val="EAECEF"/>
                </a:solidFill>
                <a:latin typeface="BinanceNova Medium"/>
              </a:rPr>
              <a:t>Read the brief  →</a:t>
            </a:r>
          </a:p>
        </p:txBody>
      </p:sp>
      <p:sp>
        <p:nvSpPr>
          <p:cNvPr id="17" name="Rectangle 16"/>
          <p:cNvSpPr/>
          <p:nvPr/>
        </p:nvSpPr>
        <p:spPr>
          <a:xfrm>
            <a:off x="2413000" y="5524500"/>
            <a:ext cx="1333500" cy="508000"/>
          </a:xfrm>
          <a:prstGeom prst="rect">
            <a:avLst/>
          </a:prstGeom>
          <a:noFill/>
          <a:ln w="12700">
            <a:solidFill>
              <a:srgbClr val="EAECE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228600" rIns="228600"/>
          <a:lstStyle/>
          <a:p>
            <a:pPr algn="l"/>
            <a:r>
              <a:rPr sz="900">
                <a:solidFill>
                  <a:srgbClr val="EAECEF"/>
                </a:solidFill>
                <a:latin typeface="BinanceNova Medium"/>
              </a:rPr>
              <a:t>Spec sheet</a:t>
            </a:r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Feinschliff · Full-bleed Cover">
    <p:bg>
      <p:bgPr>
        <a:solidFill>
          <a:srgbClr val="0B0E1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pattFill prst="wdDnDiag">
            <a:fgClr>
              <a:srgbClr val="1A1A1A"/>
            </a:fgClr>
            <a:bgClr>
              <a:srgbClr val="222222"/>
            </a:bgClr>
          </a:patt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0" y="0"/>
            <a:ext cx="12192000" cy="6858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800" spc="80">
                <a:solidFill>
                  <a:srgbClr val="B7BDC6"/>
                </a:solidFill>
                <a:latin typeface="BinancePlex"/>
              </a:rPr>
              <a:t>LIFESTYLE PHOTO · 16:9</a:t>
            </a:r>
          </a:p>
        </p:txBody>
      </p:sp>
      <p:sp>
        <p:nvSpPr>
          <p:cNvPr id="4" name="Freeform 3"/>
          <p:cNvSpPr/>
          <p:nvPr/>
        </p:nvSpPr>
        <p:spPr>
          <a:xfrm>
            <a:off x="723900" y="417068"/>
            <a:ext cx="49784" cy="49784"/>
          </a:xfrm>
          <a:custGeom>
            <a:avLst/>
            <a:gdLst/>
            <a:ahLst/>
            <a:cxnLst/>
            <a:rect l="l" t="t" r="r" b="b"/>
            <a:pathLst>
              <a:path w="49784" h="49784">
                <a:moveTo>
                  <a:pt x="0" y="0"/>
                </a:moveTo>
                <a:lnTo>
                  <a:pt x="49784" y="49784"/>
                </a:lnTo>
                <a:lnTo>
                  <a:pt x="0" y="49784"/>
                </a:lnTo>
                <a:close/>
              </a:path>
            </a:pathLst>
          </a:custGeom>
          <a:solidFill>
            <a:srgbClr val="FCD5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Freeform 4"/>
          <p:cNvSpPr/>
          <p:nvPr/>
        </p:nvSpPr>
        <p:spPr>
          <a:xfrm>
            <a:off x="752348" y="445516"/>
            <a:ext cx="49784" cy="49784"/>
          </a:xfrm>
          <a:custGeom>
            <a:avLst/>
            <a:gdLst/>
            <a:ahLst/>
            <a:cxnLst/>
            <a:rect l="l" t="t" r="r" b="b"/>
            <a:pathLst>
              <a:path w="49784" h="49784">
                <a:moveTo>
                  <a:pt x="49784" y="49784"/>
                </a:moveTo>
                <a:lnTo>
                  <a:pt x="0" y="0"/>
                </a:lnTo>
                <a:lnTo>
                  <a:pt x="0" y="49784"/>
                </a:lnTo>
                <a:close/>
              </a:path>
            </a:pathLst>
          </a:custGeom>
          <a:solidFill>
            <a:srgbClr val="FCD5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Freeform 5"/>
          <p:cNvSpPr/>
          <p:nvPr/>
        </p:nvSpPr>
        <p:spPr>
          <a:xfrm>
            <a:off x="674116" y="523748"/>
            <a:ext cx="49784" cy="49784"/>
          </a:xfrm>
          <a:custGeom>
            <a:avLst/>
            <a:gdLst/>
            <a:ahLst/>
            <a:cxnLst/>
            <a:rect l="l" t="t" r="r" b="b"/>
            <a:pathLst>
              <a:path w="49784" h="49784">
                <a:moveTo>
                  <a:pt x="49784" y="49784"/>
                </a:moveTo>
                <a:lnTo>
                  <a:pt x="0" y="0"/>
                </a:lnTo>
                <a:lnTo>
                  <a:pt x="49784" y="0"/>
                </a:lnTo>
                <a:close/>
              </a:path>
            </a:pathLst>
          </a:custGeom>
          <a:solidFill>
            <a:srgbClr val="FCD5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Freeform 6"/>
          <p:cNvSpPr/>
          <p:nvPr/>
        </p:nvSpPr>
        <p:spPr>
          <a:xfrm>
            <a:off x="645668" y="495300"/>
            <a:ext cx="49784" cy="49784"/>
          </a:xfrm>
          <a:custGeom>
            <a:avLst/>
            <a:gdLst/>
            <a:ahLst/>
            <a:cxnLst/>
            <a:rect l="l" t="t" r="r" b="b"/>
            <a:pathLst>
              <a:path w="49784" h="49784">
                <a:moveTo>
                  <a:pt x="0" y="0"/>
                </a:moveTo>
                <a:lnTo>
                  <a:pt x="49784" y="49784"/>
                </a:lnTo>
                <a:lnTo>
                  <a:pt x="49784" y="0"/>
                </a:lnTo>
                <a:close/>
              </a:path>
            </a:pathLst>
          </a:custGeom>
          <a:solidFill>
            <a:srgbClr val="FCD5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01700" y="406400"/>
            <a:ext cx="2032000" cy="25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 spc="110">
                <a:solidFill>
                  <a:srgbClr val="FCD535"/>
                </a:solidFill>
                <a:latin typeface="BinanceNova"/>
              </a:rPr>
              <a:t>BINANCE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017000" y="508000"/>
            <a:ext cx="2667000" cy="177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700" spc="70" b="0">
                <a:solidFill>
                  <a:srgbClr val="848E9C"/>
                </a:solidFill>
                <a:latin typeface="BinanceNova SemiBold"/>
              </a:rPr>
              <a:t>APP · 2026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62000" y="6540500"/>
            <a:ext cx="4445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650" spc="65" b="0">
                <a:solidFill>
                  <a:srgbClr val="848E9C"/>
                </a:solidFill>
                <a:latin typeface="BinanceNova SemiBold"/>
              </a:rPr>
              <a:t>JAN 2026 · SHOWCASE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985000" y="6540500"/>
            <a:ext cx="4445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lang="en-US" dirty="0" sz="650" b="0" spc="65">
                <a:solidFill>
                  <a:srgbClr val="848E9C"/>
                </a:solidFill>
                <a:latin typeface="BinanceNova SemiBold"/>
              </a:rPr>
              <a:t>SLIDE </a:t>
            </a:r>
            <a:fld id="{A1B2C3D4-E5F6-4890-ABCD-EF0123456789}" type="slidenum">
              <a:rPr lang="en-US" dirty="0" sz="650" b="0" spc="65">
                <a:solidFill>
                  <a:srgbClr val="848E9C"/>
                </a:solidFill>
                <a:latin typeface="BinanceNova SemiBold"/>
              </a:rPr>
              <a:t>1</a:t>
            </a:fld>
          </a:p>
        </p:txBody>
      </p:sp>
      <p:sp>
        <p:nvSpPr>
          <p:cNvPr id="12" name="Rounded Rectangle 11"/>
          <p:cNvSpPr/>
          <p:nvPr/>
        </p:nvSpPr>
        <p:spPr>
          <a:xfrm>
            <a:off x="635000" y="3810000"/>
            <a:ext cx="4445000" cy="2540000"/>
          </a:xfrm>
          <a:prstGeom prst="roundRect">
            <a:avLst>
              <a:gd name="adj" fmla="val 6000"/>
            </a:avLst>
          </a:prstGeom>
          <a:solidFill>
            <a:srgbClr val="1E232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Eyebrow"/>
          <p:cNvSpPr>
            <a:spLocks noGrp="1"/>
          </p:cNvSpPr>
          <p:nvPr>
            <p:ph type="body" idx="10"/>
          </p:nvPr>
        </p:nvSpPr>
        <p:spPr>
          <a:xfrm>
            <a:off x="838200" y="4013200"/>
            <a:ext cx="4038600" cy="1778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800" spc="80" cap="all">
                <a:solidFill>
                  <a:srgbClr val="FCD535"/>
                </a:solidFill>
                <a:latin typeface="BinanceNova"/>
              </a:rPr>
              <a:t>APP · 2026</a:t>
            </a:r>
          </a:p>
        </p:txBody>
      </p:sp>
      <p:sp>
        <p:nvSpPr>
          <p:cNvPr id="14" name="Title"/>
          <p:cNvSpPr>
            <a:spLocks noGrp="1"/>
          </p:cNvSpPr>
          <p:nvPr>
            <p:ph type="title"/>
          </p:nvPr>
        </p:nvSpPr>
        <p:spPr>
          <a:xfrm>
            <a:off x="838200" y="4330700"/>
            <a:ext cx="4038600" cy="1016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2800" spc="-42">
                <a:solidFill>
                  <a:srgbClr val="FFFFFF"/>
                </a:solidFill>
                <a:latin typeface="BinanceNova"/>
              </a:rPr>
              <a:t>Trade on the go.</a:t>
            </a:r>
          </a:p>
          <a:p>
            <a:pPr marL="0" indent="0" algn="l">
              <a:lnSpc>
                <a:spcPct val="110000"/>
              </a:lnSpc>
              <a:buNone/>
            </a:pPr>
            <a:r>
              <a:rPr lang="en-US" sz="2800" spc="-42">
                <a:solidFill>
                  <a:srgbClr val="FFFFFF"/>
                </a:solidFill>
                <a:latin typeface="BinanceNova"/>
              </a:rPr>
              <a:t>Anywhere, anytime.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838200" y="5740400"/>
            <a:ext cx="1524000" cy="406400"/>
          </a:xfrm>
          <a:prstGeom prst="roundRect">
            <a:avLst>
              <a:gd name="adj" fmla="val 50000"/>
            </a:avLst>
          </a:prstGeom>
          <a:solidFill>
            <a:srgbClr val="FCD53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38200" y="5740400"/>
            <a:ext cx="1524000" cy="4064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900" spc="90" b="0">
                <a:solidFill>
                  <a:srgbClr val="0B0E11"/>
                </a:solidFill>
                <a:latin typeface="BinanceNova SemiBold"/>
              </a:rPr>
              <a:t>GET THE APP</a:t>
            </a:r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Feinschliff · Bar Chart">
    <p:bg>
      <p:bgPr>
        <a:solidFill>
          <a:srgbClr val="0B0E1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1"/>
          <p:cNvSpPr/>
          <p:nvPr/>
        </p:nvSpPr>
        <p:spPr>
          <a:xfrm>
            <a:off x="723900" y="417068"/>
            <a:ext cx="49784" cy="49784"/>
          </a:xfrm>
          <a:custGeom>
            <a:avLst/>
            <a:gdLst/>
            <a:ahLst/>
            <a:cxnLst/>
            <a:rect l="l" t="t" r="r" b="b"/>
            <a:pathLst>
              <a:path w="49784" h="49784">
                <a:moveTo>
                  <a:pt x="0" y="0"/>
                </a:moveTo>
                <a:lnTo>
                  <a:pt x="49784" y="49784"/>
                </a:lnTo>
                <a:lnTo>
                  <a:pt x="0" y="49784"/>
                </a:lnTo>
                <a:close/>
              </a:path>
            </a:pathLst>
          </a:custGeom>
          <a:solidFill>
            <a:srgbClr val="FCD5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Freeform 2"/>
          <p:cNvSpPr/>
          <p:nvPr/>
        </p:nvSpPr>
        <p:spPr>
          <a:xfrm>
            <a:off x="752348" y="445516"/>
            <a:ext cx="49784" cy="49784"/>
          </a:xfrm>
          <a:custGeom>
            <a:avLst/>
            <a:gdLst/>
            <a:ahLst/>
            <a:cxnLst/>
            <a:rect l="l" t="t" r="r" b="b"/>
            <a:pathLst>
              <a:path w="49784" h="49784">
                <a:moveTo>
                  <a:pt x="49784" y="49784"/>
                </a:moveTo>
                <a:lnTo>
                  <a:pt x="0" y="0"/>
                </a:lnTo>
                <a:lnTo>
                  <a:pt x="0" y="49784"/>
                </a:lnTo>
                <a:close/>
              </a:path>
            </a:pathLst>
          </a:custGeom>
          <a:solidFill>
            <a:srgbClr val="FCD5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Freeform 3"/>
          <p:cNvSpPr/>
          <p:nvPr/>
        </p:nvSpPr>
        <p:spPr>
          <a:xfrm>
            <a:off x="674116" y="523748"/>
            <a:ext cx="49784" cy="49784"/>
          </a:xfrm>
          <a:custGeom>
            <a:avLst/>
            <a:gdLst/>
            <a:ahLst/>
            <a:cxnLst/>
            <a:rect l="l" t="t" r="r" b="b"/>
            <a:pathLst>
              <a:path w="49784" h="49784">
                <a:moveTo>
                  <a:pt x="49784" y="49784"/>
                </a:moveTo>
                <a:lnTo>
                  <a:pt x="0" y="0"/>
                </a:lnTo>
                <a:lnTo>
                  <a:pt x="49784" y="0"/>
                </a:lnTo>
                <a:close/>
              </a:path>
            </a:pathLst>
          </a:custGeom>
          <a:solidFill>
            <a:srgbClr val="FCD5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Freeform 4"/>
          <p:cNvSpPr/>
          <p:nvPr/>
        </p:nvSpPr>
        <p:spPr>
          <a:xfrm>
            <a:off x="645668" y="495300"/>
            <a:ext cx="49784" cy="49784"/>
          </a:xfrm>
          <a:custGeom>
            <a:avLst/>
            <a:gdLst/>
            <a:ahLst/>
            <a:cxnLst/>
            <a:rect l="l" t="t" r="r" b="b"/>
            <a:pathLst>
              <a:path w="49784" h="49784">
                <a:moveTo>
                  <a:pt x="0" y="0"/>
                </a:moveTo>
                <a:lnTo>
                  <a:pt x="49784" y="49784"/>
                </a:lnTo>
                <a:lnTo>
                  <a:pt x="49784" y="0"/>
                </a:lnTo>
                <a:close/>
              </a:path>
            </a:pathLst>
          </a:custGeom>
          <a:solidFill>
            <a:srgbClr val="FCD5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01700" y="406400"/>
            <a:ext cx="2032000" cy="25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 spc="110">
                <a:solidFill>
                  <a:srgbClr val="FCD535"/>
                </a:solidFill>
                <a:latin typeface="BinanceNova"/>
              </a:rPr>
              <a:t>BINANCE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017000" y="508000"/>
            <a:ext cx="2667000" cy="177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700" spc="70" b="0">
                <a:solidFill>
                  <a:srgbClr val="848E9C"/>
                </a:solidFill>
                <a:latin typeface="BinanceNova SemiBold"/>
              </a:rPr>
              <a:t>DATA · Q3 RESULTS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62000" y="6540500"/>
            <a:ext cx="4445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650" spc="65" b="0">
                <a:solidFill>
                  <a:srgbClr val="848E9C"/>
                </a:solidFill>
                <a:latin typeface="BinanceNova SemiBold"/>
              </a:rPr>
              <a:t>JAN 2026 · SHOWCASE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985000" y="6540500"/>
            <a:ext cx="4445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lang="en-US" dirty="0" sz="650" b="0" spc="65">
                <a:solidFill>
                  <a:srgbClr val="848E9C"/>
                </a:solidFill>
                <a:latin typeface="BinanceNova SemiBold"/>
              </a:rPr>
              <a:t>SLIDE </a:t>
            </a:r>
            <a:fld id="{A1B2C3D4-E5F6-4890-ABCD-EF0123456789}" type="slidenum">
              <a:rPr lang="en-US" dirty="0" sz="650" b="0" spc="65">
                <a:solidFill>
                  <a:srgbClr val="848E9C"/>
                </a:solidFill>
                <a:latin typeface="BinanceNova SemiBold"/>
              </a:rPr>
              <a:t>1</a:t>
            </a:fld>
          </a:p>
        </p:txBody>
      </p:sp>
      <p:sp>
        <p:nvSpPr>
          <p:cNvPr id="10" name="Rectangle 9"/>
          <p:cNvSpPr/>
          <p:nvPr/>
        </p:nvSpPr>
        <p:spPr>
          <a:xfrm>
            <a:off x="635000" y="1651000"/>
            <a:ext cx="50800" cy="876300"/>
          </a:xfrm>
          <a:prstGeom prst="rect">
            <a:avLst/>
          </a:prstGeom>
          <a:solidFill>
            <a:srgbClr val="FCD53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Eyebrow"/>
          <p:cNvSpPr>
            <a:spLocks noGrp="1"/>
          </p:cNvSpPr>
          <p:nvPr>
            <p:ph type="body" idx="10"/>
          </p:nvPr>
        </p:nvSpPr>
        <p:spPr>
          <a:xfrm>
            <a:off x="838200" y="1651000"/>
            <a:ext cx="101600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800" spc="80" cap="all">
                <a:solidFill>
                  <a:srgbClr val="FCD535"/>
                </a:solidFill>
                <a:latin typeface="BinanceNova"/>
              </a:rPr>
              <a:t>SHARE OF REVENUE BY REGION</a:t>
            </a:r>
          </a:p>
        </p:txBody>
      </p:sp>
      <p:sp>
        <p:nvSpPr>
          <p:cNvPr id="12" name="Title"/>
          <p:cNvSpPr>
            <a:spLocks noGrp="1"/>
          </p:cNvSpPr>
          <p:nvPr>
            <p:ph type="title"/>
          </p:nvPr>
        </p:nvSpPr>
        <p:spPr>
          <a:xfrm>
            <a:off x="838200" y="1968500"/>
            <a:ext cx="10922000" cy="635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3200" spc="-48">
                <a:solidFill>
                  <a:srgbClr val="FFFFFF"/>
                </a:solidFill>
                <a:latin typeface="BinanceNova"/>
              </a:rPr>
              <a:t>EMEA still leads; NAM closing the gap.</a:t>
            </a:r>
          </a:p>
        </p:txBody>
      </p:sp>
      <p:sp>
        <p:nvSpPr>
          <p:cNvPr id="13" name="Bar 1 Label"/>
          <p:cNvSpPr>
            <a:spLocks noGrp="1"/>
          </p:cNvSpPr>
          <p:nvPr>
            <p:ph type="body" idx="20"/>
          </p:nvPr>
        </p:nvSpPr>
        <p:spPr>
          <a:xfrm>
            <a:off x="635000" y="3429000"/>
            <a:ext cx="1524000" cy="2540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1100">
                <a:solidFill>
                  <a:srgbClr val="EAECEF"/>
                </a:solidFill>
                <a:latin typeface="BinanceNova Medium"/>
              </a:rPr>
              <a:t>EMEA</a:t>
            </a:r>
          </a:p>
        </p:txBody>
      </p:sp>
      <p:sp>
        <p:nvSpPr>
          <p:cNvPr id="14" name="Rectangle 13"/>
          <p:cNvSpPr/>
          <p:nvPr/>
        </p:nvSpPr>
        <p:spPr>
          <a:xfrm>
            <a:off x="2311400" y="3479800"/>
            <a:ext cx="8331200" cy="203200"/>
          </a:xfrm>
          <a:prstGeom prst="rect">
            <a:avLst/>
          </a:prstGeom>
          <a:solidFill>
            <a:srgbClr val="2B313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2311400" y="3479800"/>
            <a:ext cx="5162550" cy="203200"/>
          </a:xfrm>
          <a:prstGeom prst="rect">
            <a:avLst/>
          </a:prstGeom>
          <a:solidFill>
            <a:srgbClr val="EAEC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Bar 1 Value"/>
          <p:cNvSpPr>
            <a:spLocks noGrp="1"/>
          </p:cNvSpPr>
          <p:nvPr>
            <p:ph type="body" idx="21"/>
          </p:nvPr>
        </p:nvSpPr>
        <p:spPr>
          <a:xfrm>
            <a:off x="10795000" y="3467100"/>
            <a:ext cx="762000" cy="203200"/>
          </a:xfrm>
        </p:spPr>
        <p:txBody>
          <a:bodyPr lIns="0" tIns="0" rIns="0" bIns="0" wrap="square" anchor="t"/>
          <a:lstStyle/>
          <a:p>
            <a:pPr marL="0" indent="0" algn="r">
              <a:buNone/>
            </a:pPr>
            <a:r>
              <a:rPr lang="en-US" sz="1000">
                <a:solidFill>
                  <a:srgbClr val="EAECEF"/>
                </a:solidFill>
                <a:latin typeface="BinancePlex"/>
              </a:rPr>
              <a:t>62%</a:t>
            </a:r>
          </a:p>
        </p:txBody>
      </p:sp>
      <p:sp>
        <p:nvSpPr>
          <p:cNvPr id="17" name="Bar 2 Label"/>
          <p:cNvSpPr>
            <a:spLocks noGrp="1"/>
          </p:cNvSpPr>
          <p:nvPr>
            <p:ph type="body" idx="22"/>
          </p:nvPr>
        </p:nvSpPr>
        <p:spPr>
          <a:xfrm>
            <a:off x="635000" y="3937000"/>
            <a:ext cx="1524000" cy="2540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1100">
                <a:solidFill>
                  <a:srgbClr val="EAECEF"/>
                </a:solidFill>
                <a:latin typeface="BinanceNova Medium"/>
              </a:rPr>
              <a:t>NAM</a:t>
            </a:r>
          </a:p>
        </p:txBody>
      </p:sp>
      <p:sp>
        <p:nvSpPr>
          <p:cNvPr id="18" name="Rectangle 17"/>
          <p:cNvSpPr/>
          <p:nvPr/>
        </p:nvSpPr>
        <p:spPr>
          <a:xfrm>
            <a:off x="2311400" y="3987800"/>
            <a:ext cx="8331200" cy="203200"/>
          </a:xfrm>
          <a:prstGeom prst="rect">
            <a:avLst/>
          </a:prstGeom>
          <a:solidFill>
            <a:srgbClr val="2B313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2311400" y="3987800"/>
            <a:ext cx="2000250" cy="203200"/>
          </a:xfrm>
          <a:prstGeom prst="rect">
            <a:avLst/>
          </a:prstGeom>
          <a:solidFill>
            <a:srgbClr val="FCD53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Bar 2 Value"/>
          <p:cNvSpPr>
            <a:spLocks noGrp="1"/>
          </p:cNvSpPr>
          <p:nvPr>
            <p:ph type="body" idx="23"/>
          </p:nvPr>
        </p:nvSpPr>
        <p:spPr>
          <a:xfrm>
            <a:off x="10795000" y="3975100"/>
            <a:ext cx="762000" cy="203200"/>
          </a:xfrm>
        </p:spPr>
        <p:txBody>
          <a:bodyPr lIns="0" tIns="0" rIns="0" bIns="0" wrap="square" anchor="t"/>
          <a:lstStyle/>
          <a:p>
            <a:pPr marL="0" indent="0" algn="r">
              <a:buNone/>
            </a:pPr>
            <a:r>
              <a:rPr lang="en-US" sz="1000">
                <a:solidFill>
                  <a:srgbClr val="EAECEF"/>
                </a:solidFill>
                <a:latin typeface="BinancePlex"/>
              </a:rPr>
              <a:t>24%</a:t>
            </a:r>
          </a:p>
        </p:txBody>
      </p:sp>
      <p:sp>
        <p:nvSpPr>
          <p:cNvPr id="21" name="Bar 3 Label"/>
          <p:cNvSpPr>
            <a:spLocks noGrp="1"/>
          </p:cNvSpPr>
          <p:nvPr>
            <p:ph type="body" idx="24"/>
          </p:nvPr>
        </p:nvSpPr>
        <p:spPr>
          <a:xfrm>
            <a:off x="635000" y="4445000"/>
            <a:ext cx="1524000" cy="2540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1100">
                <a:solidFill>
                  <a:srgbClr val="EAECEF"/>
                </a:solidFill>
                <a:latin typeface="BinanceNova Medium"/>
              </a:rPr>
              <a:t>APAC</a:t>
            </a:r>
          </a:p>
        </p:txBody>
      </p:sp>
      <p:sp>
        <p:nvSpPr>
          <p:cNvPr id="22" name="Rectangle 21"/>
          <p:cNvSpPr/>
          <p:nvPr/>
        </p:nvSpPr>
        <p:spPr>
          <a:xfrm>
            <a:off x="2311400" y="4495800"/>
            <a:ext cx="8331200" cy="203200"/>
          </a:xfrm>
          <a:prstGeom prst="rect">
            <a:avLst/>
          </a:prstGeom>
          <a:solidFill>
            <a:srgbClr val="2B313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2311400" y="4495800"/>
            <a:ext cx="914400" cy="203200"/>
          </a:xfrm>
          <a:prstGeom prst="rect">
            <a:avLst/>
          </a:prstGeom>
          <a:solidFill>
            <a:srgbClr val="EAEC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Bar 3 Value"/>
          <p:cNvSpPr>
            <a:spLocks noGrp="1"/>
          </p:cNvSpPr>
          <p:nvPr>
            <p:ph type="body" idx="25"/>
          </p:nvPr>
        </p:nvSpPr>
        <p:spPr>
          <a:xfrm>
            <a:off x="10795000" y="4483100"/>
            <a:ext cx="762000" cy="203200"/>
          </a:xfrm>
        </p:spPr>
        <p:txBody>
          <a:bodyPr lIns="0" tIns="0" rIns="0" bIns="0" wrap="square" anchor="t"/>
          <a:lstStyle/>
          <a:p>
            <a:pPr marL="0" indent="0" algn="r">
              <a:buNone/>
            </a:pPr>
            <a:r>
              <a:rPr lang="en-US" sz="1000">
                <a:solidFill>
                  <a:srgbClr val="EAECEF"/>
                </a:solidFill>
                <a:latin typeface="BinancePlex"/>
              </a:rPr>
              <a:t>11%</a:t>
            </a:r>
          </a:p>
        </p:txBody>
      </p:sp>
      <p:sp>
        <p:nvSpPr>
          <p:cNvPr id="25" name="Bar 4 Label"/>
          <p:cNvSpPr>
            <a:spLocks noGrp="1"/>
          </p:cNvSpPr>
          <p:nvPr>
            <p:ph type="body" idx="26"/>
          </p:nvPr>
        </p:nvSpPr>
        <p:spPr>
          <a:xfrm>
            <a:off x="635000" y="4953000"/>
            <a:ext cx="1524000" cy="2540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1100">
                <a:solidFill>
                  <a:srgbClr val="EAECEF"/>
                </a:solidFill>
                <a:latin typeface="BinanceNova Medium"/>
              </a:rPr>
              <a:t>LATAM</a:t>
            </a:r>
          </a:p>
        </p:txBody>
      </p:sp>
      <p:sp>
        <p:nvSpPr>
          <p:cNvPr id="26" name="Rectangle 25"/>
          <p:cNvSpPr/>
          <p:nvPr/>
        </p:nvSpPr>
        <p:spPr>
          <a:xfrm>
            <a:off x="2311400" y="5003800"/>
            <a:ext cx="8331200" cy="203200"/>
          </a:xfrm>
          <a:prstGeom prst="rect">
            <a:avLst/>
          </a:prstGeom>
          <a:solidFill>
            <a:srgbClr val="2B313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2311400" y="5003800"/>
            <a:ext cx="247650" cy="203200"/>
          </a:xfrm>
          <a:prstGeom prst="rect">
            <a:avLst/>
          </a:prstGeom>
          <a:solidFill>
            <a:srgbClr val="EAEC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Bar 4 Value"/>
          <p:cNvSpPr>
            <a:spLocks noGrp="1"/>
          </p:cNvSpPr>
          <p:nvPr>
            <p:ph type="body" idx="27"/>
          </p:nvPr>
        </p:nvSpPr>
        <p:spPr>
          <a:xfrm>
            <a:off x="10795000" y="4991100"/>
            <a:ext cx="762000" cy="203200"/>
          </a:xfrm>
        </p:spPr>
        <p:txBody>
          <a:bodyPr lIns="0" tIns="0" rIns="0" bIns="0" wrap="square" anchor="t"/>
          <a:lstStyle/>
          <a:p>
            <a:pPr marL="0" indent="0" algn="r">
              <a:buNone/>
            </a:pPr>
            <a:r>
              <a:rPr lang="en-US" sz="1000">
                <a:solidFill>
                  <a:srgbClr val="EAECEF"/>
                </a:solidFill>
                <a:latin typeface="BinancePlex"/>
              </a:rPr>
              <a:t>3%</a:t>
            </a:r>
          </a:p>
        </p:txBody>
      </p:sp>
      <p:sp>
        <p:nvSpPr>
          <p:cNvPr id="29" name="Figure caption"/>
          <p:cNvSpPr>
            <a:spLocks noGrp="1"/>
          </p:cNvSpPr>
          <p:nvPr>
            <p:ph type="body" idx="40"/>
          </p:nvPr>
        </p:nvSpPr>
        <p:spPr>
          <a:xfrm>
            <a:off x="635000" y="5842000"/>
            <a:ext cx="109220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800" spc="80" cap="all">
                <a:solidFill>
                  <a:srgbClr val="FFFFFF"/>
                </a:solidFill>
                <a:latin typeface="BinancePlex"/>
              </a:rPr>
              <a:t>FIGURE 01 · SAMPLE DATA, Q3 FY25 · N = €14.1 BN</a:t>
            </a:r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Feinschliff · Components Showcase">
    <p:bg>
      <p:bgPr>
        <a:solidFill>
          <a:srgbClr val="0B0E1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1"/>
          <p:cNvSpPr/>
          <p:nvPr/>
        </p:nvSpPr>
        <p:spPr>
          <a:xfrm>
            <a:off x="723900" y="417068"/>
            <a:ext cx="49784" cy="49784"/>
          </a:xfrm>
          <a:custGeom>
            <a:avLst/>
            <a:gdLst/>
            <a:ahLst/>
            <a:cxnLst/>
            <a:rect l="l" t="t" r="r" b="b"/>
            <a:pathLst>
              <a:path w="49784" h="49784">
                <a:moveTo>
                  <a:pt x="0" y="0"/>
                </a:moveTo>
                <a:lnTo>
                  <a:pt x="49784" y="49784"/>
                </a:lnTo>
                <a:lnTo>
                  <a:pt x="0" y="49784"/>
                </a:lnTo>
                <a:close/>
              </a:path>
            </a:pathLst>
          </a:custGeom>
          <a:solidFill>
            <a:srgbClr val="FCD5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Freeform 2"/>
          <p:cNvSpPr/>
          <p:nvPr/>
        </p:nvSpPr>
        <p:spPr>
          <a:xfrm>
            <a:off x="752348" y="445516"/>
            <a:ext cx="49784" cy="49784"/>
          </a:xfrm>
          <a:custGeom>
            <a:avLst/>
            <a:gdLst/>
            <a:ahLst/>
            <a:cxnLst/>
            <a:rect l="l" t="t" r="r" b="b"/>
            <a:pathLst>
              <a:path w="49784" h="49784">
                <a:moveTo>
                  <a:pt x="49784" y="49784"/>
                </a:moveTo>
                <a:lnTo>
                  <a:pt x="0" y="0"/>
                </a:lnTo>
                <a:lnTo>
                  <a:pt x="0" y="49784"/>
                </a:lnTo>
                <a:close/>
              </a:path>
            </a:pathLst>
          </a:custGeom>
          <a:solidFill>
            <a:srgbClr val="FCD5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Freeform 3"/>
          <p:cNvSpPr/>
          <p:nvPr/>
        </p:nvSpPr>
        <p:spPr>
          <a:xfrm>
            <a:off x="674116" y="523748"/>
            <a:ext cx="49784" cy="49784"/>
          </a:xfrm>
          <a:custGeom>
            <a:avLst/>
            <a:gdLst/>
            <a:ahLst/>
            <a:cxnLst/>
            <a:rect l="l" t="t" r="r" b="b"/>
            <a:pathLst>
              <a:path w="49784" h="49784">
                <a:moveTo>
                  <a:pt x="49784" y="49784"/>
                </a:moveTo>
                <a:lnTo>
                  <a:pt x="0" y="0"/>
                </a:lnTo>
                <a:lnTo>
                  <a:pt x="49784" y="0"/>
                </a:lnTo>
                <a:close/>
              </a:path>
            </a:pathLst>
          </a:custGeom>
          <a:solidFill>
            <a:srgbClr val="FCD5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Freeform 4"/>
          <p:cNvSpPr/>
          <p:nvPr/>
        </p:nvSpPr>
        <p:spPr>
          <a:xfrm>
            <a:off x="645668" y="495300"/>
            <a:ext cx="49784" cy="49784"/>
          </a:xfrm>
          <a:custGeom>
            <a:avLst/>
            <a:gdLst/>
            <a:ahLst/>
            <a:cxnLst/>
            <a:rect l="l" t="t" r="r" b="b"/>
            <a:pathLst>
              <a:path w="49784" h="49784">
                <a:moveTo>
                  <a:pt x="0" y="0"/>
                </a:moveTo>
                <a:lnTo>
                  <a:pt x="49784" y="49784"/>
                </a:lnTo>
                <a:lnTo>
                  <a:pt x="49784" y="0"/>
                </a:lnTo>
                <a:close/>
              </a:path>
            </a:pathLst>
          </a:custGeom>
          <a:solidFill>
            <a:srgbClr val="FCD5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01700" y="406400"/>
            <a:ext cx="2032000" cy="25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 spc="110">
                <a:solidFill>
                  <a:srgbClr val="FCD535"/>
                </a:solidFill>
                <a:latin typeface="BinanceNova"/>
              </a:rPr>
              <a:t>BINANCE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017000" y="508000"/>
            <a:ext cx="2667000" cy="177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700" spc="70" b="0">
                <a:solidFill>
                  <a:srgbClr val="848E9C"/>
                </a:solidFill>
                <a:latin typeface="BinanceNova SemiBold"/>
              </a:rPr>
              <a:t>UI KIT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62000" y="6540500"/>
            <a:ext cx="4445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650" spc="65" b="0">
                <a:solidFill>
                  <a:srgbClr val="848E9C"/>
                </a:solidFill>
                <a:latin typeface="BinanceNova SemiBold"/>
              </a:rPr>
              <a:t>JAN 2026 · SHOWCASE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985000" y="6540500"/>
            <a:ext cx="4445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lang="en-US" dirty="0" sz="650" b="0" spc="65">
                <a:solidFill>
                  <a:srgbClr val="848E9C"/>
                </a:solidFill>
                <a:latin typeface="BinanceNova SemiBold"/>
              </a:rPr>
              <a:t>SLIDE </a:t>
            </a:r>
            <a:fld id="{A1B2C3D4-E5F6-4890-ABCD-EF0123456789}" type="slidenum">
              <a:rPr lang="en-US" dirty="0" sz="650" b="0" spc="65">
                <a:solidFill>
                  <a:srgbClr val="848E9C"/>
                </a:solidFill>
                <a:latin typeface="BinanceNova SemiBold"/>
              </a:rPr>
              <a:t>1</a:t>
            </a:fld>
          </a:p>
        </p:txBody>
      </p:sp>
      <p:sp>
        <p:nvSpPr>
          <p:cNvPr id="10" name="Rectangle 9"/>
          <p:cNvSpPr/>
          <p:nvPr/>
        </p:nvSpPr>
        <p:spPr>
          <a:xfrm>
            <a:off x="635000" y="1651000"/>
            <a:ext cx="50800" cy="876300"/>
          </a:xfrm>
          <a:prstGeom prst="rect">
            <a:avLst/>
          </a:prstGeom>
          <a:solidFill>
            <a:srgbClr val="FCD53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Eyebrow"/>
          <p:cNvSpPr>
            <a:spLocks noGrp="1"/>
          </p:cNvSpPr>
          <p:nvPr>
            <p:ph type="body" idx="10"/>
          </p:nvPr>
        </p:nvSpPr>
        <p:spPr>
          <a:xfrm>
            <a:off x="838200" y="1651000"/>
            <a:ext cx="101600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800" spc="80" cap="all">
                <a:solidFill>
                  <a:srgbClr val="FCD535"/>
                </a:solidFill>
                <a:latin typeface="BinanceNova"/>
              </a:rPr>
              <a:t>UI LIBRARY</a:t>
            </a:r>
          </a:p>
        </p:txBody>
      </p:sp>
      <p:sp>
        <p:nvSpPr>
          <p:cNvPr id="12" name="Title"/>
          <p:cNvSpPr>
            <a:spLocks noGrp="1"/>
          </p:cNvSpPr>
          <p:nvPr>
            <p:ph type="title"/>
          </p:nvPr>
        </p:nvSpPr>
        <p:spPr>
          <a:xfrm>
            <a:off x="838200" y="1968500"/>
            <a:ext cx="10922000" cy="635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3200" spc="-48">
                <a:solidFill>
                  <a:srgbClr val="FFFFFF"/>
                </a:solidFill>
                <a:latin typeface="BinanceNova"/>
              </a:rPr>
              <a:t>Pills, ticker, badges.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35000" y="3429000"/>
            <a:ext cx="5359400" cy="3048000"/>
          </a:xfrm>
          <a:prstGeom prst="roundRect">
            <a:avLst>
              <a:gd name="adj" fmla="val 5000"/>
            </a:avLst>
          </a:prstGeom>
          <a:solidFill>
            <a:srgbClr val="1E232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38200" y="3632200"/>
            <a:ext cx="2540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650" spc="65" b="0">
                <a:solidFill>
                  <a:srgbClr val="848E9C"/>
                </a:solidFill>
                <a:latin typeface="BinanceNova SemiBold"/>
              </a:rPr>
              <a:t>PILLS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838200" y="4013200"/>
            <a:ext cx="1270000" cy="406400"/>
          </a:xfrm>
          <a:prstGeom prst="roundRect">
            <a:avLst>
              <a:gd name="adj" fmla="val 50000"/>
            </a:avLst>
          </a:prstGeom>
          <a:solidFill>
            <a:srgbClr val="FCD53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38200" y="4013200"/>
            <a:ext cx="1270000" cy="4064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900" spc="90" b="0">
                <a:solidFill>
                  <a:srgbClr val="0B0E11"/>
                </a:solidFill>
                <a:latin typeface="BinanceNova SemiBold"/>
              </a:rPr>
              <a:t>SIGN UP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2235200" y="4013200"/>
            <a:ext cx="1270000" cy="406400"/>
          </a:xfrm>
          <a:prstGeom prst="roundRect">
            <a:avLst>
              <a:gd name="adj" fmla="val 50000"/>
            </a:avLst>
          </a:prstGeom>
          <a:solidFill>
            <a:srgbClr val="1E232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2235200" y="4013200"/>
            <a:ext cx="1270000" cy="4064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900" spc="90" b="0">
                <a:solidFill>
                  <a:srgbClr val="EAECEF"/>
                </a:solidFill>
                <a:latin typeface="BinanceNova SemiBold"/>
              </a:rPr>
              <a:t>LOG IN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38200" y="4711700"/>
            <a:ext cx="2540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650" spc="65" b="0">
                <a:solidFill>
                  <a:srgbClr val="848E9C"/>
                </a:solidFill>
                <a:latin typeface="BinanceNova SemiBold"/>
              </a:rPr>
              <a:t>TRADING CHIPS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838200" y="5029200"/>
            <a:ext cx="635000" cy="228600"/>
          </a:xfrm>
          <a:prstGeom prst="roundRect">
            <a:avLst>
              <a:gd name="adj" fmla="val 22222"/>
            </a:avLst>
          </a:prstGeom>
          <a:solidFill>
            <a:srgbClr val="0ECB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838200" y="5029200"/>
            <a:ext cx="635000" cy="2286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650" b="1" spc="65">
                <a:solidFill>
                  <a:srgbClr val="FFFFFF"/>
                </a:solidFill>
                <a:latin typeface="BinanceNova"/>
              </a:rPr>
              <a:t>BUY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1663700" y="5029200"/>
            <a:ext cx="635000" cy="228600"/>
          </a:xfrm>
          <a:prstGeom prst="roundRect">
            <a:avLst>
              <a:gd name="adj" fmla="val 22222"/>
            </a:avLst>
          </a:prstGeom>
          <a:solidFill>
            <a:srgbClr val="F6465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1663700" y="5029200"/>
            <a:ext cx="635000" cy="2286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650" b="1" spc="65">
                <a:solidFill>
                  <a:srgbClr val="FFFFFF"/>
                </a:solidFill>
                <a:latin typeface="BinanceNova"/>
              </a:rPr>
              <a:t>SELL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38200" y="5664200"/>
            <a:ext cx="2540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650" spc="65" b="0">
                <a:solidFill>
                  <a:srgbClr val="848E9C"/>
                </a:solidFill>
                <a:latin typeface="BinanceNova SemiBold"/>
              </a:rPr>
              <a:t>TRUST BADGE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838200" y="5981700"/>
            <a:ext cx="2286000" cy="355600"/>
          </a:xfrm>
          <a:prstGeom prst="roundRect">
            <a:avLst>
              <a:gd name="adj" fmla="val 28571"/>
            </a:avLst>
          </a:prstGeom>
          <a:solidFill>
            <a:srgbClr val="2B313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965200" y="5981700"/>
            <a:ext cx="508000" cy="3556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200" b="1">
                <a:solidFill>
                  <a:srgbClr val="FCD535"/>
                </a:solidFill>
                <a:latin typeface="BinancePlex"/>
              </a:rPr>
              <a:t>No.1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536700" y="5981700"/>
            <a:ext cx="1460500" cy="3556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650" spc="65" b="0">
                <a:solidFill>
                  <a:srgbClr val="EAECEF"/>
                </a:solidFill>
                <a:latin typeface="BinanceNova SemiBold"/>
              </a:rPr>
              <a:t>TRADING VOLUME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6197600" y="3429000"/>
            <a:ext cx="5359400" cy="3048000"/>
          </a:xfrm>
          <a:prstGeom prst="roundRect">
            <a:avLst>
              <a:gd name="adj" fmla="val 5000"/>
            </a:avLst>
          </a:prstGeom>
          <a:solidFill>
            <a:srgbClr val="1E232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6400800" y="3632200"/>
            <a:ext cx="2540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650" spc="65" b="0">
                <a:solidFill>
                  <a:srgbClr val="848E9C"/>
                </a:solidFill>
                <a:latin typeface="BinanceNova SemiBold"/>
              </a:rPr>
              <a:t>MARKETS TICKER</a:t>
            </a:r>
          </a:p>
        </p:txBody>
      </p:sp>
      <p:sp>
        <p:nvSpPr>
          <p:cNvPr id="30" name="Oval 29"/>
          <p:cNvSpPr/>
          <p:nvPr/>
        </p:nvSpPr>
        <p:spPr>
          <a:xfrm>
            <a:off x="6400800" y="4089400"/>
            <a:ext cx="203200" cy="203200"/>
          </a:xfrm>
          <a:prstGeom prst="ellipse">
            <a:avLst/>
          </a:prstGeom>
          <a:solidFill>
            <a:srgbClr val="F793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6400800" y="4089400"/>
            <a:ext cx="203200" cy="203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700" b="1">
                <a:solidFill>
                  <a:srgbClr val="0B0E11"/>
                </a:solidFill>
                <a:latin typeface="BinanceNova"/>
              </a:rPr>
              <a:t>B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692900" y="4013200"/>
            <a:ext cx="1397000" cy="3556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100" b="0">
                <a:solidFill>
                  <a:srgbClr val="EAECEF"/>
                </a:solidFill>
                <a:latin typeface="BinanceNova SemiBold"/>
              </a:rPr>
              <a:t>BTC/USDT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8432800" y="4013200"/>
            <a:ext cx="1524000" cy="3556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/>
            <a:r>
              <a:rPr sz="1300" spc="-13" b="0">
                <a:solidFill>
                  <a:srgbClr val="EAECEF"/>
                </a:solidFill>
                <a:latin typeface="BinancePlex SemiBold"/>
              </a:rPr>
              <a:t>79,065.04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9956800" y="4013200"/>
            <a:ext cx="1143000" cy="3556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/>
            <a:r>
              <a:rPr sz="900" b="0">
                <a:solidFill>
                  <a:srgbClr val="0ECB81"/>
                </a:solidFill>
                <a:latin typeface="BinancePlex Medium"/>
              </a:rPr>
              <a:t>▲ +0.45%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11099800" y="4013200"/>
            <a:ext cx="254000" cy="3556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200">
                <a:solidFill>
                  <a:srgbClr val="848E9C"/>
                </a:solidFill>
                <a:latin typeface="BinanceNova"/>
              </a:rPr>
              <a:t>›</a:t>
            </a:r>
          </a:p>
        </p:txBody>
      </p:sp>
      <p:sp>
        <p:nvSpPr>
          <p:cNvPr id="36" name="Rectangle 35"/>
          <p:cNvSpPr/>
          <p:nvPr/>
        </p:nvSpPr>
        <p:spPr>
          <a:xfrm>
            <a:off x="6400800" y="4368800"/>
            <a:ext cx="4953000" cy="6350"/>
          </a:xfrm>
          <a:prstGeom prst="rect">
            <a:avLst/>
          </a:prstGeom>
          <a:solidFill>
            <a:srgbClr val="2B313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Oval 36"/>
          <p:cNvSpPr/>
          <p:nvPr/>
        </p:nvSpPr>
        <p:spPr>
          <a:xfrm>
            <a:off x="6400800" y="4660900"/>
            <a:ext cx="203200" cy="203200"/>
          </a:xfrm>
          <a:prstGeom prst="ellipse">
            <a:avLst/>
          </a:prstGeom>
          <a:solidFill>
            <a:srgbClr val="627E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6400800" y="4660900"/>
            <a:ext cx="203200" cy="203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700" b="1">
                <a:solidFill>
                  <a:srgbClr val="0B0E11"/>
                </a:solidFill>
                <a:latin typeface="BinanceNova"/>
              </a:rPr>
              <a:t>E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6692900" y="4584700"/>
            <a:ext cx="1397000" cy="3556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100" b="0">
                <a:solidFill>
                  <a:srgbClr val="EAECEF"/>
                </a:solidFill>
                <a:latin typeface="BinanceNova SemiBold"/>
              </a:rPr>
              <a:t>ETH/USDT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8432800" y="4584700"/>
            <a:ext cx="1524000" cy="3556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/>
            <a:r>
              <a:rPr sz="1300" spc="-13" b="0">
                <a:solidFill>
                  <a:srgbClr val="EAECEF"/>
                </a:solidFill>
                <a:latin typeface="BinancePlex SemiBold"/>
              </a:rPr>
              <a:t>2,348.91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9956800" y="4584700"/>
            <a:ext cx="1143000" cy="3556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/>
            <a:r>
              <a:rPr sz="900" b="0">
                <a:solidFill>
                  <a:srgbClr val="0ECB81"/>
                </a:solidFill>
                <a:latin typeface="BinancePlex Medium"/>
              </a:rPr>
              <a:t>▲ +1.20%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11099800" y="4584700"/>
            <a:ext cx="254000" cy="3556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200">
                <a:solidFill>
                  <a:srgbClr val="848E9C"/>
                </a:solidFill>
                <a:latin typeface="BinanceNova"/>
              </a:rPr>
              <a:t>›</a:t>
            </a:r>
          </a:p>
        </p:txBody>
      </p:sp>
      <p:sp>
        <p:nvSpPr>
          <p:cNvPr id="43" name="Rectangle 42"/>
          <p:cNvSpPr/>
          <p:nvPr/>
        </p:nvSpPr>
        <p:spPr>
          <a:xfrm>
            <a:off x="6400800" y="4940300"/>
            <a:ext cx="4953000" cy="6350"/>
          </a:xfrm>
          <a:prstGeom prst="rect">
            <a:avLst/>
          </a:prstGeom>
          <a:solidFill>
            <a:srgbClr val="2B313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Oval 43"/>
          <p:cNvSpPr/>
          <p:nvPr/>
        </p:nvSpPr>
        <p:spPr>
          <a:xfrm>
            <a:off x="6400800" y="5232400"/>
            <a:ext cx="203200" cy="203200"/>
          </a:xfrm>
          <a:prstGeom prst="ellipse">
            <a:avLst/>
          </a:prstGeom>
          <a:solidFill>
            <a:srgbClr val="9945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6400800" y="5232400"/>
            <a:ext cx="203200" cy="203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700" b="1">
                <a:solidFill>
                  <a:srgbClr val="0B0E11"/>
                </a:solidFill>
                <a:latin typeface="BinanceNova"/>
              </a:rPr>
              <a:t>S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6692900" y="5156200"/>
            <a:ext cx="1397000" cy="3556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100" b="0">
                <a:solidFill>
                  <a:srgbClr val="EAECEF"/>
                </a:solidFill>
                <a:latin typeface="BinanceNova SemiBold"/>
              </a:rPr>
              <a:t>SOL/USDT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8432800" y="5156200"/>
            <a:ext cx="1524000" cy="3556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/>
            <a:r>
              <a:rPr sz="1300" spc="-13" b="0">
                <a:solidFill>
                  <a:srgbClr val="EAECEF"/>
                </a:solidFill>
                <a:latin typeface="BinancePlex SemiBold"/>
              </a:rPr>
              <a:t>151.62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9956800" y="5156200"/>
            <a:ext cx="1143000" cy="3556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/>
            <a:r>
              <a:rPr sz="900" b="0">
                <a:solidFill>
                  <a:srgbClr val="F6465D"/>
                </a:solidFill>
                <a:latin typeface="BinancePlex Medium"/>
              </a:rPr>
              <a:t>▼ −0.62%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11099800" y="5156200"/>
            <a:ext cx="254000" cy="3556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200">
                <a:solidFill>
                  <a:srgbClr val="848E9C"/>
                </a:solidFill>
                <a:latin typeface="BinanceNova"/>
              </a:rPr>
              <a:t>›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6400800" y="5918200"/>
            <a:ext cx="2540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650" spc="65" b="0">
                <a:solidFill>
                  <a:srgbClr val="848E9C"/>
                </a:solidFill>
                <a:latin typeface="BinanceNova SemiBold"/>
              </a:rPr>
              <a:t>HAIRLINE</a:t>
            </a:r>
          </a:p>
        </p:txBody>
      </p:sp>
      <p:sp>
        <p:nvSpPr>
          <p:cNvPr id="51" name="Rectangle 50"/>
          <p:cNvSpPr/>
          <p:nvPr/>
        </p:nvSpPr>
        <p:spPr>
          <a:xfrm>
            <a:off x="6400800" y="6235700"/>
            <a:ext cx="4953000" cy="6350"/>
          </a:xfrm>
          <a:prstGeom prst="rect">
            <a:avLst/>
          </a:prstGeom>
          <a:solidFill>
            <a:srgbClr val="2B313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Feinschliff · Quote">
    <p:bg>
      <p:bgPr>
        <a:solidFill>
          <a:srgbClr val="0B0E1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1"/>
          <p:cNvSpPr/>
          <p:nvPr/>
        </p:nvSpPr>
        <p:spPr>
          <a:xfrm>
            <a:off x="723900" y="417068"/>
            <a:ext cx="49784" cy="49784"/>
          </a:xfrm>
          <a:custGeom>
            <a:avLst/>
            <a:gdLst/>
            <a:ahLst/>
            <a:cxnLst/>
            <a:rect l="l" t="t" r="r" b="b"/>
            <a:pathLst>
              <a:path w="49784" h="49784">
                <a:moveTo>
                  <a:pt x="0" y="0"/>
                </a:moveTo>
                <a:lnTo>
                  <a:pt x="49784" y="49784"/>
                </a:lnTo>
                <a:lnTo>
                  <a:pt x="0" y="49784"/>
                </a:lnTo>
                <a:close/>
              </a:path>
            </a:pathLst>
          </a:custGeom>
          <a:solidFill>
            <a:srgbClr val="FCD5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Freeform 2"/>
          <p:cNvSpPr/>
          <p:nvPr/>
        </p:nvSpPr>
        <p:spPr>
          <a:xfrm>
            <a:off x="752348" y="445516"/>
            <a:ext cx="49784" cy="49784"/>
          </a:xfrm>
          <a:custGeom>
            <a:avLst/>
            <a:gdLst/>
            <a:ahLst/>
            <a:cxnLst/>
            <a:rect l="l" t="t" r="r" b="b"/>
            <a:pathLst>
              <a:path w="49784" h="49784">
                <a:moveTo>
                  <a:pt x="49784" y="49784"/>
                </a:moveTo>
                <a:lnTo>
                  <a:pt x="0" y="0"/>
                </a:lnTo>
                <a:lnTo>
                  <a:pt x="0" y="49784"/>
                </a:lnTo>
                <a:close/>
              </a:path>
            </a:pathLst>
          </a:custGeom>
          <a:solidFill>
            <a:srgbClr val="FCD5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Freeform 3"/>
          <p:cNvSpPr/>
          <p:nvPr/>
        </p:nvSpPr>
        <p:spPr>
          <a:xfrm>
            <a:off x="674116" y="523748"/>
            <a:ext cx="49784" cy="49784"/>
          </a:xfrm>
          <a:custGeom>
            <a:avLst/>
            <a:gdLst/>
            <a:ahLst/>
            <a:cxnLst/>
            <a:rect l="l" t="t" r="r" b="b"/>
            <a:pathLst>
              <a:path w="49784" h="49784">
                <a:moveTo>
                  <a:pt x="49784" y="49784"/>
                </a:moveTo>
                <a:lnTo>
                  <a:pt x="0" y="0"/>
                </a:lnTo>
                <a:lnTo>
                  <a:pt x="49784" y="0"/>
                </a:lnTo>
                <a:close/>
              </a:path>
            </a:pathLst>
          </a:custGeom>
          <a:solidFill>
            <a:srgbClr val="FCD5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Freeform 4"/>
          <p:cNvSpPr/>
          <p:nvPr/>
        </p:nvSpPr>
        <p:spPr>
          <a:xfrm>
            <a:off x="645668" y="495300"/>
            <a:ext cx="49784" cy="49784"/>
          </a:xfrm>
          <a:custGeom>
            <a:avLst/>
            <a:gdLst/>
            <a:ahLst/>
            <a:cxnLst/>
            <a:rect l="l" t="t" r="r" b="b"/>
            <a:pathLst>
              <a:path w="49784" h="49784">
                <a:moveTo>
                  <a:pt x="0" y="0"/>
                </a:moveTo>
                <a:lnTo>
                  <a:pt x="49784" y="49784"/>
                </a:lnTo>
                <a:lnTo>
                  <a:pt x="49784" y="0"/>
                </a:lnTo>
                <a:close/>
              </a:path>
            </a:pathLst>
          </a:custGeom>
          <a:solidFill>
            <a:srgbClr val="FCD5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01700" y="406400"/>
            <a:ext cx="2032000" cy="25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 spc="110">
                <a:solidFill>
                  <a:srgbClr val="FCD535"/>
                </a:solidFill>
                <a:latin typeface="BinanceNova"/>
              </a:rPr>
              <a:t>BINANCE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017000" y="508000"/>
            <a:ext cx="2667000" cy="177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700" spc="70" b="0">
                <a:solidFill>
                  <a:srgbClr val="848E9C"/>
                </a:solidFill>
                <a:latin typeface="BinanceNova SemiBold"/>
              </a:rPr>
              <a:t>VOICE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62000" y="6540500"/>
            <a:ext cx="4445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650" spc="65" b="0">
                <a:solidFill>
                  <a:srgbClr val="848E9C"/>
                </a:solidFill>
                <a:latin typeface="BinanceNova SemiBold"/>
              </a:rPr>
              <a:t>JAN 2026 · SHOWCASE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985000" y="6540500"/>
            <a:ext cx="4445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lang="en-US" dirty="0" sz="650" b="0" spc="65">
                <a:solidFill>
                  <a:srgbClr val="848E9C"/>
                </a:solidFill>
                <a:latin typeface="BinanceNova SemiBold"/>
              </a:rPr>
              <a:t>SLIDE </a:t>
            </a:r>
            <a:fld id="{A1B2C3D4-E5F6-4890-ABCD-EF0123456789}" type="slidenum">
              <a:rPr lang="en-US" dirty="0" sz="650" b="0" spc="65">
                <a:solidFill>
                  <a:srgbClr val="848E9C"/>
                </a:solidFill>
                <a:latin typeface="BinanceNova SemiBold"/>
              </a:rPr>
              <a:t>1</a:t>
            </a:fld>
          </a:p>
        </p:txBody>
      </p:sp>
      <p:sp>
        <p:nvSpPr>
          <p:cNvPr id="10" name="Rectangle 9"/>
          <p:cNvSpPr/>
          <p:nvPr/>
        </p:nvSpPr>
        <p:spPr>
          <a:xfrm>
            <a:off x="635000" y="2413000"/>
            <a:ext cx="50800" cy="2794000"/>
          </a:xfrm>
          <a:prstGeom prst="rect">
            <a:avLst/>
          </a:prstGeom>
          <a:solidFill>
            <a:srgbClr val="FCD53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Quote"/>
          <p:cNvSpPr>
            <a:spLocks noGrp="1"/>
          </p:cNvSpPr>
          <p:nvPr>
            <p:ph type="title"/>
          </p:nvPr>
        </p:nvSpPr>
        <p:spPr>
          <a:xfrm>
            <a:off x="889000" y="2413000"/>
            <a:ext cx="10414000" cy="2794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4999"/>
              </a:lnSpc>
              <a:buNone/>
            </a:pPr>
            <a:r>
              <a:rPr lang="en-US" sz="3600" spc="-54">
                <a:solidFill>
                  <a:srgbClr val="FFFFFF"/>
                </a:solidFill>
                <a:latin typeface="BinanceNova"/>
              </a:rPr>
              <a:t>“Trust isn’t a brand color. It’s the price feed you can verify and the funds you can withdraw, every day.”</a:t>
            </a:r>
          </a:p>
        </p:txBody>
      </p:sp>
      <p:sp>
        <p:nvSpPr>
          <p:cNvPr id="12" name="Attribution"/>
          <p:cNvSpPr>
            <a:spLocks noGrp="1"/>
          </p:cNvSpPr>
          <p:nvPr>
            <p:ph type="body" idx="10"/>
          </p:nvPr>
        </p:nvSpPr>
        <p:spPr>
          <a:xfrm>
            <a:off x="889000" y="5461000"/>
            <a:ext cx="109220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800" spc="80" cap="all">
                <a:solidFill>
                  <a:srgbClr val="848E9C"/>
                </a:solidFill>
                <a:latin typeface="BinanceNova"/>
              </a:rPr>
              <a:t>BINANCE · TRUST GUIDELINE</a:t>
            </a:r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Feinschliff · End">
    <p:bg>
      <p:bgPr>
        <a:solidFill>
          <a:srgbClr val="0B0E1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5143500"/>
            <a:ext cx="12192000" cy="1714500"/>
          </a:xfrm>
          <a:prstGeom prst="rect">
            <a:avLst/>
          </a:prstGeom>
          <a:solidFill>
            <a:srgbClr val="FAFA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Freeform 2"/>
          <p:cNvSpPr/>
          <p:nvPr/>
        </p:nvSpPr>
        <p:spPr>
          <a:xfrm>
            <a:off x="723900" y="417068"/>
            <a:ext cx="49784" cy="49784"/>
          </a:xfrm>
          <a:custGeom>
            <a:avLst/>
            <a:gdLst/>
            <a:ahLst/>
            <a:cxnLst/>
            <a:rect l="l" t="t" r="r" b="b"/>
            <a:pathLst>
              <a:path w="49784" h="49784">
                <a:moveTo>
                  <a:pt x="0" y="0"/>
                </a:moveTo>
                <a:lnTo>
                  <a:pt x="49784" y="49784"/>
                </a:lnTo>
                <a:lnTo>
                  <a:pt x="0" y="49784"/>
                </a:lnTo>
                <a:close/>
              </a:path>
            </a:pathLst>
          </a:custGeom>
          <a:solidFill>
            <a:srgbClr val="FCD5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Freeform 3"/>
          <p:cNvSpPr/>
          <p:nvPr/>
        </p:nvSpPr>
        <p:spPr>
          <a:xfrm>
            <a:off x="752348" y="445516"/>
            <a:ext cx="49784" cy="49784"/>
          </a:xfrm>
          <a:custGeom>
            <a:avLst/>
            <a:gdLst/>
            <a:ahLst/>
            <a:cxnLst/>
            <a:rect l="l" t="t" r="r" b="b"/>
            <a:pathLst>
              <a:path w="49784" h="49784">
                <a:moveTo>
                  <a:pt x="49784" y="49784"/>
                </a:moveTo>
                <a:lnTo>
                  <a:pt x="0" y="0"/>
                </a:lnTo>
                <a:lnTo>
                  <a:pt x="0" y="49784"/>
                </a:lnTo>
                <a:close/>
              </a:path>
            </a:pathLst>
          </a:custGeom>
          <a:solidFill>
            <a:srgbClr val="FCD5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Freeform 4"/>
          <p:cNvSpPr/>
          <p:nvPr/>
        </p:nvSpPr>
        <p:spPr>
          <a:xfrm>
            <a:off x="674116" y="523748"/>
            <a:ext cx="49784" cy="49784"/>
          </a:xfrm>
          <a:custGeom>
            <a:avLst/>
            <a:gdLst/>
            <a:ahLst/>
            <a:cxnLst/>
            <a:rect l="l" t="t" r="r" b="b"/>
            <a:pathLst>
              <a:path w="49784" h="49784">
                <a:moveTo>
                  <a:pt x="49784" y="49784"/>
                </a:moveTo>
                <a:lnTo>
                  <a:pt x="0" y="0"/>
                </a:lnTo>
                <a:lnTo>
                  <a:pt x="49784" y="0"/>
                </a:lnTo>
                <a:close/>
              </a:path>
            </a:pathLst>
          </a:custGeom>
          <a:solidFill>
            <a:srgbClr val="FCD5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Freeform 5"/>
          <p:cNvSpPr/>
          <p:nvPr/>
        </p:nvSpPr>
        <p:spPr>
          <a:xfrm>
            <a:off x="645668" y="495300"/>
            <a:ext cx="49784" cy="49784"/>
          </a:xfrm>
          <a:custGeom>
            <a:avLst/>
            <a:gdLst/>
            <a:ahLst/>
            <a:cxnLst/>
            <a:rect l="l" t="t" r="r" b="b"/>
            <a:pathLst>
              <a:path w="49784" h="49784">
                <a:moveTo>
                  <a:pt x="0" y="0"/>
                </a:moveTo>
                <a:lnTo>
                  <a:pt x="49784" y="49784"/>
                </a:lnTo>
                <a:lnTo>
                  <a:pt x="49784" y="0"/>
                </a:lnTo>
                <a:close/>
              </a:path>
            </a:pathLst>
          </a:custGeom>
          <a:solidFill>
            <a:srgbClr val="FCD5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01700" y="406400"/>
            <a:ext cx="2032000" cy="25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 spc="110">
                <a:solidFill>
                  <a:srgbClr val="FCD535"/>
                </a:solidFill>
                <a:latin typeface="BinanceNova"/>
              </a:rPr>
              <a:t>BINANCE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017000" y="508000"/>
            <a:ext cx="2667000" cy="177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700" spc="70" b="0">
                <a:solidFill>
                  <a:srgbClr val="848E9C"/>
                </a:solidFill>
                <a:latin typeface="BinanceNova SemiBold"/>
              </a:rPr>
              <a:t>EXCHANGE · 2026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62000" y="6540500"/>
            <a:ext cx="4445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650" spc="65" b="0">
                <a:solidFill>
                  <a:srgbClr val="0B0E11"/>
                </a:solidFill>
                <a:latin typeface="BinanceNova SemiBold"/>
              </a:rPr>
              <a:t>JAN 2026 · SHOWCASE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985000" y="6540500"/>
            <a:ext cx="4445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lang="en-US" dirty="0" sz="650" b="0" spc="65">
                <a:solidFill>
                  <a:srgbClr val="0B0E11"/>
                </a:solidFill>
                <a:latin typeface="BinanceNova SemiBold"/>
              </a:rPr>
              <a:t>SLIDE </a:t>
            </a:r>
            <a:fld id="{A1B2C3D4-E5F6-4890-ABCD-EF0123456789}" type="slidenum">
              <a:rPr lang="en-US" dirty="0" sz="650" b="0" spc="65">
                <a:solidFill>
                  <a:srgbClr val="0B0E11"/>
                </a:solidFill>
                <a:latin typeface="BinanceNova SemiBold"/>
              </a:rPr>
              <a:t>1</a:t>
            </a:fld>
          </a:p>
        </p:txBody>
      </p:sp>
      <p:sp>
        <p:nvSpPr>
          <p:cNvPr id="11" name="Caption"/>
          <p:cNvSpPr>
            <a:spLocks noGrp="1"/>
          </p:cNvSpPr>
          <p:nvPr>
            <p:ph type="body" idx="10"/>
          </p:nvPr>
        </p:nvSpPr>
        <p:spPr>
          <a:xfrm>
            <a:off x="635000" y="5715000"/>
            <a:ext cx="10922000" cy="203200"/>
          </a:xfrm>
        </p:spPr>
        <p:txBody>
          <a:bodyPr lIns="0" tIns="0" rIns="0" bIns="0" wrap="square" anchor="t"/>
          <a:lstStyle/>
          <a:p>
            <a:pPr marL="0" indent="0" algn="ctr">
              <a:buNone/>
            </a:pPr>
            <a:r>
              <a:rPr lang="en-US" sz="800" spc="80" cap="all">
                <a:solidFill>
                  <a:srgbClr val="0B0E11"/>
                </a:solidFill>
                <a:latin typeface="BinanceNova"/>
              </a:rPr>
              <a:t>BINANCE · DESIGN SYSTEM · V1.0 · 2026</a:t>
            </a:r>
          </a:p>
        </p:txBody>
      </p:sp>
      <p:sp>
        <p:nvSpPr>
          <p:cNvPr id="12" name="Title"/>
          <p:cNvSpPr>
            <a:spLocks noGrp="1"/>
          </p:cNvSpPr>
          <p:nvPr>
            <p:ph type="title"/>
          </p:nvPr>
        </p:nvSpPr>
        <p:spPr>
          <a:xfrm>
            <a:off x="635000" y="1905000"/>
            <a:ext cx="10922000" cy="1270000"/>
          </a:xfrm>
        </p:spPr>
        <p:txBody>
          <a:bodyPr lIns="0" tIns="0" rIns="0" bIns="0" wrap="square" anchor="t"/>
          <a:lstStyle/>
          <a:p>
            <a:pPr marL="0" indent="0" algn="ctr">
              <a:buNone/>
            </a:pPr>
            <a:r>
              <a:rPr lang="en-US" sz="6000" b="1" spc="-120">
                <a:solidFill>
                  <a:srgbClr val="FCD535"/>
                </a:solidFill>
                <a:latin typeface="BinanceNova"/>
              </a:rPr>
              <a:t>Trade on Binance.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334000" y="3429000"/>
            <a:ext cx="1524000" cy="508000"/>
          </a:xfrm>
          <a:prstGeom prst="roundRect">
            <a:avLst>
              <a:gd name="adj" fmla="val 50000"/>
            </a:avLst>
          </a:prstGeom>
          <a:solidFill>
            <a:srgbClr val="FCD53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5334000" y="3429000"/>
            <a:ext cx="1524000" cy="508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900" spc="90" b="0">
                <a:solidFill>
                  <a:srgbClr val="0B0E11"/>
                </a:solidFill>
                <a:latin typeface="BinanceNova SemiBold"/>
              </a:rPr>
              <a:t>SIGN UP</a:t>
            </a:r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Feinschliff · Graphical">
    <p:bg>
      <p:bgPr>
        <a:solidFill>
          <a:srgbClr val="0B0E1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1"/>
          <p:cNvSpPr/>
          <p:nvPr/>
        </p:nvSpPr>
        <p:spPr>
          <a:xfrm>
            <a:off x="723900" y="417068"/>
            <a:ext cx="49784" cy="49784"/>
          </a:xfrm>
          <a:custGeom>
            <a:avLst/>
            <a:gdLst/>
            <a:ahLst/>
            <a:cxnLst/>
            <a:rect l="l" t="t" r="r" b="b"/>
            <a:pathLst>
              <a:path w="49784" h="49784">
                <a:moveTo>
                  <a:pt x="0" y="0"/>
                </a:moveTo>
                <a:lnTo>
                  <a:pt x="49784" y="49784"/>
                </a:lnTo>
                <a:lnTo>
                  <a:pt x="0" y="49784"/>
                </a:lnTo>
                <a:close/>
              </a:path>
            </a:pathLst>
          </a:custGeom>
          <a:solidFill>
            <a:srgbClr val="FCD5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Freeform 2"/>
          <p:cNvSpPr/>
          <p:nvPr/>
        </p:nvSpPr>
        <p:spPr>
          <a:xfrm>
            <a:off x="752348" y="445516"/>
            <a:ext cx="49784" cy="49784"/>
          </a:xfrm>
          <a:custGeom>
            <a:avLst/>
            <a:gdLst/>
            <a:ahLst/>
            <a:cxnLst/>
            <a:rect l="l" t="t" r="r" b="b"/>
            <a:pathLst>
              <a:path w="49784" h="49784">
                <a:moveTo>
                  <a:pt x="49784" y="49784"/>
                </a:moveTo>
                <a:lnTo>
                  <a:pt x="0" y="0"/>
                </a:lnTo>
                <a:lnTo>
                  <a:pt x="0" y="49784"/>
                </a:lnTo>
                <a:close/>
              </a:path>
            </a:pathLst>
          </a:custGeom>
          <a:solidFill>
            <a:srgbClr val="FCD5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Freeform 3"/>
          <p:cNvSpPr/>
          <p:nvPr/>
        </p:nvSpPr>
        <p:spPr>
          <a:xfrm>
            <a:off x="674116" y="523748"/>
            <a:ext cx="49784" cy="49784"/>
          </a:xfrm>
          <a:custGeom>
            <a:avLst/>
            <a:gdLst/>
            <a:ahLst/>
            <a:cxnLst/>
            <a:rect l="l" t="t" r="r" b="b"/>
            <a:pathLst>
              <a:path w="49784" h="49784">
                <a:moveTo>
                  <a:pt x="49784" y="49784"/>
                </a:moveTo>
                <a:lnTo>
                  <a:pt x="0" y="0"/>
                </a:lnTo>
                <a:lnTo>
                  <a:pt x="49784" y="0"/>
                </a:lnTo>
                <a:close/>
              </a:path>
            </a:pathLst>
          </a:custGeom>
          <a:solidFill>
            <a:srgbClr val="FCD5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Freeform 4"/>
          <p:cNvSpPr/>
          <p:nvPr/>
        </p:nvSpPr>
        <p:spPr>
          <a:xfrm>
            <a:off x="645668" y="495300"/>
            <a:ext cx="49784" cy="49784"/>
          </a:xfrm>
          <a:custGeom>
            <a:avLst/>
            <a:gdLst/>
            <a:ahLst/>
            <a:cxnLst/>
            <a:rect l="l" t="t" r="r" b="b"/>
            <a:pathLst>
              <a:path w="49784" h="49784">
                <a:moveTo>
                  <a:pt x="0" y="0"/>
                </a:moveTo>
                <a:lnTo>
                  <a:pt x="49784" y="49784"/>
                </a:lnTo>
                <a:lnTo>
                  <a:pt x="49784" y="0"/>
                </a:lnTo>
                <a:close/>
              </a:path>
            </a:pathLst>
          </a:custGeom>
          <a:solidFill>
            <a:srgbClr val="FCD5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01700" y="406400"/>
            <a:ext cx="2032000" cy="25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 spc="110">
                <a:solidFill>
                  <a:srgbClr val="FCD535"/>
                </a:solidFill>
                <a:latin typeface="BinanceNova"/>
              </a:rPr>
              <a:t>BINANCE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017000" y="508000"/>
            <a:ext cx="2667000" cy="177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700" spc="70" b="0">
                <a:solidFill>
                  <a:srgbClr val="848E9C"/>
                </a:solidFill>
                <a:latin typeface="BinanceNova SemiBold"/>
              </a:rPr>
              <a:t>GRAPHICAL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62000" y="6540500"/>
            <a:ext cx="4445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650" spc="65" b="0">
                <a:solidFill>
                  <a:srgbClr val="848E9C"/>
                </a:solidFill>
                <a:latin typeface="BinanceNova SemiBold"/>
              </a:rPr>
              <a:t>JAN 2026 · SHOWCASE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985000" y="6540500"/>
            <a:ext cx="4445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lang="en-US" dirty="0" sz="650" b="0" spc="65">
                <a:solidFill>
                  <a:srgbClr val="848E9C"/>
                </a:solidFill>
                <a:latin typeface="BinanceNova SemiBold"/>
              </a:rPr>
              <a:t>SLIDE </a:t>
            </a:r>
            <a:fld id="{A1B2C3D4-E5F6-4890-ABCD-EF0123456789}" type="slidenum">
              <a:rPr lang="en-US" dirty="0" sz="650" b="0" spc="65">
                <a:solidFill>
                  <a:srgbClr val="848E9C"/>
                </a:solidFill>
                <a:latin typeface="BinanceNova SemiBold"/>
              </a:rPr>
              <a:t>1</a:t>
            </a:fld>
          </a:p>
        </p:txBody>
      </p:sp>
      <p:sp>
        <p:nvSpPr>
          <p:cNvPr id="10" name="Rectangle 9"/>
          <p:cNvSpPr/>
          <p:nvPr/>
        </p:nvSpPr>
        <p:spPr>
          <a:xfrm>
            <a:off x="635000" y="1651000"/>
            <a:ext cx="50800" cy="876300"/>
          </a:xfrm>
          <a:prstGeom prst="rect">
            <a:avLst/>
          </a:prstGeom>
          <a:solidFill>
            <a:srgbClr val="FCD53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Eyebrow"/>
          <p:cNvSpPr>
            <a:spLocks noGrp="1"/>
          </p:cNvSpPr>
          <p:nvPr>
            <p:ph type="body" idx="10"/>
          </p:nvPr>
        </p:nvSpPr>
        <p:spPr>
          <a:xfrm>
            <a:off x="838200" y="1651000"/>
            <a:ext cx="101600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800" spc="80" cap="all">
                <a:solidFill>
                  <a:srgbClr val="FCD535"/>
                </a:solidFill>
                <a:latin typeface="BinanceNova"/>
              </a:rPr>
              <a:t>SHARE OF REVENUE BY REGION</a:t>
            </a:r>
          </a:p>
        </p:txBody>
      </p:sp>
      <p:sp>
        <p:nvSpPr>
          <p:cNvPr id="12" name="Title"/>
          <p:cNvSpPr>
            <a:spLocks noGrp="1"/>
          </p:cNvSpPr>
          <p:nvPr>
            <p:ph type="title"/>
          </p:nvPr>
        </p:nvSpPr>
        <p:spPr>
          <a:xfrm>
            <a:off x="838200" y="1968500"/>
            <a:ext cx="10922000" cy="635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3200" spc="-48">
                <a:solidFill>
                  <a:srgbClr val="FFFFFF"/>
                </a:solidFill>
                <a:latin typeface="BinanceNova"/>
              </a:rPr>
              <a:t>EMEA still leads; NAM closing the gap.</a:t>
            </a:r>
          </a:p>
        </p:txBody>
      </p:sp>
      <p:sp>
        <p:nvSpPr>
          <p:cNvPr id="13" name="Rectangle 12"/>
          <p:cNvSpPr/>
          <p:nvPr/>
        </p:nvSpPr>
        <p:spPr>
          <a:xfrm>
            <a:off x="1930400" y="3219450"/>
            <a:ext cx="5435600" cy="317500"/>
          </a:xfrm>
          <a:prstGeom prst="rect">
            <a:avLst/>
          </a:prstGeom>
          <a:solidFill>
            <a:srgbClr val="0B0E1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635000" y="3676650"/>
            <a:ext cx="10922000" cy="6350"/>
          </a:xfrm>
          <a:prstGeom prst="rect">
            <a:avLst/>
          </a:prstGeom>
          <a:solidFill>
            <a:srgbClr val="2B313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1930400" y="3727450"/>
            <a:ext cx="2101850" cy="317500"/>
          </a:xfrm>
          <a:prstGeom prst="rect">
            <a:avLst/>
          </a:prstGeom>
          <a:solidFill>
            <a:srgbClr val="FCD53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635000" y="4184650"/>
            <a:ext cx="10922000" cy="6350"/>
          </a:xfrm>
          <a:prstGeom prst="rect">
            <a:avLst/>
          </a:prstGeom>
          <a:solidFill>
            <a:srgbClr val="2B313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1930400" y="4235450"/>
            <a:ext cx="965200" cy="317500"/>
          </a:xfrm>
          <a:prstGeom prst="rect">
            <a:avLst/>
          </a:prstGeom>
          <a:solidFill>
            <a:srgbClr val="0B0E1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635000" y="4692650"/>
            <a:ext cx="10922000" cy="6350"/>
          </a:xfrm>
          <a:prstGeom prst="rect">
            <a:avLst/>
          </a:prstGeom>
          <a:solidFill>
            <a:srgbClr val="2B313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1930400" y="4743450"/>
            <a:ext cx="260350" cy="317500"/>
          </a:xfrm>
          <a:prstGeom prst="rect">
            <a:avLst/>
          </a:prstGeom>
          <a:solidFill>
            <a:srgbClr val="0B0E1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635000" y="5200650"/>
            <a:ext cx="10922000" cy="6350"/>
          </a:xfrm>
          <a:prstGeom prst="rect">
            <a:avLst/>
          </a:prstGeom>
          <a:solidFill>
            <a:srgbClr val="2B313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Bar 1 Label"/>
          <p:cNvSpPr>
            <a:spLocks noGrp="1"/>
          </p:cNvSpPr>
          <p:nvPr>
            <p:ph type="body" idx="20"/>
          </p:nvPr>
        </p:nvSpPr>
        <p:spPr>
          <a:xfrm>
            <a:off x="635000" y="3289300"/>
            <a:ext cx="1143000" cy="1778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1100">
                <a:solidFill>
                  <a:srgbClr val="EAECEF"/>
                </a:solidFill>
                <a:latin typeface="BinanceNova Medium"/>
              </a:rPr>
              <a:t>EMEA</a:t>
            </a:r>
          </a:p>
        </p:txBody>
      </p:sp>
      <p:sp>
        <p:nvSpPr>
          <p:cNvPr id="22" name="Bar 1 Value"/>
          <p:cNvSpPr>
            <a:spLocks noGrp="1"/>
          </p:cNvSpPr>
          <p:nvPr>
            <p:ph type="body" idx="21"/>
          </p:nvPr>
        </p:nvSpPr>
        <p:spPr>
          <a:xfrm>
            <a:off x="10795000" y="3289300"/>
            <a:ext cx="762000" cy="177800"/>
          </a:xfrm>
        </p:spPr>
        <p:txBody>
          <a:bodyPr lIns="0" tIns="0" rIns="0" bIns="0" wrap="square" anchor="t"/>
          <a:lstStyle/>
          <a:p>
            <a:pPr marL="0" indent="0" algn="r">
              <a:buNone/>
            </a:pPr>
            <a:r>
              <a:rPr lang="en-US" sz="1000">
                <a:solidFill>
                  <a:srgbClr val="EAECEF"/>
                </a:solidFill>
                <a:latin typeface="BinancePlex"/>
              </a:rPr>
              <a:t>62%</a:t>
            </a:r>
          </a:p>
        </p:txBody>
      </p:sp>
      <p:sp>
        <p:nvSpPr>
          <p:cNvPr id="23" name="Bar 2 Label"/>
          <p:cNvSpPr>
            <a:spLocks noGrp="1"/>
          </p:cNvSpPr>
          <p:nvPr>
            <p:ph type="body" idx="24"/>
          </p:nvPr>
        </p:nvSpPr>
        <p:spPr>
          <a:xfrm>
            <a:off x="635000" y="3797300"/>
            <a:ext cx="1143000" cy="1778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1100">
                <a:solidFill>
                  <a:srgbClr val="EAECEF"/>
                </a:solidFill>
                <a:latin typeface="BinanceNova Medium"/>
              </a:rPr>
              <a:t>NAM</a:t>
            </a:r>
          </a:p>
        </p:txBody>
      </p:sp>
      <p:sp>
        <p:nvSpPr>
          <p:cNvPr id="24" name="Bar 2 Value"/>
          <p:cNvSpPr>
            <a:spLocks noGrp="1"/>
          </p:cNvSpPr>
          <p:nvPr>
            <p:ph type="body" idx="25"/>
          </p:nvPr>
        </p:nvSpPr>
        <p:spPr>
          <a:xfrm>
            <a:off x="10795000" y="3797300"/>
            <a:ext cx="762000" cy="177800"/>
          </a:xfrm>
        </p:spPr>
        <p:txBody>
          <a:bodyPr lIns="0" tIns="0" rIns="0" bIns="0" wrap="square" anchor="t"/>
          <a:lstStyle/>
          <a:p>
            <a:pPr marL="0" indent="0" algn="r">
              <a:buNone/>
            </a:pPr>
            <a:r>
              <a:rPr lang="en-US" sz="1000">
                <a:solidFill>
                  <a:srgbClr val="EAECEF"/>
                </a:solidFill>
                <a:latin typeface="BinancePlex"/>
              </a:rPr>
              <a:t>24%</a:t>
            </a:r>
          </a:p>
        </p:txBody>
      </p:sp>
      <p:sp>
        <p:nvSpPr>
          <p:cNvPr id="25" name="Bar 3 Label"/>
          <p:cNvSpPr>
            <a:spLocks noGrp="1"/>
          </p:cNvSpPr>
          <p:nvPr>
            <p:ph type="body" idx="28"/>
          </p:nvPr>
        </p:nvSpPr>
        <p:spPr>
          <a:xfrm>
            <a:off x="635000" y="4305300"/>
            <a:ext cx="1143000" cy="1778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1100">
                <a:solidFill>
                  <a:srgbClr val="EAECEF"/>
                </a:solidFill>
                <a:latin typeface="BinanceNova Medium"/>
              </a:rPr>
              <a:t>APAC</a:t>
            </a:r>
          </a:p>
        </p:txBody>
      </p:sp>
      <p:sp>
        <p:nvSpPr>
          <p:cNvPr id="26" name="Bar 3 Value"/>
          <p:cNvSpPr>
            <a:spLocks noGrp="1"/>
          </p:cNvSpPr>
          <p:nvPr>
            <p:ph type="body" idx="29"/>
          </p:nvPr>
        </p:nvSpPr>
        <p:spPr>
          <a:xfrm>
            <a:off x="10795000" y="4305300"/>
            <a:ext cx="762000" cy="177800"/>
          </a:xfrm>
        </p:spPr>
        <p:txBody>
          <a:bodyPr lIns="0" tIns="0" rIns="0" bIns="0" wrap="square" anchor="t"/>
          <a:lstStyle/>
          <a:p>
            <a:pPr marL="0" indent="0" algn="r">
              <a:buNone/>
            </a:pPr>
            <a:r>
              <a:rPr lang="en-US" sz="1000">
                <a:solidFill>
                  <a:srgbClr val="EAECEF"/>
                </a:solidFill>
                <a:latin typeface="BinancePlex"/>
              </a:rPr>
              <a:t>11%</a:t>
            </a:r>
          </a:p>
        </p:txBody>
      </p:sp>
      <p:sp>
        <p:nvSpPr>
          <p:cNvPr id="27" name="Bar 4 Label"/>
          <p:cNvSpPr>
            <a:spLocks noGrp="1"/>
          </p:cNvSpPr>
          <p:nvPr>
            <p:ph type="body" idx="32"/>
          </p:nvPr>
        </p:nvSpPr>
        <p:spPr>
          <a:xfrm>
            <a:off x="635000" y="4813300"/>
            <a:ext cx="1143000" cy="1778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1100">
                <a:solidFill>
                  <a:srgbClr val="EAECEF"/>
                </a:solidFill>
                <a:latin typeface="BinanceNova Medium"/>
              </a:rPr>
              <a:t>LATAM</a:t>
            </a:r>
          </a:p>
        </p:txBody>
      </p:sp>
      <p:sp>
        <p:nvSpPr>
          <p:cNvPr id="28" name="Bar 4 Value"/>
          <p:cNvSpPr>
            <a:spLocks noGrp="1"/>
          </p:cNvSpPr>
          <p:nvPr>
            <p:ph type="body" idx="33"/>
          </p:nvPr>
        </p:nvSpPr>
        <p:spPr>
          <a:xfrm>
            <a:off x="10795000" y="4813300"/>
            <a:ext cx="762000" cy="177800"/>
          </a:xfrm>
        </p:spPr>
        <p:txBody>
          <a:bodyPr lIns="0" tIns="0" rIns="0" bIns="0" wrap="square" anchor="t"/>
          <a:lstStyle/>
          <a:p>
            <a:pPr marL="0" indent="0" algn="r">
              <a:buNone/>
            </a:pPr>
            <a:r>
              <a:rPr lang="en-US" sz="1000">
                <a:solidFill>
                  <a:srgbClr val="EAECEF"/>
                </a:solidFill>
                <a:latin typeface="BinancePlex"/>
              </a:rPr>
              <a:t>3%</a:t>
            </a:r>
          </a:p>
        </p:txBody>
      </p:sp>
      <p:sp>
        <p:nvSpPr>
          <p:cNvPr id="29" name="Source"/>
          <p:cNvSpPr>
            <a:spLocks noGrp="1"/>
          </p:cNvSpPr>
          <p:nvPr>
            <p:ph type="body" idx="60"/>
          </p:nvPr>
        </p:nvSpPr>
        <p:spPr>
          <a:xfrm>
            <a:off x="635000" y="6286500"/>
            <a:ext cx="10922000" cy="1524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spc="70" cap="all">
                <a:solidFill>
                  <a:srgbClr val="FFFFFF"/>
                </a:solidFill>
                <a:latin typeface="BinancePlex"/>
              </a:rPr>
              <a:t>FIGURE 01 · SAMPLE DATA, Q3 FY25 · N = €14.1 BN</a:t>
            </a:r>
          </a:p>
        </p:txBody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Feinschliff · Action Title">
    <p:bg>
      <p:bgPr>
        <a:solidFill>
          <a:srgbClr val="0B0E1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1"/>
          <p:cNvSpPr/>
          <p:nvPr/>
        </p:nvSpPr>
        <p:spPr>
          <a:xfrm>
            <a:off x="723900" y="417068"/>
            <a:ext cx="49784" cy="49784"/>
          </a:xfrm>
          <a:custGeom>
            <a:avLst/>
            <a:gdLst/>
            <a:ahLst/>
            <a:cxnLst/>
            <a:rect l="l" t="t" r="r" b="b"/>
            <a:pathLst>
              <a:path w="49784" h="49784">
                <a:moveTo>
                  <a:pt x="0" y="0"/>
                </a:moveTo>
                <a:lnTo>
                  <a:pt x="49784" y="49784"/>
                </a:lnTo>
                <a:lnTo>
                  <a:pt x="0" y="49784"/>
                </a:lnTo>
                <a:close/>
              </a:path>
            </a:pathLst>
          </a:custGeom>
          <a:solidFill>
            <a:srgbClr val="FCD5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Freeform 2"/>
          <p:cNvSpPr/>
          <p:nvPr/>
        </p:nvSpPr>
        <p:spPr>
          <a:xfrm>
            <a:off x="752348" y="445516"/>
            <a:ext cx="49784" cy="49784"/>
          </a:xfrm>
          <a:custGeom>
            <a:avLst/>
            <a:gdLst/>
            <a:ahLst/>
            <a:cxnLst/>
            <a:rect l="l" t="t" r="r" b="b"/>
            <a:pathLst>
              <a:path w="49784" h="49784">
                <a:moveTo>
                  <a:pt x="49784" y="49784"/>
                </a:moveTo>
                <a:lnTo>
                  <a:pt x="0" y="0"/>
                </a:lnTo>
                <a:lnTo>
                  <a:pt x="0" y="49784"/>
                </a:lnTo>
                <a:close/>
              </a:path>
            </a:pathLst>
          </a:custGeom>
          <a:solidFill>
            <a:srgbClr val="FCD5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Freeform 3"/>
          <p:cNvSpPr/>
          <p:nvPr/>
        </p:nvSpPr>
        <p:spPr>
          <a:xfrm>
            <a:off x="674116" y="523748"/>
            <a:ext cx="49784" cy="49784"/>
          </a:xfrm>
          <a:custGeom>
            <a:avLst/>
            <a:gdLst/>
            <a:ahLst/>
            <a:cxnLst/>
            <a:rect l="l" t="t" r="r" b="b"/>
            <a:pathLst>
              <a:path w="49784" h="49784">
                <a:moveTo>
                  <a:pt x="49784" y="49784"/>
                </a:moveTo>
                <a:lnTo>
                  <a:pt x="0" y="0"/>
                </a:lnTo>
                <a:lnTo>
                  <a:pt x="49784" y="0"/>
                </a:lnTo>
                <a:close/>
              </a:path>
            </a:pathLst>
          </a:custGeom>
          <a:solidFill>
            <a:srgbClr val="FCD5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Freeform 4"/>
          <p:cNvSpPr/>
          <p:nvPr/>
        </p:nvSpPr>
        <p:spPr>
          <a:xfrm>
            <a:off x="645668" y="495300"/>
            <a:ext cx="49784" cy="49784"/>
          </a:xfrm>
          <a:custGeom>
            <a:avLst/>
            <a:gdLst/>
            <a:ahLst/>
            <a:cxnLst/>
            <a:rect l="l" t="t" r="r" b="b"/>
            <a:pathLst>
              <a:path w="49784" h="49784">
                <a:moveTo>
                  <a:pt x="0" y="0"/>
                </a:moveTo>
                <a:lnTo>
                  <a:pt x="49784" y="49784"/>
                </a:lnTo>
                <a:lnTo>
                  <a:pt x="49784" y="0"/>
                </a:lnTo>
                <a:close/>
              </a:path>
            </a:pathLst>
          </a:custGeom>
          <a:solidFill>
            <a:srgbClr val="FCD5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01700" y="406400"/>
            <a:ext cx="2032000" cy="25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 spc="110">
                <a:solidFill>
                  <a:srgbClr val="FCD535"/>
                </a:solidFill>
                <a:latin typeface="BinanceNova"/>
              </a:rPr>
              <a:t>BINANCE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017000" y="508000"/>
            <a:ext cx="2667000" cy="177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700" spc="70" b="0">
                <a:solidFill>
                  <a:srgbClr val="848E9C"/>
                </a:solidFill>
                <a:latin typeface="BinanceNova SemiBold"/>
              </a:rPr>
              <a:t>MCK · ACTION TITLE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62000" y="6540500"/>
            <a:ext cx="4445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650" spc="65" b="0">
                <a:solidFill>
                  <a:srgbClr val="848E9C"/>
                </a:solidFill>
                <a:latin typeface="BinanceNova SemiBold"/>
              </a:rPr>
              <a:t>JAN 2026 · SHOWCASE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985000" y="6540500"/>
            <a:ext cx="4445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lang="en-US" dirty="0" sz="650" b="0" spc="65">
                <a:solidFill>
                  <a:srgbClr val="848E9C"/>
                </a:solidFill>
                <a:latin typeface="BinanceNova SemiBold"/>
              </a:rPr>
              <a:t>SLIDE </a:t>
            </a:r>
            <a:fld id="{A1B2C3D4-E5F6-4890-ABCD-EF0123456789}" type="slidenum">
              <a:rPr lang="en-US" dirty="0" sz="650" b="0" spc="65">
                <a:solidFill>
                  <a:srgbClr val="848E9C"/>
                </a:solidFill>
                <a:latin typeface="BinanceNova SemiBold"/>
              </a:rPr>
              <a:t>1</a:t>
            </a:fld>
          </a:p>
        </p:txBody>
      </p:sp>
      <p:sp>
        <p:nvSpPr>
          <p:cNvPr id="10" name="Kicker"/>
          <p:cNvSpPr>
            <a:spLocks noGrp="1"/>
          </p:cNvSpPr>
          <p:nvPr>
            <p:ph type="body" idx="10"/>
          </p:nvPr>
        </p:nvSpPr>
        <p:spPr>
          <a:xfrm>
            <a:off x="635000" y="1397000"/>
            <a:ext cx="109220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800" spc="80" cap="all">
                <a:solidFill>
                  <a:srgbClr val="FCD535"/>
                </a:solidFill>
                <a:latin typeface="BinanceNova"/>
              </a:rPr>
              <a:t>ACTION-TITLE LAYOUT</a:t>
            </a:r>
          </a:p>
        </p:txBody>
      </p:sp>
      <p:sp>
        <p:nvSpPr>
          <p:cNvPr id="11" name="Action Title"/>
          <p:cNvSpPr>
            <a:spLocks noGrp="1"/>
          </p:cNvSpPr>
          <p:nvPr>
            <p:ph type="title"/>
          </p:nvPr>
        </p:nvSpPr>
        <p:spPr>
          <a:xfrm>
            <a:off x="635000" y="1714500"/>
            <a:ext cx="10922000" cy="1651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4000" spc="-80">
                <a:solidFill>
                  <a:srgbClr val="EAECEF"/>
                </a:solidFill>
                <a:latin typeface="BinanceNova Medium"/>
              </a:rPr>
              <a:t>Adopting the new platform will lift per-account active time by ~18% within two release cycles.</a:t>
            </a:r>
          </a:p>
        </p:txBody>
      </p:sp>
      <p:sp>
        <p:nvSpPr>
          <p:cNvPr id="12" name="Supporting Body"/>
          <p:cNvSpPr>
            <a:spLocks noGrp="1"/>
          </p:cNvSpPr>
          <p:nvPr>
            <p:ph type="body" idx="11"/>
          </p:nvPr>
        </p:nvSpPr>
        <p:spPr>
          <a:xfrm>
            <a:off x="635000" y="3810000"/>
            <a:ext cx="5207000" cy="2159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1000">
                <a:solidFill>
                  <a:srgbClr val="FFFFFF"/>
                </a:solidFill>
                <a:latin typeface="BinanceNova"/>
              </a:rPr>
              <a:t>In the regional pilot, accounts on the updated platform opened the app 2.3× more often and ran guided sessions 41% more per week.</a:t>
            </a:r>
          </a:p>
        </p:txBody>
      </p:sp>
      <p:sp>
        <p:nvSpPr>
          <p:cNvPr id="13" name="KPI 1 Value"/>
          <p:cNvSpPr>
            <a:spLocks noGrp="1"/>
          </p:cNvSpPr>
          <p:nvPr>
            <p:ph type="body" idx="20"/>
          </p:nvPr>
        </p:nvSpPr>
        <p:spPr>
          <a:xfrm>
            <a:off x="6350000" y="3810000"/>
            <a:ext cx="1841500" cy="889000"/>
          </a:xfrm>
        </p:spPr>
        <p:txBody>
          <a:bodyPr lIns="0" tIns="0" rIns="0" bIns="0" wrap="square" anchor="b"/>
          <a:lstStyle/>
          <a:p>
            <a:pPr marL="0" indent="0" algn="r">
              <a:buNone/>
            </a:pPr>
            <a:r>
              <a:rPr lang="en-US" sz="6000" b="1" spc="-180">
                <a:solidFill>
                  <a:srgbClr val="EAECEF"/>
                </a:solidFill>
                <a:latin typeface="BinanceNova"/>
              </a:rPr>
              <a:t>+18</a:t>
            </a:r>
          </a:p>
        </p:txBody>
      </p:sp>
      <p:sp>
        <p:nvSpPr>
          <p:cNvPr id="14" name="KPI 1 Unit"/>
          <p:cNvSpPr>
            <a:spLocks noGrp="1"/>
          </p:cNvSpPr>
          <p:nvPr>
            <p:ph type="body" idx="21"/>
          </p:nvPr>
        </p:nvSpPr>
        <p:spPr>
          <a:xfrm>
            <a:off x="8191500" y="3810000"/>
            <a:ext cx="635000" cy="889000"/>
          </a:xfrm>
        </p:spPr>
        <p:txBody>
          <a:bodyPr lIns="0" tIns="0" rIns="0" bIns="0" wrap="square" anchor="b"/>
          <a:lstStyle/>
          <a:p>
            <a:pPr marL="0" indent="0" algn="l">
              <a:buNone/>
            </a:pPr>
            <a:r>
              <a:rPr lang="en-US" sz="2000">
                <a:solidFill>
                  <a:srgbClr val="FFFFFF"/>
                </a:solidFill>
                <a:latin typeface="BinanceNova"/>
              </a:rPr>
              <a:t>%</a:t>
            </a:r>
          </a:p>
        </p:txBody>
      </p:sp>
      <p:sp>
        <p:nvSpPr>
          <p:cNvPr id="15" name="KPI 1 Key"/>
          <p:cNvSpPr>
            <a:spLocks noGrp="1"/>
          </p:cNvSpPr>
          <p:nvPr>
            <p:ph type="body" idx="22"/>
          </p:nvPr>
        </p:nvSpPr>
        <p:spPr>
          <a:xfrm>
            <a:off x="6350000" y="4800600"/>
            <a:ext cx="24765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spc="70" cap="all">
                <a:solidFill>
                  <a:srgbClr val="FFFFFF"/>
                </a:solidFill>
                <a:latin typeface="BinancePlex"/>
              </a:rPr>
              <a:t>ACTIVE TIME / WEEK</a:t>
            </a:r>
          </a:p>
        </p:txBody>
      </p:sp>
      <p:sp>
        <p:nvSpPr>
          <p:cNvPr id="16" name="KPI 1 Delta"/>
          <p:cNvSpPr>
            <a:spLocks noGrp="1"/>
          </p:cNvSpPr>
          <p:nvPr>
            <p:ph type="body" idx="23"/>
          </p:nvPr>
        </p:nvSpPr>
        <p:spPr>
          <a:xfrm>
            <a:off x="6350000" y="5003800"/>
            <a:ext cx="2476500" cy="1651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800">
                <a:solidFill>
                  <a:srgbClr val="F0B90B"/>
                </a:solidFill>
                <a:latin typeface="BinancePlex"/>
              </a:rPr>
              <a:t>vs. prior platform</a:t>
            </a:r>
          </a:p>
        </p:txBody>
      </p:sp>
      <p:sp>
        <p:nvSpPr>
          <p:cNvPr id="17" name="KPI 2 Value"/>
          <p:cNvSpPr>
            <a:spLocks noGrp="1"/>
          </p:cNvSpPr>
          <p:nvPr>
            <p:ph type="body" idx="24"/>
          </p:nvPr>
        </p:nvSpPr>
        <p:spPr>
          <a:xfrm>
            <a:off x="9080500" y="3810000"/>
            <a:ext cx="1841500" cy="889000"/>
          </a:xfrm>
        </p:spPr>
        <p:txBody>
          <a:bodyPr lIns="0" tIns="0" rIns="0" bIns="0" wrap="square" anchor="b"/>
          <a:lstStyle/>
          <a:p>
            <a:pPr marL="0" indent="0" algn="r">
              <a:buNone/>
            </a:pPr>
            <a:r>
              <a:rPr lang="en-US" sz="6000" b="1" spc="-180">
                <a:solidFill>
                  <a:srgbClr val="EAECEF"/>
                </a:solidFill>
                <a:latin typeface="BinanceNova"/>
              </a:rPr>
              <a:t>2.3</a:t>
            </a:r>
          </a:p>
        </p:txBody>
      </p:sp>
      <p:sp>
        <p:nvSpPr>
          <p:cNvPr id="18" name="KPI 2 Unit"/>
          <p:cNvSpPr>
            <a:spLocks noGrp="1"/>
          </p:cNvSpPr>
          <p:nvPr>
            <p:ph type="body" idx="25"/>
          </p:nvPr>
        </p:nvSpPr>
        <p:spPr>
          <a:xfrm>
            <a:off x="10922000" y="3810000"/>
            <a:ext cx="635000" cy="889000"/>
          </a:xfrm>
        </p:spPr>
        <p:txBody>
          <a:bodyPr lIns="0" tIns="0" rIns="0" bIns="0" wrap="square" anchor="b"/>
          <a:lstStyle/>
          <a:p>
            <a:pPr marL="0" indent="0" algn="l">
              <a:buNone/>
            </a:pPr>
            <a:r>
              <a:rPr lang="en-US" sz="2000">
                <a:solidFill>
                  <a:srgbClr val="FFFFFF"/>
                </a:solidFill>
                <a:latin typeface="BinanceNova"/>
              </a:rPr>
              <a:t>×</a:t>
            </a:r>
          </a:p>
        </p:txBody>
      </p:sp>
      <p:sp>
        <p:nvSpPr>
          <p:cNvPr id="19" name="KPI 2 Key"/>
          <p:cNvSpPr>
            <a:spLocks noGrp="1"/>
          </p:cNvSpPr>
          <p:nvPr>
            <p:ph type="body" idx="26"/>
          </p:nvPr>
        </p:nvSpPr>
        <p:spPr>
          <a:xfrm>
            <a:off x="9080500" y="4800600"/>
            <a:ext cx="24765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spc="70" cap="all">
                <a:solidFill>
                  <a:srgbClr val="FFFFFF"/>
                </a:solidFill>
                <a:latin typeface="BinancePlex"/>
              </a:rPr>
              <a:t>APP OPEN RATE</a:t>
            </a:r>
          </a:p>
        </p:txBody>
      </p:sp>
      <p:sp>
        <p:nvSpPr>
          <p:cNvPr id="20" name="KPI 2 Delta"/>
          <p:cNvSpPr>
            <a:spLocks noGrp="1"/>
          </p:cNvSpPr>
          <p:nvPr>
            <p:ph type="body" idx="27"/>
          </p:nvPr>
        </p:nvSpPr>
        <p:spPr>
          <a:xfrm>
            <a:off x="9080500" y="5003800"/>
            <a:ext cx="2476500" cy="1651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800">
                <a:solidFill>
                  <a:srgbClr val="F0B90B"/>
                </a:solidFill>
                <a:latin typeface="BinancePlex"/>
              </a:rPr>
              <a:t>trailing 30 days</a:t>
            </a:r>
          </a:p>
        </p:txBody>
      </p:sp>
      <p:sp>
        <p:nvSpPr>
          <p:cNvPr id="21" name="Source"/>
          <p:cNvSpPr>
            <a:spLocks noGrp="1"/>
          </p:cNvSpPr>
          <p:nvPr>
            <p:ph type="body" idx="60"/>
          </p:nvPr>
        </p:nvSpPr>
        <p:spPr>
          <a:xfrm>
            <a:off x="635000" y="6286500"/>
            <a:ext cx="10922000" cy="1524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spc="70" cap="all">
                <a:solidFill>
                  <a:srgbClr val="FFFFFF"/>
                </a:solidFill>
                <a:latin typeface="BinancePlex"/>
              </a:rPr>
              <a:t>SOURCE · PLATFORM TELEMETRY, JUN–DEC 2025 · N = 142K ACCOUNTS</a:t>
            </a:r>
          </a:p>
        </p:txBody>
      </p: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Feinschliff · Horizontal Bullets">
    <p:bg>
      <p:bgPr>
        <a:solidFill>
          <a:srgbClr val="0B0E1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1"/>
          <p:cNvSpPr/>
          <p:nvPr/>
        </p:nvSpPr>
        <p:spPr>
          <a:xfrm>
            <a:off x="723900" y="417068"/>
            <a:ext cx="49784" cy="49784"/>
          </a:xfrm>
          <a:custGeom>
            <a:avLst/>
            <a:gdLst/>
            <a:ahLst/>
            <a:cxnLst/>
            <a:rect l="l" t="t" r="r" b="b"/>
            <a:pathLst>
              <a:path w="49784" h="49784">
                <a:moveTo>
                  <a:pt x="0" y="0"/>
                </a:moveTo>
                <a:lnTo>
                  <a:pt x="49784" y="49784"/>
                </a:lnTo>
                <a:lnTo>
                  <a:pt x="0" y="49784"/>
                </a:lnTo>
                <a:close/>
              </a:path>
            </a:pathLst>
          </a:custGeom>
          <a:solidFill>
            <a:srgbClr val="FCD5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Freeform 2"/>
          <p:cNvSpPr/>
          <p:nvPr/>
        </p:nvSpPr>
        <p:spPr>
          <a:xfrm>
            <a:off x="752348" y="445516"/>
            <a:ext cx="49784" cy="49784"/>
          </a:xfrm>
          <a:custGeom>
            <a:avLst/>
            <a:gdLst/>
            <a:ahLst/>
            <a:cxnLst/>
            <a:rect l="l" t="t" r="r" b="b"/>
            <a:pathLst>
              <a:path w="49784" h="49784">
                <a:moveTo>
                  <a:pt x="49784" y="49784"/>
                </a:moveTo>
                <a:lnTo>
                  <a:pt x="0" y="0"/>
                </a:lnTo>
                <a:lnTo>
                  <a:pt x="0" y="49784"/>
                </a:lnTo>
                <a:close/>
              </a:path>
            </a:pathLst>
          </a:custGeom>
          <a:solidFill>
            <a:srgbClr val="FCD5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Freeform 3"/>
          <p:cNvSpPr/>
          <p:nvPr/>
        </p:nvSpPr>
        <p:spPr>
          <a:xfrm>
            <a:off x="674116" y="523748"/>
            <a:ext cx="49784" cy="49784"/>
          </a:xfrm>
          <a:custGeom>
            <a:avLst/>
            <a:gdLst/>
            <a:ahLst/>
            <a:cxnLst/>
            <a:rect l="l" t="t" r="r" b="b"/>
            <a:pathLst>
              <a:path w="49784" h="49784">
                <a:moveTo>
                  <a:pt x="49784" y="49784"/>
                </a:moveTo>
                <a:lnTo>
                  <a:pt x="0" y="0"/>
                </a:lnTo>
                <a:lnTo>
                  <a:pt x="49784" y="0"/>
                </a:lnTo>
                <a:close/>
              </a:path>
            </a:pathLst>
          </a:custGeom>
          <a:solidFill>
            <a:srgbClr val="FCD5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Freeform 4"/>
          <p:cNvSpPr/>
          <p:nvPr/>
        </p:nvSpPr>
        <p:spPr>
          <a:xfrm>
            <a:off x="645668" y="495300"/>
            <a:ext cx="49784" cy="49784"/>
          </a:xfrm>
          <a:custGeom>
            <a:avLst/>
            <a:gdLst/>
            <a:ahLst/>
            <a:cxnLst/>
            <a:rect l="l" t="t" r="r" b="b"/>
            <a:pathLst>
              <a:path w="49784" h="49784">
                <a:moveTo>
                  <a:pt x="0" y="0"/>
                </a:moveTo>
                <a:lnTo>
                  <a:pt x="49784" y="49784"/>
                </a:lnTo>
                <a:lnTo>
                  <a:pt x="49784" y="0"/>
                </a:lnTo>
                <a:close/>
              </a:path>
            </a:pathLst>
          </a:custGeom>
          <a:solidFill>
            <a:srgbClr val="FCD5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01700" y="406400"/>
            <a:ext cx="2032000" cy="25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 spc="110">
                <a:solidFill>
                  <a:srgbClr val="FCD535"/>
                </a:solidFill>
                <a:latin typeface="BinanceNova"/>
              </a:rPr>
              <a:t>BINANCE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017000" y="508000"/>
            <a:ext cx="2667000" cy="177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700" spc="70" b="0">
                <a:solidFill>
                  <a:srgbClr val="848E9C"/>
                </a:solidFill>
                <a:latin typeface="BinanceNova SemiBold"/>
              </a:rPr>
              <a:t>HORIZONTAL BULLETS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62000" y="6540500"/>
            <a:ext cx="4445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650" spc="65" b="0">
                <a:solidFill>
                  <a:srgbClr val="848E9C"/>
                </a:solidFill>
                <a:latin typeface="BinanceNova SemiBold"/>
              </a:rPr>
              <a:t>JAN 2026 · SHOWCASE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985000" y="6540500"/>
            <a:ext cx="4445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lang="en-US" dirty="0" sz="650" b="0" spc="65">
                <a:solidFill>
                  <a:srgbClr val="848E9C"/>
                </a:solidFill>
                <a:latin typeface="BinanceNova SemiBold"/>
              </a:rPr>
              <a:t>SLIDE </a:t>
            </a:r>
            <a:fld id="{A1B2C3D4-E5F6-4890-ABCD-EF0123456789}" type="slidenum">
              <a:rPr lang="en-US" dirty="0" sz="650" b="0" spc="65">
                <a:solidFill>
                  <a:srgbClr val="848E9C"/>
                </a:solidFill>
                <a:latin typeface="BinanceNova SemiBold"/>
              </a:rPr>
              <a:t>1</a:t>
            </a:fld>
          </a:p>
        </p:txBody>
      </p:sp>
      <p:sp>
        <p:nvSpPr>
          <p:cNvPr id="10" name="Rectangle 9"/>
          <p:cNvSpPr/>
          <p:nvPr/>
        </p:nvSpPr>
        <p:spPr>
          <a:xfrm>
            <a:off x="635000" y="1651000"/>
            <a:ext cx="50800" cy="876300"/>
          </a:xfrm>
          <a:prstGeom prst="rect">
            <a:avLst/>
          </a:prstGeom>
          <a:solidFill>
            <a:srgbClr val="FCD53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Eyebrow"/>
          <p:cNvSpPr>
            <a:spLocks noGrp="1"/>
          </p:cNvSpPr>
          <p:nvPr>
            <p:ph type="body" idx="10"/>
          </p:nvPr>
        </p:nvSpPr>
        <p:spPr>
          <a:xfrm>
            <a:off x="838200" y="1651000"/>
            <a:ext cx="101600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800" spc="80" cap="all">
                <a:solidFill>
                  <a:srgbClr val="FCD535"/>
                </a:solidFill>
                <a:latin typeface="BinanceNova"/>
              </a:rPr>
              <a:t>CONTEXT</a:t>
            </a:r>
          </a:p>
        </p:txBody>
      </p:sp>
      <p:sp>
        <p:nvSpPr>
          <p:cNvPr id="12" name="Title"/>
          <p:cNvSpPr>
            <a:spLocks noGrp="1"/>
          </p:cNvSpPr>
          <p:nvPr>
            <p:ph type="title"/>
          </p:nvPr>
        </p:nvSpPr>
        <p:spPr>
          <a:xfrm>
            <a:off x="838200" y="1968500"/>
            <a:ext cx="10922000" cy="635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3200" spc="-48">
                <a:solidFill>
                  <a:srgbClr val="FFFFFF"/>
                </a:solidFill>
                <a:latin typeface="BinanceNova"/>
              </a:rPr>
              <a:t>Three forces pull the 2026 roadmap: regulation, margin, and shared software.</a:t>
            </a:r>
          </a:p>
        </p:txBody>
      </p:sp>
      <p:sp>
        <p:nvSpPr>
          <p:cNvPr id="13" name="Rectangle 12"/>
          <p:cNvSpPr/>
          <p:nvPr/>
        </p:nvSpPr>
        <p:spPr>
          <a:xfrm>
            <a:off x="4203700" y="2895600"/>
            <a:ext cx="6350" cy="3962400"/>
          </a:xfrm>
          <a:prstGeom prst="rect">
            <a:avLst/>
          </a:prstGeom>
          <a:solidFill>
            <a:srgbClr val="2B313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7969250" y="2895600"/>
            <a:ext cx="6350" cy="3962400"/>
          </a:xfrm>
          <a:prstGeom prst="rect">
            <a:avLst/>
          </a:prstGeom>
          <a:solidFill>
            <a:srgbClr val="2B313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Col1 Counter"/>
          <p:cNvSpPr>
            <a:spLocks noGrp="1"/>
          </p:cNvSpPr>
          <p:nvPr>
            <p:ph type="body" idx="20"/>
          </p:nvPr>
        </p:nvSpPr>
        <p:spPr>
          <a:xfrm>
            <a:off x="635000" y="2921000"/>
            <a:ext cx="338455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spc="70" cap="all">
                <a:solidFill>
                  <a:srgbClr val="FCD535"/>
                </a:solidFill>
                <a:latin typeface="BinancePlex"/>
              </a:rPr>
              <a:t>01 · REGULATION</a:t>
            </a:r>
          </a:p>
        </p:txBody>
      </p:sp>
      <p:sp>
        <p:nvSpPr>
          <p:cNvPr id="16" name="Col1 Heading"/>
          <p:cNvSpPr>
            <a:spLocks noGrp="1"/>
          </p:cNvSpPr>
          <p:nvPr>
            <p:ph type="body" idx="21"/>
          </p:nvPr>
        </p:nvSpPr>
        <p:spPr>
          <a:xfrm>
            <a:off x="635000" y="3251200"/>
            <a:ext cx="3384550" cy="8255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4999"/>
              </a:lnSpc>
              <a:buNone/>
            </a:pPr>
            <a:r>
              <a:rPr lang="en-US" sz="1600" spc="-19">
                <a:solidFill>
                  <a:srgbClr val="EAECEF"/>
                </a:solidFill>
                <a:latin typeface="BinanceNova Medium"/>
              </a:rPr>
              <a:t>Energy and repair rules are tightening across EMEA.</a:t>
            </a:r>
          </a:p>
        </p:txBody>
      </p:sp>
      <p:sp>
        <p:nvSpPr>
          <p:cNvPr id="17" name="Col1 Bullets"/>
          <p:cNvSpPr>
            <a:spLocks noGrp="1"/>
          </p:cNvSpPr>
          <p:nvPr>
            <p:ph type="body" idx="22"/>
          </p:nvPr>
        </p:nvSpPr>
        <p:spPr>
          <a:xfrm>
            <a:off x="635000" y="4191000"/>
            <a:ext cx="3384550" cy="2667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55000"/>
              </a:lnSpc>
              <a:buNone/>
            </a:pPr>
            <a:r>
              <a:rPr lang="en-US" sz="1000">
                <a:solidFill>
                  <a:srgbClr val="FFFFFF"/>
                </a:solidFill>
                <a:latin typeface="BinanceNova"/>
              </a:rPr>
              <a:t>•  EU Ecodesign 2027 raises minimum efficiency one full class.</a:t>
            </a:r>
          </a:p>
          <a:p>
            <a:pPr marL="0" indent="0" algn="l">
              <a:lnSpc>
                <a:spcPct val="155000"/>
              </a:lnSpc>
              <a:buNone/>
            </a:pPr>
            <a:r>
              <a:rPr lang="en-US" sz="1000">
                <a:solidFill>
                  <a:srgbClr val="FFFFFF"/>
                </a:solidFill>
                <a:latin typeface="BinanceNova"/>
              </a:rPr>
              <a:t>•  Right-to-repair mandates in DE, FR, NL by end of 2026.</a:t>
            </a:r>
          </a:p>
          <a:p>
            <a:pPr marL="0" indent="0" algn="l">
              <a:lnSpc>
                <a:spcPct val="155000"/>
              </a:lnSpc>
              <a:buNone/>
            </a:pPr>
            <a:r>
              <a:rPr lang="en-US" sz="1000">
                <a:solidFill>
                  <a:srgbClr val="FFFFFF"/>
                </a:solidFill>
                <a:latin typeface="BinanceNova"/>
              </a:rPr>
              <a:t>•  Refrigerant phase-down accelerates for commercial lines.</a:t>
            </a:r>
          </a:p>
        </p:txBody>
      </p:sp>
      <p:sp>
        <p:nvSpPr>
          <p:cNvPr id="18" name="Col2 Counter"/>
          <p:cNvSpPr>
            <a:spLocks noGrp="1"/>
          </p:cNvSpPr>
          <p:nvPr>
            <p:ph type="body" idx="24"/>
          </p:nvPr>
        </p:nvSpPr>
        <p:spPr>
          <a:xfrm>
            <a:off x="4400550" y="2921000"/>
            <a:ext cx="338455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spc="70" cap="all">
                <a:solidFill>
                  <a:srgbClr val="FCD535"/>
                </a:solidFill>
                <a:latin typeface="BinancePlex"/>
              </a:rPr>
              <a:t>02 · MARGIN</a:t>
            </a:r>
          </a:p>
        </p:txBody>
      </p:sp>
      <p:sp>
        <p:nvSpPr>
          <p:cNvPr id="19" name="Col2 Heading"/>
          <p:cNvSpPr>
            <a:spLocks noGrp="1"/>
          </p:cNvSpPr>
          <p:nvPr>
            <p:ph type="body" idx="25"/>
          </p:nvPr>
        </p:nvSpPr>
        <p:spPr>
          <a:xfrm>
            <a:off x="4400550" y="3251200"/>
            <a:ext cx="3384550" cy="8255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4999"/>
              </a:lnSpc>
              <a:buNone/>
            </a:pPr>
            <a:r>
              <a:rPr lang="en-US" sz="1600" spc="-19">
                <a:solidFill>
                  <a:srgbClr val="EAECEF"/>
                </a:solidFill>
                <a:latin typeface="BinanceNova Medium"/>
              </a:rPr>
              <a:t>Component cost is stable but service cost is climbing.</a:t>
            </a:r>
          </a:p>
        </p:txBody>
      </p:sp>
      <p:sp>
        <p:nvSpPr>
          <p:cNvPr id="20" name="Col2 Bullets"/>
          <p:cNvSpPr>
            <a:spLocks noGrp="1"/>
          </p:cNvSpPr>
          <p:nvPr>
            <p:ph type="body" idx="26"/>
          </p:nvPr>
        </p:nvSpPr>
        <p:spPr>
          <a:xfrm>
            <a:off x="4400550" y="4191000"/>
            <a:ext cx="3384550" cy="2667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55000"/>
              </a:lnSpc>
              <a:buNone/>
            </a:pPr>
            <a:r>
              <a:rPr lang="en-US" sz="1000">
                <a:solidFill>
                  <a:srgbClr val="FFFFFF"/>
                </a:solidFill>
                <a:latin typeface="BinanceNova"/>
              </a:rPr>
              <a:t>•  Field-service visits up 7% YoY on premium products.</a:t>
            </a:r>
          </a:p>
          <a:p>
            <a:pPr marL="0" indent="0" algn="l">
              <a:lnSpc>
                <a:spcPct val="155000"/>
              </a:lnSpc>
              <a:buNone/>
            </a:pPr>
            <a:r>
              <a:rPr lang="en-US" sz="1000">
                <a:solidFill>
                  <a:srgbClr val="FFFFFF"/>
                </a:solidFill>
                <a:latin typeface="BinanceNova"/>
              </a:rPr>
              <a:t>•  Warranty reserve exceeds plan in 3 of 5 product lines.</a:t>
            </a:r>
          </a:p>
          <a:p>
            <a:pPr marL="0" indent="0" algn="l">
              <a:lnSpc>
                <a:spcPct val="155000"/>
              </a:lnSpc>
              <a:buNone/>
            </a:pPr>
            <a:r>
              <a:rPr lang="en-US" sz="1000">
                <a:solidFill>
                  <a:srgbClr val="FFFFFF"/>
                </a:solidFill>
                <a:latin typeface="BinanceNova"/>
              </a:rPr>
              <a:t>•  Remote-diagnosis deflection saves an average 38 EUR / visit.</a:t>
            </a:r>
          </a:p>
        </p:txBody>
      </p:sp>
      <p:sp>
        <p:nvSpPr>
          <p:cNvPr id="21" name="Col3 Counter"/>
          <p:cNvSpPr>
            <a:spLocks noGrp="1"/>
          </p:cNvSpPr>
          <p:nvPr>
            <p:ph type="body" idx="28"/>
          </p:nvPr>
        </p:nvSpPr>
        <p:spPr>
          <a:xfrm>
            <a:off x="8166100" y="2921000"/>
            <a:ext cx="338455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spc="70" cap="all">
                <a:solidFill>
                  <a:srgbClr val="FCD535"/>
                </a:solidFill>
                <a:latin typeface="BinancePlex"/>
              </a:rPr>
              <a:t>03 · PLATFORM</a:t>
            </a:r>
          </a:p>
        </p:txBody>
      </p:sp>
      <p:sp>
        <p:nvSpPr>
          <p:cNvPr id="22" name="Col3 Heading"/>
          <p:cNvSpPr>
            <a:spLocks noGrp="1"/>
          </p:cNvSpPr>
          <p:nvPr>
            <p:ph type="body" idx="29"/>
          </p:nvPr>
        </p:nvSpPr>
        <p:spPr>
          <a:xfrm>
            <a:off x="8166100" y="3251200"/>
            <a:ext cx="3384550" cy="8255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4999"/>
              </a:lnSpc>
              <a:buNone/>
            </a:pPr>
            <a:r>
              <a:rPr lang="en-US" sz="1600" spc="-19">
                <a:solidFill>
                  <a:srgbClr val="EAECEF"/>
                </a:solidFill>
                <a:latin typeface="BinanceNova Medium"/>
              </a:rPr>
              <a:t>The platform is becoming the product, not an add-on.</a:t>
            </a:r>
          </a:p>
        </p:txBody>
      </p:sp>
      <p:sp>
        <p:nvSpPr>
          <p:cNvPr id="23" name="Col3 Bullets"/>
          <p:cNvSpPr>
            <a:spLocks noGrp="1"/>
          </p:cNvSpPr>
          <p:nvPr>
            <p:ph type="body" idx="30"/>
          </p:nvPr>
        </p:nvSpPr>
        <p:spPr>
          <a:xfrm>
            <a:off x="8166100" y="4191000"/>
            <a:ext cx="3384550" cy="2667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55000"/>
              </a:lnSpc>
              <a:buNone/>
            </a:pPr>
            <a:r>
              <a:rPr lang="en-US" sz="1000">
                <a:solidFill>
                  <a:srgbClr val="FFFFFF"/>
                </a:solidFill>
                <a:latin typeface="BinanceNova"/>
              </a:rPr>
              <a:t>•  New SKUs must ship with the platform from day one.</a:t>
            </a:r>
          </a:p>
          <a:p>
            <a:pPr marL="0" indent="0" algn="l">
              <a:lnSpc>
                <a:spcPct val="155000"/>
              </a:lnSpc>
              <a:buNone/>
            </a:pPr>
            <a:r>
              <a:rPr lang="en-US" sz="1000">
                <a:solidFill>
                  <a:srgbClr val="FFFFFF"/>
                </a:solidFill>
                <a:latin typeface="BinanceNova"/>
              </a:rPr>
              <a:t>•  One update path cuts firmware maintenance headcount 22%.</a:t>
            </a:r>
          </a:p>
          <a:p>
            <a:pPr marL="0" indent="0" algn="l">
              <a:lnSpc>
                <a:spcPct val="155000"/>
              </a:lnSpc>
              <a:buNone/>
            </a:pPr>
            <a:r>
              <a:rPr lang="en-US" sz="1000">
                <a:solidFill>
                  <a:srgbClr val="FFFFFF"/>
                </a:solidFill>
                <a:latin typeface="BinanceNova"/>
              </a:rPr>
              <a:t>•  Shared telemetry unlocks usage-driven feature priority.</a:t>
            </a:r>
          </a:p>
        </p:txBody>
      </p:sp>
      <p:sp>
        <p:nvSpPr>
          <p:cNvPr id="24" name="Source"/>
          <p:cNvSpPr>
            <a:spLocks noGrp="1"/>
          </p:cNvSpPr>
          <p:nvPr>
            <p:ph type="body" idx="60"/>
          </p:nvPr>
        </p:nvSpPr>
        <p:spPr>
          <a:xfrm>
            <a:off x="635000" y="6350000"/>
            <a:ext cx="109220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spc="70" cap="all">
                <a:solidFill>
                  <a:srgbClr val="FFFFFF"/>
                </a:solidFill>
                <a:latin typeface="BinancePlex"/>
              </a:rPr>
              <a:t>SOURCE · STRATEGY REVIEW, Q4 2025</a:t>
            </a:r>
          </a:p>
        </p:txBody>
      </p:sp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Feinschliff · Vertical Bullets">
    <p:bg>
      <p:bgPr>
        <a:solidFill>
          <a:srgbClr val="0B0E1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1"/>
          <p:cNvSpPr/>
          <p:nvPr/>
        </p:nvSpPr>
        <p:spPr>
          <a:xfrm>
            <a:off x="723900" y="417068"/>
            <a:ext cx="49784" cy="49784"/>
          </a:xfrm>
          <a:custGeom>
            <a:avLst/>
            <a:gdLst/>
            <a:ahLst/>
            <a:cxnLst/>
            <a:rect l="l" t="t" r="r" b="b"/>
            <a:pathLst>
              <a:path w="49784" h="49784">
                <a:moveTo>
                  <a:pt x="0" y="0"/>
                </a:moveTo>
                <a:lnTo>
                  <a:pt x="49784" y="49784"/>
                </a:lnTo>
                <a:lnTo>
                  <a:pt x="0" y="49784"/>
                </a:lnTo>
                <a:close/>
              </a:path>
            </a:pathLst>
          </a:custGeom>
          <a:solidFill>
            <a:srgbClr val="FCD5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Freeform 2"/>
          <p:cNvSpPr/>
          <p:nvPr/>
        </p:nvSpPr>
        <p:spPr>
          <a:xfrm>
            <a:off x="752348" y="445516"/>
            <a:ext cx="49784" cy="49784"/>
          </a:xfrm>
          <a:custGeom>
            <a:avLst/>
            <a:gdLst/>
            <a:ahLst/>
            <a:cxnLst/>
            <a:rect l="l" t="t" r="r" b="b"/>
            <a:pathLst>
              <a:path w="49784" h="49784">
                <a:moveTo>
                  <a:pt x="49784" y="49784"/>
                </a:moveTo>
                <a:lnTo>
                  <a:pt x="0" y="0"/>
                </a:lnTo>
                <a:lnTo>
                  <a:pt x="0" y="49784"/>
                </a:lnTo>
                <a:close/>
              </a:path>
            </a:pathLst>
          </a:custGeom>
          <a:solidFill>
            <a:srgbClr val="FCD5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Freeform 3"/>
          <p:cNvSpPr/>
          <p:nvPr/>
        </p:nvSpPr>
        <p:spPr>
          <a:xfrm>
            <a:off x="674116" y="523748"/>
            <a:ext cx="49784" cy="49784"/>
          </a:xfrm>
          <a:custGeom>
            <a:avLst/>
            <a:gdLst/>
            <a:ahLst/>
            <a:cxnLst/>
            <a:rect l="l" t="t" r="r" b="b"/>
            <a:pathLst>
              <a:path w="49784" h="49784">
                <a:moveTo>
                  <a:pt x="49784" y="49784"/>
                </a:moveTo>
                <a:lnTo>
                  <a:pt x="0" y="0"/>
                </a:lnTo>
                <a:lnTo>
                  <a:pt x="49784" y="0"/>
                </a:lnTo>
                <a:close/>
              </a:path>
            </a:pathLst>
          </a:custGeom>
          <a:solidFill>
            <a:srgbClr val="FCD5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Freeform 4"/>
          <p:cNvSpPr/>
          <p:nvPr/>
        </p:nvSpPr>
        <p:spPr>
          <a:xfrm>
            <a:off x="645668" y="495300"/>
            <a:ext cx="49784" cy="49784"/>
          </a:xfrm>
          <a:custGeom>
            <a:avLst/>
            <a:gdLst/>
            <a:ahLst/>
            <a:cxnLst/>
            <a:rect l="l" t="t" r="r" b="b"/>
            <a:pathLst>
              <a:path w="49784" h="49784">
                <a:moveTo>
                  <a:pt x="0" y="0"/>
                </a:moveTo>
                <a:lnTo>
                  <a:pt x="49784" y="49784"/>
                </a:lnTo>
                <a:lnTo>
                  <a:pt x="49784" y="0"/>
                </a:lnTo>
                <a:close/>
              </a:path>
            </a:pathLst>
          </a:custGeom>
          <a:solidFill>
            <a:srgbClr val="FCD5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01700" y="406400"/>
            <a:ext cx="2032000" cy="25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 spc="110">
                <a:solidFill>
                  <a:srgbClr val="FCD535"/>
                </a:solidFill>
                <a:latin typeface="BinanceNova"/>
              </a:rPr>
              <a:t>BINANCE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017000" y="508000"/>
            <a:ext cx="2667000" cy="177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700" spc="70" b="0">
                <a:solidFill>
                  <a:srgbClr val="848E9C"/>
                </a:solidFill>
                <a:latin typeface="BinanceNova SemiBold"/>
              </a:rPr>
              <a:t>VERTICAL BULLETS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62000" y="6540500"/>
            <a:ext cx="4445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650" spc="65" b="0">
                <a:solidFill>
                  <a:srgbClr val="848E9C"/>
                </a:solidFill>
                <a:latin typeface="BinanceNova SemiBold"/>
              </a:rPr>
              <a:t>JAN 2026 · SHOWCASE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985000" y="6540500"/>
            <a:ext cx="4445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lang="en-US" dirty="0" sz="650" b="0" spc="65">
                <a:solidFill>
                  <a:srgbClr val="848E9C"/>
                </a:solidFill>
                <a:latin typeface="BinanceNova SemiBold"/>
              </a:rPr>
              <a:t>SLIDE </a:t>
            </a:r>
            <a:fld id="{A1B2C3D4-E5F6-4890-ABCD-EF0123456789}" type="slidenum">
              <a:rPr lang="en-US" dirty="0" sz="650" b="0" spc="65">
                <a:solidFill>
                  <a:srgbClr val="848E9C"/>
                </a:solidFill>
                <a:latin typeface="BinanceNova SemiBold"/>
              </a:rPr>
              <a:t>1</a:t>
            </a:fld>
          </a:p>
        </p:txBody>
      </p:sp>
      <p:sp>
        <p:nvSpPr>
          <p:cNvPr id="10" name="Rectangle 9"/>
          <p:cNvSpPr/>
          <p:nvPr/>
        </p:nvSpPr>
        <p:spPr>
          <a:xfrm>
            <a:off x="635000" y="889000"/>
            <a:ext cx="50800" cy="876300"/>
          </a:xfrm>
          <a:prstGeom prst="rect">
            <a:avLst/>
          </a:prstGeom>
          <a:solidFill>
            <a:srgbClr val="FCD53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Eyebrow"/>
          <p:cNvSpPr>
            <a:spLocks noGrp="1"/>
          </p:cNvSpPr>
          <p:nvPr>
            <p:ph type="body" idx="10"/>
          </p:nvPr>
        </p:nvSpPr>
        <p:spPr>
          <a:xfrm>
            <a:off x="838200" y="889000"/>
            <a:ext cx="101600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800" spc="80" cap="all">
                <a:solidFill>
                  <a:srgbClr val="FCD535"/>
                </a:solidFill>
                <a:latin typeface="BinanceNova"/>
              </a:rPr>
              <a:t>PLAN OF RECORD</a:t>
            </a:r>
          </a:p>
        </p:txBody>
      </p:sp>
      <p:sp>
        <p:nvSpPr>
          <p:cNvPr id="12" name="Title"/>
          <p:cNvSpPr>
            <a:spLocks noGrp="1"/>
          </p:cNvSpPr>
          <p:nvPr>
            <p:ph type="title"/>
          </p:nvPr>
        </p:nvSpPr>
        <p:spPr>
          <a:xfrm>
            <a:off x="838200" y="1206500"/>
            <a:ext cx="10922000" cy="635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3200" spc="-48">
                <a:solidFill>
                  <a:srgbClr val="FFFFFF"/>
                </a:solidFill>
                <a:latin typeface="BinanceNova"/>
              </a:rPr>
              <a:t>Five moves define the first half: consolidate, instrument, retire, pilot, publish.</a:t>
            </a:r>
          </a:p>
        </p:txBody>
      </p:sp>
      <p:sp>
        <p:nvSpPr>
          <p:cNvPr id="13" name="Lede"/>
          <p:cNvSpPr>
            <a:spLocks noGrp="1"/>
          </p:cNvSpPr>
          <p:nvPr>
            <p:ph type="body" idx="11"/>
          </p:nvPr>
        </p:nvSpPr>
        <p:spPr>
          <a:xfrm>
            <a:off x="635000" y="2286000"/>
            <a:ext cx="10922000" cy="508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40000"/>
              </a:lnSpc>
              <a:buNone/>
            </a:pPr>
            <a:r>
              <a:rPr lang="en-US" sz="1000">
                <a:solidFill>
                  <a:srgbClr val="FFFFFF"/>
                </a:solidFill>
                <a:latin typeface="BinanceNova"/>
              </a:rPr>
              <a:t>Each move is owned by a single VP and reviewed at the monthly operating meeting — progress is measured against a metric, not an output.</a:t>
            </a:r>
          </a:p>
        </p:txBody>
      </p:sp>
      <p:sp>
        <p:nvSpPr>
          <p:cNvPr id="14" name="Rectangle 13"/>
          <p:cNvSpPr/>
          <p:nvPr/>
        </p:nvSpPr>
        <p:spPr>
          <a:xfrm>
            <a:off x="635000" y="2984500"/>
            <a:ext cx="10922000" cy="6350"/>
          </a:xfrm>
          <a:prstGeom prst="rect">
            <a:avLst/>
          </a:prstGeom>
          <a:solidFill>
            <a:srgbClr val="2B313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ow 1 Counter"/>
          <p:cNvSpPr>
            <a:spLocks noGrp="1"/>
          </p:cNvSpPr>
          <p:nvPr>
            <p:ph type="body" idx="20"/>
          </p:nvPr>
        </p:nvSpPr>
        <p:spPr>
          <a:xfrm>
            <a:off x="635000" y="3162300"/>
            <a:ext cx="8890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spc="56">
                <a:solidFill>
                  <a:srgbClr val="FCD535"/>
                </a:solidFill>
                <a:latin typeface="BinancePlex"/>
              </a:rPr>
              <a:t>01 / 06</a:t>
            </a:r>
          </a:p>
        </p:txBody>
      </p:sp>
      <p:sp>
        <p:nvSpPr>
          <p:cNvPr id="16" name="Row 1 Heading"/>
          <p:cNvSpPr>
            <a:spLocks noGrp="1"/>
          </p:cNvSpPr>
          <p:nvPr>
            <p:ph type="body" idx="21"/>
          </p:nvPr>
        </p:nvSpPr>
        <p:spPr>
          <a:xfrm>
            <a:off x="1676400" y="3124200"/>
            <a:ext cx="2667000" cy="3048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4999"/>
              </a:lnSpc>
              <a:buNone/>
            </a:pPr>
            <a:r>
              <a:rPr lang="en-US" sz="1300" spc="-13">
                <a:solidFill>
                  <a:srgbClr val="EAECEF"/>
                </a:solidFill>
                <a:latin typeface="BinanceNova Medium"/>
              </a:rPr>
              <a:t>Consolidate the firmware stack.</a:t>
            </a:r>
          </a:p>
        </p:txBody>
      </p:sp>
      <p:sp>
        <p:nvSpPr>
          <p:cNvPr id="17" name="Row 1 Body"/>
          <p:cNvSpPr>
            <a:spLocks noGrp="1"/>
          </p:cNvSpPr>
          <p:nvPr>
            <p:ph type="body" idx="22"/>
          </p:nvPr>
        </p:nvSpPr>
        <p:spPr>
          <a:xfrm>
            <a:off x="4495800" y="3149600"/>
            <a:ext cx="7061200" cy="43815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40000"/>
              </a:lnSpc>
              <a:buNone/>
            </a:pPr>
            <a:r>
              <a:rPr lang="en-US" sz="900">
                <a:solidFill>
                  <a:srgbClr val="FFFFFF"/>
                </a:solidFill>
                <a:latin typeface="BinanceNova"/>
              </a:rPr>
              <a:t>Move the remaining three product lines onto the unified OS core by end of Q2.</a:t>
            </a:r>
          </a:p>
        </p:txBody>
      </p:sp>
      <p:sp>
        <p:nvSpPr>
          <p:cNvPr id="18" name="Rectangle 17"/>
          <p:cNvSpPr/>
          <p:nvPr/>
        </p:nvSpPr>
        <p:spPr>
          <a:xfrm>
            <a:off x="635000" y="3524250"/>
            <a:ext cx="10922000" cy="6350"/>
          </a:xfrm>
          <a:prstGeom prst="rect">
            <a:avLst/>
          </a:prstGeom>
          <a:solidFill>
            <a:srgbClr val="2B313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ow 2 Counter"/>
          <p:cNvSpPr>
            <a:spLocks noGrp="1"/>
          </p:cNvSpPr>
          <p:nvPr>
            <p:ph type="body" idx="23"/>
          </p:nvPr>
        </p:nvSpPr>
        <p:spPr>
          <a:xfrm>
            <a:off x="635000" y="3702050"/>
            <a:ext cx="8890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spc="56">
                <a:solidFill>
                  <a:srgbClr val="FCD535"/>
                </a:solidFill>
                <a:latin typeface="BinancePlex"/>
              </a:rPr>
              <a:t>02 / 06</a:t>
            </a:r>
          </a:p>
        </p:txBody>
      </p:sp>
      <p:sp>
        <p:nvSpPr>
          <p:cNvPr id="20" name="Row 2 Heading"/>
          <p:cNvSpPr>
            <a:spLocks noGrp="1"/>
          </p:cNvSpPr>
          <p:nvPr>
            <p:ph type="body" idx="24"/>
          </p:nvPr>
        </p:nvSpPr>
        <p:spPr>
          <a:xfrm>
            <a:off x="1676400" y="3663950"/>
            <a:ext cx="2667000" cy="3048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4999"/>
              </a:lnSpc>
              <a:buNone/>
            </a:pPr>
            <a:r>
              <a:rPr lang="en-US" sz="1300" spc="-13">
                <a:solidFill>
                  <a:srgbClr val="EAECEF"/>
                </a:solidFill>
                <a:latin typeface="BinanceNova Medium"/>
              </a:rPr>
              <a:t>Instrument every SKU.</a:t>
            </a:r>
          </a:p>
        </p:txBody>
      </p:sp>
      <p:sp>
        <p:nvSpPr>
          <p:cNvPr id="21" name="Row 2 Body"/>
          <p:cNvSpPr>
            <a:spLocks noGrp="1"/>
          </p:cNvSpPr>
          <p:nvPr>
            <p:ph type="body" idx="25"/>
          </p:nvPr>
        </p:nvSpPr>
        <p:spPr>
          <a:xfrm>
            <a:off x="4495800" y="3689350"/>
            <a:ext cx="7061200" cy="43815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40000"/>
              </a:lnSpc>
              <a:buNone/>
            </a:pPr>
            <a:r>
              <a:rPr lang="en-US" sz="900">
                <a:solidFill>
                  <a:srgbClr val="FFFFFF"/>
                </a:solidFill>
                <a:latin typeface="BinanceNova"/>
              </a:rPr>
              <a:t>Every production unit leaving the factory reports health and usage by default.</a:t>
            </a:r>
          </a:p>
        </p:txBody>
      </p:sp>
      <p:sp>
        <p:nvSpPr>
          <p:cNvPr id="22" name="Rectangle 21"/>
          <p:cNvSpPr/>
          <p:nvPr/>
        </p:nvSpPr>
        <p:spPr>
          <a:xfrm>
            <a:off x="635000" y="4064000"/>
            <a:ext cx="10922000" cy="6350"/>
          </a:xfrm>
          <a:prstGeom prst="rect">
            <a:avLst/>
          </a:prstGeom>
          <a:solidFill>
            <a:srgbClr val="2B313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ow 3 Counter"/>
          <p:cNvSpPr>
            <a:spLocks noGrp="1"/>
          </p:cNvSpPr>
          <p:nvPr>
            <p:ph type="body" idx="26"/>
          </p:nvPr>
        </p:nvSpPr>
        <p:spPr>
          <a:xfrm>
            <a:off x="635000" y="4241800"/>
            <a:ext cx="8890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spc="56">
                <a:solidFill>
                  <a:srgbClr val="FCD535"/>
                </a:solidFill>
                <a:latin typeface="BinancePlex"/>
              </a:rPr>
              <a:t>03 / 06</a:t>
            </a:r>
          </a:p>
        </p:txBody>
      </p:sp>
      <p:sp>
        <p:nvSpPr>
          <p:cNvPr id="24" name="Row 3 Heading"/>
          <p:cNvSpPr>
            <a:spLocks noGrp="1"/>
          </p:cNvSpPr>
          <p:nvPr>
            <p:ph type="body" idx="27"/>
          </p:nvPr>
        </p:nvSpPr>
        <p:spPr>
          <a:xfrm>
            <a:off x="1676400" y="4203700"/>
            <a:ext cx="2667000" cy="3048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4999"/>
              </a:lnSpc>
              <a:buNone/>
            </a:pPr>
            <a:r>
              <a:rPr lang="en-US" sz="1300" spc="-13">
                <a:solidFill>
                  <a:srgbClr val="EAECEF"/>
                </a:solidFill>
                <a:latin typeface="BinanceNova Medium"/>
              </a:rPr>
              <a:t>Retire the legacy app.</a:t>
            </a:r>
          </a:p>
        </p:txBody>
      </p:sp>
      <p:sp>
        <p:nvSpPr>
          <p:cNvPr id="25" name="Row 3 Body"/>
          <p:cNvSpPr>
            <a:spLocks noGrp="1"/>
          </p:cNvSpPr>
          <p:nvPr>
            <p:ph type="body" idx="28"/>
          </p:nvPr>
        </p:nvSpPr>
        <p:spPr>
          <a:xfrm>
            <a:off x="4495800" y="4229100"/>
            <a:ext cx="7061200" cy="43815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40000"/>
              </a:lnSpc>
              <a:buNone/>
            </a:pPr>
            <a:r>
              <a:rPr lang="en-US" sz="900">
                <a:solidFill>
                  <a:srgbClr val="FFFFFF"/>
                </a:solidFill>
                <a:latin typeface="BinanceNova"/>
              </a:rPr>
              <a:t>Archive the legacy companion app once the new platform reaches 70% coverage.</a:t>
            </a:r>
          </a:p>
        </p:txBody>
      </p:sp>
      <p:sp>
        <p:nvSpPr>
          <p:cNvPr id="26" name="Rectangle 25"/>
          <p:cNvSpPr/>
          <p:nvPr/>
        </p:nvSpPr>
        <p:spPr>
          <a:xfrm>
            <a:off x="635000" y="4603750"/>
            <a:ext cx="10922000" cy="6350"/>
          </a:xfrm>
          <a:prstGeom prst="rect">
            <a:avLst/>
          </a:prstGeom>
          <a:solidFill>
            <a:srgbClr val="2B313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ow 4 Counter"/>
          <p:cNvSpPr>
            <a:spLocks noGrp="1"/>
          </p:cNvSpPr>
          <p:nvPr>
            <p:ph type="body" idx="29"/>
          </p:nvPr>
        </p:nvSpPr>
        <p:spPr>
          <a:xfrm>
            <a:off x="635000" y="4781550"/>
            <a:ext cx="8890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spc="56">
                <a:solidFill>
                  <a:srgbClr val="FCD535"/>
                </a:solidFill>
                <a:latin typeface="BinancePlex"/>
              </a:rPr>
              <a:t>04 / 06</a:t>
            </a:r>
          </a:p>
        </p:txBody>
      </p:sp>
      <p:sp>
        <p:nvSpPr>
          <p:cNvPr id="28" name="Row 4 Heading"/>
          <p:cNvSpPr>
            <a:spLocks noGrp="1"/>
          </p:cNvSpPr>
          <p:nvPr>
            <p:ph type="body" idx="30"/>
          </p:nvPr>
        </p:nvSpPr>
        <p:spPr>
          <a:xfrm>
            <a:off x="1676400" y="4743450"/>
            <a:ext cx="2667000" cy="3048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4999"/>
              </a:lnSpc>
              <a:buNone/>
            </a:pPr>
            <a:r>
              <a:rPr lang="en-US" sz="1300" spc="-13">
                <a:solidFill>
                  <a:srgbClr val="EAECEF"/>
                </a:solidFill>
                <a:latin typeface="BinanceNova Medium"/>
              </a:rPr>
              <a:t>Pilot guided sessions.</a:t>
            </a:r>
          </a:p>
        </p:txBody>
      </p:sp>
      <p:sp>
        <p:nvSpPr>
          <p:cNvPr id="29" name="Row 4 Body"/>
          <p:cNvSpPr>
            <a:spLocks noGrp="1"/>
          </p:cNvSpPr>
          <p:nvPr>
            <p:ph type="body" idx="31"/>
          </p:nvPr>
        </p:nvSpPr>
        <p:spPr>
          <a:xfrm>
            <a:off x="4495800" y="4768850"/>
            <a:ext cx="7061200" cy="43815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40000"/>
              </a:lnSpc>
              <a:buNone/>
            </a:pPr>
            <a:r>
              <a:rPr lang="en-US" sz="900">
                <a:solidFill>
                  <a:srgbClr val="FFFFFF"/>
                </a:solidFill>
                <a:latin typeface="BinanceNova"/>
              </a:rPr>
              <a:t>Run a two-thousand-customer test of the adaptive programme across three regions.</a:t>
            </a:r>
          </a:p>
        </p:txBody>
      </p:sp>
      <p:sp>
        <p:nvSpPr>
          <p:cNvPr id="30" name="Rectangle 29"/>
          <p:cNvSpPr/>
          <p:nvPr/>
        </p:nvSpPr>
        <p:spPr>
          <a:xfrm>
            <a:off x="635000" y="5143500"/>
            <a:ext cx="10922000" cy="6350"/>
          </a:xfrm>
          <a:prstGeom prst="rect">
            <a:avLst/>
          </a:prstGeom>
          <a:solidFill>
            <a:srgbClr val="2B313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ow 5 Counter"/>
          <p:cNvSpPr>
            <a:spLocks noGrp="1"/>
          </p:cNvSpPr>
          <p:nvPr>
            <p:ph type="body" idx="32"/>
          </p:nvPr>
        </p:nvSpPr>
        <p:spPr>
          <a:xfrm>
            <a:off x="635000" y="5321300"/>
            <a:ext cx="8890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spc="56">
                <a:solidFill>
                  <a:srgbClr val="FCD535"/>
                </a:solidFill>
                <a:latin typeface="BinancePlex"/>
              </a:rPr>
              <a:t>05 / 06</a:t>
            </a:r>
          </a:p>
        </p:txBody>
      </p:sp>
      <p:sp>
        <p:nvSpPr>
          <p:cNvPr id="32" name="Row 5 Heading"/>
          <p:cNvSpPr>
            <a:spLocks noGrp="1"/>
          </p:cNvSpPr>
          <p:nvPr>
            <p:ph type="body" idx="33"/>
          </p:nvPr>
        </p:nvSpPr>
        <p:spPr>
          <a:xfrm>
            <a:off x="1676400" y="5283200"/>
            <a:ext cx="2667000" cy="3048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4999"/>
              </a:lnSpc>
              <a:buNone/>
            </a:pPr>
            <a:r>
              <a:rPr lang="en-US" sz="1300" spc="-13">
                <a:solidFill>
                  <a:srgbClr val="EAECEF"/>
                </a:solidFill>
                <a:latin typeface="BinanceNova Medium"/>
              </a:rPr>
              <a:t>Publish the API.</a:t>
            </a:r>
          </a:p>
        </p:txBody>
      </p:sp>
      <p:sp>
        <p:nvSpPr>
          <p:cNvPr id="33" name="Row 5 Body"/>
          <p:cNvSpPr>
            <a:spLocks noGrp="1"/>
          </p:cNvSpPr>
          <p:nvPr>
            <p:ph type="body" idx="34"/>
          </p:nvPr>
        </p:nvSpPr>
        <p:spPr>
          <a:xfrm>
            <a:off x="4495800" y="5308600"/>
            <a:ext cx="7061200" cy="43815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40000"/>
              </a:lnSpc>
              <a:buNone/>
            </a:pPr>
            <a:r>
              <a:rPr lang="en-US" sz="900">
                <a:solidFill>
                  <a:srgbClr val="FFFFFF"/>
                </a:solidFill>
                <a:latin typeface="BinanceNova"/>
              </a:rPr>
              <a:t>Open the developer preview to partners at the end of H1.</a:t>
            </a:r>
          </a:p>
        </p:txBody>
      </p:sp>
      <p:sp>
        <p:nvSpPr>
          <p:cNvPr id="34" name="Rectangle 33"/>
          <p:cNvSpPr/>
          <p:nvPr/>
        </p:nvSpPr>
        <p:spPr>
          <a:xfrm>
            <a:off x="635000" y="5683250"/>
            <a:ext cx="10922000" cy="6350"/>
          </a:xfrm>
          <a:prstGeom prst="rect">
            <a:avLst/>
          </a:prstGeom>
          <a:solidFill>
            <a:srgbClr val="2B313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Row 6 Counter"/>
          <p:cNvSpPr>
            <a:spLocks noGrp="1"/>
          </p:cNvSpPr>
          <p:nvPr>
            <p:ph type="body" idx="35"/>
          </p:nvPr>
        </p:nvSpPr>
        <p:spPr>
          <a:xfrm>
            <a:off x="635000" y="5861050"/>
            <a:ext cx="8890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spc="56">
                <a:solidFill>
                  <a:srgbClr val="FCD535"/>
                </a:solidFill>
                <a:latin typeface="BinancePlex"/>
              </a:rPr>
              <a:t>06 / 06</a:t>
            </a:r>
          </a:p>
        </p:txBody>
      </p:sp>
      <p:sp>
        <p:nvSpPr>
          <p:cNvPr id="36" name="Row 6 Heading"/>
          <p:cNvSpPr>
            <a:spLocks noGrp="1"/>
          </p:cNvSpPr>
          <p:nvPr>
            <p:ph type="body" idx="36"/>
          </p:nvPr>
        </p:nvSpPr>
        <p:spPr>
          <a:xfrm>
            <a:off x="1676400" y="5822950"/>
            <a:ext cx="2667000" cy="3048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4999"/>
              </a:lnSpc>
              <a:buNone/>
            </a:pPr>
            <a:r>
              <a:rPr lang="en-US" sz="1300" spc="-13">
                <a:solidFill>
                  <a:srgbClr val="EAECEF"/>
                </a:solidFill>
                <a:latin typeface="BinanceNova Medium"/>
              </a:rPr>
              <a:t>Review monthly.</a:t>
            </a:r>
          </a:p>
        </p:txBody>
      </p:sp>
      <p:sp>
        <p:nvSpPr>
          <p:cNvPr id="37" name="Row 6 Body"/>
          <p:cNvSpPr>
            <a:spLocks noGrp="1"/>
          </p:cNvSpPr>
          <p:nvPr>
            <p:ph type="body" idx="37"/>
          </p:nvPr>
        </p:nvSpPr>
        <p:spPr>
          <a:xfrm>
            <a:off x="4495800" y="5848350"/>
            <a:ext cx="7061200" cy="43815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40000"/>
              </a:lnSpc>
              <a:buNone/>
            </a:pPr>
            <a:r>
              <a:rPr lang="en-US" sz="900">
                <a:solidFill>
                  <a:srgbClr val="FFFFFF"/>
                </a:solidFill>
                <a:latin typeface="BinanceNova"/>
              </a:rPr>
              <a:t>Each move is owned by one VP and reviewed at the monthly operating meeting.</a:t>
            </a:r>
          </a:p>
        </p:txBody>
      </p:sp>
      <p:sp>
        <p:nvSpPr>
          <p:cNvPr id="38" name="Rectangle 37"/>
          <p:cNvSpPr/>
          <p:nvPr/>
        </p:nvSpPr>
        <p:spPr>
          <a:xfrm>
            <a:off x="635000" y="6223000"/>
            <a:ext cx="10922000" cy="6350"/>
          </a:xfrm>
          <a:prstGeom prst="rect">
            <a:avLst/>
          </a:prstGeom>
          <a:solidFill>
            <a:srgbClr val="2B313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Supporting Note"/>
          <p:cNvSpPr>
            <a:spLocks noGrp="1"/>
          </p:cNvSpPr>
          <p:nvPr>
            <p:ph type="body" idx="12"/>
          </p:nvPr>
        </p:nvSpPr>
        <p:spPr>
          <a:xfrm>
            <a:off x="635000" y="6413500"/>
            <a:ext cx="109220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spc="70" cap="all">
                <a:solidFill>
                  <a:srgbClr val="FFFFFF"/>
                </a:solidFill>
                <a:latin typeface="BinancePlex"/>
              </a:rPr>
              <a:t>WORK THAT DOES NOT SUPPORT ONE OF THESE MOVES IS EXPLICITLY DESCOPED, NOT PAUSED.</a:t>
            </a:r>
          </a:p>
        </p:txBody>
      </p:sp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Feinschliff · 2×2 Matrix">
    <p:bg>
      <p:bgPr>
        <a:solidFill>
          <a:srgbClr val="0B0E1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1"/>
          <p:cNvSpPr/>
          <p:nvPr/>
        </p:nvSpPr>
        <p:spPr>
          <a:xfrm>
            <a:off x="723900" y="417068"/>
            <a:ext cx="49784" cy="49784"/>
          </a:xfrm>
          <a:custGeom>
            <a:avLst/>
            <a:gdLst/>
            <a:ahLst/>
            <a:cxnLst/>
            <a:rect l="l" t="t" r="r" b="b"/>
            <a:pathLst>
              <a:path w="49784" h="49784">
                <a:moveTo>
                  <a:pt x="0" y="0"/>
                </a:moveTo>
                <a:lnTo>
                  <a:pt x="49784" y="49784"/>
                </a:lnTo>
                <a:lnTo>
                  <a:pt x="0" y="49784"/>
                </a:lnTo>
                <a:close/>
              </a:path>
            </a:pathLst>
          </a:custGeom>
          <a:solidFill>
            <a:srgbClr val="FCD5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Freeform 2"/>
          <p:cNvSpPr/>
          <p:nvPr/>
        </p:nvSpPr>
        <p:spPr>
          <a:xfrm>
            <a:off x="752348" y="445516"/>
            <a:ext cx="49784" cy="49784"/>
          </a:xfrm>
          <a:custGeom>
            <a:avLst/>
            <a:gdLst/>
            <a:ahLst/>
            <a:cxnLst/>
            <a:rect l="l" t="t" r="r" b="b"/>
            <a:pathLst>
              <a:path w="49784" h="49784">
                <a:moveTo>
                  <a:pt x="49784" y="49784"/>
                </a:moveTo>
                <a:lnTo>
                  <a:pt x="0" y="0"/>
                </a:lnTo>
                <a:lnTo>
                  <a:pt x="0" y="49784"/>
                </a:lnTo>
                <a:close/>
              </a:path>
            </a:pathLst>
          </a:custGeom>
          <a:solidFill>
            <a:srgbClr val="FCD5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Freeform 3"/>
          <p:cNvSpPr/>
          <p:nvPr/>
        </p:nvSpPr>
        <p:spPr>
          <a:xfrm>
            <a:off x="674116" y="523748"/>
            <a:ext cx="49784" cy="49784"/>
          </a:xfrm>
          <a:custGeom>
            <a:avLst/>
            <a:gdLst/>
            <a:ahLst/>
            <a:cxnLst/>
            <a:rect l="l" t="t" r="r" b="b"/>
            <a:pathLst>
              <a:path w="49784" h="49784">
                <a:moveTo>
                  <a:pt x="49784" y="49784"/>
                </a:moveTo>
                <a:lnTo>
                  <a:pt x="0" y="0"/>
                </a:lnTo>
                <a:lnTo>
                  <a:pt x="49784" y="0"/>
                </a:lnTo>
                <a:close/>
              </a:path>
            </a:pathLst>
          </a:custGeom>
          <a:solidFill>
            <a:srgbClr val="FCD5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Freeform 4"/>
          <p:cNvSpPr/>
          <p:nvPr/>
        </p:nvSpPr>
        <p:spPr>
          <a:xfrm>
            <a:off x="645668" y="495300"/>
            <a:ext cx="49784" cy="49784"/>
          </a:xfrm>
          <a:custGeom>
            <a:avLst/>
            <a:gdLst/>
            <a:ahLst/>
            <a:cxnLst/>
            <a:rect l="l" t="t" r="r" b="b"/>
            <a:pathLst>
              <a:path w="49784" h="49784">
                <a:moveTo>
                  <a:pt x="0" y="0"/>
                </a:moveTo>
                <a:lnTo>
                  <a:pt x="49784" y="49784"/>
                </a:lnTo>
                <a:lnTo>
                  <a:pt x="49784" y="0"/>
                </a:lnTo>
                <a:close/>
              </a:path>
            </a:pathLst>
          </a:custGeom>
          <a:solidFill>
            <a:srgbClr val="FCD5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01700" y="406400"/>
            <a:ext cx="2032000" cy="25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 spc="110">
                <a:solidFill>
                  <a:srgbClr val="FCD535"/>
                </a:solidFill>
                <a:latin typeface="BinanceNova"/>
              </a:rPr>
              <a:t>BINANCE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017000" y="508000"/>
            <a:ext cx="2667000" cy="177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700" spc="70" b="0">
                <a:solidFill>
                  <a:srgbClr val="848E9C"/>
                </a:solidFill>
                <a:latin typeface="BinanceNova SemiBold"/>
              </a:rPr>
              <a:t>2×2 MATRIX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62000" y="6540500"/>
            <a:ext cx="4445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650" spc="65" b="0">
                <a:solidFill>
                  <a:srgbClr val="848E9C"/>
                </a:solidFill>
                <a:latin typeface="BinanceNova SemiBold"/>
              </a:rPr>
              <a:t>JAN 2026 · SHOWCASE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985000" y="6540500"/>
            <a:ext cx="4445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lang="en-US" dirty="0" sz="650" b="0" spc="65">
                <a:solidFill>
                  <a:srgbClr val="848E9C"/>
                </a:solidFill>
                <a:latin typeface="BinanceNova SemiBold"/>
              </a:rPr>
              <a:t>SLIDE </a:t>
            </a:r>
            <a:fld id="{A1B2C3D4-E5F6-4890-ABCD-EF0123456789}" type="slidenum">
              <a:rPr lang="en-US" dirty="0" sz="650" b="0" spc="65">
                <a:solidFill>
                  <a:srgbClr val="848E9C"/>
                </a:solidFill>
                <a:latin typeface="BinanceNova SemiBold"/>
              </a:rPr>
              <a:t>1</a:t>
            </a:fld>
          </a:p>
        </p:txBody>
      </p:sp>
      <p:sp>
        <p:nvSpPr>
          <p:cNvPr id="10" name="Rectangle 9"/>
          <p:cNvSpPr/>
          <p:nvPr/>
        </p:nvSpPr>
        <p:spPr>
          <a:xfrm>
            <a:off x="635000" y="1651000"/>
            <a:ext cx="50800" cy="876300"/>
          </a:xfrm>
          <a:prstGeom prst="rect">
            <a:avLst/>
          </a:prstGeom>
          <a:solidFill>
            <a:srgbClr val="FCD53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Eyebrow"/>
          <p:cNvSpPr>
            <a:spLocks noGrp="1"/>
          </p:cNvSpPr>
          <p:nvPr>
            <p:ph type="body" idx="10"/>
          </p:nvPr>
        </p:nvSpPr>
        <p:spPr>
          <a:xfrm>
            <a:off x="838200" y="1651000"/>
            <a:ext cx="101600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800" spc="80" cap="all">
                <a:solidFill>
                  <a:srgbClr val="FCD535"/>
                </a:solidFill>
                <a:latin typeface="BinanceNova"/>
              </a:rPr>
              <a:t>PRIORITISATION</a:t>
            </a:r>
          </a:p>
        </p:txBody>
      </p:sp>
      <p:sp>
        <p:nvSpPr>
          <p:cNvPr id="12" name="Title"/>
          <p:cNvSpPr>
            <a:spLocks noGrp="1"/>
          </p:cNvSpPr>
          <p:nvPr>
            <p:ph type="title"/>
          </p:nvPr>
        </p:nvSpPr>
        <p:spPr>
          <a:xfrm>
            <a:off x="838200" y="1968500"/>
            <a:ext cx="10922000" cy="635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3200" spc="-48">
                <a:solidFill>
                  <a:srgbClr val="FFFFFF"/>
                </a:solidFill>
                <a:latin typeface="BinanceNova"/>
              </a:rPr>
              <a:t>Invest in the top-right quadrant first: high impact, low lift.</a:t>
            </a:r>
          </a:p>
        </p:txBody>
      </p:sp>
      <p:sp>
        <p:nvSpPr>
          <p:cNvPr id="13" name="Rectangle 12"/>
          <p:cNvSpPr/>
          <p:nvPr/>
        </p:nvSpPr>
        <p:spPr>
          <a:xfrm>
            <a:off x="1778000" y="2984500"/>
            <a:ext cx="4318000" cy="1714500"/>
          </a:xfrm>
          <a:prstGeom prst="rect">
            <a:avLst/>
          </a:prstGeom>
          <a:solidFill>
            <a:srgbClr val="FCD53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6086475" y="2984500"/>
            <a:ext cx="19050" cy="3429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1778000" y="4689475"/>
            <a:ext cx="8636000" cy="1905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1765300" y="2984500"/>
            <a:ext cx="12700" cy="34417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1765300" y="6413500"/>
            <a:ext cx="8648700" cy="127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Isosceles Triangle 17"/>
          <p:cNvSpPr/>
          <p:nvPr/>
        </p:nvSpPr>
        <p:spPr>
          <a:xfrm>
            <a:off x="1701800" y="2857500"/>
            <a:ext cx="127000" cy="127000"/>
          </a:xfrm>
          <a:prstGeom prst="triangle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ight Triangle 18"/>
          <p:cNvSpPr/>
          <p:nvPr/>
        </p:nvSpPr>
        <p:spPr>
          <a:xfrm rot="16200000">
            <a:off x="10414000" y="6356350"/>
            <a:ext cx="127000" cy="127000"/>
          </a:xfrm>
          <a:prstGeom prst="rtTriangle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1778000" y="6527800"/>
            <a:ext cx="508000" cy="1397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700" spc="98">
                <a:solidFill>
                  <a:srgbClr val="FFFFFF"/>
                </a:solidFill>
                <a:latin typeface="BinancePlex"/>
              </a:rPr>
              <a:t>LOW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906000" y="6527800"/>
            <a:ext cx="508000" cy="1397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700" spc="98">
                <a:solidFill>
                  <a:srgbClr val="FFFFFF"/>
                </a:solidFill>
                <a:latin typeface="BinancePlex"/>
              </a:rPr>
              <a:t>HIGH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155700" y="6273800"/>
            <a:ext cx="508000" cy="1397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700" spc="98">
                <a:solidFill>
                  <a:srgbClr val="FFFFFF"/>
                </a:solidFill>
                <a:latin typeface="BinancePlex"/>
              </a:rPr>
              <a:t>LOW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155700" y="2984500"/>
            <a:ext cx="508000" cy="1397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700" spc="98">
                <a:solidFill>
                  <a:srgbClr val="FFFFFF"/>
                </a:solidFill>
                <a:latin typeface="BinancePlex"/>
              </a:rPr>
              <a:t>HIGH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955800" y="3162300"/>
            <a:ext cx="3962400" cy="1397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700" spc="70">
                <a:solidFill>
                  <a:srgbClr val="EAECEF"/>
                </a:solidFill>
                <a:latin typeface="BinancePlex"/>
              </a:rPr>
              <a:t>Q1 · HIGH IMPACT · LOW LIFT</a:t>
            </a:r>
          </a:p>
        </p:txBody>
      </p:sp>
      <p:sp>
        <p:nvSpPr>
          <p:cNvPr id="25" name="Cell1 Label"/>
          <p:cNvSpPr>
            <a:spLocks noGrp="1"/>
          </p:cNvSpPr>
          <p:nvPr>
            <p:ph type="body" idx="20"/>
          </p:nvPr>
        </p:nvSpPr>
        <p:spPr>
          <a:xfrm>
            <a:off x="1955800" y="3365500"/>
            <a:ext cx="3962400" cy="508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4999"/>
              </a:lnSpc>
              <a:buNone/>
            </a:pPr>
            <a:r>
              <a:rPr lang="en-US" sz="1300" spc="-16">
                <a:solidFill>
                  <a:srgbClr val="EAECEF"/>
                </a:solidFill>
                <a:latin typeface="BinanceNova Medium"/>
              </a:rPr>
              <a:t>Guided sessions on the flagship line.</a:t>
            </a:r>
          </a:p>
        </p:txBody>
      </p:sp>
      <p:sp>
        <p:nvSpPr>
          <p:cNvPr id="26" name="Cell1 Body"/>
          <p:cNvSpPr>
            <a:spLocks noGrp="1"/>
          </p:cNvSpPr>
          <p:nvPr>
            <p:ph type="body" idx="21"/>
          </p:nvPr>
        </p:nvSpPr>
        <p:spPr>
          <a:xfrm>
            <a:off x="1955800" y="3924300"/>
            <a:ext cx="3962400" cy="7112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40000"/>
              </a:lnSpc>
              <a:buNone/>
            </a:pPr>
            <a:r>
              <a:rPr lang="en-US" sz="900">
                <a:solidFill>
                  <a:srgbClr val="0B0E11"/>
                </a:solidFill>
                <a:latin typeface="BinanceNova"/>
              </a:rPr>
              <a:t>Ships on existing hardware; telemetry already collected; known user need.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273800" y="3162300"/>
            <a:ext cx="3962400" cy="1397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700" spc="70">
                <a:solidFill>
                  <a:srgbClr val="FFFFFF"/>
                </a:solidFill>
                <a:latin typeface="BinancePlex"/>
              </a:rPr>
              <a:t>Q2 · HIGH IMPACT · HIGH LIFT</a:t>
            </a:r>
          </a:p>
        </p:txBody>
      </p:sp>
      <p:sp>
        <p:nvSpPr>
          <p:cNvPr id="28" name="Cell2 Label"/>
          <p:cNvSpPr>
            <a:spLocks noGrp="1"/>
          </p:cNvSpPr>
          <p:nvPr>
            <p:ph type="body" idx="24"/>
          </p:nvPr>
        </p:nvSpPr>
        <p:spPr>
          <a:xfrm>
            <a:off x="6273800" y="3365500"/>
            <a:ext cx="3962400" cy="508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4999"/>
              </a:lnSpc>
              <a:buNone/>
            </a:pPr>
            <a:r>
              <a:rPr lang="en-US" sz="1300" spc="-16">
                <a:solidFill>
                  <a:srgbClr val="EAECEF"/>
                </a:solidFill>
                <a:latin typeface="BinanceNova Medium"/>
              </a:rPr>
              <a:t>Full remote diagnosis across every product line.</a:t>
            </a:r>
          </a:p>
        </p:txBody>
      </p:sp>
      <p:sp>
        <p:nvSpPr>
          <p:cNvPr id="29" name="Cell2 Body"/>
          <p:cNvSpPr>
            <a:spLocks noGrp="1"/>
          </p:cNvSpPr>
          <p:nvPr>
            <p:ph type="body" idx="25"/>
          </p:nvPr>
        </p:nvSpPr>
        <p:spPr>
          <a:xfrm>
            <a:off x="6273800" y="3924300"/>
            <a:ext cx="3962400" cy="7112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40000"/>
              </a:lnSpc>
              <a:buNone/>
            </a:pPr>
            <a:r>
              <a:rPr lang="en-US" sz="900">
                <a:solidFill>
                  <a:srgbClr val="FFFFFF"/>
                </a:solidFill>
                <a:latin typeface="BinanceNova"/>
              </a:rPr>
              <a:t>Large prize; requires firmware convergence and a new field-service workflow.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955800" y="4876800"/>
            <a:ext cx="3962400" cy="1397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700" spc="70">
                <a:solidFill>
                  <a:srgbClr val="FFFFFF"/>
                </a:solidFill>
                <a:latin typeface="BinancePlex"/>
              </a:rPr>
              <a:t>Q3 · LOW IMPACT · LOW LIFT</a:t>
            </a:r>
          </a:p>
        </p:txBody>
      </p:sp>
      <p:sp>
        <p:nvSpPr>
          <p:cNvPr id="31" name="Cell3 Label"/>
          <p:cNvSpPr>
            <a:spLocks noGrp="1"/>
          </p:cNvSpPr>
          <p:nvPr>
            <p:ph type="body" idx="28"/>
          </p:nvPr>
        </p:nvSpPr>
        <p:spPr>
          <a:xfrm>
            <a:off x="1955800" y="5080000"/>
            <a:ext cx="3962400" cy="508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4999"/>
              </a:lnSpc>
              <a:buNone/>
            </a:pPr>
            <a:r>
              <a:rPr lang="en-US" sz="1300" spc="-16">
                <a:solidFill>
                  <a:srgbClr val="EAECEF"/>
                </a:solidFill>
                <a:latin typeface="BinanceNova Medium"/>
              </a:rPr>
              <a:t>Cosmetic refresh of onboarding.</a:t>
            </a:r>
          </a:p>
        </p:txBody>
      </p:sp>
      <p:sp>
        <p:nvSpPr>
          <p:cNvPr id="32" name="Cell3 Body"/>
          <p:cNvSpPr>
            <a:spLocks noGrp="1"/>
          </p:cNvSpPr>
          <p:nvPr>
            <p:ph type="body" idx="29"/>
          </p:nvPr>
        </p:nvSpPr>
        <p:spPr>
          <a:xfrm>
            <a:off x="1955800" y="5638800"/>
            <a:ext cx="3962400" cy="7112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40000"/>
              </a:lnSpc>
              <a:buNone/>
            </a:pPr>
            <a:r>
              <a:rPr lang="en-US" sz="900">
                <a:solidFill>
                  <a:srgbClr val="FFFFFF"/>
                </a:solidFill>
                <a:latin typeface="BinanceNova"/>
              </a:rPr>
              <a:t>Cheap to do; metrics rarely move meaningfully.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6273800" y="4876800"/>
            <a:ext cx="3962400" cy="1397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700" spc="70">
                <a:solidFill>
                  <a:srgbClr val="FFFFFF"/>
                </a:solidFill>
                <a:latin typeface="BinancePlex"/>
              </a:rPr>
              <a:t>Q4 · LOW IMPACT · HIGH LIFT</a:t>
            </a:r>
          </a:p>
        </p:txBody>
      </p:sp>
      <p:sp>
        <p:nvSpPr>
          <p:cNvPr id="34" name="Cell4 Label"/>
          <p:cNvSpPr>
            <a:spLocks noGrp="1"/>
          </p:cNvSpPr>
          <p:nvPr>
            <p:ph type="body" idx="32"/>
          </p:nvPr>
        </p:nvSpPr>
        <p:spPr>
          <a:xfrm>
            <a:off x="6273800" y="5080000"/>
            <a:ext cx="3962400" cy="508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4999"/>
              </a:lnSpc>
              <a:buNone/>
            </a:pPr>
            <a:r>
              <a:rPr lang="en-US" sz="1300" spc="-16">
                <a:solidFill>
                  <a:srgbClr val="EAECEF"/>
                </a:solidFill>
                <a:latin typeface="BinanceNova Medium"/>
              </a:rPr>
              <a:t>Voice control expansion.</a:t>
            </a:r>
          </a:p>
        </p:txBody>
      </p:sp>
      <p:sp>
        <p:nvSpPr>
          <p:cNvPr id="35" name="Cell4 Body"/>
          <p:cNvSpPr>
            <a:spLocks noGrp="1"/>
          </p:cNvSpPr>
          <p:nvPr>
            <p:ph type="body" idx="33"/>
          </p:nvPr>
        </p:nvSpPr>
        <p:spPr>
          <a:xfrm>
            <a:off x="6273800" y="5638800"/>
            <a:ext cx="3962400" cy="7112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40000"/>
              </a:lnSpc>
              <a:buNone/>
            </a:pPr>
            <a:r>
              <a:rPr lang="en-US" sz="900">
                <a:solidFill>
                  <a:srgbClr val="FFFFFF"/>
                </a:solidFill>
                <a:latin typeface="BinanceNova"/>
              </a:rPr>
              <a:t>Significant engineering and QA cost; adoption has plateaued.</a:t>
            </a:r>
          </a:p>
        </p:txBody>
      </p:sp>
      <p:sp>
        <p:nvSpPr>
          <p:cNvPr id="36" name="X Axis Title"/>
          <p:cNvSpPr>
            <a:spLocks noGrp="1"/>
          </p:cNvSpPr>
          <p:nvPr>
            <p:ph type="body" idx="41"/>
          </p:nvPr>
        </p:nvSpPr>
        <p:spPr>
          <a:xfrm>
            <a:off x="1778000" y="6769100"/>
            <a:ext cx="8636000" cy="152400"/>
          </a:xfrm>
        </p:spPr>
        <p:txBody>
          <a:bodyPr lIns="0" tIns="0" rIns="0" bIns="0" wrap="square" anchor="t"/>
          <a:lstStyle/>
          <a:p>
            <a:pPr marL="0" indent="0" algn="ctr">
              <a:buNone/>
            </a:pPr>
            <a:r>
              <a:rPr lang="en-US" sz="800" spc="112" cap="all">
                <a:solidFill>
                  <a:srgbClr val="FFFFFF"/>
                </a:solidFill>
                <a:latin typeface="BinancePlex"/>
              </a:rPr>
              <a:t>EFFORT TO SHIP</a:t>
            </a:r>
          </a:p>
        </p:txBody>
      </p:sp>
      <p:sp>
        <p:nvSpPr>
          <p:cNvPr id="37" name="Y Axis Title"/>
          <p:cNvSpPr>
            <a:spLocks noGrp="1"/>
          </p:cNvSpPr>
          <p:nvPr>
            <p:ph type="body" idx="42"/>
          </p:nvPr>
        </p:nvSpPr>
        <p:spPr>
          <a:xfrm>
            <a:off x="762000" y="2984500"/>
            <a:ext cx="508000" cy="3429000"/>
          </a:xfrm>
        </p:spPr>
        <p:txBody>
          <a:bodyPr lIns="0" tIns="0" rIns="0" bIns="0" wrap="square" anchor="ctr"/>
          <a:lstStyle/>
          <a:p>
            <a:pPr marL="0" indent="0" algn="ctr">
              <a:lnSpc>
                <a:spcPct val="120000"/>
              </a:lnSpc>
              <a:buNone/>
            </a:pPr>
            <a:r>
              <a:rPr lang="en-US" sz="800" spc="112" cap="all">
                <a:solidFill>
                  <a:srgbClr val="FFFFFF"/>
                </a:solidFill>
                <a:latin typeface="BinancePlex"/>
              </a:rPr>
              <a:t>I</a:t>
            </a:r>
          </a:p>
          <a:p>
            <a:pPr marL="0" indent="0" algn="ctr">
              <a:lnSpc>
                <a:spcPct val="120000"/>
              </a:lnSpc>
              <a:buNone/>
            </a:pPr>
            <a:r>
              <a:rPr lang="en-US" sz="800" spc="112" cap="all">
                <a:solidFill>
                  <a:srgbClr val="FFFFFF"/>
                </a:solidFill>
                <a:latin typeface="BinancePlex"/>
              </a:rPr>
              <a:t>M</a:t>
            </a:r>
          </a:p>
          <a:p>
            <a:pPr marL="0" indent="0" algn="ctr">
              <a:lnSpc>
                <a:spcPct val="120000"/>
              </a:lnSpc>
              <a:buNone/>
            </a:pPr>
            <a:r>
              <a:rPr lang="en-US" sz="800" spc="112" cap="all">
                <a:solidFill>
                  <a:srgbClr val="FFFFFF"/>
                </a:solidFill>
                <a:latin typeface="BinancePlex"/>
              </a:rPr>
              <a:t>P</a:t>
            </a:r>
          </a:p>
          <a:p>
            <a:pPr marL="0" indent="0" algn="ctr">
              <a:lnSpc>
                <a:spcPct val="120000"/>
              </a:lnSpc>
              <a:buNone/>
            </a:pPr>
            <a:r>
              <a:rPr lang="en-US" sz="800" spc="112" cap="all">
                <a:solidFill>
                  <a:srgbClr val="FFFFFF"/>
                </a:solidFill>
                <a:latin typeface="BinancePlex"/>
              </a:rPr>
              <a:t>A</a:t>
            </a:r>
          </a:p>
          <a:p>
            <a:pPr marL="0" indent="0" algn="ctr">
              <a:lnSpc>
                <a:spcPct val="120000"/>
              </a:lnSpc>
              <a:buNone/>
            </a:pPr>
            <a:r>
              <a:rPr lang="en-US" sz="800" spc="112" cap="all">
                <a:solidFill>
                  <a:srgbClr val="FFFFFF"/>
                </a:solidFill>
                <a:latin typeface="BinancePlex"/>
              </a:rPr>
              <a:t>C</a:t>
            </a:r>
          </a:p>
          <a:p>
            <a:pPr marL="0" indent="0" algn="ctr">
              <a:lnSpc>
                <a:spcPct val="120000"/>
              </a:lnSpc>
              <a:buNone/>
            </a:pPr>
            <a:r>
              <a:rPr lang="en-US" sz="800" spc="112" cap="all">
                <a:solidFill>
                  <a:srgbClr val="FFFFFF"/>
                </a:solidFill>
                <a:latin typeface="BinancePlex"/>
              </a:rPr>
              <a:t>T</a:t>
            </a:r>
          </a:p>
        </p:txBody>
      </p:sp>
    </p:spTree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Feinschliff · Waterfall">
    <p:bg>
      <p:bgPr>
        <a:solidFill>
          <a:srgbClr val="0B0E1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1"/>
          <p:cNvSpPr/>
          <p:nvPr/>
        </p:nvSpPr>
        <p:spPr>
          <a:xfrm>
            <a:off x="723900" y="417068"/>
            <a:ext cx="49784" cy="49784"/>
          </a:xfrm>
          <a:custGeom>
            <a:avLst/>
            <a:gdLst/>
            <a:ahLst/>
            <a:cxnLst/>
            <a:rect l="l" t="t" r="r" b="b"/>
            <a:pathLst>
              <a:path w="49784" h="49784">
                <a:moveTo>
                  <a:pt x="0" y="0"/>
                </a:moveTo>
                <a:lnTo>
                  <a:pt x="49784" y="49784"/>
                </a:lnTo>
                <a:lnTo>
                  <a:pt x="0" y="49784"/>
                </a:lnTo>
                <a:close/>
              </a:path>
            </a:pathLst>
          </a:custGeom>
          <a:solidFill>
            <a:srgbClr val="FCD5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Freeform 2"/>
          <p:cNvSpPr/>
          <p:nvPr/>
        </p:nvSpPr>
        <p:spPr>
          <a:xfrm>
            <a:off x="752348" y="445516"/>
            <a:ext cx="49784" cy="49784"/>
          </a:xfrm>
          <a:custGeom>
            <a:avLst/>
            <a:gdLst/>
            <a:ahLst/>
            <a:cxnLst/>
            <a:rect l="l" t="t" r="r" b="b"/>
            <a:pathLst>
              <a:path w="49784" h="49784">
                <a:moveTo>
                  <a:pt x="49784" y="49784"/>
                </a:moveTo>
                <a:lnTo>
                  <a:pt x="0" y="0"/>
                </a:lnTo>
                <a:lnTo>
                  <a:pt x="0" y="49784"/>
                </a:lnTo>
                <a:close/>
              </a:path>
            </a:pathLst>
          </a:custGeom>
          <a:solidFill>
            <a:srgbClr val="FCD5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Freeform 3"/>
          <p:cNvSpPr/>
          <p:nvPr/>
        </p:nvSpPr>
        <p:spPr>
          <a:xfrm>
            <a:off x="674116" y="523748"/>
            <a:ext cx="49784" cy="49784"/>
          </a:xfrm>
          <a:custGeom>
            <a:avLst/>
            <a:gdLst/>
            <a:ahLst/>
            <a:cxnLst/>
            <a:rect l="l" t="t" r="r" b="b"/>
            <a:pathLst>
              <a:path w="49784" h="49784">
                <a:moveTo>
                  <a:pt x="49784" y="49784"/>
                </a:moveTo>
                <a:lnTo>
                  <a:pt x="0" y="0"/>
                </a:lnTo>
                <a:lnTo>
                  <a:pt x="49784" y="0"/>
                </a:lnTo>
                <a:close/>
              </a:path>
            </a:pathLst>
          </a:custGeom>
          <a:solidFill>
            <a:srgbClr val="FCD5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Freeform 4"/>
          <p:cNvSpPr/>
          <p:nvPr/>
        </p:nvSpPr>
        <p:spPr>
          <a:xfrm>
            <a:off x="645668" y="495300"/>
            <a:ext cx="49784" cy="49784"/>
          </a:xfrm>
          <a:custGeom>
            <a:avLst/>
            <a:gdLst/>
            <a:ahLst/>
            <a:cxnLst/>
            <a:rect l="l" t="t" r="r" b="b"/>
            <a:pathLst>
              <a:path w="49784" h="49784">
                <a:moveTo>
                  <a:pt x="0" y="0"/>
                </a:moveTo>
                <a:lnTo>
                  <a:pt x="49784" y="49784"/>
                </a:lnTo>
                <a:lnTo>
                  <a:pt x="49784" y="0"/>
                </a:lnTo>
                <a:close/>
              </a:path>
            </a:pathLst>
          </a:custGeom>
          <a:solidFill>
            <a:srgbClr val="FCD5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01700" y="406400"/>
            <a:ext cx="2032000" cy="25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 spc="110">
                <a:solidFill>
                  <a:srgbClr val="FCD535"/>
                </a:solidFill>
                <a:latin typeface="BinanceNova"/>
              </a:rPr>
              <a:t>BINANCE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017000" y="508000"/>
            <a:ext cx="2667000" cy="177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700" spc="70" b="0">
                <a:solidFill>
                  <a:srgbClr val="848E9C"/>
                </a:solidFill>
                <a:latin typeface="BinanceNova SemiBold"/>
              </a:rPr>
              <a:t>WATERFALL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62000" y="6540500"/>
            <a:ext cx="4445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650" spc="65" b="0">
                <a:solidFill>
                  <a:srgbClr val="848E9C"/>
                </a:solidFill>
                <a:latin typeface="BinanceNova SemiBold"/>
              </a:rPr>
              <a:t>JAN 2026 · SHOWCASE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985000" y="6540500"/>
            <a:ext cx="4445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lang="en-US" dirty="0" sz="650" b="0" spc="65">
                <a:solidFill>
                  <a:srgbClr val="848E9C"/>
                </a:solidFill>
                <a:latin typeface="BinanceNova SemiBold"/>
              </a:rPr>
              <a:t>SLIDE </a:t>
            </a:r>
            <a:fld id="{A1B2C3D4-E5F6-4890-ABCD-EF0123456789}" type="slidenum">
              <a:rPr lang="en-US" dirty="0" sz="650" b="0" spc="65">
                <a:solidFill>
                  <a:srgbClr val="848E9C"/>
                </a:solidFill>
                <a:latin typeface="BinanceNova SemiBold"/>
              </a:rPr>
              <a:t>1</a:t>
            </a:fld>
          </a:p>
        </p:txBody>
      </p:sp>
      <p:sp>
        <p:nvSpPr>
          <p:cNvPr id="10" name="Rectangle 9"/>
          <p:cNvSpPr/>
          <p:nvPr/>
        </p:nvSpPr>
        <p:spPr>
          <a:xfrm>
            <a:off x="635000" y="1651000"/>
            <a:ext cx="50800" cy="876300"/>
          </a:xfrm>
          <a:prstGeom prst="rect">
            <a:avLst/>
          </a:prstGeom>
          <a:solidFill>
            <a:srgbClr val="FCD53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Eyebrow"/>
          <p:cNvSpPr>
            <a:spLocks noGrp="1"/>
          </p:cNvSpPr>
          <p:nvPr>
            <p:ph type="body" idx="10"/>
          </p:nvPr>
        </p:nvSpPr>
        <p:spPr>
          <a:xfrm>
            <a:off x="838200" y="1651000"/>
            <a:ext cx="101600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800" spc="80" cap="all">
                <a:solidFill>
                  <a:srgbClr val="FCD535"/>
                </a:solidFill>
                <a:latin typeface="BinanceNova"/>
              </a:rPr>
              <a:t>REVENUE BRIDGE · EUR BN</a:t>
            </a:r>
          </a:p>
        </p:txBody>
      </p:sp>
      <p:sp>
        <p:nvSpPr>
          <p:cNvPr id="12" name="Title"/>
          <p:cNvSpPr>
            <a:spLocks noGrp="1"/>
          </p:cNvSpPr>
          <p:nvPr>
            <p:ph type="title"/>
          </p:nvPr>
        </p:nvSpPr>
        <p:spPr>
          <a:xfrm>
            <a:off x="838200" y="1968500"/>
            <a:ext cx="10922000" cy="635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3200" spc="-48">
                <a:solidFill>
                  <a:srgbClr val="FFFFFF"/>
                </a:solidFill>
                <a:latin typeface="BinanceNova"/>
              </a:rPr>
              <a:t>Revenue grows 5.1% YoY; platform and services offset a mild decline in legacy lines.</a:t>
            </a:r>
          </a:p>
        </p:txBody>
      </p:sp>
      <p:sp>
        <p:nvSpPr>
          <p:cNvPr id="13" name="Rectangle 12"/>
          <p:cNvSpPr/>
          <p:nvPr/>
        </p:nvSpPr>
        <p:spPr>
          <a:xfrm>
            <a:off x="635000" y="3526626"/>
            <a:ext cx="1429657" cy="2315374"/>
          </a:xfrm>
          <a:prstGeom prst="rect">
            <a:avLst/>
          </a:prstGeom>
          <a:solidFill>
            <a:srgbClr val="FCD53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2051957" y="3526626"/>
            <a:ext cx="38100" cy="635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2115457" y="3526626"/>
            <a:ext cx="38100" cy="635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2178957" y="3526626"/>
            <a:ext cx="38100" cy="635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2217057" y="3422952"/>
            <a:ext cx="1429657" cy="103673"/>
          </a:xfrm>
          <a:prstGeom prst="rect">
            <a:avLst/>
          </a:prstGeom>
          <a:solidFill>
            <a:srgbClr val="0B0E1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3634014" y="3422952"/>
            <a:ext cx="38100" cy="635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3697514" y="3422952"/>
            <a:ext cx="38100" cy="635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3761014" y="3422952"/>
            <a:ext cx="38100" cy="635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3799114" y="3353837"/>
            <a:ext cx="1429657" cy="69116"/>
          </a:xfrm>
          <a:prstGeom prst="rect">
            <a:avLst/>
          </a:prstGeom>
          <a:solidFill>
            <a:srgbClr val="0B0E1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5216071" y="3353837"/>
            <a:ext cx="38100" cy="635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5279571" y="3353837"/>
            <a:ext cx="38100" cy="635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5343071" y="3353837"/>
            <a:ext cx="38100" cy="635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5381171" y="3302000"/>
            <a:ext cx="1429657" cy="51837"/>
          </a:xfrm>
          <a:prstGeom prst="rect">
            <a:avLst/>
          </a:prstGeom>
          <a:solidFill>
            <a:srgbClr val="0B0E1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6798129" y="3302000"/>
            <a:ext cx="38100" cy="635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6861629" y="3302000"/>
            <a:ext cx="38100" cy="635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6925129" y="3302000"/>
            <a:ext cx="38100" cy="635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6963229" y="3302000"/>
            <a:ext cx="1429657" cy="51837"/>
          </a:xfrm>
          <a:prstGeom prst="rect">
            <a:avLst/>
          </a:prstGeom>
          <a:solidFill>
            <a:srgbClr val="B7BDC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>
            <a:off x="8380186" y="3353837"/>
            <a:ext cx="38100" cy="635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8443686" y="3353837"/>
            <a:ext cx="38100" cy="635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ectangle 31"/>
          <p:cNvSpPr/>
          <p:nvPr/>
        </p:nvSpPr>
        <p:spPr>
          <a:xfrm>
            <a:off x="8507186" y="3353837"/>
            <a:ext cx="38100" cy="635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ectangle 32"/>
          <p:cNvSpPr/>
          <p:nvPr/>
        </p:nvSpPr>
        <p:spPr>
          <a:xfrm>
            <a:off x="8545286" y="3353837"/>
            <a:ext cx="1429657" cy="34558"/>
          </a:xfrm>
          <a:prstGeom prst="rect">
            <a:avLst/>
          </a:prstGeom>
          <a:solidFill>
            <a:srgbClr val="B7BDC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Rectangle 33"/>
          <p:cNvSpPr/>
          <p:nvPr/>
        </p:nvSpPr>
        <p:spPr>
          <a:xfrm>
            <a:off x="9962243" y="3388395"/>
            <a:ext cx="38100" cy="635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Rectangle 34"/>
          <p:cNvSpPr/>
          <p:nvPr/>
        </p:nvSpPr>
        <p:spPr>
          <a:xfrm>
            <a:off x="10025743" y="3388395"/>
            <a:ext cx="38100" cy="635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Rectangle 35"/>
          <p:cNvSpPr/>
          <p:nvPr/>
        </p:nvSpPr>
        <p:spPr>
          <a:xfrm>
            <a:off x="10089243" y="3388395"/>
            <a:ext cx="38100" cy="635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Rectangle 36"/>
          <p:cNvSpPr/>
          <p:nvPr/>
        </p:nvSpPr>
        <p:spPr>
          <a:xfrm>
            <a:off x="10127343" y="3405673"/>
            <a:ext cx="1429657" cy="2436327"/>
          </a:xfrm>
          <a:prstGeom prst="rect">
            <a:avLst/>
          </a:prstGeom>
          <a:solidFill>
            <a:srgbClr val="FCD53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Rectangle 37"/>
          <p:cNvSpPr/>
          <p:nvPr/>
        </p:nvSpPr>
        <p:spPr>
          <a:xfrm>
            <a:off x="635000" y="5842000"/>
            <a:ext cx="10922000" cy="6350"/>
          </a:xfrm>
          <a:prstGeom prst="rect">
            <a:avLst/>
          </a:prstGeom>
          <a:solidFill>
            <a:srgbClr val="0B0E1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Bar 1 Value"/>
          <p:cNvSpPr>
            <a:spLocks noGrp="1"/>
          </p:cNvSpPr>
          <p:nvPr>
            <p:ph type="body" idx="20"/>
          </p:nvPr>
        </p:nvSpPr>
        <p:spPr>
          <a:xfrm>
            <a:off x="584200" y="3270250"/>
            <a:ext cx="1530350" cy="177800"/>
          </a:xfrm>
        </p:spPr>
        <p:txBody>
          <a:bodyPr lIns="0" tIns="0" rIns="0" bIns="0" wrap="square" anchor="t"/>
          <a:lstStyle/>
          <a:p>
            <a:pPr marL="0" indent="0" algn="ctr">
              <a:buNone/>
            </a:pPr>
            <a:r>
              <a:rPr lang="en-US" sz="1200">
                <a:solidFill>
                  <a:srgbClr val="EAECEF"/>
                </a:solidFill>
                <a:latin typeface="BinancePlex"/>
              </a:rPr>
              <a:t>13.4</a:t>
            </a:r>
          </a:p>
        </p:txBody>
      </p:sp>
      <p:sp>
        <p:nvSpPr>
          <p:cNvPr id="40" name="Bar 1 Label"/>
          <p:cNvSpPr>
            <a:spLocks noGrp="1"/>
          </p:cNvSpPr>
          <p:nvPr>
            <p:ph type="body" idx="21"/>
          </p:nvPr>
        </p:nvSpPr>
        <p:spPr>
          <a:xfrm>
            <a:off x="558800" y="5981700"/>
            <a:ext cx="1581150" cy="279400"/>
          </a:xfrm>
        </p:spPr>
        <p:txBody>
          <a:bodyPr lIns="0" tIns="0" rIns="0" bIns="0" wrap="square" anchor="t"/>
          <a:lstStyle/>
          <a:p>
            <a:pPr marL="0" indent="0" algn="ctr">
              <a:buNone/>
            </a:pPr>
            <a:r>
              <a:rPr lang="en-US" sz="800" spc="64" cap="all">
                <a:solidFill>
                  <a:srgbClr val="FFFFFF"/>
                </a:solidFill>
                <a:latin typeface="BinancePlex"/>
              </a:rPr>
              <a:t>FY24 BASE</a:t>
            </a:r>
          </a:p>
        </p:txBody>
      </p:sp>
      <p:sp>
        <p:nvSpPr>
          <p:cNvPr id="41" name="Bar 2 Value"/>
          <p:cNvSpPr>
            <a:spLocks noGrp="1"/>
          </p:cNvSpPr>
          <p:nvPr>
            <p:ph type="body" idx="24"/>
          </p:nvPr>
        </p:nvSpPr>
        <p:spPr>
          <a:xfrm>
            <a:off x="2165350" y="3168650"/>
            <a:ext cx="1530350" cy="177800"/>
          </a:xfrm>
        </p:spPr>
        <p:txBody>
          <a:bodyPr lIns="0" tIns="0" rIns="0" bIns="0" wrap="square" anchor="t"/>
          <a:lstStyle/>
          <a:p>
            <a:pPr marL="0" indent="0" algn="ctr">
              <a:buNone/>
            </a:pPr>
            <a:r>
              <a:rPr lang="en-US" sz="1000">
                <a:solidFill>
                  <a:srgbClr val="EAECEF"/>
                </a:solidFill>
                <a:latin typeface="BinancePlex"/>
              </a:rPr>
              <a:t>+0.6</a:t>
            </a:r>
          </a:p>
        </p:txBody>
      </p:sp>
      <p:sp>
        <p:nvSpPr>
          <p:cNvPr id="42" name="Bar 2 Label"/>
          <p:cNvSpPr>
            <a:spLocks noGrp="1"/>
          </p:cNvSpPr>
          <p:nvPr>
            <p:ph type="body" idx="25"/>
          </p:nvPr>
        </p:nvSpPr>
        <p:spPr>
          <a:xfrm>
            <a:off x="2139950" y="5981700"/>
            <a:ext cx="1581150" cy="279400"/>
          </a:xfrm>
        </p:spPr>
        <p:txBody>
          <a:bodyPr lIns="0" tIns="0" rIns="0" bIns="0" wrap="square" anchor="t"/>
          <a:lstStyle/>
          <a:p>
            <a:pPr marL="0" indent="0" algn="ctr">
              <a:buNone/>
            </a:pPr>
            <a:r>
              <a:rPr lang="en-US" sz="800" spc="64" cap="all">
                <a:solidFill>
                  <a:srgbClr val="FFFFFF"/>
                </a:solidFill>
                <a:latin typeface="BinancePlex"/>
              </a:rPr>
              <a:t>CONSUMER</a:t>
            </a:r>
          </a:p>
        </p:txBody>
      </p:sp>
      <p:sp>
        <p:nvSpPr>
          <p:cNvPr id="43" name="Bar 3 Value"/>
          <p:cNvSpPr>
            <a:spLocks noGrp="1"/>
          </p:cNvSpPr>
          <p:nvPr>
            <p:ph type="body" idx="28"/>
          </p:nvPr>
        </p:nvSpPr>
        <p:spPr>
          <a:xfrm>
            <a:off x="3746500" y="3098800"/>
            <a:ext cx="1530350" cy="177800"/>
          </a:xfrm>
        </p:spPr>
        <p:txBody>
          <a:bodyPr lIns="0" tIns="0" rIns="0" bIns="0" wrap="square" anchor="t"/>
          <a:lstStyle/>
          <a:p>
            <a:pPr marL="0" indent="0" algn="ctr">
              <a:buNone/>
            </a:pPr>
            <a:r>
              <a:rPr lang="en-US" sz="1000">
                <a:solidFill>
                  <a:srgbClr val="EAECEF"/>
                </a:solidFill>
                <a:latin typeface="BinancePlex"/>
              </a:rPr>
              <a:t>+0.4</a:t>
            </a:r>
          </a:p>
        </p:txBody>
      </p:sp>
      <p:sp>
        <p:nvSpPr>
          <p:cNvPr id="44" name="Bar 3 Label"/>
          <p:cNvSpPr>
            <a:spLocks noGrp="1"/>
          </p:cNvSpPr>
          <p:nvPr>
            <p:ph type="body" idx="29"/>
          </p:nvPr>
        </p:nvSpPr>
        <p:spPr>
          <a:xfrm>
            <a:off x="3721100" y="5981700"/>
            <a:ext cx="1581150" cy="279400"/>
          </a:xfrm>
        </p:spPr>
        <p:txBody>
          <a:bodyPr lIns="0" tIns="0" rIns="0" bIns="0" wrap="square" anchor="t"/>
          <a:lstStyle/>
          <a:p>
            <a:pPr marL="0" indent="0" algn="ctr">
              <a:buNone/>
            </a:pPr>
            <a:r>
              <a:rPr lang="en-US" sz="800" spc="64" cap="all">
                <a:solidFill>
                  <a:srgbClr val="FFFFFF"/>
                </a:solidFill>
                <a:latin typeface="BinancePlex"/>
              </a:rPr>
              <a:t>PLATFORM</a:t>
            </a:r>
          </a:p>
        </p:txBody>
      </p:sp>
      <p:sp>
        <p:nvSpPr>
          <p:cNvPr id="45" name="Bar 4 Value"/>
          <p:cNvSpPr>
            <a:spLocks noGrp="1"/>
          </p:cNvSpPr>
          <p:nvPr>
            <p:ph type="body" idx="32"/>
          </p:nvPr>
        </p:nvSpPr>
        <p:spPr>
          <a:xfrm>
            <a:off x="5327650" y="3048000"/>
            <a:ext cx="1530350" cy="177800"/>
          </a:xfrm>
        </p:spPr>
        <p:txBody>
          <a:bodyPr lIns="0" tIns="0" rIns="0" bIns="0" wrap="square" anchor="t"/>
          <a:lstStyle/>
          <a:p>
            <a:pPr marL="0" indent="0" algn="ctr">
              <a:buNone/>
            </a:pPr>
            <a:r>
              <a:rPr lang="en-US" sz="1000">
                <a:solidFill>
                  <a:srgbClr val="EAECEF"/>
                </a:solidFill>
                <a:latin typeface="BinancePlex"/>
              </a:rPr>
              <a:t>+0.3</a:t>
            </a:r>
          </a:p>
        </p:txBody>
      </p:sp>
      <p:sp>
        <p:nvSpPr>
          <p:cNvPr id="46" name="Bar 4 Label"/>
          <p:cNvSpPr>
            <a:spLocks noGrp="1"/>
          </p:cNvSpPr>
          <p:nvPr>
            <p:ph type="body" idx="33"/>
          </p:nvPr>
        </p:nvSpPr>
        <p:spPr>
          <a:xfrm>
            <a:off x="5302250" y="5981700"/>
            <a:ext cx="1581150" cy="279400"/>
          </a:xfrm>
        </p:spPr>
        <p:txBody>
          <a:bodyPr lIns="0" tIns="0" rIns="0" bIns="0" wrap="square" anchor="t"/>
          <a:lstStyle/>
          <a:p>
            <a:pPr marL="0" indent="0" algn="ctr">
              <a:buNone/>
            </a:pPr>
            <a:r>
              <a:rPr lang="en-US" sz="800" spc="64" cap="all">
                <a:solidFill>
                  <a:srgbClr val="FFFFFF"/>
                </a:solidFill>
                <a:latin typeface="BinancePlex"/>
              </a:rPr>
              <a:t>SERVICES</a:t>
            </a:r>
          </a:p>
        </p:txBody>
      </p:sp>
      <p:sp>
        <p:nvSpPr>
          <p:cNvPr id="47" name="Bar 5 Value"/>
          <p:cNvSpPr>
            <a:spLocks noGrp="1"/>
          </p:cNvSpPr>
          <p:nvPr>
            <p:ph type="body" idx="36"/>
          </p:nvPr>
        </p:nvSpPr>
        <p:spPr>
          <a:xfrm>
            <a:off x="6908800" y="3048000"/>
            <a:ext cx="1530350" cy="177800"/>
          </a:xfrm>
        </p:spPr>
        <p:txBody>
          <a:bodyPr lIns="0" tIns="0" rIns="0" bIns="0" wrap="square" anchor="t"/>
          <a:lstStyle/>
          <a:p>
            <a:pPr marL="0" indent="0" algn="ctr">
              <a:buNone/>
            </a:pPr>
            <a:r>
              <a:rPr lang="en-US" sz="1000">
                <a:solidFill>
                  <a:srgbClr val="EAECEF"/>
                </a:solidFill>
                <a:latin typeface="BinancePlex"/>
              </a:rPr>
              <a:t>−0.3</a:t>
            </a:r>
          </a:p>
        </p:txBody>
      </p:sp>
      <p:sp>
        <p:nvSpPr>
          <p:cNvPr id="48" name="Bar 5 Label"/>
          <p:cNvSpPr>
            <a:spLocks noGrp="1"/>
          </p:cNvSpPr>
          <p:nvPr>
            <p:ph type="body" idx="37"/>
          </p:nvPr>
        </p:nvSpPr>
        <p:spPr>
          <a:xfrm>
            <a:off x="6883400" y="5981700"/>
            <a:ext cx="1581150" cy="279400"/>
          </a:xfrm>
        </p:spPr>
        <p:txBody>
          <a:bodyPr lIns="0" tIns="0" rIns="0" bIns="0" wrap="square" anchor="t"/>
          <a:lstStyle/>
          <a:p>
            <a:pPr marL="0" indent="0" algn="ctr">
              <a:buNone/>
            </a:pPr>
            <a:r>
              <a:rPr lang="en-US" sz="800" spc="64" cap="all">
                <a:solidFill>
                  <a:srgbClr val="FFFFFF"/>
                </a:solidFill>
                <a:latin typeface="BinancePlex"/>
              </a:rPr>
              <a:t>LEGACY</a:t>
            </a:r>
          </a:p>
        </p:txBody>
      </p:sp>
      <p:sp>
        <p:nvSpPr>
          <p:cNvPr id="49" name="Bar 6 Value"/>
          <p:cNvSpPr>
            <a:spLocks noGrp="1"/>
          </p:cNvSpPr>
          <p:nvPr>
            <p:ph type="body" idx="40"/>
          </p:nvPr>
        </p:nvSpPr>
        <p:spPr>
          <a:xfrm>
            <a:off x="8489950" y="3098800"/>
            <a:ext cx="1530350" cy="177800"/>
          </a:xfrm>
        </p:spPr>
        <p:txBody>
          <a:bodyPr lIns="0" tIns="0" rIns="0" bIns="0" wrap="square" anchor="t"/>
          <a:lstStyle/>
          <a:p>
            <a:pPr marL="0" indent="0" algn="ctr">
              <a:buNone/>
            </a:pPr>
            <a:r>
              <a:rPr lang="en-US" sz="1000">
                <a:solidFill>
                  <a:srgbClr val="EAECEF"/>
                </a:solidFill>
                <a:latin typeface="BinancePlex"/>
              </a:rPr>
              <a:t>−0.2</a:t>
            </a:r>
          </a:p>
        </p:txBody>
      </p:sp>
      <p:sp>
        <p:nvSpPr>
          <p:cNvPr id="50" name="Bar 6 Label"/>
          <p:cNvSpPr>
            <a:spLocks noGrp="1"/>
          </p:cNvSpPr>
          <p:nvPr>
            <p:ph type="body" idx="41"/>
          </p:nvPr>
        </p:nvSpPr>
        <p:spPr>
          <a:xfrm>
            <a:off x="8464550" y="5981700"/>
            <a:ext cx="1581150" cy="279400"/>
          </a:xfrm>
        </p:spPr>
        <p:txBody>
          <a:bodyPr lIns="0" tIns="0" rIns="0" bIns="0" wrap="square" anchor="t"/>
          <a:lstStyle/>
          <a:p>
            <a:pPr marL="0" indent="0" algn="ctr">
              <a:buNone/>
            </a:pPr>
            <a:r>
              <a:rPr lang="en-US" sz="800" spc="64" cap="all">
                <a:solidFill>
                  <a:srgbClr val="FFFFFF"/>
                </a:solidFill>
                <a:latin typeface="BinancePlex"/>
              </a:rPr>
              <a:t>FX</a:t>
            </a:r>
          </a:p>
        </p:txBody>
      </p:sp>
      <p:sp>
        <p:nvSpPr>
          <p:cNvPr id="51" name="Bar 7 Value"/>
          <p:cNvSpPr>
            <a:spLocks noGrp="1"/>
          </p:cNvSpPr>
          <p:nvPr>
            <p:ph type="body" idx="44"/>
          </p:nvPr>
        </p:nvSpPr>
        <p:spPr>
          <a:xfrm>
            <a:off x="10071100" y="3149600"/>
            <a:ext cx="1530350" cy="177800"/>
          </a:xfrm>
        </p:spPr>
        <p:txBody>
          <a:bodyPr lIns="0" tIns="0" rIns="0" bIns="0" wrap="square" anchor="t"/>
          <a:lstStyle/>
          <a:p>
            <a:pPr marL="0" indent="0" algn="ctr">
              <a:buNone/>
            </a:pPr>
            <a:r>
              <a:rPr lang="en-US" sz="1200">
                <a:solidFill>
                  <a:srgbClr val="EAECEF"/>
                </a:solidFill>
                <a:latin typeface="BinancePlex"/>
              </a:rPr>
              <a:t>14.1</a:t>
            </a:r>
          </a:p>
        </p:txBody>
      </p:sp>
      <p:sp>
        <p:nvSpPr>
          <p:cNvPr id="52" name="Bar 7 Label"/>
          <p:cNvSpPr>
            <a:spLocks noGrp="1"/>
          </p:cNvSpPr>
          <p:nvPr>
            <p:ph type="body" idx="45"/>
          </p:nvPr>
        </p:nvSpPr>
        <p:spPr>
          <a:xfrm>
            <a:off x="10045700" y="5981700"/>
            <a:ext cx="1581150" cy="279400"/>
          </a:xfrm>
        </p:spPr>
        <p:txBody>
          <a:bodyPr lIns="0" tIns="0" rIns="0" bIns="0" wrap="square" anchor="t"/>
          <a:lstStyle/>
          <a:p>
            <a:pPr marL="0" indent="0" algn="ctr">
              <a:buNone/>
            </a:pPr>
            <a:r>
              <a:rPr lang="en-US" sz="800" spc="64" cap="all">
                <a:solidFill>
                  <a:srgbClr val="FFFFFF"/>
                </a:solidFill>
                <a:latin typeface="BinancePlex"/>
              </a:rPr>
              <a:t>FY25 TOTAL</a:t>
            </a:r>
          </a:p>
        </p:txBody>
      </p:sp>
      <p:sp>
        <p:nvSpPr>
          <p:cNvPr id="53" name="Source"/>
          <p:cNvSpPr>
            <a:spLocks noGrp="1"/>
          </p:cNvSpPr>
          <p:nvPr>
            <p:ph type="body" idx="60"/>
          </p:nvPr>
        </p:nvSpPr>
        <p:spPr>
          <a:xfrm>
            <a:off x="635000" y="6350000"/>
            <a:ext cx="10922000" cy="1524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spc="70" cap="all">
                <a:solidFill>
                  <a:srgbClr val="FFFFFF"/>
                </a:solidFill>
                <a:latin typeface="BinancePlex"/>
              </a:rPr>
              <a:t>SOURCE · SAMPLE DATA, FY25 PRELIMINARY · EUR BN · VARIANCES ROUNDED TO 0.1</a:t>
            </a:r>
          </a:p>
        </p:txBody>
      </p:sp>
    </p:spTree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Feinschliff · Process Flow">
    <p:bg>
      <p:bgPr>
        <a:solidFill>
          <a:srgbClr val="0B0E1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1"/>
          <p:cNvSpPr/>
          <p:nvPr/>
        </p:nvSpPr>
        <p:spPr>
          <a:xfrm>
            <a:off x="723900" y="417068"/>
            <a:ext cx="49784" cy="49784"/>
          </a:xfrm>
          <a:custGeom>
            <a:avLst/>
            <a:gdLst/>
            <a:ahLst/>
            <a:cxnLst/>
            <a:rect l="l" t="t" r="r" b="b"/>
            <a:pathLst>
              <a:path w="49784" h="49784">
                <a:moveTo>
                  <a:pt x="0" y="0"/>
                </a:moveTo>
                <a:lnTo>
                  <a:pt x="49784" y="49784"/>
                </a:lnTo>
                <a:lnTo>
                  <a:pt x="0" y="49784"/>
                </a:lnTo>
                <a:close/>
              </a:path>
            </a:pathLst>
          </a:custGeom>
          <a:solidFill>
            <a:srgbClr val="FCD5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Freeform 2"/>
          <p:cNvSpPr/>
          <p:nvPr/>
        </p:nvSpPr>
        <p:spPr>
          <a:xfrm>
            <a:off x="752348" y="445516"/>
            <a:ext cx="49784" cy="49784"/>
          </a:xfrm>
          <a:custGeom>
            <a:avLst/>
            <a:gdLst/>
            <a:ahLst/>
            <a:cxnLst/>
            <a:rect l="l" t="t" r="r" b="b"/>
            <a:pathLst>
              <a:path w="49784" h="49784">
                <a:moveTo>
                  <a:pt x="49784" y="49784"/>
                </a:moveTo>
                <a:lnTo>
                  <a:pt x="0" y="0"/>
                </a:lnTo>
                <a:lnTo>
                  <a:pt x="0" y="49784"/>
                </a:lnTo>
                <a:close/>
              </a:path>
            </a:pathLst>
          </a:custGeom>
          <a:solidFill>
            <a:srgbClr val="FCD5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Freeform 3"/>
          <p:cNvSpPr/>
          <p:nvPr/>
        </p:nvSpPr>
        <p:spPr>
          <a:xfrm>
            <a:off x="674116" y="523748"/>
            <a:ext cx="49784" cy="49784"/>
          </a:xfrm>
          <a:custGeom>
            <a:avLst/>
            <a:gdLst/>
            <a:ahLst/>
            <a:cxnLst/>
            <a:rect l="l" t="t" r="r" b="b"/>
            <a:pathLst>
              <a:path w="49784" h="49784">
                <a:moveTo>
                  <a:pt x="49784" y="49784"/>
                </a:moveTo>
                <a:lnTo>
                  <a:pt x="0" y="0"/>
                </a:lnTo>
                <a:lnTo>
                  <a:pt x="49784" y="0"/>
                </a:lnTo>
                <a:close/>
              </a:path>
            </a:pathLst>
          </a:custGeom>
          <a:solidFill>
            <a:srgbClr val="FCD5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Freeform 4"/>
          <p:cNvSpPr/>
          <p:nvPr/>
        </p:nvSpPr>
        <p:spPr>
          <a:xfrm>
            <a:off x="645668" y="495300"/>
            <a:ext cx="49784" cy="49784"/>
          </a:xfrm>
          <a:custGeom>
            <a:avLst/>
            <a:gdLst/>
            <a:ahLst/>
            <a:cxnLst/>
            <a:rect l="l" t="t" r="r" b="b"/>
            <a:pathLst>
              <a:path w="49784" h="49784">
                <a:moveTo>
                  <a:pt x="0" y="0"/>
                </a:moveTo>
                <a:lnTo>
                  <a:pt x="49784" y="49784"/>
                </a:lnTo>
                <a:lnTo>
                  <a:pt x="49784" y="0"/>
                </a:lnTo>
                <a:close/>
              </a:path>
            </a:pathLst>
          </a:custGeom>
          <a:solidFill>
            <a:srgbClr val="FCD5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01700" y="406400"/>
            <a:ext cx="2032000" cy="25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 spc="110">
                <a:solidFill>
                  <a:srgbClr val="FCD535"/>
                </a:solidFill>
                <a:latin typeface="BinanceNova"/>
              </a:rPr>
              <a:t>BINANCE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017000" y="508000"/>
            <a:ext cx="2667000" cy="177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700" spc="70" b="0">
                <a:solidFill>
                  <a:srgbClr val="848E9C"/>
                </a:solidFill>
                <a:latin typeface="BinanceNova SemiBold"/>
              </a:rPr>
              <a:t>PROCESS FLOW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62000" y="6540500"/>
            <a:ext cx="4445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650" spc="65" b="0">
                <a:solidFill>
                  <a:srgbClr val="848E9C"/>
                </a:solidFill>
                <a:latin typeface="BinanceNova SemiBold"/>
              </a:rPr>
              <a:t>JAN 2026 · SHOWCASE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985000" y="6540500"/>
            <a:ext cx="4445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lang="en-US" dirty="0" sz="650" b="0" spc="65">
                <a:solidFill>
                  <a:srgbClr val="848E9C"/>
                </a:solidFill>
                <a:latin typeface="BinanceNova SemiBold"/>
              </a:rPr>
              <a:t>SLIDE </a:t>
            </a:r>
            <a:fld id="{A1B2C3D4-E5F6-4890-ABCD-EF0123456789}" type="slidenum">
              <a:rPr lang="en-US" dirty="0" sz="650" b="0" spc="65">
                <a:solidFill>
                  <a:srgbClr val="848E9C"/>
                </a:solidFill>
                <a:latin typeface="BinanceNova SemiBold"/>
              </a:rPr>
              <a:t>1</a:t>
            </a:fld>
          </a:p>
        </p:txBody>
      </p:sp>
      <p:sp>
        <p:nvSpPr>
          <p:cNvPr id="10" name="Rectangle 9"/>
          <p:cNvSpPr/>
          <p:nvPr/>
        </p:nvSpPr>
        <p:spPr>
          <a:xfrm>
            <a:off x="635000" y="1651000"/>
            <a:ext cx="50800" cy="876300"/>
          </a:xfrm>
          <a:prstGeom prst="rect">
            <a:avLst/>
          </a:prstGeom>
          <a:solidFill>
            <a:srgbClr val="FCD53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Eyebrow"/>
          <p:cNvSpPr>
            <a:spLocks noGrp="1"/>
          </p:cNvSpPr>
          <p:nvPr>
            <p:ph type="body" idx="10"/>
          </p:nvPr>
        </p:nvSpPr>
        <p:spPr>
          <a:xfrm>
            <a:off x="838200" y="1651000"/>
            <a:ext cx="101600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800" spc="80" cap="all">
                <a:solidFill>
                  <a:srgbClr val="FCD535"/>
                </a:solidFill>
                <a:latin typeface="BinanceNova"/>
              </a:rPr>
              <a:t>DELIVERY SEQUENCE</a:t>
            </a:r>
          </a:p>
        </p:txBody>
      </p:sp>
      <p:sp>
        <p:nvSpPr>
          <p:cNvPr id="12" name="Title"/>
          <p:cNvSpPr>
            <a:spLocks noGrp="1"/>
          </p:cNvSpPr>
          <p:nvPr>
            <p:ph type="title"/>
          </p:nvPr>
        </p:nvSpPr>
        <p:spPr>
          <a:xfrm>
            <a:off x="838200" y="1968500"/>
            <a:ext cx="10922000" cy="635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3200" spc="-48">
                <a:solidFill>
                  <a:srgbClr val="FFFFFF"/>
                </a:solidFill>
                <a:latin typeface="BinanceNova"/>
              </a:rPr>
              <a:t>Five stages · pilot highlights the current phase.</a:t>
            </a:r>
          </a:p>
        </p:txBody>
      </p:sp>
      <p:sp>
        <p:nvSpPr>
          <p:cNvPr id="13" name="Pentagon 12"/>
          <p:cNvSpPr/>
          <p:nvPr/>
        </p:nvSpPr>
        <p:spPr>
          <a:xfrm>
            <a:off x="635000" y="3429000"/>
            <a:ext cx="2326640" cy="2413000"/>
          </a:xfrm>
          <a:prstGeom prst="homePlate">
            <a:avLst/>
          </a:prstGeom>
          <a:solidFill>
            <a:srgbClr val="1E232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Chevron 13"/>
          <p:cNvSpPr/>
          <p:nvPr/>
        </p:nvSpPr>
        <p:spPr>
          <a:xfrm>
            <a:off x="2783840" y="3429000"/>
            <a:ext cx="2326640" cy="2413000"/>
          </a:xfrm>
          <a:prstGeom prst="chevron">
            <a:avLst/>
          </a:prstGeom>
          <a:solidFill>
            <a:srgbClr val="1E232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Chevron 14"/>
          <p:cNvSpPr/>
          <p:nvPr/>
        </p:nvSpPr>
        <p:spPr>
          <a:xfrm>
            <a:off x="4932680" y="3429000"/>
            <a:ext cx="2326640" cy="2413000"/>
          </a:xfrm>
          <a:prstGeom prst="chevron">
            <a:avLst/>
          </a:prstGeom>
          <a:solidFill>
            <a:srgbClr val="FCD53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Chevron 15"/>
          <p:cNvSpPr/>
          <p:nvPr/>
        </p:nvSpPr>
        <p:spPr>
          <a:xfrm>
            <a:off x="7081520" y="3429000"/>
            <a:ext cx="2326640" cy="2413000"/>
          </a:xfrm>
          <a:prstGeom prst="chevron">
            <a:avLst/>
          </a:prstGeom>
          <a:solidFill>
            <a:srgbClr val="1E232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Chevron 16"/>
          <p:cNvSpPr/>
          <p:nvPr/>
        </p:nvSpPr>
        <p:spPr>
          <a:xfrm>
            <a:off x="9230360" y="3429000"/>
            <a:ext cx="2326640" cy="2413000"/>
          </a:xfrm>
          <a:prstGeom prst="chevron">
            <a:avLst/>
          </a:prstGeom>
          <a:solidFill>
            <a:srgbClr val="1E232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Stage 1 Counter"/>
          <p:cNvSpPr>
            <a:spLocks noGrp="1"/>
          </p:cNvSpPr>
          <p:nvPr>
            <p:ph type="body" idx="20"/>
          </p:nvPr>
        </p:nvSpPr>
        <p:spPr>
          <a:xfrm>
            <a:off x="838200" y="3683000"/>
            <a:ext cx="18415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spc="70" cap="all">
                <a:solidFill>
                  <a:srgbClr val="F0B90B"/>
                </a:solidFill>
                <a:latin typeface="BinancePlex"/>
              </a:rPr>
              <a:t>01</a:t>
            </a:r>
          </a:p>
        </p:txBody>
      </p:sp>
      <p:sp>
        <p:nvSpPr>
          <p:cNvPr id="19" name="Stage 1 Heading"/>
          <p:cNvSpPr>
            <a:spLocks noGrp="1"/>
          </p:cNvSpPr>
          <p:nvPr>
            <p:ph type="body" idx="21"/>
          </p:nvPr>
        </p:nvSpPr>
        <p:spPr>
          <a:xfrm>
            <a:off x="838200" y="4013200"/>
            <a:ext cx="1841500" cy="381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4999"/>
              </a:lnSpc>
              <a:buNone/>
            </a:pPr>
            <a:r>
              <a:rPr lang="en-US" sz="1600" spc="-19">
                <a:solidFill>
                  <a:srgbClr val="0B0E11"/>
                </a:solidFill>
                <a:latin typeface="BinanceNova Medium"/>
              </a:rPr>
              <a:t>Frame</a:t>
            </a:r>
          </a:p>
        </p:txBody>
      </p:sp>
      <p:sp>
        <p:nvSpPr>
          <p:cNvPr id="20" name="Stage 1 Body"/>
          <p:cNvSpPr>
            <a:spLocks noGrp="1"/>
          </p:cNvSpPr>
          <p:nvPr>
            <p:ph type="body" idx="22"/>
          </p:nvPr>
        </p:nvSpPr>
        <p:spPr>
          <a:xfrm>
            <a:off x="838200" y="4508500"/>
            <a:ext cx="1841500" cy="1143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1000">
                <a:solidFill>
                  <a:srgbClr val="FFFFFF"/>
                </a:solidFill>
                <a:latin typeface="BinanceNova"/>
              </a:rPr>
              <a:t>Clarify the problem and the one outcome that matters.</a:t>
            </a:r>
          </a:p>
        </p:txBody>
      </p:sp>
      <p:sp>
        <p:nvSpPr>
          <p:cNvPr id="21" name="Stage 2 Counter"/>
          <p:cNvSpPr>
            <a:spLocks noGrp="1"/>
          </p:cNvSpPr>
          <p:nvPr>
            <p:ph type="body" idx="24"/>
          </p:nvPr>
        </p:nvSpPr>
        <p:spPr>
          <a:xfrm>
            <a:off x="3162300" y="3683000"/>
            <a:ext cx="16637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spc="70" cap="all">
                <a:solidFill>
                  <a:srgbClr val="F0B90B"/>
                </a:solidFill>
                <a:latin typeface="BinancePlex"/>
              </a:rPr>
              <a:t>02</a:t>
            </a:r>
          </a:p>
        </p:txBody>
      </p:sp>
      <p:sp>
        <p:nvSpPr>
          <p:cNvPr id="22" name="Stage 2 Heading"/>
          <p:cNvSpPr>
            <a:spLocks noGrp="1"/>
          </p:cNvSpPr>
          <p:nvPr>
            <p:ph type="body" idx="25"/>
          </p:nvPr>
        </p:nvSpPr>
        <p:spPr>
          <a:xfrm>
            <a:off x="3162300" y="4013200"/>
            <a:ext cx="1663700" cy="381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4999"/>
              </a:lnSpc>
              <a:buNone/>
            </a:pPr>
            <a:r>
              <a:rPr lang="en-US" sz="1600" spc="-19">
                <a:solidFill>
                  <a:srgbClr val="0B0E11"/>
                </a:solidFill>
                <a:latin typeface="BinanceNova Medium"/>
              </a:rPr>
              <a:t>Prototype</a:t>
            </a:r>
          </a:p>
        </p:txBody>
      </p:sp>
      <p:sp>
        <p:nvSpPr>
          <p:cNvPr id="23" name="Stage 2 Body"/>
          <p:cNvSpPr>
            <a:spLocks noGrp="1"/>
          </p:cNvSpPr>
          <p:nvPr>
            <p:ph type="body" idx="26"/>
          </p:nvPr>
        </p:nvSpPr>
        <p:spPr>
          <a:xfrm>
            <a:off x="3162300" y="4508500"/>
            <a:ext cx="1663700" cy="1143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1000">
                <a:solidFill>
                  <a:srgbClr val="FFFFFF"/>
                </a:solidFill>
                <a:latin typeface="BinanceNova"/>
              </a:rPr>
              <a:t>Build the thin vertical slice end-to-end.</a:t>
            </a:r>
          </a:p>
        </p:txBody>
      </p:sp>
      <p:sp>
        <p:nvSpPr>
          <p:cNvPr id="24" name="Stage 3 Counter"/>
          <p:cNvSpPr>
            <a:spLocks noGrp="1"/>
          </p:cNvSpPr>
          <p:nvPr>
            <p:ph type="body" idx="28"/>
          </p:nvPr>
        </p:nvSpPr>
        <p:spPr>
          <a:xfrm>
            <a:off x="5499100" y="3683000"/>
            <a:ext cx="14732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spc="70" cap="all">
                <a:solidFill>
                  <a:srgbClr val="EAECEF"/>
                </a:solidFill>
                <a:latin typeface="BinancePlex"/>
              </a:rPr>
              <a:t>03</a:t>
            </a:r>
          </a:p>
        </p:txBody>
      </p:sp>
      <p:sp>
        <p:nvSpPr>
          <p:cNvPr id="25" name="Stage 3 Heading"/>
          <p:cNvSpPr>
            <a:spLocks noGrp="1"/>
          </p:cNvSpPr>
          <p:nvPr>
            <p:ph type="body" idx="29"/>
          </p:nvPr>
        </p:nvSpPr>
        <p:spPr>
          <a:xfrm>
            <a:off x="5499100" y="4013200"/>
            <a:ext cx="1473200" cy="381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4999"/>
              </a:lnSpc>
              <a:buNone/>
            </a:pPr>
            <a:r>
              <a:rPr lang="en-US" sz="1600" spc="-19">
                <a:solidFill>
                  <a:srgbClr val="EAECEF"/>
                </a:solidFill>
                <a:latin typeface="BinanceNova Medium"/>
              </a:rPr>
              <a:t>Pilot</a:t>
            </a:r>
          </a:p>
        </p:txBody>
      </p:sp>
      <p:sp>
        <p:nvSpPr>
          <p:cNvPr id="26" name="Stage 3 Body"/>
          <p:cNvSpPr>
            <a:spLocks noGrp="1"/>
          </p:cNvSpPr>
          <p:nvPr>
            <p:ph type="body" idx="30"/>
          </p:nvPr>
        </p:nvSpPr>
        <p:spPr>
          <a:xfrm>
            <a:off x="5499100" y="4508500"/>
            <a:ext cx="1473200" cy="1143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1000">
                <a:solidFill>
                  <a:srgbClr val="0B0E11"/>
                </a:solidFill>
                <a:latin typeface="BinanceNova"/>
              </a:rPr>
              <a:t>Run it with real users on real data.</a:t>
            </a:r>
          </a:p>
        </p:txBody>
      </p:sp>
      <p:sp>
        <p:nvSpPr>
          <p:cNvPr id="27" name="Stage 4 Counter"/>
          <p:cNvSpPr>
            <a:spLocks noGrp="1"/>
          </p:cNvSpPr>
          <p:nvPr>
            <p:ph type="body" idx="32"/>
          </p:nvPr>
        </p:nvSpPr>
        <p:spPr>
          <a:xfrm>
            <a:off x="7461250" y="3683000"/>
            <a:ext cx="16637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spc="70" cap="all">
                <a:solidFill>
                  <a:srgbClr val="F0B90B"/>
                </a:solidFill>
                <a:latin typeface="BinancePlex"/>
              </a:rPr>
              <a:t>04</a:t>
            </a:r>
          </a:p>
        </p:txBody>
      </p:sp>
      <p:sp>
        <p:nvSpPr>
          <p:cNvPr id="28" name="Stage 4 Heading"/>
          <p:cNvSpPr>
            <a:spLocks noGrp="1"/>
          </p:cNvSpPr>
          <p:nvPr>
            <p:ph type="body" idx="33"/>
          </p:nvPr>
        </p:nvSpPr>
        <p:spPr>
          <a:xfrm>
            <a:off x="7461250" y="4013200"/>
            <a:ext cx="1663700" cy="381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4999"/>
              </a:lnSpc>
              <a:buNone/>
            </a:pPr>
            <a:r>
              <a:rPr lang="en-US" sz="1600" spc="-19">
                <a:solidFill>
                  <a:srgbClr val="0B0E11"/>
                </a:solidFill>
                <a:latin typeface="BinanceNova Medium"/>
              </a:rPr>
              <a:t>Harden</a:t>
            </a:r>
          </a:p>
        </p:txBody>
      </p:sp>
      <p:sp>
        <p:nvSpPr>
          <p:cNvPr id="29" name="Stage 4 Body"/>
          <p:cNvSpPr>
            <a:spLocks noGrp="1"/>
          </p:cNvSpPr>
          <p:nvPr>
            <p:ph type="body" idx="34"/>
          </p:nvPr>
        </p:nvSpPr>
        <p:spPr>
          <a:xfrm>
            <a:off x="7461250" y="4508500"/>
            <a:ext cx="1663700" cy="1143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1000">
                <a:solidFill>
                  <a:srgbClr val="FFFFFF"/>
                </a:solidFill>
                <a:latin typeface="BinanceNova"/>
              </a:rPr>
              <a:t>Fix what the pilot surfaces; add observability.</a:t>
            </a:r>
          </a:p>
        </p:txBody>
      </p:sp>
      <p:sp>
        <p:nvSpPr>
          <p:cNvPr id="30" name="Stage 5 Counter"/>
          <p:cNvSpPr>
            <a:spLocks noGrp="1"/>
          </p:cNvSpPr>
          <p:nvPr>
            <p:ph type="body" idx="36"/>
          </p:nvPr>
        </p:nvSpPr>
        <p:spPr>
          <a:xfrm>
            <a:off x="9607550" y="3683000"/>
            <a:ext cx="16637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spc="70" cap="all">
                <a:solidFill>
                  <a:srgbClr val="F0B90B"/>
                </a:solidFill>
                <a:latin typeface="BinancePlex"/>
              </a:rPr>
              <a:t>05</a:t>
            </a:r>
          </a:p>
        </p:txBody>
      </p:sp>
      <p:sp>
        <p:nvSpPr>
          <p:cNvPr id="31" name="Stage 5 Heading"/>
          <p:cNvSpPr>
            <a:spLocks noGrp="1"/>
          </p:cNvSpPr>
          <p:nvPr>
            <p:ph type="body" idx="37"/>
          </p:nvPr>
        </p:nvSpPr>
        <p:spPr>
          <a:xfrm>
            <a:off x="9607550" y="4013200"/>
            <a:ext cx="1663700" cy="381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4999"/>
              </a:lnSpc>
              <a:buNone/>
            </a:pPr>
            <a:r>
              <a:rPr lang="en-US" sz="1600" spc="-19">
                <a:solidFill>
                  <a:srgbClr val="0B0E11"/>
                </a:solidFill>
                <a:latin typeface="BinanceNova Medium"/>
              </a:rPr>
              <a:t>Scale</a:t>
            </a:r>
          </a:p>
        </p:txBody>
      </p:sp>
      <p:sp>
        <p:nvSpPr>
          <p:cNvPr id="32" name="Stage 5 Body"/>
          <p:cNvSpPr>
            <a:spLocks noGrp="1"/>
          </p:cNvSpPr>
          <p:nvPr>
            <p:ph type="body" idx="38"/>
          </p:nvPr>
        </p:nvSpPr>
        <p:spPr>
          <a:xfrm>
            <a:off x="9607550" y="4508500"/>
            <a:ext cx="1663700" cy="1143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1000">
                <a:solidFill>
                  <a:srgbClr val="FFFFFF"/>
                </a:solidFill>
                <a:latin typeface="BinanceNova"/>
              </a:rPr>
              <a:t>Roll out to remaining regions and SKUs.</a:t>
            </a:r>
          </a:p>
        </p:txBody>
      </p:sp>
      <p:sp>
        <p:nvSpPr>
          <p:cNvPr id="33" name="Source"/>
          <p:cNvSpPr>
            <a:spLocks noGrp="1"/>
          </p:cNvSpPr>
          <p:nvPr>
            <p:ph type="body" idx="60"/>
          </p:nvPr>
        </p:nvSpPr>
        <p:spPr>
          <a:xfrm>
            <a:off x="635000" y="6350000"/>
            <a:ext cx="109220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spc="70" cap="all">
                <a:solidFill>
                  <a:srgbClr val="FFFFFF"/>
                </a:solidFill>
                <a:latin typeface="BinancePlex"/>
              </a:rPr>
              <a:t>SOURCE · DELIVERY PLAN · WK 1–18 · PILOT CURRENTLY IN FLIGHT</a:t>
            </a:r>
          </a:p>
        </p:txBody>
      </p:sp>
    </p:spTree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Feinschliff · Stacked Bar">
    <p:bg>
      <p:bgPr>
        <a:solidFill>
          <a:srgbClr val="0B0E1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1"/>
          <p:cNvSpPr/>
          <p:nvPr/>
        </p:nvSpPr>
        <p:spPr>
          <a:xfrm>
            <a:off x="723900" y="417068"/>
            <a:ext cx="49784" cy="49784"/>
          </a:xfrm>
          <a:custGeom>
            <a:avLst/>
            <a:gdLst/>
            <a:ahLst/>
            <a:cxnLst/>
            <a:rect l="l" t="t" r="r" b="b"/>
            <a:pathLst>
              <a:path w="49784" h="49784">
                <a:moveTo>
                  <a:pt x="0" y="0"/>
                </a:moveTo>
                <a:lnTo>
                  <a:pt x="49784" y="49784"/>
                </a:lnTo>
                <a:lnTo>
                  <a:pt x="0" y="49784"/>
                </a:lnTo>
                <a:close/>
              </a:path>
            </a:pathLst>
          </a:custGeom>
          <a:solidFill>
            <a:srgbClr val="FCD5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Freeform 2"/>
          <p:cNvSpPr/>
          <p:nvPr/>
        </p:nvSpPr>
        <p:spPr>
          <a:xfrm>
            <a:off x="752348" y="445516"/>
            <a:ext cx="49784" cy="49784"/>
          </a:xfrm>
          <a:custGeom>
            <a:avLst/>
            <a:gdLst/>
            <a:ahLst/>
            <a:cxnLst/>
            <a:rect l="l" t="t" r="r" b="b"/>
            <a:pathLst>
              <a:path w="49784" h="49784">
                <a:moveTo>
                  <a:pt x="49784" y="49784"/>
                </a:moveTo>
                <a:lnTo>
                  <a:pt x="0" y="0"/>
                </a:lnTo>
                <a:lnTo>
                  <a:pt x="0" y="49784"/>
                </a:lnTo>
                <a:close/>
              </a:path>
            </a:pathLst>
          </a:custGeom>
          <a:solidFill>
            <a:srgbClr val="FCD5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Freeform 3"/>
          <p:cNvSpPr/>
          <p:nvPr/>
        </p:nvSpPr>
        <p:spPr>
          <a:xfrm>
            <a:off x="674116" y="523748"/>
            <a:ext cx="49784" cy="49784"/>
          </a:xfrm>
          <a:custGeom>
            <a:avLst/>
            <a:gdLst/>
            <a:ahLst/>
            <a:cxnLst/>
            <a:rect l="l" t="t" r="r" b="b"/>
            <a:pathLst>
              <a:path w="49784" h="49784">
                <a:moveTo>
                  <a:pt x="49784" y="49784"/>
                </a:moveTo>
                <a:lnTo>
                  <a:pt x="0" y="0"/>
                </a:lnTo>
                <a:lnTo>
                  <a:pt x="49784" y="0"/>
                </a:lnTo>
                <a:close/>
              </a:path>
            </a:pathLst>
          </a:custGeom>
          <a:solidFill>
            <a:srgbClr val="FCD5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Freeform 4"/>
          <p:cNvSpPr/>
          <p:nvPr/>
        </p:nvSpPr>
        <p:spPr>
          <a:xfrm>
            <a:off x="645668" y="495300"/>
            <a:ext cx="49784" cy="49784"/>
          </a:xfrm>
          <a:custGeom>
            <a:avLst/>
            <a:gdLst/>
            <a:ahLst/>
            <a:cxnLst/>
            <a:rect l="l" t="t" r="r" b="b"/>
            <a:pathLst>
              <a:path w="49784" h="49784">
                <a:moveTo>
                  <a:pt x="0" y="0"/>
                </a:moveTo>
                <a:lnTo>
                  <a:pt x="49784" y="49784"/>
                </a:lnTo>
                <a:lnTo>
                  <a:pt x="49784" y="0"/>
                </a:lnTo>
                <a:close/>
              </a:path>
            </a:pathLst>
          </a:custGeom>
          <a:solidFill>
            <a:srgbClr val="FCD5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01700" y="406400"/>
            <a:ext cx="2032000" cy="25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 spc="110">
                <a:solidFill>
                  <a:srgbClr val="FCD535"/>
                </a:solidFill>
                <a:latin typeface="BinanceNova"/>
              </a:rPr>
              <a:t>BINANCE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017000" y="508000"/>
            <a:ext cx="2667000" cy="177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700" spc="70" b="0">
                <a:solidFill>
                  <a:srgbClr val="848E9C"/>
                </a:solidFill>
                <a:latin typeface="BinanceNova SemiBold"/>
              </a:rPr>
              <a:t>DATA · REVENUE MIX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62000" y="6540500"/>
            <a:ext cx="4445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650" spc="65" b="0">
                <a:solidFill>
                  <a:srgbClr val="848E9C"/>
                </a:solidFill>
                <a:latin typeface="BinanceNova SemiBold"/>
              </a:rPr>
              <a:t>JAN 2026 · SHOWCASE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985000" y="6540500"/>
            <a:ext cx="4445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lang="en-US" dirty="0" sz="650" b="0" spc="65">
                <a:solidFill>
                  <a:srgbClr val="848E9C"/>
                </a:solidFill>
                <a:latin typeface="BinanceNova SemiBold"/>
              </a:rPr>
              <a:t>SLIDE </a:t>
            </a:r>
            <a:fld id="{A1B2C3D4-E5F6-4890-ABCD-EF0123456789}" type="slidenum">
              <a:rPr lang="en-US" dirty="0" sz="650" b="0" spc="65">
                <a:solidFill>
                  <a:srgbClr val="848E9C"/>
                </a:solidFill>
                <a:latin typeface="BinanceNova SemiBold"/>
              </a:rPr>
              <a:t>1</a:t>
            </a:fld>
          </a:p>
        </p:txBody>
      </p:sp>
      <p:sp>
        <p:nvSpPr>
          <p:cNvPr id="10" name="Rectangle 9"/>
          <p:cNvSpPr/>
          <p:nvPr/>
        </p:nvSpPr>
        <p:spPr>
          <a:xfrm>
            <a:off x="635000" y="1651000"/>
            <a:ext cx="50800" cy="876300"/>
          </a:xfrm>
          <a:prstGeom prst="rect">
            <a:avLst/>
          </a:prstGeom>
          <a:solidFill>
            <a:srgbClr val="FCD53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Eyebrow"/>
          <p:cNvSpPr>
            <a:spLocks noGrp="1"/>
          </p:cNvSpPr>
          <p:nvPr>
            <p:ph type="body" idx="10"/>
          </p:nvPr>
        </p:nvSpPr>
        <p:spPr>
          <a:xfrm>
            <a:off x="838200" y="1651000"/>
            <a:ext cx="101600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800" spc="80" cap="all">
                <a:solidFill>
                  <a:srgbClr val="FCD535"/>
                </a:solidFill>
                <a:latin typeface="BinanceNova"/>
              </a:rPr>
              <a:t>MIX · FY21–FY25</a:t>
            </a:r>
          </a:p>
        </p:txBody>
      </p:sp>
      <p:sp>
        <p:nvSpPr>
          <p:cNvPr id="12" name="Title"/>
          <p:cNvSpPr>
            <a:spLocks noGrp="1"/>
          </p:cNvSpPr>
          <p:nvPr>
            <p:ph type="title"/>
          </p:nvPr>
        </p:nvSpPr>
        <p:spPr>
          <a:xfrm>
            <a:off x="838200" y="1968500"/>
            <a:ext cx="10922000" cy="635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3200" spc="-48">
                <a:solidFill>
                  <a:srgbClr val="FFFFFF"/>
                </a:solidFill>
                <a:latin typeface="BinanceNova"/>
              </a:rPr>
              <a:t>Platform revenue is the fastest-growing share; legacy hardware is flat in absolute terms.</a:t>
            </a:r>
          </a:p>
        </p:txBody>
      </p:sp>
      <p:sp>
        <p:nvSpPr>
          <p:cNvPr id="13" name="Rectangle 12"/>
          <p:cNvSpPr/>
          <p:nvPr/>
        </p:nvSpPr>
        <p:spPr>
          <a:xfrm>
            <a:off x="635000" y="5715000"/>
            <a:ext cx="8382000" cy="6350"/>
          </a:xfrm>
          <a:prstGeom prst="rect">
            <a:avLst/>
          </a:prstGeom>
          <a:solidFill>
            <a:srgbClr val="EAEC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635000" y="4699000"/>
            <a:ext cx="952500" cy="1016000"/>
          </a:xfrm>
          <a:prstGeom prst="rect">
            <a:avLst/>
          </a:prstGeom>
          <a:solidFill>
            <a:srgbClr val="EAEC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60400" y="5137150"/>
            <a:ext cx="901700" cy="1397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000">
                <a:solidFill>
                  <a:srgbClr val="0B0E11"/>
                </a:solidFill>
                <a:latin typeface="BinancePlex"/>
              </a:rPr>
              <a:t>6.8</a:t>
            </a:r>
          </a:p>
        </p:txBody>
      </p:sp>
      <p:sp>
        <p:nvSpPr>
          <p:cNvPr id="16" name="Rectangle 15"/>
          <p:cNvSpPr/>
          <p:nvPr/>
        </p:nvSpPr>
        <p:spPr>
          <a:xfrm>
            <a:off x="635000" y="4191000"/>
            <a:ext cx="952500" cy="508000"/>
          </a:xfrm>
          <a:prstGeom prst="rect">
            <a:avLst/>
          </a:prstGeom>
          <a:solidFill>
            <a:srgbClr val="0B0E1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60400" y="4375150"/>
            <a:ext cx="901700" cy="1397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000">
                <a:solidFill>
                  <a:srgbClr val="0B0E11"/>
                </a:solidFill>
                <a:latin typeface="BinancePlex"/>
              </a:rPr>
              <a:t>3.2</a:t>
            </a:r>
          </a:p>
        </p:txBody>
      </p:sp>
      <p:sp>
        <p:nvSpPr>
          <p:cNvPr id="18" name="Rectangle 17"/>
          <p:cNvSpPr/>
          <p:nvPr/>
        </p:nvSpPr>
        <p:spPr>
          <a:xfrm>
            <a:off x="635000" y="3937000"/>
            <a:ext cx="952500" cy="254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60400" y="3994150"/>
            <a:ext cx="901700" cy="1397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000">
                <a:solidFill>
                  <a:srgbClr val="0B0E11"/>
                </a:solidFill>
                <a:latin typeface="BinancePlex"/>
              </a:rPr>
              <a:t>1.6</a:t>
            </a:r>
          </a:p>
        </p:txBody>
      </p:sp>
      <p:sp>
        <p:nvSpPr>
          <p:cNvPr id="20" name="Rectangle 19"/>
          <p:cNvSpPr/>
          <p:nvPr/>
        </p:nvSpPr>
        <p:spPr>
          <a:xfrm>
            <a:off x="635000" y="3873500"/>
            <a:ext cx="952500" cy="63500"/>
          </a:xfrm>
          <a:prstGeom prst="rect">
            <a:avLst/>
          </a:prstGeom>
          <a:solidFill>
            <a:srgbClr val="FCD53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2489200" y="4711700"/>
            <a:ext cx="952500" cy="1003300"/>
          </a:xfrm>
          <a:prstGeom prst="rect">
            <a:avLst/>
          </a:prstGeom>
          <a:solidFill>
            <a:srgbClr val="EAEC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2514600" y="5143500"/>
            <a:ext cx="901700" cy="1397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000">
                <a:solidFill>
                  <a:srgbClr val="0B0E11"/>
                </a:solidFill>
                <a:latin typeface="BinancePlex"/>
              </a:rPr>
              <a:t>6.7</a:t>
            </a:r>
          </a:p>
        </p:txBody>
      </p:sp>
      <p:sp>
        <p:nvSpPr>
          <p:cNvPr id="23" name="Rectangle 22"/>
          <p:cNvSpPr/>
          <p:nvPr/>
        </p:nvSpPr>
        <p:spPr>
          <a:xfrm>
            <a:off x="2489200" y="4152900"/>
            <a:ext cx="952500" cy="558800"/>
          </a:xfrm>
          <a:prstGeom prst="rect">
            <a:avLst/>
          </a:prstGeom>
          <a:solidFill>
            <a:srgbClr val="0B0E1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2514600" y="4362450"/>
            <a:ext cx="901700" cy="1397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000">
                <a:solidFill>
                  <a:srgbClr val="0B0E11"/>
                </a:solidFill>
                <a:latin typeface="BinancePlex"/>
              </a:rPr>
              <a:t>3.5</a:t>
            </a:r>
          </a:p>
        </p:txBody>
      </p:sp>
      <p:sp>
        <p:nvSpPr>
          <p:cNvPr id="25" name="Rectangle 24"/>
          <p:cNvSpPr/>
          <p:nvPr/>
        </p:nvSpPr>
        <p:spPr>
          <a:xfrm>
            <a:off x="2489200" y="3886200"/>
            <a:ext cx="952500" cy="2667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2514600" y="3949700"/>
            <a:ext cx="901700" cy="1397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000">
                <a:solidFill>
                  <a:srgbClr val="0B0E11"/>
                </a:solidFill>
                <a:latin typeface="BinancePlex"/>
              </a:rPr>
              <a:t>1.7</a:t>
            </a:r>
          </a:p>
        </p:txBody>
      </p:sp>
      <p:sp>
        <p:nvSpPr>
          <p:cNvPr id="27" name="Rectangle 26"/>
          <p:cNvSpPr/>
          <p:nvPr/>
        </p:nvSpPr>
        <p:spPr>
          <a:xfrm>
            <a:off x="2489200" y="3784600"/>
            <a:ext cx="952500" cy="101600"/>
          </a:xfrm>
          <a:prstGeom prst="rect">
            <a:avLst/>
          </a:prstGeom>
          <a:solidFill>
            <a:srgbClr val="FCD53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4343400" y="4724400"/>
            <a:ext cx="952500" cy="990600"/>
          </a:xfrm>
          <a:prstGeom prst="rect">
            <a:avLst/>
          </a:prstGeom>
          <a:solidFill>
            <a:srgbClr val="EAEC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4368800" y="5149850"/>
            <a:ext cx="901700" cy="1397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000">
                <a:solidFill>
                  <a:srgbClr val="0B0E11"/>
                </a:solidFill>
                <a:latin typeface="BinancePlex"/>
              </a:rPr>
              <a:t>6.6</a:t>
            </a:r>
          </a:p>
        </p:txBody>
      </p:sp>
      <p:sp>
        <p:nvSpPr>
          <p:cNvPr id="30" name="Rectangle 29"/>
          <p:cNvSpPr/>
          <p:nvPr/>
        </p:nvSpPr>
        <p:spPr>
          <a:xfrm>
            <a:off x="4343400" y="4140200"/>
            <a:ext cx="952500" cy="584200"/>
          </a:xfrm>
          <a:prstGeom prst="rect">
            <a:avLst/>
          </a:prstGeom>
          <a:solidFill>
            <a:srgbClr val="0B0E1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4368800" y="4362450"/>
            <a:ext cx="901700" cy="1397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000">
                <a:solidFill>
                  <a:srgbClr val="0B0E11"/>
                </a:solidFill>
                <a:latin typeface="BinancePlex"/>
              </a:rPr>
              <a:t>3.7</a:t>
            </a:r>
          </a:p>
        </p:txBody>
      </p:sp>
      <p:sp>
        <p:nvSpPr>
          <p:cNvPr id="32" name="Rectangle 31"/>
          <p:cNvSpPr/>
          <p:nvPr/>
        </p:nvSpPr>
        <p:spPr>
          <a:xfrm>
            <a:off x="4343400" y="3848100"/>
            <a:ext cx="952500" cy="2921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4368800" y="3924300"/>
            <a:ext cx="901700" cy="1397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000">
                <a:solidFill>
                  <a:srgbClr val="0B0E11"/>
                </a:solidFill>
                <a:latin typeface="BinancePlex"/>
              </a:rPr>
              <a:t>1.8</a:t>
            </a:r>
          </a:p>
        </p:txBody>
      </p:sp>
      <p:sp>
        <p:nvSpPr>
          <p:cNvPr id="34" name="Rectangle 33"/>
          <p:cNvSpPr/>
          <p:nvPr/>
        </p:nvSpPr>
        <p:spPr>
          <a:xfrm>
            <a:off x="4343400" y="3695700"/>
            <a:ext cx="952500" cy="152400"/>
          </a:xfrm>
          <a:prstGeom prst="rect">
            <a:avLst/>
          </a:prstGeom>
          <a:solidFill>
            <a:srgbClr val="FCD53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Rectangle 34"/>
          <p:cNvSpPr/>
          <p:nvPr/>
        </p:nvSpPr>
        <p:spPr>
          <a:xfrm>
            <a:off x="6197600" y="4737100"/>
            <a:ext cx="952500" cy="977900"/>
          </a:xfrm>
          <a:prstGeom prst="rect">
            <a:avLst/>
          </a:prstGeom>
          <a:solidFill>
            <a:srgbClr val="EAEC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6223000" y="5156200"/>
            <a:ext cx="901700" cy="1397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000">
                <a:solidFill>
                  <a:srgbClr val="0B0E11"/>
                </a:solidFill>
                <a:latin typeface="BinancePlex"/>
              </a:rPr>
              <a:t>6.5</a:t>
            </a:r>
          </a:p>
        </p:txBody>
      </p:sp>
      <p:sp>
        <p:nvSpPr>
          <p:cNvPr id="37" name="Rectangle 36"/>
          <p:cNvSpPr/>
          <p:nvPr/>
        </p:nvSpPr>
        <p:spPr>
          <a:xfrm>
            <a:off x="6197600" y="4114800"/>
            <a:ext cx="952500" cy="622300"/>
          </a:xfrm>
          <a:prstGeom prst="rect">
            <a:avLst/>
          </a:prstGeom>
          <a:solidFill>
            <a:srgbClr val="0B0E1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6223000" y="4356100"/>
            <a:ext cx="901700" cy="1397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000">
                <a:solidFill>
                  <a:srgbClr val="0B0E11"/>
                </a:solidFill>
                <a:latin typeface="BinancePlex"/>
              </a:rPr>
              <a:t>3.9</a:t>
            </a:r>
          </a:p>
        </p:txBody>
      </p:sp>
      <p:sp>
        <p:nvSpPr>
          <p:cNvPr id="39" name="Rectangle 38"/>
          <p:cNvSpPr/>
          <p:nvPr/>
        </p:nvSpPr>
        <p:spPr>
          <a:xfrm>
            <a:off x="6197600" y="3810000"/>
            <a:ext cx="952500" cy="3048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6223000" y="3892550"/>
            <a:ext cx="901700" cy="1397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000">
                <a:solidFill>
                  <a:srgbClr val="0B0E11"/>
                </a:solidFill>
                <a:latin typeface="BinancePlex"/>
              </a:rPr>
              <a:t>1.9</a:t>
            </a:r>
          </a:p>
        </p:txBody>
      </p:sp>
      <p:sp>
        <p:nvSpPr>
          <p:cNvPr id="41" name="Rectangle 40"/>
          <p:cNvSpPr/>
          <p:nvPr/>
        </p:nvSpPr>
        <p:spPr>
          <a:xfrm>
            <a:off x="6197600" y="3568700"/>
            <a:ext cx="952500" cy="241300"/>
          </a:xfrm>
          <a:prstGeom prst="rect">
            <a:avLst/>
          </a:prstGeom>
          <a:solidFill>
            <a:srgbClr val="FCD53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6223000" y="3619500"/>
            <a:ext cx="901700" cy="1397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000">
                <a:solidFill>
                  <a:srgbClr val="EAECEF"/>
                </a:solidFill>
                <a:latin typeface="BinancePlex"/>
              </a:rPr>
              <a:t>1.1</a:t>
            </a:r>
          </a:p>
        </p:txBody>
      </p:sp>
      <p:sp>
        <p:nvSpPr>
          <p:cNvPr id="43" name="Rectangle 42"/>
          <p:cNvSpPr/>
          <p:nvPr/>
        </p:nvSpPr>
        <p:spPr>
          <a:xfrm>
            <a:off x="8051800" y="4762500"/>
            <a:ext cx="952500" cy="952500"/>
          </a:xfrm>
          <a:prstGeom prst="rect">
            <a:avLst/>
          </a:prstGeom>
          <a:solidFill>
            <a:srgbClr val="EAEC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8077200" y="5168900"/>
            <a:ext cx="901700" cy="1397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000">
                <a:solidFill>
                  <a:srgbClr val="0B0E11"/>
                </a:solidFill>
                <a:latin typeface="BinancePlex"/>
              </a:rPr>
              <a:t>6.4</a:t>
            </a:r>
          </a:p>
        </p:txBody>
      </p:sp>
      <p:sp>
        <p:nvSpPr>
          <p:cNvPr id="45" name="Rectangle 44"/>
          <p:cNvSpPr/>
          <p:nvPr/>
        </p:nvSpPr>
        <p:spPr>
          <a:xfrm>
            <a:off x="8051800" y="4102100"/>
            <a:ext cx="952500" cy="660400"/>
          </a:xfrm>
          <a:prstGeom prst="rect">
            <a:avLst/>
          </a:prstGeom>
          <a:solidFill>
            <a:srgbClr val="0B0E1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8077200" y="4362450"/>
            <a:ext cx="901700" cy="1397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000">
                <a:solidFill>
                  <a:srgbClr val="0B0E11"/>
                </a:solidFill>
                <a:latin typeface="BinancePlex"/>
              </a:rPr>
              <a:t>4.2</a:t>
            </a:r>
          </a:p>
        </p:txBody>
      </p:sp>
      <p:sp>
        <p:nvSpPr>
          <p:cNvPr id="47" name="Rectangle 46"/>
          <p:cNvSpPr/>
          <p:nvPr/>
        </p:nvSpPr>
        <p:spPr>
          <a:xfrm>
            <a:off x="8051800" y="3771900"/>
            <a:ext cx="952500" cy="3302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8077200" y="3867150"/>
            <a:ext cx="901700" cy="1397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000">
                <a:solidFill>
                  <a:srgbClr val="0B0E11"/>
                </a:solidFill>
                <a:latin typeface="BinancePlex"/>
              </a:rPr>
              <a:t>2.1</a:t>
            </a:r>
          </a:p>
        </p:txBody>
      </p:sp>
      <p:sp>
        <p:nvSpPr>
          <p:cNvPr id="49" name="Rectangle 48"/>
          <p:cNvSpPr/>
          <p:nvPr/>
        </p:nvSpPr>
        <p:spPr>
          <a:xfrm>
            <a:off x="8051800" y="3441700"/>
            <a:ext cx="952500" cy="330200"/>
          </a:xfrm>
          <a:prstGeom prst="rect">
            <a:avLst/>
          </a:prstGeom>
          <a:solidFill>
            <a:srgbClr val="FCD53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TextBox 49"/>
          <p:cNvSpPr txBox="1"/>
          <p:nvPr/>
        </p:nvSpPr>
        <p:spPr>
          <a:xfrm>
            <a:off x="8077200" y="3536950"/>
            <a:ext cx="901700" cy="1397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000">
                <a:solidFill>
                  <a:srgbClr val="EAECEF"/>
                </a:solidFill>
                <a:latin typeface="BinancePlex"/>
              </a:rPr>
              <a:t>1.4</a:t>
            </a:r>
          </a:p>
        </p:txBody>
      </p:sp>
      <p:sp>
        <p:nvSpPr>
          <p:cNvPr id="51" name="Bar 1 Total"/>
          <p:cNvSpPr>
            <a:spLocks noGrp="1"/>
          </p:cNvSpPr>
          <p:nvPr>
            <p:ph type="body" idx="30"/>
          </p:nvPr>
        </p:nvSpPr>
        <p:spPr>
          <a:xfrm>
            <a:off x="635000" y="3200400"/>
            <a:ext cx="952500" cy="203200"/>
          </a:xfrm>
        </p:spPr>
        <p:txBody>
          <a:bodyPr lIns="0" tIns="0" rIns="0" bIns="0" wrap="square" anchor="t"/>
          <a:lstStyle/>
          <a:p>
            <a:pPr marL="0" indent="0" algn="ctr">
              <a:buNone/>
            </a:pPr>
            <a:r>
              <a:rPr lang="en-US" sz="1100">
                <a:solidFill>
                  <a:srgbClr val="EAECEF"/>
                </a:solidFill>
                <a:latin typeface="BinanceNova Medium"/>
              </a:rPr>
              <a:t>11.9</a:t>
            </a:r>
          </a:p>
        </p:txBody>
      </p:sp>
      <p:sp>
        <p:nvSpPr>
          <p:cNvPr id="52" name="Bar 1 Label"/>
          <p:cNvSpPr>
            <a:spLocks noGrp="1"/>
          </p:cNvSpPr>
          <p:nvPr>
            <p:ph type="body" idx="20"/>
          </p:nvPr>
        </p:nvSpPr>
        <p:spPr>
          <a:xfrm>
            <a:off x="635000" y="5816600"/>
            <a:ext cx="952500" cy="190500"/>
          </a:xfrm>
        </p:spPr>
        <p:txBody>
          <a:bodyPr lIns="0" tIns="0" rIns="0" bIns="0" wrap="square" anchor="t"/>
          <a:lstStyle/>
          <a:p>
            <a:pPr marL="0" indent="0" algn="ctr">
              <a:buNone/>
            </a:pPr>
            <a:r>
              <a:rPr lang="en-US" sz="1000" spc="100" cap="all">
                <a:solidFill>
                  <a:srgbClr val="FFFFFF"/>
                </a:solidFill>
                <a:latin typeface="BinancePlex"/>
              </a:rPr>
              <a:t>FY21</a:t>
            </a:r>
          </a:p>
        </p:txBody>
      </p:sp>
      <p:sp>
        <p:nvSpPr>
          <p:cNvPr id="53" name="Bar 2 Total"/>
          <p:cNvSpPr>
            <a:spLocks noGrp="1"/>
          </p:cNvSpPr>
          <p:nvPr>
            <p:ph type="body" idx="31"/>
          </p:nvPr>
        </p:nvSpPr>
        <p:spPr>
          <a:xfrm>
            <a:off x="2489200" y="3200400"/>
            <a:ext cx="952500" cy="203200"/>
          </a:xfrm>
        </p:spPr>
        <p:txBody>
          <a:bodyPr lIns="0" tIns="0" rIns="0" bIns="0" wrap="square" anchor="t"/>
          <a:lstStyle/>
          <a:p>
            <a:pPr marL="0" indent="0" algn="ctr">
              <a:buNone/>
            </a:pPr>
            <a:r>
              <a:rPr lang="en-US" sz="1100">
                <a:solidFill>
                  <a:srgbClr val="EAECEF"/>
                </a:solidFill>
                <a:latin typeface="BinanceNova Medium"/>
              </a:rPr>
              <a:t>12.4</a:t>
            </a:r>
          </a:p>
        </p:txBody>
      </p:sp>
      <p:sp>
        <p:nvSpPr>
          <p:cNvPr id="54" name="Bar 2 Label"/>
          <p:cNvSpPr>
            <a:spLocks noGrp="1"/>
          </p:cNvSpPr>
          <p:nvPr>
            <p:ph type="body" idx="21"/>
          </p:nvPr>
        </p:nvSpPr>
        <p:spPr>
          <a:xfrm>
            <a:off x="2489200" y="5816600"/>
            <a:ext cx="952500" cy="190500"/>
          </a:xfrm>
        </p:spPr>
        <p:txBody>
          <a:bodyPr lIns="0" tIns="0" rIns="0" bIns="0" wrap="square" anchor="t"/>
          <a:lstStyle/>
          <a:p>
            <a:pPr marL="0" indent="0" algn="ctr">
              <a:buNone/>
            </a:pPr>
            <a:r>
              <a:rPr lang="en-US" sz="1000" spc="100" cap="all">
                <a:solidFill>
                  <a:srgbClr val="FFFFFF"/>
                </a:solidFill>
                <a:latin typeface="BinancePlex"/>
              </a:rPr>
              <a:t>FY22</a:t>
            </a:r>
          </a:p>
        </p:txBody>
      </p:sp>
      <p:sp>
        <p:nvSpPr>
          <p:cNvPr id="55" name="Bar 3 Total"/>
          <p:cNvSpPr>
            <a:spLocks noGrp="1"/>
          </p:cNvSpPr>
          <p:nvPr>
            <p:ph type="body" idx="32"/>
          </p:nvPr>
        </p:nvSpPr>
        <p:spPr>
          <a:xfrm>
            <a:off x="4343400" y="3200400"/>
            <a:ext cx="952500" cy="203200"/>
          </a:xfrm>
        </p:spPr>
        <p:txBody>
          <a:bodyPr lIns="0" tIns="0" rIns="0" bIns="0" wrap="square" anchor="t"/>
          <a:lstStyle/>
          <a:p>
            <a:pPr marL="0" indent="0" algn="ctr">
              <a:buNone/>
            </a:pPr>
            <a:r>
              <a:rPr lang="en-US" sz="1100">
                <a:solidFill>
                  <a:srgbClr val="EAECEF"/>
                </a:solidFill>
                <a:latin typeface="BinanceNova Medium"/>
              </a:rPr>
              <a:t>12.9</a:t>
            </a:r>
          </a:p>
        </p:txBody>
      </p:sp>
      <p:sp>
        <p:nvSpPr>
          <p:cNvPr id="56" name="Bar 3 Label"/>
          <p:cNvSpPr>
            <a:spLocks noGrp="1"/>
          </p:cNvSpPr>
          <p:nvPr>
            <p:ph type="body" idx="22"/>
          </p:nvPr>
        </p:nvSpPr>
        <p:spPr>
          <a:xfrm>
            <a:off x="4343400" y="5816600"/>
            <a:ext cx="952500" cy="190500"/>
          </a:xfrm>
        </p:spPr>
        <p:txBody>
          <a:bodyPr lIns="0" tIns="0" rIns="0" bIns="0" wrap="square" anchor="t"/>
          <a:lstStyle/>
          <a:p>
            <a:pPr marL="0" indent="0" algn="ctr">
              <a:buNone/>
            </a:pPr>
            <a:r>
              <a:rPr lang="en-US" sz="1000" spc="100" cap="all">
                <a:solidFill>
                  <a:srgbClr val="FFFFFF"/>
                </a:solidFill>
                <a:latin typeface="BinancePlex"/>
              </a:rPr>
              <a:t>FY23</a:t>
            </a:r>
          </a:p>
        </p:txBody>
      </p:sp>
      <p:sp>
        <p:nvSpPr>
          <p:cNvPr id="57" name="Bar 4 Total"/>
          <p:cNvSpPr>
            <a:spLocks noGrp="1"/>
          </p:cNvSpPr>
          <p:nvPr>
            <p:ph type="body" idx="33"/>
          </p:nvPr>
        </p:nvSpPr>
        <p:spPr>
          <a:xfrm>
            <a:off x="6197600" y="3200400"/>
            <a:ext cx="952500" cy="203200"/>
          </a:xfrm>
        </p:spPr>
        <p:txBody>
          <a:bodyPr lIns="0" tIns="0" rIns="0" bIns="0" wrap="square" anchor="t"/>
          <a:lstStyle/>
          <a:p>
            <a:pPr marL="0" indent="0" algn="ctr">
              <a:buNone/>
            </a:pPr>
            <a:r>
              <a:rPr lang="en-US" sz="1100">
                <a:solidFill>
                  <a:srgbClr val="EAECEF"/>
                </a:solidFill>
                <a:latin typeface="BinanceNova Medium"/>
              </a:rPr>
              <a:t>13.4</a:t>
            </a:r>
          </a:p>
        </p:txBody>
      </p:sp>
      <p:sp>
        <p:nvSpPr>
          <p:cNvPr id="58" name="Bar 4 Label"/>
          <p:cNvSpPr>
            <a:spLocks noGrp="1"/>
          </p:cNvSpPr>
          <p:nvPr>
            <p:ph type="body" idx="23"/>
          </p:nvPr>
        </p:nvSpPr>
        <p:spPr>
          <a:xfrm>
            <a:off x="6197600" y="5816600"/>
            <a:ext cx="952500" cy="190500"/>
          </a:xfrm>
        </p:spPr>
        <p:txBody>
          <a:bodyPr lIns="0" tIns="0" rIns="0" bIns="0" wrap="square" anchor="t"/>
          <a:lstStyle/>
          <a:p>
            <a:pPr marL="0" indent="0" algn="ctr">
              <a:buNone/>
            </a:pPr>
            <a:r>
              <a:rPr lang="en-US" sz="1000" spc="100" cap="all">
                <a:solidFill>
                  <a:srgbClr val="FFFFFF"/>
                </a:solidFill>
                <a:latin typeface="BinancePlex"/>
              </a:rPr>
              <a:t>FY24</a:t>
            </a:r>
          </a:p>
        </p:txBody>
      </p:sp>
      <p:sp>
        <p:nvSpPr>
          <p:cNvPr id="59" name="Bar 5 Total"/>
          <p:cNvSpPr>
            <a:spLocks noGrp="1"/>
          </p:cNvSpPr>
          <p:nvPr>
            <p:ph type="body" idx="34"/>
          </p:nvPr>
        </p:nvSpPr>
        <p:spPr>
          <a:xfrm>
            <a:off x="8051800" y="3200400"/>
            <a:ext cx="952500" cy="203200"/>
          </a:xfrm>
        </p:spPr>
        <p:txBody>
          <a:bodyPr lIns="0" tIns="0" rIns="0" bIns="0" wrap="square" anchor="t"/>
          <a:lstStyle/>
          <a:p>
            <a:pPr marL="0" indent="0" algn="ctr">
              <a:buNone/>
            </a:pPr>
            <a:r>
              <a:rPr lang="en-US" sz="1100">
                <a:solidFill>
                  <a:srgbClr val="EAECEF"/>
                </a:solidFill>
                <a:latin typeface="BinanceNova Medium"/>
              </a:rPr>
              <a:t>14.1</a:t>
            </a:r>
          </a:p>
        </p:txBody>
      </p:sp>
      <p:sp>
        <p:nvSpPr>
          <p:cNvPr id="60" name="Bar 5 Label"/>
          <p:cNvSpPr>
            <a:spLocks noGrp="1"/>
          </p:cNvSpPr>
          <p:nvPr>
            <p:ph type="body" idx="24"/>
          </p:nvPr>
        </p:nvSpPr>
        <p:spPr>
          <a:xfrm>
            <a:off x="8051800" y="5816600"/>
            <a:ext cx="952500" cy="190500"/>
          </a:xfrm>
        </p:spPr>
        <p:txBody>
          <a:bodyPr lIns="0" tIns="0" rIns="0" bIns="0" wrap="square" anchor="t"/>
          <a:lstStyle/>
          <a:p>
            <a:pPr marL="0" indent="0" algn="ctr">
              <a:buNone/>
            </a:pPr>
            <a:r>
              <a:rPr lang="en-US" sz="1000" spc="100" cap="all">
                <a:solidFill>
                  <a:srgbClr val="FFFFFF"/>
                </a:solidFill>
                <a:latin typeface="BinancePlex"/>
              </a:rPr>
              <a:t>FY25</a:t>
            </a:r>
          </a:p>
        </p:txBody>
      </p:sp>
      <p:sp>
        <p:nvSpPr>
          <p:cNvPr id="61" name="Legend Title"/>
          <p:cNvSpPr>
            <a:spLocks noGrp="1"/>
          </p:cNvSpPr>
          <p:nvPr>
            <p:ph type="body" idx="39"/>
          </p:nvPr>
        </p:nvSpPr>
        <p:spPr>
          <a:xfrm>
            <a:off x="9525000" y="3238500"/>
            <a:ext cx="2032000" cy="1524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spc="98" cap="all">
                <a:solidFill>
                  <a:srgbClr val="EAECEF"/>
                </a:solidFill>
                <a:latin typeface="BinancePlex"/>
              </a:rPr>
              <a:t>SEGMENT</a:t>
            </a:r>
          </a:p>
        </p:txBody>
      </p:sp>
      <p:sp>
        <p:nvSpPr>
          <p:cNvPr id="62" name="Rectangle 61"/>
          <p:cNvSpPr/>
          <p:nvPr/>
        </p:nvSpPr>
        <p:spPr>
          <a:xfrm>
            <a:off x="9525000" y="3479800"/>
            <a:ext cx="114300" cy="114300"/>
          </a:xfrm>
          <a:prstGeom prst="rect">
            <a:avLst/>
          </a:prstGeom>
          <a:solidFill>
            <a:srgbClr val="EAEC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3" name="Legend 1 Name"/>
          <p:cNvSpPr>
            <a:spLocks noGrp="1"/>
          </p:cNvSpPr>
          <p:nvPr>
            <p:ph type="body" idx="40"/>
          </p:nvPr>
        </p:nvSpPr>
        <p:spPr>
          <a:xfrm>
            <a:off x="9728200" y="3454400"/>
            <a:ext cx="1828800" cy="1651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000">
                <a:solidFill>
                  <a:srgbClr val="EAECEF"/>
                </a:solidFill>
                <a:latin typeface="BinanceNova Medium"/>
              </a:rPr>
              <a:t>Legacy hardware</a:t>
            </a:r>
          </a:p>
        </p:txBody>
      </p:sp>
      <p:sp>
        <p:nvSpPr>
          <p:cNvPr id="64" name="Legend 1 Change"/>
          <p:cNvSpPr>
            <a:spLocks noGrp="1"/>
          </p:cNvSpPr>
          <p:nvPr>
            <p:ph type="body" idx="41"/>
          </p:nvPr>
        </p:nvSpPr>
        <p:spPr>
          <a:xfrm>
            <a:off x="9728200" y="3606800"/>
            <a:ext cx="1828800" cy="1524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spc="35">
                <a:solidFill>
                  <a:srgbClr val="FFFFFF"/>
                </a:solidFill>
                <a:latin typeface="BinancePlex"/>
              </a:rPr>
              <a:t>−6% · 5y</a:t>
            </a:r>
          </a:p>
        </p:txBody>
      </p:sp>
      <p:sp>
        <p:nvSpPr>
          <p:cNvPr id="65" name="Rectangle 64"/>
          <p:cNvSpPr/>
          <p:nvPr/>
        </p:nvSpPr>
        <p:spPr>
          <a:xfrm>
            <a:off x="9525000" y="3835400"/>
            <a:ext cx="114300" cy="114300"/>
          </a:xfrm>
          <a:prstGeom prst="rect">
            <a:avLst/>
          </a:prstGeom>
          <a:solidFill>
            <a:srgbClr val="0B0E1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6" name="Legend 2 Name"/>
          <p:cNvSpPr>
            <a:spLocks noGrp="1"/>
          </p:cNvSpPr>
          <p:nvPr>
            <p:ph type="body" idx="42"/>
          </p:nvPr>
        </p:nvSpPr>
        <p:spPr>
          <a:xfrm>
            <a:off x="9728200" y="3810000"/>
            <a:ext cx="1828800" cy="1651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000">
                <a:solidFill>
                  <a:srgbClr val="EAECEF"/>
                </a:solidFill>
                <a:latin typeface="BinanceNova Medium"/>
              </a:rPr>
              <a:t>Consumer products</a:t>
            </a:r>
          </a:p>
        </p:txBody>
      </p:sp>
      <p:sp>
        <p:nvSpPr>
          <p:cNvPr id="67" name="Legend 2 Change"/>
          <p:cNvSpPr>
            <a:spLocks noGrp="1"/>
          </p:cNvSpPr>
          <p:nvPr>
            <p:ph type="body" idx="43"/>
          </p:nvPr>
        </p:nvSpPr>
        <p:spPr>
          <a:xfrm>
            <a:off x="9728200" y="3962400"/>
            <a:ext cx="1828800" cy="1524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spc="35">
                <a:solidFill>
                  <a:srgbClr val="FFFFFF"/>
                </a:solidFill>
                <a:latin typeface="BinancePlex"/>
              </a:rPr>
              <a:t>+31% · 5y</a:t>
            </a:r>
          </a:p>
        </p:txBody>
      </p:sp>
      <p:sp>
        <p:nvSpPr>
          <p:cNvPr id="68" name="Rectangle 67"/>
          <p:cNvSpPr/>
          <p:nvPr/>
        </p:nvSpPr>
        <p:spPr>
          <a:xfrm>
            <a:off x="9525000" y="4191000"/>
            <a:ext cx="114300" cy="1143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9" name="Legend 3 Name"/>
          <p:cNvSpPr>
            <a:spLocks noGrp="1"/>
          </p:cNvSpPr>
          <p:nvPr>
            <p:ph type="body" idx="44"/>
          </p:nvPr>
        </p:nvSpPr>
        <p:spPr>
          <a:xfrm>
            <a:off x="9728200" y="4165600"/>
            <a:ext cx="1828800" cy="1651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000">
                <a:solidFill>
                  <a:srgbClr val="EAECEF"/>
                </a:solidFill>
                <a:latin typeface="BinanceNova Medium"/>
              </a:rPr>
              <a:t>Commercial</a:t>
            </a:r>
          </a:p>
        </p:txBody>
      </p:sp>
      <p:sp>
        <p:nvSpPr>
          <p:cNvPr id="70" name="Legend 3 Change"/>
          <p:cNvSpPr>
            <a:spLocks noGrp="1"/>
          </p:cNvSpPr>
          <p:nvPr>
            <p:ph type="body" idx="45"/>
          </p:nvPr>
        </p:nvSpPr>
        <p:spPr>
          <a:xfrm>
            <a:off x="9728200" y="4318000"/>
            <a:ext cx="1828800" cy="1524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spc="35">
                <a:solidFill>
                  <a:srgbClr val="FFFFFF"/>
                </a:solidFill>
                <a:latin typeface="BinancePlex"/>
              </a:rPr>
              <a:t>+31% · 5y</a:t>
            </a:r>
          </a:p>
        </p:txBody>
      </p:sp>
      <p:sp>
        <p:nvSpPr>
          <p:cNvPr id="71" name="Rectangle 70"/>
          <p:cNvSpPr/>
          <p:nvPr/>
        </p:nvSpPr>
        <p:spPr>
          <a:xfrm>
            <a:off x="9525000" y="4546600"/>
            <a:ext cx="114300" cy="114300"/>
          </a:xfrm>
          <a:prstGeom prst="rect">
            <a:avLst/>
          </a:prstGeom>
          <a:solidFill>
            <a:srgbClr val="FCD53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2" name="Legend 4 Name"/>
          <p:cNvSpPr>
            <a:spLocks noGrp="1"/>
          </p:cNvSpPr>
          <p:nvPr>
            <p:ph type="body" idx="46"/>
          </p:nvPr>
        </p:nvSpPr>
        <p:spPr>
          <a:xfrm>
            <a:off x="9728200" y="4521200"/>
            <a:ext cx="1828800" cy="1651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000">
                <a:solidFill>
                  <a:srgbClr val="EAECEF"/>
                </a:solidFill>
                <a:latin typeface="BinanceNova Medium"/>
              </a:rPr>
              <a:t>Platform &amp; services</a:t>
            </a:r>
          </a:p>
        </p:txBody>
      </p:sp>
      <p:sp>
        <p:nvSpPr>
          <p:cNvPr id="73" name="Legend 4 Change"/>
          <p:cNvSpPr>
            <a:spLocks noGrp="1"/>
          </p:cNvSpPr>
          <p:nvPr>
            <p:ph type="body" idx="47"/>
          </p:nvPr>
        </p:nvSpPr>
        <p:spPr>
          <a:xfrm>
            <a:off x="9728200" y="4673600"/>
            <a:ext cx="1828800" cy="1524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spc="35">
                <a:solidFill>
                  <a:srgbClr val="FFFFFF"/>
                </a:solidFill>
                <a:latin typeface="BinancePlex"/>
              </a:rPr>
              <a:t>+367% · 5y</a:t>
            </a:r>
          </a:p>
        </p:txBody>
      </p:sp>
      <p:sp>
        <p:nvSpPr>
          <p:cNvPr id="74" name="Source"/>
          <p:cNvSpPr>
            <a:spLocks noGrp="1"/>
          </p:cNvSpPr>
          <p:nvPr>
            <p:ph type="body" idx="60"/>
          </p:nvPr>
        </p:nvSpPr>
        <p:spPr>
          <a:xfrm>
            <a:off x="635000" y="6286500"/>
            <a:ext cx="8382000" cy="1524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spc="70" cap="all">
                <a:solidFill>
                  <a:srgbClr val="FFFFFF"/>
                </a:solidFill>
                <a:latin typeface="BinancePlex"/>
              </a:rPr>
              <a:t>SOURCE · SAMPLE DATA · EUR BN</a:t>
            </a:r>
          </a:p>
        </p:txBody>
      </p:sp>
    </p:spTree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Feinschliff · Table">
    <p:bg>
      <p:bgPr>
        <a:solidFill>
          <a:srgbClr val="0B0E1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1"/>
          <p:cNvSpPr/>
          <p:nvPr/>
        </p:nvSpPr>
        <p:spPr>
          <a:xfrm>
            <a:off x="723900" y="417068"/>
            <a:ext cx="49784" cy="49784"/>
          </a:xfrm>
          <a:custGeom>
            <a:avLst/>
            <a:gdLst/>
            <a:ahLst/>
            <a:cxnLst/>
            <a:rect l="l" t="t" r="r" b="b"/>
            <a:pathLst>
              <a:path w="49784" h="49784">
                <a:moveTo>
                  <a:pt x="0" y="0"/>
                </a:moveTo>
                <a:lnTo>
                  <a:pt x="49784" y="49784"/>
                </a:lnTo>
                <a:lnTo>
                  <a:pt x="0" y="49784"/>
                </a:lnTo>
                <a:close/>
              </a:path>
            </a:pathLst>
          </a:custGeom>
          <a:solidFill>
            <a:srgbClr val="FCD5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Freeform 2"/>
          <p:cNvSpPr/>
          <p:nvPr/>
        </p:nvSpPr>
        <p:spPr>
          <a:xfrm>
            <a:off x="752348" y="445516"/>
            <a:ext cx="49784" cy="49784"/>
          </a:xfrm>
          <a:custGeom>
            <a:avLst/>
            <a:gdLst/>
            <a:ahLst/>
            <a:cxnLst/>
            <a:rect l="l" t="t" r="r" b="b"/>
            <a:pathLst>
              <a:path w="49784" h="49784">
                <a:moveTo>
                  <a:pt x="49784" y="49784"/>
                </a:moveTo>
                <a:lnTo>
                  <a:pt x="0" y="0"/>
                </a:lnTo>
                <a:lnTo>
                  <a:pt x="0" y="49784"/>
                </a:lnTo>
                <a:close/>
              </a:path>
            </a:pathLst>
          </a:custGeom>
          <a:solidFill>
            <a:srgbClr val="FCD5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Freeform 3"/>
          <p:cNvSpPr/>
          <p:nvPr/>
        </p:nvSpPr>
        <p:spPr>
          <a:xfrm>
            <a:off x="674116" y="523748"/>
            <a:ext cx="49784" cy="49784"/>
          </a:xfrm>
          <a:custGeom>
            <a:avLst/>
            <a:gdLst/>
            <a:ahLst/>
            <a:cxnLst/>
            <a:rect l="l" t="t" r="r" b="b"/>
            <a:pathLst>
              <a:path w="49784" h="49784">
                <a:moveTo>
                  <a:pt x="49784" y="49784"/>
                </a:moveTo>
                <a:lnTo>
                  <a:pt x="0" y="0"/>
                </a:lnTo>
                <a:lnTo>
                  <a:pt x="49784" y="0"/>
                </a:lnTo>
                <a:close/>
              </a:path>
            </a:pathLst>
          </a:custGeom>
          <a:solidFill>
            <a:srgbClr val="FCD5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Freeform 4"/>
          <p:cNvSpPr/>
          <p:nvPr/>
        </p:nvSpPr>
        <p:spPr>
          <a:xfrm>
            <a:off x="645668" y="495300"/>
            <a:ext cx="49784" cy="49784"/>
          </a:xfrm>
          <a:custGeom>
            <a:avLst/>
            <a:gdLst/>
            <a:ahLst/>
            <a:cxnLst/>
            <a:rect l="l" t="t" r="r" b="b"/>
            <a:pathLst>
              <a:path w="49784" h="49784">
                <a:moveTo>
                  <a:pt x="0" y="0"/>
                </a:moveTo>
                <a:lnTo>
                  <a:pt x="49784" y="49784"/>
                </a:lnTo>
                <a:lnTo>
                  <a:pt x="49784" y="0"/>
                </a:lnTo>
                <a:close/>
              </a:path>
            </a:pathLst>
          </a:custGeom>
          <a:solidFill>
            <a:srgbClr val="FCD5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01700" y="406400"/>
            <a:ext cx="2032000" cy="25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 spc="110">
                <a:solidFill>
                  <a:srgbClr val="FCD535"/>
                </a:solidFill>
                <a:latin typeface="BinanceNova"/>
              </a:rPr>
              <a:t>BINANCE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017000" y="508000"/>
            <a:ext cx="2667000" cy="177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700" spc="70" b="0">
                <a:solidFill>
                  <a:srgbClr val="848E9C"/>
                </a:solidFill>
                <a:latin typeface="BinanceNova SemiBold"/>
              </a:rPr>
              <a:t>TABLE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62000" y="6540500"/>
            <a:ext cx="4445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650" spc="65" b="0">
                <a:solidFill>
                  <a:srgbClr val="848E9C"/>
                </a:solidFill>
                <a:latin typeface="BinanceNova SemiBold"/>
              </a:rPr>
              <a:t>JAN 2026 · SHOWCASE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985000" y="6540500"/>
            <a:ext cx="4445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lang="en-US" dirty="0" sz="650" b="0" spc="65">
                <a:solidFill>
                  <a:srgbClr val="848E9C"/>
                </a:solidFill>
                <a:latin typeface="BinanceNova SemiBold"/>
              </a:rPr>
              <a:t>SLIDE </a:t>
            </a:r>
            <a:fld id="{A1B2C3D4-E5F6-4890-ABCD-EF0123456789}" type="slidenum">
              <a:rPr lang="en-US" dirty="0" sz="650" b="0" spc="65">
                <a:solidFill>
                  <a:srgbClr val="848E9C"/>
                </a:solidFill>
                <a:latin typeface="BinanceNova SemiBold"/>
              </a:rPr>
              <a:t>1</a:t>
            </a:fld>
          </a:p>
        </p:txBody>
      </p:sp>
      <p:sp>
        <p:nvSpPr>
          <p:cNvPr id="10" name="Rectangle 9"/>
          <p:cNvSpPr/>
          <p:nvPr/>
        </p:nvSpPr>
        <p:spPr>
          <a:xfrm>
            <a:off x="635000" y="1651000"/>
            <a:ext cx="50800" cy="876300"/>
          </a:xfrm>
          <a:prstGeom prst="rect">
            <a:avLst/>
          </a:prstGeom>
          <a:solidFill>
            <a:srgbClr val="FCD53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Eyebrow"/>
          <p:cNvSpPr>
            <a:spLocks noGrp="1"/>
          </p:cNvSpPr>
          <p:nvPr>
            <p:ph type="body" idx="10"/>
          </p:nvPr>
        </p:nvSpPr>
        <p:spPr>
          <a:xfrm>
            <a:off x="838200" y="1651000"/>
            <a:ext cx="101600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800" spc="80" cap="all">
                <a:solidFill>
                  <a:srgbClr val="FCD535"/>
                </a:solidFill>
                <a:latin typeface="BinanceNova"/>
              </a:rPr>
              <a:t>FY25 PRELIMINARY</a:t>
            </a:r>
          </a:p>
        </p:txBody>
      </p:sp>
      <p:sp>
        <p:nvSpPr>
          <p:cNvPr id="12" name="Title"/>
          <p:cNvSpPr>
            <a:spLocks noGrp="1"/>
          </p:cNvSpPr>
          <p:nvPr>
            <p:ph type="title"/>
          </p:nvPr>
        </p:nvSpPr>
        <p:spPr>
          <a:xfrm>
            <a:off x="838200" y="1968500"/>
            <a:ext cx="10922000" cy="635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3200" spc="-48">
                <a:solidFill>
                  <a:srgbClr val="FFFFFF"/>
                </a:solidFill>
                <a:latin typeface="BinanceNova"/>
              </a:rPr>
              <a:t>Across five product lines, only the two flagship lines beat both revenue and margin plan.</a:t>
            </a:r>
          </a:p>
        </p:txBody>
      </p:sp>
      <p:sp>
        <p:nvSpPr>
          <p:cNvPr id="13" name="Rectangle 12"/>
          <p:cNvSpPr/>
          <p:nvPr/>
        </p:nvSpPr>
        <p:spPr>
          <a:xfrm>
            <a:off x="635000" y="3263900"/>
            <a:ext cx="10922000" cy="12700"/>
          </a:xfrm>
          <a:prstGeom prst="rect">
            <a:avLst/>
          </a:prstGeom>
          <a:solidFill>
            <a:srgbClr val="EAEC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635000" y="3811905"/>
            <a:ext cx="10922000" cy="6350"/>
          </a:xfrm>
          <a:prstGeom prst="rect">
            <a:avLst/>
          </a:prstGeom>
          <a:solidFill>
            <a:srgbClr val="2B313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635000" y="4350385"/>
            <a:ext cx="10922000" cy="6350"/>
          </a:xfrm>
          <a:prstGeom prst="rect">
            <a:avLst/>
          </a:prstGeom>
          <a:solidFill>
            <a:srgbClr val="2B313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635000" y="4888865"/>
            <a:ext cx="10922000" cy="6350"/>
          </a:xfrm>
          <a:prstGeom prst="rect">
            <a:avLst/>
          </a:prstGeom>
          <a:solidFill>
            <a:srgbClr val="2B313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635000" y="5427345"/>
            <a:ext cx="10922000" cy="6350"/>
          </a:xfrm>
          <a:prstGeom prst="rect">
            <a:avLst/>
          </a:prstGeom>
          <a:solidFill>
            <a:srgbClr val="2B313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635000" y="5965825"/>
            <a:ext cx="10922000" cy="6350"/>
          </a:xfrm>
          <a:prstGeom prst="rect">
            <a:avLst/>
          </a:prstGeom>
          <a:solidFill>
            <a:srgbClr val="2B313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Header 1"/>
          <p:cNvSpPr>
            <a:spLocks noGrp="1"/>
          </p:cNvSpPr>
          <p:nvPr>
            <p:ph type="body" idx="20"/>
          </p:nvPr>
        </p:nvSpPr>
        <p:spPr>
          <a:xfrm>
            <a:off x="787400" y="3035300"/>
            <a:ext cx="1981200" cy="2413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800" spc="80" cap="all">
                <a:solidFill>
                  <a:srgbClr val="FCD535"/>
                </a:solidFill>
                <a:latin typeface="BinancePlex"/>
              </a:rPr>
              <a:t>PRODUCT LINE</a:t>
            </a:r>
          </a:p>
        </p:txBody>
      </p:sp>
      <p:sp>
        <p:nvSpPr>
          <p:cNvPr id="20" name="Header 2"/>
          <p:cNvSpPr>
            <a:spLocks noGrp="1"/>
          </p:cNvSpPr>
          <p:nvPr>
            <p:ph type="body" idx="21"/>
          </p:nvPr>
        </p:nvSpPr>
        <p:spPr>
          <a:xfrm>
            <a:off x="3073400" y="3035300"/>
            <a:ext cx="1854200" cy="2413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800" spc="80" cap="all">
                <a:solidFill>
                  <a:srgbClr val="FCD535"/>
                </a:solidFill>
                <a:latin typeface="BinancePlex"/>
              </a:rPr>
              <a:t>REVENUE · €M</a:t>
            </a:r>
          </a:p>
        </p:txBody>
      </p:sp>
      <p:sp>
        <p:nvSpPr>
          <p:cNvPr id="21" name="Header 3"/>
          <p:cNvSpPr>
            <a:spLocks noGrp="1"/>
          </p:cNvSpPr>
          <p:nvPr>
            <p:ph type="body" idx="22"/>
          </p:nvPr>
        </p:nvSpPr>
        <p:spPr>
          <a:xfrm>
            <a:off x="5232400" y="3035300"/>
            <a:ext cx="1854200" cy="2413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800" spc="80" cap="all">
                <a:solidFill>
                  <a:srgbClr val="FCD535"/>
                </a:solidFill>
                <a:latin typeface="BinancePlex"/>
              </a:rPr>
              <a:t>VS. PLAN</a:t>
            </a:r>
          </a:p>
        </p:txBody>
      </p:sp>
      <p:sp>
        <p:nvSpPr>
          <p:cNvPr id="22" name="Header 4"/>
          <p:cNvSpPr>
            <a:spLocks noGrp="1"/>
          </p:cNvSpPr>
          <p:nvPr>
            <p:ph type="body" idx="23"/>
          </p:nvPr>
        </p:nvSpPr>
        <p:spPr>
          <a:xfrm>
            <a:off x="7391400" y="3035300"/>
            <a:ext cx="1854200" cy="2413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800" spc="80" cap="all">
                <a:solidFill>
                  <a:srgbClr val="FCD535"/>
                </a:solidFill>
                <a:latin typeface="BinancePlex"/>
              </a:rPr>
              <a:t>MARGIN</a:t>
            </a:r>
          </a:p>
        </p:txBody>
      </p:sp>
      <p:sp>
        <p:nvSpPr>
          <p:cNvPr id="23" name="Header 5"/>
          <p:cNvSpPr>
            <a:spLocks noGrp="1"/>
          </p:cNvSpPr>
          <p:nvPr>
            <p:ph type="body" idx="24"/>
          </p:nvPr>
        </p:nvSpPr>
        <p:spPr>
          <a:xfrm>
            <a:off x="9550400" y="3035300"/>
            <a:ext cx="1854200" cy="2413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800" spc="80" cap="all">
                <a:solidFill>
                  <a:srgbClr val="FCD535"/>
                </a:solidFill>
                <a:latin typeface="BinancePlex"/>
              </a:rPr>
              <a:t>VS. PLAN</a:t>
            </a:r>
          </a:p>
        </p:txBody>
      </p:sp>
      <p:sp>
        <p:nvSpPr>
          <p:cNvPr id="24" name="Row 1 Label"/>
          <p:cNvSpPr>
            <a:spLocks noGrp="1"/>
          </p:cNvSpPr>
          <p:nvPr>
            <p:ph type="body" idx="30"/>
          </p:nvPr>
        </p:nvSpPr>
        <p:spPr>
          <a:xfrm>
            <a:off x="787400" y="3390900"/>
            <a:ext cx="1981200" cy="30988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25000"/>
              </a:lnSpc>
              <a:buNone/>
            </a:pPr>
            <a:r>
              <a:rPr lang="en-US" sz="1000">
                <a:solidFill>
                  <a:srgbClr val="0B0E11"/>
                </a:solidFill>
                <a:latin typeface="BinanceNova Medium"/>
              </a:rPr>
              <a:t>Flagship A</a:t>
            </a:r>
          </a:p>
        </p:txBody>
      </p:sp>
      <p:sp>
        <p:nvSpPr>
          <p:cNvPr id="25" name="Row 2 Label"/>
          <p:cNvSpPr>
            <a:spLocks noGrp="1"/>
          </p:cNvSpPr>
          <p:nvPr>
            <p:ph type="body" idx="31"/>
          </p:nvPr>
        </p:nvSpPr>
        <p:spPr>
          <a:xfrm>
            <a:off x="787400" y="3929380"/>
            <a:ext cx="1981200" cy="30988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25000"/>
              </a:lnSpc>
              <a:buNone/>
            </a:pPr>
            <a:r>
              <a:rPr lang="en-US" sz="1000">
                <a:solidFill>
                  <a:srgbClr val="0B0E11"/>
                </a:solidFill>
                <a:latin typeface="BinanceNova Medium"/>
              </a:rPr>
              <a:t>Pro line</a:t>
            </a:r>
          </a:p>
        </p:txBody>
      </p:sp>
      <p:sp>
        <p:nvSpPr>
          <p:cNvPr id="26" name="Row 3 Label"/>
          <p:cNvSpPr>
            <a:spLocks noGrp="1"/>
          </p:cNvSpPr>
          <p:nvPr>
            <p:ph type="body" idx="32"/>
          </p:nvPr>
        </p:nvSpPr>
        <p:spPr>
          <a:xfrm>
            <a:off x="787400" y="4467860"/>
            <a:ext cx="1981200" cy="30988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25000"/>
              </a:lnSpc>
              <a:buNone/>
            </a:pPr>
            <a:r>
              <a:rPr lang="en-US" sz="1000">
                <a:solidFill>
                  <a:srgbClr val="0B0E11"/>
                </a:solidFill>
                <a:latin typeface="BinanceNova Medium"/>
              </a:rPr>
              <a:t>Standard line</a:t>
            </a:r>
          </a:p>
        </p:txBody>
      </p:sp>
      <p:sp>
        <p:nvSpPr>
          <p:cNvPr id="27" name="Row 4 Label"/>
          <p:cNvSpPr>
            <a:spLocks noGrp="1"/>
          </p:cNvSpPr>
          <p:nvPr>
            <p:ph type="body" idx="33"/>
          </p:nvPr>
        </p:nvSpPr>
        <p:spPr>
          <a:xfrm>
            <a:off x="787400" y="5006340"/>
            <a:ext cx="1981200" cy="30988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25000"/>
              </a:lnSpc>
              <a:buNone/>
            </a:pPr>
            <a:r>
              <a:rPr lang="en-US" sz="1000">
                <a:solidFill>
                  <a:srgbClr val="0B0E11"/>
                </a:solidFill>
                <a:latin typeface="BinanceNova Medium"/>
              </a:rPr>
              <a:t>Compact line</a:t>
            </a:r>
          </a:p>
        </p:txBody>
      </p:sp>
      <p:sp>
        <p:nvSpPr>
          <p:cNvPr id="28" name="Row 5 Label"/>
          <p:cNvSpPr>
            <a:spLocks noGrp="1"/>
          </p:cNvSpPr>
          <p:nvPr>
            <p:ph type="body" idx="34"/>
          </p:nvPr>
        </p:nvSpPr>
        <p:spPr>
          <a:xfrm>
            <a:off x="787400" y="5544820"/>
            <a:ext cx="1981200" cy="30988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25000"/>
              </a:lnSpc>
              <a:buNone/>
            </a:pPr>
            <a:r>
              <a:rPr lang="en-US" sz="1000">
                <a:solidFill>
                  <a:srgbClr val="0B0E11"/>
                </a:solidFill>
                <a:latin typeface="BinanceNova Medium"/>
              </a:rPr>
              <a:t>Accessories</a:t>
            </a:r>
          </a:p>
        </p:txBody>
      </p:sp>
      <p:sp>
        <p:nvSpPr>
          <p:cNvPr id="29" name="Cell r1c1"/>
          <p:cNvSpPr>
            <a:spLocks noGrp="1"/>
          </p:cNvSpPr>
          <p:nvPr>
            <p:ph type="body" idx="40"/>
          </p:nvPr>
        </p:nvSpPr>
        <p:spPr>
          <a:xfrm>
            <a:off x="3073400" y="3390900"/>
            <a:ext cx="1854200" cy="30988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25000"/>
              </a:lnSpc>
              <a:buNone/>
            </a:pPr>
            <a:r>
              <a:rPr lang="en-US" sz="1000">
                <a:solidFill>
                  <a:srgbClr val="FFFFFF"/>
                </a:solidFill>
                <a:latin typeface="BinanceNova"/>
              </a:rPr>
              <a:t>3,240</a:t>
            </a:r>
          </a:p>
        </p:txBody>
      </p:sp>
      <p:sp>
        <p:nvSpPr>
          <p:cNvPr id="30" name="Cell r1c2"/>
          <p:cNvSpPr>
            <a:spLocks noGrp="1"/>
          </p:cNvSpPr>
          <p:nvPr>
            <p:ph type="body" idx="41"/>
          </p:nvPr>
        </p:nvSpPr>
        <p:spPr>
          <a:xfrm>
            <a:off x="5232400" y="3390900"/>
            <a:ext cx="1854200" cy="30988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25000"/>
              </a:lnSpc>
              <a:buNone/>
            </a:pPr>
            <a:r>
              <a:rPr lang="en-US" sz="1000">
                <a:solidFill>
                  <a:srgbClr val="FFFFFF"/>
                </a:solidFill>
                <a:latin typeface="BinanceNova"/>
              </a:rPr>
              <a:t>+3.8%</a:t>
            </a:r>
          </a:p>
        </p:txBody>
      </p:sp>
      <p:sp>
        <p:nvSpPr>
          <p:cNvPr id="31" name="Cell r1c3"/>
          <p:cNvSpPr>
            <a:spLocks noGrp="1"/>
          </p:cNvSpPr>
          <p:nvPr>
            <p:ph type="body" idx="42"/>
          </p:nvPr>
        </p:nvSpPr>
        <p:spPr>
          <a:xfrm>
            <a:off x="7391400" y="3390900"/>
            <a:ext cx="1854200" cy="30988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25000"/>
              </a:lnSpc>
              <a:buNone/>
            </a:pPr>
            <a:r>
              <a:rPr lang="en-US" sz="1000">
                <a:solidFill>
                  <a:srgbClr val="FFFFFF"/>
                </a:solidFill>
                <a:latin typeface="BinanceNova"/>
              </a:rPr>
              <a:t>14.2%</a:t>
            </a:r>
          </a:p>
        </p:txBody>
      </p:sp>
      <p:sp>
        <p:nvSpPr>
          <p:cNvPr id="32" name="Cell r1c4"/>
          <p:cNvSpPr>
            <a:spLocks noGrp="1"/>
          </p:cNvSpPr>
          <p:nvPr>
            <p:ph type="body" idx="43"/>
          </p:nvPr>
        </p:nvSpPr>
        <p:spPr>
          <a:xfrm>
            <a:off x="9550400" y="3390900"/>
            <a:ext cx="1854200" cy="30988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25000"/>
              </a:lnSpc>
              <a:buNone/>
            </a:pPr>
            <a:r>
              <a:rPr lang="en-US" sz="1000">
                <a:solidFill>
                  <a:srgbClr val="FFFFFF"/>
                </a:solidFill>
                <a:latin typeface="BinanceNova"/>
              </a:rPr>
              <a:t>+0.6 pt</a:t>
            </a:r>
          </a:p>
        </p:txBody>
      </p:sp>
      <p:sp>
        <p:nvSpPr>
          <p:cNvPr id="33" name="Cell r2c1"/>
          <p:cNvSpPr>
            <a:spLocks noGrp="1"/>
          </p:cNvSpPr>
          <p:nvPr>
            <p:ph type="body" idx="44"/>
          </p:nvPr>
        </p:nvSpPr>
        <p:spPr>
          <a:xfrm>
            <a:off x="3073400" y="3929380"/>
            <a:ext cx="1854200" cy="30988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25000"/>
              </a:lnSpc>
              <a:buNone/>
            </a:pPr>
            <a:r>
              <a:rPr lang="en-US" sz="1000">
                <a:solidFill>
                  <a:srgbClr val="FFFFFF"/>
                </a:solidFill>
                <a:latin typeface="BinanceNova"/>
              </a:rPr>
              <a:t>2,910</a:t>
            </a:r>
          </a:p>
        </p:txBody>
      </p:sp>
      <p:sp>
        <p:nvSpPr>
          <p:cNvPr id="34" name="Cell r2c2"/>
          <p:cNvSpPr>
            <a:spLocks noGrp="1"/>
          </p:cNvSpPr>
          <p:nvPr>
            <p:ph type="body" idx="45"/>
          </p:nvPr>
        </p:nvSpPr>
        <p:spPr>
          <a:xfrm>
            <a:off x="5232400" y="3929380"/>
            <a:ext cx="1854200" cy="30988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25000"/>
              </a:lnSpc>
              <a:buNone/>
            </a:pPr>
            <a:r>
              <a:rPr lang="en-US" sz="1000">
                <a:solidFill>
                  <a:srgbClr val="FFFFFF"/>
                </a:solidFill>
                <a:latin typeface="BinanceNova"/>
              </a:rPr>
              <a:t>+2.2%</a:t>
            </a:r>
          </a:p>
        </p:txBody>
      </p:sp>
      <p:sp>
        <p:nvSpPr>
          <p:cNvPr id="35" name="Cell r2c3"/>
          <p:cNvSpPr>
            <a:spLocks noGrp="1"/>
          </p:cNvSpPr>
          <p:nvPr>
            <p:ph type="body" idx="46"/>
          </p:nvPr>
        </p:nvSpPr>
        <p:spPr>
          <a:xfrm>
            <a:off x="7391400" y="3929380"/>
            <a:ext cx="1854200" cy="30988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25000"/>
              </a:lnSpc>
              <a:buNone/>
            </a:pPr>
            <a:r>
              <a:rPr lang="en-US" sz="1000">
                <a:solidFill>
                  <a:srgbClr val="FFFFFF"/>
                </a:solidFill>
                <a:latin typeface="BinanceNova"/>
              </a:rPr>
              <a:t>13.5%</a:t>
            </a:r>
          </a:p>
        </p:txBody>
      </p:sp>
      <p:sp>
        <p:nvSpPr>
          <p:cNvPr id="36" name="Cell r2c4"/>
          <p:cNvSpPr>
            <a:spLocks noGrp="1"/>
          </p:cNvSpPr>
          <p:nvPr>
            <p:ph type="body" idx="47"/>
          </p:nvPr>
        </p:nvSpPr>
        <p:spPr>
          <a:xfrm>
            <a:off x="9550400" y="3929380"/>
            <a:ext cx="1854200" cy="30988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25000"/>
              </a:lnSpc>
              <a:buNone/>
            </a:pPr>
            <a:r>
              <a:rPr lang="en-US" sz="1000">
                <a:solidFill>
                  <a:srgbClr val="FFFFFF"/>
                </a:solidFill>
                <a:latin typeface="BinanceNova"/>
              </a:rPr>
              <a:t>+0.4 pt</a:t>
            </a:r>
          </a:p>
        </p:txBody>
      </p:sp>
      <p:sp>
        <p:nvSpPr>
          <p:cNvPr id="37" name="Cell r3c1"/>
          <p:cNvSpPr>
            <a:spLocks noGrp="1"/>
          </p:cNvSpPr>
          <p:nvPr>
            <p:ph type="body" idx="48"/>
          </p:nvPr>
        </p:nvSpPr>
        <p:spPr>
          <a:xfrm>
            <a:off x="3073400" y="4467860"/>
            <a:ext cx="1854200" cy="30988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25000"/>
              </a:lnSpc>
              <a:buNone/>
            </a:pPr>
            <a:r>
              <a:rPr lang="en-US" sz="1000">
                <a:solidFill>
                  <a:srgbClr val="FFFFFF"/>
                </a:solidFill>
                <a:latin typeface="BinanceNova"/>
              </a:rPr>
              <a:t>3,480</a:t>
            </a:r>
          </a:p>
        </p:txBody>
      </p:sp>
      <p:sp>
        <p:nvSpPr>
          <p:cNvPr id="38" name="Cell r3c2"/>
          <p:cNvSpPr>
            <a:spLocks noGrp="1"/>
          </p:cNvSpPr>
          <p:nvPr>
            <p:ph type="body" idx="49"/>
          </p:nvPr>
        </p:nvSpPr>
        <p:spPr>
          <a:xfrm>
            <a:off x="5232400" y="4467860"/>
            <a:ext cx="1854200" cy="30988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25000"/>
              </a:lnSpc>
              <a:buNone/>
            </a:pPr>
            <a:r>
              <a:rPr lang="en-US" sz="1000">
                <a:solidFill>
                  <a:srgbClr val="FFFFFF"/>
                </a:solidFill>
                <a:latin typeface="BinanceNova"/>
              </a:rPr>
              <a:t>+0.3%</a:t>
            </a:r>
          </a:p>
        </p:txBody>
      </p:sp>
      <p:sp>
        <p:nvSpPr>
          <p:cNvPr id="39" name="Cell r3c3"/>
          <p:cNvSpPr>
            <a:spLocks noGrp="1"/>
          </p:cNvSpPr>
          <p:nvPr>
            <p:ph type="body" idx="50"/>
          </p:nvPr>
        </p:nvSpPr>
        <p:spPr>
          <a:xfrm>
            <a:off x="7391400" y="4467860"/>
            <a:ext cx="1854200" cy="30988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25000"/>
              </a:lnSpc>
              <a:buNone/>
            </a:pPr>
            <a:r>
              <a:rPr lang="en-US" sz="1000">
                <a:solidFill>
                  <a:srgbClr val="FFFFFF"/>
                </a:solidFill>
                <a:latin typeface="BinanceNova"/>
              </a:rPr>
              <a:t>11.1%</a:t>
            </a:r>
          </a:p>
        </p:txBody>
      </p:sp>
      <p:sp>
        <p:nvSpPr>
          <p:cNvPr id="40" name="Cell r3c4"/>
          <p:cNvSpPr>
            <a:spLocks noGrp="1"/>
          </p:cNvSpPr>
          <p:nvPr>
            <p:ph type="body" idx="51"/>
          </p:nvPr>
        </p:nvSpPr>
        <p:spPr>
          <a:xfrm>
            <a:off x="9550400" y="4467860"/>
            <a:ext cx="1854200" cy="30988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25000"/>
              </a:lnSpc>
              <a:buNone/>
            </a:pPr>
            <a:r>
              <a:rPr lang="en-US" sz="1000">
                <a:solidFill>
                  <a:srgbClr val="FFFFFF"/>
                </a:solidFill>
                <a:latin typeface="BinanceNova"/>
              </a:rPr>
              <a:t>−0.2 pt</a:t>
            </a:r>
          </a:p>
        </p:txBody>
      </p:sp>
      <p:sp>
        <p:nvSpPr>
          <p:cNvPr id="41" name="Cell r4c1"/>
          <p:cNvSpPr>
            <a:spLocks noGrp="1"/>
          </p:cNvSpPr>
          <p:nvPr>
            <p:ph type="body" idx="52"/>
          </p:nvPr>
        </p:nvSpPr>
        <p:spPr>
          <a:xfrm>
            <a:off x="3073400" y="5006340"/>
            <a:ext cx="1854200" cy="30988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25000"/>
              </a:lnSpc>
              <a:buNone/>
            </a:pPr>
            <a:r>
              <a:rPr lang="en-US" sz="1000">
                <a:solidFill>
                  <a:srgbClr val="FFFFFF"/>
                </a:solidFill>
                <a:latin typeface="BinanceNova"/>
              </a:rPr>
              <a:t>2,610</a:t>
            </a:r>
          </a:p>
        </p:txBody>
      </p:sp>
      <p:sp>
        <p:nvSpPr>
          <p:cNvPr id="42" name="Cell r4c2"/>
          <p:cNvSpPr>
            <a:spLocks noGrp="1"/>
          </p:cNvSpPr>
          <p:nvPr>
            <p:ph type="body" idx="53"/>
          </p:nvPr>
        </p:nvSpPr>
        <p:spPr>
          <a:xfrm>
            <a:off x="5232400" y="5006340"/>
            <a:ext cx="1854200" cy="30988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25000"/>
              </a:lnSpc>
              <a:buNone/>
            </a:pPr>
            <a:r>
              <a:rPr lang="en-US" sz="1000">
                <a:solidFill>
                  <a:srgbClr val="FFFFFF"/>
                </a:solidFill>
                <a:latin typeface="BinanceNova"/>
              </a:rPr>
              <a:t>−0.9%</a:t>
            </a:r>
          </a:p>
        </p:txBody>
      </p:sp>
      <p:sp>
        <p:nvSpPr>
          <p:cNvPr id="43" name="Cell r4c3"/>
          <p:cNvSpPr>
            <a:spLocks noGrp="1"/>
          </p:cNvSpPr>
          <p:nvPr>
            <p:ph type="body" idx="54"/>
          </p:nvPr>
        </p:nvSpPr>
        <p:spPr>
          <a:xfrm>
            <a:off x="7391400" y="5006340"/>
            <a:ext cx="1854200" cy="30988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25000"/>
              </a:lnSpc>
              <a:buNone/>
            </a:pPr>
            <a:r>
              <a:rPr lang="en-US" sz="1000">
                <a:solidFill>
                  <a:srgbClr val="FFFFFF"/>
                </a:solidFill>
                <a:latin typeface="BinanceNova"/>
              </a:rPr>
              <a:t>10.4%</a:t>
            </a:r>
          </a:p>
        </p:txBody>
      </p:sp>
      <p:sp>
        <p:nvSpPr>
          <p:cNvPr id="44" name="Cell r4c4"/>
          <p:cNvSpPr>
            <a:spLocks noGrp="1"/>
          </p:cNvSpPr>
          <p:nvPr>
            <p:ph type="body" idx="55"/>
          </p:nvPr>
        </p:nvSpPr>
        <p:spPr>
          <a:xfrm>
            <a:off x="9550400" y="5006340"/>
            <a:ext cx="1854200" cy="30988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25000"/>
              </a:lnSpc>
              <a:buNone/>
            </a:pPr>
            <a:r>
              <a:rPr lang="en-US" sz="1000">
                <a:solidFill>
                  <a:srgbClr val="FFFFFF"/>
                </a:solidFill>
                <a:latin typeface="BinanceNova"/>
              </a:rPr>
              <a:t>−0.3 pt</a:t>
            </a:r>
          </a:p>
        </p:txBody>
      </p:sp>
      <p:sp>
        <p:nvSpPr>
          <p:cNvPr id="45" name="Cell r5c1"/>
          <p:cNvSpPr>
            <a:spLocks noGrp="1"/>
          </p:cNvSpPr>
          <p:nvPr>
            <p:ph type="body" idx="56"/>
          </p:nvPr>
        </p:nvSpPr>
        <p:spPr>
          <a:xfrm>
            <a:off x="3073400" y="5544820"/>
            <a:ext cx="1854200" cy="30988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25000"/>
              </a:lnSpc>
              <a:buNone/>
            </a:pPr>
            <a:r>
              <a:rPr lang="en-US" sz="1000">
                <a:solidFill>
                  <a:srgbClr val="FFFFFF"/>
                </a:solidFill>
                <a:latin typeface="BinanceNova"/>
              </a:rPr>
              <a:t>1,860</a:t>
            </a:r>
          </a:p>
        </p:txBody>
      </p:sp>
      <p:sp>
        <p:nvSpPr>
          <p:cNvPr id="46" name="Cell r5c2"/>
          <p:cNvSpPr>
            <a:spLocks noGrp="1"/>
          </p:cNvSpPr>
          <p:nvPr>
            <p:ph type="body" idx="57"/>
          </p:nvPr>
        </p:nvSpPr>
        <p:spPr>
          <a:xfrm>
            <a:off x="5232400" y="5544820"/>
            <a:ext cx="1854200" cy="30988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25000"/>
              </a:lnSpc>
              <a:buNone/>
            </a:pPr>
            <a:r>
              <a:rPr lang="en-US" sz="1000">
                <a:solidFill>
                  <a:srgbClr val="FFFFFF"/>
                </a:solidFill>
                <a:latin typeface="BinanceNova"/>
              </a:rPr>
              <a:t>−1.4%</a:t>
            </a:r>
          </a:p>
        </p:txBody>
      </p:sp>
      <p:sp>
        <p:nvSpPr>
          <p:cNvPr id="47" name="Cell r5c3"/>
          <p:cNvSpPr>
            <a:spLocks noGrp="1"/>
          </p:cNvSpPr>
          <p:nvPr>
            <p:ph type="body" idx="58"/>
          </p:nvPr>
        </p:nvSpPr>
        <p:spPr>
          <a:xfrm>
            <a:off x="7391400" y="5544820"/>
            <a:ext cx="1854200" cy="30988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25000"/>
              </a:lnSpc>
              <a:buNone/>
            </a:pPr>
            <a:r>
              <a:rPr lang="en-US" sz="1000">
                <a:solidFill>
                  <a:srgbClr val="FFFFFF"/>
                </a:solidFill>
                <a:latin typeface="BinanceNova"/>
              </a:rPr>
              <a:t>9.2%</a:t>
            </a:r>
          </a:p>
        </p:txBody>
      </p:sp>
      <p:sp>
        <p:nvSpPr>
          <p:cNvPr id="48" name="Cell r5c4"/>
          <p:cNvSpPr>
            <a:spLocks noGrp="1"/>
          </p:cNvSpPr>
          <p:nvPr>
            <p:ph type="body" idx="59"/>
          </p:nvPr>
        </p:nvSpPr>
        <p:spPr>
          <a:xfrm>
            <a:off x="9550400" y="5544820"/>
            <a:ext cx="1854200" cy="30988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25000"/>
              </a:lnSpc>
              <a:buNone/>
            </a:pPr>
            <a:r>
              <a:rPr lang="en-US" sz="1000">
                <a:solidFill>
                  <a:srgbClr val="FFFFFF"/>
                </a:solidFill>
                <a:latin typeface="BinanceNova"/>
              </a:rPr>
              <a:t>−0.7 pt</a:t>
            </a:r>
          </a:p>
        </p:txBody>
      </p:sp>
      <p:sp>
        <p:nvSpPr>
          <p:cNvPr id="49" name="Source"/>
          <p:cNvSpPr>
            <a:spLocks noGrp="1"/>
          </p:cNvSpPr>
          <p:nvPr>
            <p:ph type="body" idx="60"/>
          </p:nvPr>
        </p:nvSpPr>
        <p:spPr>
          <a:xfrm>
            <a:off x="635000" y="6223000"/>
            <a:ext cx="10922000" cy="1524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spc="70" cap="all">
                <a:solidFill>
                  <a:srgbClr val="FFFFFF"/>
                </a:solidFill>
                <a:latin typeface="BinancePlex"/>
              </a:rPr>
              <a:t>SOURCE · SAMPLE DATA, FY25 PRELIMINARY · EUR M · PLAN SET OCT 2024</a:t>
            </a:r>
          </a:p>
        </p:txBody>
      </p:sp>
    </p:spTree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Feinschliff · Pyramid">
    <p:bg>
      <p:bgPr>
        <a:solidFill>
          <a:srgbClr val="0B0E1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1"/>
          <p:cNvSpPr/>
          <p:nvPr/>
        </p:nvSpPr>
        <p:spPr>
          <a:xfrm>
            <a:off x="723900" y="417068"/>
            <a:ext cx="49784" cy="49784"/>
          </a:xfrm>
          <a:custGeom>
            <a:avLst/>
            <a:gdLst/>
            <a:ahLst/>
            <a:cxnLst/>
            <a:rect l="l" t="t" r="r" b="b"/>
            <a:pathLst>
              <a:path w="49784" h="49784">
                <a:moveTo>
                  <a:pt x="0" y="0"/>
                </a:moveTo>
                <a:lnTo>
                  <a:pt x="49784" y="49784"/>
                </a:lnTo>
                <a:lnTo>
                  <a:pt x="0" y="49784"/>
                </a:lnTo>
                <a:close/>
              </a:path>
            </a:pathLst>
          </a:custGeom>
          <a:solidFill>
            <a:srgbClr val="FCD5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Freeform 2"/>
          <p:cNvSpPr/>
          <p:nvPr/>
        </p:nvSpPr>
        <p:spPr>
          <a:xfrm>
            <a:off x="752348" y="445516"/>
            <a:ext cx="49784" cy="49784"/>
          </a:xfrm>
          <a:custGeom>
            <a:avLst/>
            <a:gdLst/>
            <a:ahLst/>
            <a:cxnLst/>
            <a:rect l="l" t="t" r="r" b="b"/>
            <a:pathLst>
              <a:path w="49784" h="49784">
                <a:moveTo>
                  <a:pt x="49784" y="49784"/>
                </a:moveTo>
                <a:lnTo>
                  <a:pt x="0" y="0"/>
                </a:lnTo>
                <a:lnTo>
                  <a:pt x="0" y="49784"/>
                </a:lnTo>
                <a:close/>
              </a:path>
            </a:pathLst>
          </a:custGeom>
          <a:solidFill>
            <a:srgbClr val="FCD5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Freeform 3"/>
          <p:cNvSpPr/>
          <p:nvPr/>
        </p:nvSpPr>
        <p:spPr>
          <a:xfrm>
            <a:off x="674116" y="523748"/>
            <a:ext cx="49784" cy="49784"/>
          </a:xfrm>
          <a:custGeom>
            <a:avLst/>
            <a:gdLst/>
            <a:ahLst/>
            <a:cxnLst/>
            <a:rect l="l" t="t" r="r" b="b"/>
            <a:pathLst>
              <a:path w="49784" h="49784">
                <a:moveTo>
                  <a:pt x="49784" y="49784"/>
                </a:moveTo>
                <a:lnTo>
                  <a:pt x="0" y="0"/>
                </a:lnTo>
                <a:lnTo>
                  <a:pt x="49784" y="0"/>
                </a:lnTo>
                <a:close/>
              </a:path>
            </a:pathLst>
          </a:custGeom>
          <a:solidFill>
            <a:srgbClr val="FCD5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Freeform 4"/>
          <p:cNvSpPr/>
          <p:nvPr/>
        </p:nvSpPr>
        <p:spPr>
          <a:xfrm>
            <a:off x="645668" y="495300"/>
            <a:ext cx="49784" cy="49784"/>
          </a:xfrm>
          <a:custGeom>
            <a:avLst/>
            <a:gdLst/>
            <a:ahLst/>
            <a:cxnLst/>
            <a:rect l="l" t="t" r="r" b="b"/>
            <a:pathLst>
              <a:path w="49784" h="49784">
                <a:moveTo>
                  <a:pt x="0" y="0"/>
                </a:moveTo>
                <a:lnTo>
                  <a:pt x="49784" y="49784"/>
                </a:lnTo>
                <a:lnTo>
                  <a:pt x="49784" y="0"/>
                </a:lnTo>
                <a:close/>
              </a:path>
            </a:pathLst>
          </a:custGeom>
          <a:solidFill>
            <a:srgbClr val="FCD5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01700" y="406400"/>
            <a:ext cx="2032000" cy="25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 spc="110">
                <a:solidFill>
                  <a:srgbClr val="FCD535"/>
                </a:solidFill>
                <a:latin typeface="BinanceNova"/>
              </a:rPr>
              <a:t>BINANCE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017000" y="508000"/>
            <a:ext cx="2667000" cy="177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700" spc="70" b="0">
                <a:solidFill>
                  <a:srgbClr val="848E9C"/>
                </a:solidFill>
                <a:latin typeface="BinanceNova SemiBold"/>
              </a:rPr>
              <a:t>PYRAMID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62000" y="6540500"/>
            <a:ext cx="4445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650" spc="65" b="0">
                <a:solidFill>
                  <a:srgbClr val="848E9C"/>
                </a:solidFill>
                <a:latin typeface="BinanceNova SemiBold"/>
              </a:rPr>
              <a:t>JAN 2026 · SHOWCASE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985000" y="6540500"/>
            <a:ext cx="4445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lang="en-US" dirty="0" sz="650" b="0" spc="65">
                <a:solidFill>
                  <a:srgbClr val="848E9C"/>
                </a:solidFill>
                <a:latin typeface="BinanceNova SemiBold"/>
              </a:rPr>
              <a:t>SLIDE </a:t>
            </a:r>
            <a:fld id="{A1B2C3D4-E5F6-4890-ABCD-EF0123456789}" type="slidenum">
              <a:rPr lang="en-US" dirty="0" sz="650" b="0" spc="65">
                <a:solidFill>
                  <a:srgbClr val="848E9C"/>
                </a:solidFill>
                <a:latin typeface="BinanceNova SemiBold"/>
              </a:rPr>
              <a:t>1</a:t>
            </a:fld>
          </a:p>
        </p:txBody>
      </p:sp>
      <p:sp>
        <p:nvSpPr>
          <p:cNvPr id="10" name="Rectangle 9"/>
          <p:cNvSpPr/>
          <p:nvPr/>
        </p:nvSpPr>
        <p:spPr>
          <a:xfrm>
            <a:off x="635000" y="1651000"/>
            <a:ext cx="50800" cy="876300"/>
          </a:xfrm>
          <a:prstGeom prst="rect">
            <a:avLst/>
          </a:prstGeom>
          <a:solidFill>
            <a:srgbClr val="FCD53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Eyebrow"/>
          <p:cNvSpPr>
            <a:spLocks noGrp="1"/>
          </p:cNvSpPr>
          <p:nvPr>
            <p:ph type="body" idx="10"/>
          </p:nvPr>
        </p:nvSpPr>
        <p:spPr>
          <a:xfrm>
            <a:off x="838200" y="1651000"/>
            <a:ext cx="101600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800" spc="80" cap="all">
                <a:solidFill>
                  <a:srgbClr val="FCD535"/>
                </a:solidFill>
                <a:latin typeface="BinanceNova"/>
              </a:rPr>
              <a:t>CUSTOMER VALUE</a:t>
            </a:r>
          </a:p>
        </p:txBody>
      </p:sp>
      <p:sp>
        <p:nvSpPr>
          <p:cNvPr id="12" name="Title"/>
          <p:cNvSpPr>
            <a:spLocks noGrp="1"/>
          </p:cNvSpPr>
          <p:nvPr>
            <p:ph type="title"/>
          </p:nvPr>
        </p:nvSpPr>
        <p:spPr>
          <a:xfrm>
            <a:off x="838200" y="1968500"/>
            <a:ext cx="10922000" cy="635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3200" spc="-48">
                <a:solidFill>
                  <a:srgbClr val="FFFFFF"/>
                </a:solidFill>
                <a:latin typeface="BinanceNova"/>
              </a:rPr>
              <a:t>Three tiers of value: a solid product, an honest relationship, a measured experience.</a:t>
            </a:r>
          </a:p>
        </p:txBody>
      </p:sp>
      <p:sp>
        <p:nvSpPr>
          <p:cNvPr id="13" name="Isosceles Triangle 12"/>
          <p:cNvSpPr/>
          <p:nvPr/>
        </p:nvSpPr>
        <p:spPr>
          <a:xfrm>
            <a:off x="2497667" y="3048000"/>
            <a:ext cx="1608667" cy="1083733"/>
          </a:xfrm>
          <a:prstGeom prst="triangle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Freeform 13"/>
          <p:cNvSpPr/>
          <p:nvPr/>
        </p:nvSpPr>
        <p:spPr>
          <a:xfrm>
            <a:off x="1693333" y="4157133"/>
            <a:ext cx="3217334" cy="1083734"/>
          </a:xfrm>
          <a:custGeom>
            <a:avLst/>
            <a:gdLst/>
            <a:ahLst/>
            <a:cxnLst/>
            <a:rect l="l" t="t" r="r" b="b"/>
            <a:pathLst>
              <a:path w="3217334" h="1083734">
                <a:moveTo>
                  <a:pt x="804334" y="0"/>
                </a:moveTo>
                <a:lnTo>
                  <a:pt x="2413000" y="0"/>
                </a:lnTo>
                <a:lnTo>
                  <a:pt x="3217334" y="1083734"/>
                </a:lnTo>
                <a:lnTo>
                  <a:pt x="0" y="1083734"/>
                </a:lnTo>
                <a:close/>
              </a:path>
            </a:pathLst>
          </a:custGeom>
          <a:solidFill>
            <a:srgbClr val="FCD53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Freeform 14"/>
          <p:cNvSpPr/>
          <p:nvPr/>
        </p:nvSpPr>
        <p:spPr>
          <a:xfrm>
            <a:off x="889000" y="5266267"/>
            <a:ext cx="4826000" cy="1083733"/>
          </a:xfrm>
          <a:custGeom>
            <a:avLst/>
            <a:gdLst/>
            <a:ahLst/>
            <a:cxnLst/>
            <a:rect l="l" t="t" r="r" b="b"/>
            <a:pathLst>
              <a:path w="4826000" h="1083733">
                <a:moveTo>
                  <a:pt x="804333" y="0"/>
                </a:moveTo>
                <a:lnTo>
                  <a:pt x="4021667" y="0"/>
                </a:lnTo>
                <a:lnTo>
                  <a:pt x="4826000" y="1083733"/>
                </a:lnTo>
                <a:lnTo>
                  <a:pt x="0" y="1083733"/>
                </a:lnTo>
                <a:close/>
              </a:path>
            </a:pathLst>
          </a:custGeom>
          <a:solidFill>
            <a:srgbClr val="0B0E1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ier 1 Label"/>
          <p:cNvSpPr>
            <a:spLocks noGrp="1"/>
          </p:cNvSpPr>
          <p:nvPr>
            <p:ph type="body" idx="20"/>
          </p:nvPr>
        </p:nvSpPr>
        <p:spPr>
          <a:xfrm>
            <a:off x="4206875" y="3448050"/>
            <a:ext cx="2159000" cy="2794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4999"/>
              </a:lnSpc>
              <a:buNone/>
            </a:pPr>
            <a:r>
              <a:rPr lang="en-US" sz="1200" spc="-14">
                <a:solidFill>
                  <a:srgbClr val="0B0E11"/>
                </a:solidFill>
                <a:latin typeface="BinanceNova Medium"/>
              </a:rPr>
              <a:t>A measured experience.</a:t>
            </a:r>
          </a:p>
        </p:txBody>
      </p:sp>
      <p:sp>
        <p:nvSpPr>
          <p:cNvPr id="17" name="Rectangle 16"/>
          <p:cNvSpPr/>
          <p:nvPr/>
        </p:nvSpPr>
        <p:spPr>
          <a:xfrm>
            <a:off x="6350000" y="3048000"/>
            <a:ext cx="5207000" cy="6350"/>
          </a:xfrm>
          <a:prstGeom prst="rect">
            <a:avLst/>
          </a:prstGeom>
          <a:solidFill>
            <a:srgbClr val="2B313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ier 1 Counter"/>
          <p:cNvSpPr>
            <a:spLocks noGrp="1"/>
          </p:cNvSpPr>
          <p:nvPr>
            <p:ph type="body" idx="22"/>
          </p:nvPr>
        </p:nvSpPr>
        <p:spPr>
          <a:xfrm>
            <a:off x="6350000" y="3149600"/>
            <a:ext cx="5207000" cy="1397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spc="70" cap="all">
                <a:solidFill>
                  <a:srgbClr val="FCD535"/>
                </a:solidFill>
                <a:latin typeface="BinancePlex"/>
              </a:rPr>
              <a:t>TIER 03 · MEANING</a:t>
            </a:r>
          </a:p>
        </p:txBody>
      </p:sp>
      <p:sp>
        <p:nvSpPr>
          <p:cNvPr id="19" name="Tier 1 Body"/>
          <p:cNvSpPr>
            <a:spLocks noGrp="1"/>
          </p:cNvSpPr>
          <p:nvPr>
            <p:ph type="body" idx="21"/>
          </p:nvPr>
        </p:nvSpPr>
        <p:spPr>
          <a:xfrm>
            <a:off x="6350000" y="3352800"/>
            <a:ext cx="5207000" cy="7239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1000">
                <a:solidFill>
                  <a:srgbClr val="FFFFFF"/>
                </a:solidFill>
                <a:latin typeface="BinanceNova"/>
              </a:rPr>
              <a:t>Time given back; one less thing to think about.</a:t>
            </a:r>
          </a:p>
        </p:txBody>
      </p:sp>
      <p:sp>
        <p:nvSpPr>
          <p:cNvPr id="20" name="Tier 2 Label"/>
          <p:cNvSpPr>
            <a:spLocks noGrp="1"/>
          </p:cNvSpPr>
          <p:nvPr>
            <p:ph type="body" idx="24"/>
          </p:nvPr>
        </p:nvSpPr>
        <p:spPr>
          <a:xfrm>
            <a:off x="1797050" y="4552950"/>
            <a:ext cx="3009900" cy="279400"/>
          </a:xfrm>
        </p:spPr>
        <p:txBody>
          <a:bodyPr lIns="0" tIns="0" rIns="0" bIns="0" wrap="square" anchor="t"/>
          <a:lstStyle/>
          <a:p>
            <a:pPr marL="0" indent="0" algn="ctr">
              <a:lnSpc>
                <a:spcPct val="114999"/>
              </a:lnSpc>
              <a:buNone/>
            </a:pPr>
            <a:r>
              <a:rPr lang="en-US" sz="1400" spc="-17">
                <a:solidFill>
                  <a:srgbClr val="0B0E11"/>
                </a:solidFill>
                <a:latin typeface="BinanceNova Medium"/>
              </a:rPr>
              <a:t>An honest relationship.</a:t>
            </a:r>
          </a:p>
        </p:txBody>
      </p:sp>
      <p:sp>
        <p:nvSpPr>
          <p:cNvPr id="21" name="Rectangle 20"/>
          <p:cNvSpPr/>
          <p:nvPr/>
        </p:nvSpPr>
        <p:spPr>
          <a:xfrm>
            <a:off x="6350000" y="4152900"/>
            <a:ext cx="5207000" cy="6350"/>
          </a:xfrm>
          <a:prstGeom prst="rect">
            <a:avLst/>
          </a:prstGeom>
          <a:solidFill>
            <a:srgbClr val="2B313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ier 2 Counter"/>
          <p:cNvSpPr>
            <a:spLocks noGrp="1"/>
          </p:cNvSpPr>
          <p:nvPr>
            <p:ph type="body" idx="26"/>
          </p:nvPr>
        </p:nvSpPr>
        <p:spPr>
          <a:xfrm>
            <a:off x="6350000" y="4254500"/>
            <a:ext cx="5207000" cy="1397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spc="70" cap="all">
                <a:solidFill>
                  <a:srgbClr val="FCD535"/>
                </a:solidFill>
                <a:latin typeface="BinancePlex"/>
              </a:rPr>
              <a:t>TIER 02 · TRUST</a:t>
            </a:r>
          </a:p>
        </p:txBody>
      </p:sp>
      <p:sp>
        <p:nvSpPr>
          <p:cNvPr id="23" name="Tier 2 Body"/>
          <p:cNvSpPr>
            <a:spLocks noGrp="1"/>
          </p:cNvSpPr>
          <p:nvPr>
            <p:ph type="body" idx="25"/>
          </p:nvPr>
        </p:nvSpPr>
        <p:spPr>
          <a:xfrm>
            <a:off x="6350000" y="4457700"/>
            <a:ext cx="5207000" cy="7239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1000">
                <a:solidFill>
                  <a:srgbClr val="FFFFFF"/>
                </a:solidFill>
                <a:latin typeface="BinanceNova"/>
              </a:rPr>
              <a:t>The product tells you the truth about itself — status, usage, when to act.</a:t>
            </a:r>
          </a:p>
        </p:txBody>
      </p:sp>
      <p:sp>
        <p:nvSpPr>
          <p:cNvPr id="24" name="Tier 3 Label"/>
          <p:cNvSpPr>
            <a:spLocks noGrp="1"/>
          </p:cNvSpPr>
          <p:nvPr>
            <p:ph type="body" idx="28"/>
          </p:nvPr>
        </p:nvSpPr>
        <p:spPr>
          <a:xfrm>
            <a:off x="990600" y="5664200"/>
            <a:ext cx="4622800" cy="279400"/>
          </a:xfrm>
        </p:spPr>
        <p:txBody>
          <a:bodyPr lIns="0" tIns="0" rIns="0" bIns="0" wrap="square" anchor="t"/>
          <a:lstStyle/>
          <a:p>
            <a:pPr marL="0" indent="0" algn="ctr">
              <a:lnSpc>
                <a:spcPct val="114999"/>
              </a:lnSpc>
              <a:buNone/>
            </a:pPr>
            <a:r>
              <a:rPr lang="en-US" sz="1400" spc="-17">
                <a:solidFill>
                  <a:srgbClr val="0B0E11"/>
                </a:solidFill>
                <a:latin typeface="BinanceNova Medium"/>
              </a:rPr>
              <a:t>A solid product.</a:t>
            </a:r>
          </a:p>
        </p:txBody>
      </p:sp>
      <p:sp>
        <p:nvSpPr>
          <p:cNvPr id="25" name="Rectangle 24"/>
          <p:cNvSpPr/>
          <p:nvPr/>
        </p:nvSpPr>
        <p:spPr>
          <a:xfrm>
            <a:off x="6350000" y="5264150"/>
            <a:ext cx="5207000" cy="6350"/>
          </a:xfrm>
          <a:prstGeom prst="rect">
            <a:avLst/>
          </a:prstGeom>
          <a:solidFill>
            <a:srgbClr val="2B313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ier 3 Counter"/>
          <p:cNvSpPr>
            <a:spLocks noGrp="1"/>
          </p:cNvSpPr>
          <p:nvPr>
            <p:ph type="body" idx="30"/>
          </p:nvPr>
        </p:nvSpPr>
        <p:spPr>
          <a:xfrm>
            <a:off x="6350000" y="5365750"/>
            <a:ext cx="5207000" cy="1397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spc="70" cap="all">
                <a:solidFill>
                  <a:srgbClr val="FCD535"/>
                </a:solidFill>
                <a:latin typeface="BinancePlex"/>
              </a:rPr>
              <a:t>TIER 01 · FOUNDATION</a:t>
            </a:r>
          </a:p>
        </p:txBody>
      </p:sp>
      <p:sp>
        <p:nvSpPr>
          <p:cNvPr id="27" name="Tier 3 Body"/>
          <p:cNvSpPr>
            <a:spLocks noGrp="1"/>
          </p:cNvSpPr>
          <p:nvPr>
            <p:ph type="body" idx="29"/>
          </p:nvPr>
        </p:nvSpPr>
        <p:spPr>
          <a:xfrm>
            <a:off x="6350000" y="5568950"/>
            <a:ext cx="5207000" cy="7239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1000">
                <a:solidFill>
                  <a:srgbClr val="FFFFFF"/>
                </a:solidFill>
                <a:latin typeface="BinanceNova"/>
              </a:rPr>
              <a:t>Things that work, for years, in any context — solid, reliable, supportable.</a:t>
            </a:r>
          </a:p>
        </p:txBody>
      </p:sp>
    </p:spTree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Feinschliff · Key Takeaways">
    <p:bg>
      <p:bgPr>
        <a:solidFill>
          <a:srgbClr val="0B0E1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1"/>
          <p:cNvSpPr/>
          <p:nvPr/>
        </p:nvSpPr>
        <p:spPr>
          <a:xfrm>
            <a:off x="723900" y="417068"/>
            <a:ext cx="49784" cy="49784"/>
          </a:xfrm>
          <a:custGeom>
            <a:avLst/>
            <a:gdLst/>
            <a:ahLst/>
            <a:cxnLst/>
            <a:rect l="l" t="t" r="r" b="b"/>
            <a:pathLst>
              <a:path w="49784" h="49784">
                <a:moveTo>
                  <a:pt x="0" y="0"/>
                </a:moveTo>
                <a:lnTo>
                  <a:pt x="49784" y="49784"/>
                </a:lnTo>
                <a:lnTo>
                  <a:pt x="0" y="49784"/>
                </a:lnTo>
                <a:close/>
              </a:path>
            </a:pathLst>
          </a:custGeom>
          <a:solidFill>
            <a:srgbClr val="FCD5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Freeform 2"/>
          <p:cNvSpPr/>
          <p:nvPr/>
        </p:nvSpPr>
        <p:spPr>
          <a:xfrm>
            <a:off x="752348" y="445516"/>
            <a:ext cx="49784" cy="49784"/>
          </a:xfrm>
          <a:custGeom>
            <a:avLst/>
            <a:gdLst/>
            <a:ahLst/>
            <a:cxnLst/>
            <a:rect l="l" t="t" r="r" b="b"/>
            <a:pathLst>
              <a:path w="49784" h="49784">
                <a:moveTo>
                  <a:pt x="49784" y="49784"/>
                </a:moveTo>
                <a:lnTo>
                  <a:pt x="0" y="0"/>
                </a:lnTo>
                <a:lnTo>
                  <a:pt x="0" y="49784"/>
                </a:lnTo>
                <a:close/>
              </a:path>
            </a:pathLst>
          </a:custGeom>
          <a:solidFill>
            <a:srgbClr val="FCD5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Freeform 3"/>
          <p:cNvSpPr/>
          <p:nvPr/>
        </p:nvSpPr>
        <p:spPr>
          <a:xfrm>
            <a:off x="674116" y="523748"/>
            <a:ext cx="49784" cy="49784"/>
          </a:xfrm>
          <a:custGeom>
            <a:avLst/>
            <a:gdLst/>
            <a:ahLst/>
            <a:cxnLst/>
            <a:rect l="l" t="t" r="r" b="b"/>
            <a:pathLst>
              <a:path w="49784" h="49784">
                <a:moveTo>
                  <a:pt x="49784" y="49784"/>
                </a:moveTo>
                <a:lnTo>
                  <a:pt x="0" y="0"/>
                </a:lnTo>
                <a:lnTo>
                  <a:pt x="49784" y="0"/>
                </a:lnTo>
                <a:close/>
              </a:path>
            </a:pathLst>
          </a:custGeom>
          <a:solidFill>
            <a:srgbClr val="FCD5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Freeform 4"/>
          <p:cNvSpPr/>
          <p:nvPr/>
        </p:nvSpPr>
        <p:spPr>
          <a:xfrm>
            <a:off x="645668" y="495300"/>
            <a:ext cx="49784" cy="49784"/>
          </a:xfrm>
          <a:custGeom>
            <a:avLst/>
            <a:gdLst/>
            <a:ahLst/>
            <a:cxnLst/>
            <a:rect l="l" t="t" r="r" b="b"/>
            <a:pathLst>
              <a:path w="49784" h="49784">
                <a:moveTo>
                  <a:pt x="0" y="0"/>
                </a:moveTo>
                <a:lnTo>
                  <a:pt x="49784" y="49784"/>
                </a:lnTo>
                <a:lnTo>
                  <a:pt x="49784" y="0"/>
                </a:lnTo>
                <a:close/>
              </a:path>
            </a:pathLst>
          </a:custGeom>
          <a:solidFill>
            <a:srgbClr val="FCD5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01700" y="406400"/>
            <a:ext cx="2032000" cy="25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 spc="110">
                <a:solidFill>
                  <a:srgbClr val="FCD535"/>
                </a:solidFill>
                <a:latin typeface="BinanceNova"/>
              </a:rPr>
              <a:t>BINANCE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017000" y="508000"/>
            <a:ext cx="2667000" cy="177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700" spc="70" b="0">
                <a:solidFill>
                  <a:srgbClr val="848E9C"/>
                </a:solidFill>
                <a:latin typeface="BinanceNova SemiBold"/>
              </a:rPr>
              <a:t>KEY TAKEAWAYS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62000" y="6540500"/>
            <a:ext cx="4445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650" spc="65" b="0">
                <a:solidFill>
                  <a:srgbClr val="848E9C"/>
                </a:solidFill>
                <a:latin typeface="BinanceNova SemiBold"/>
              </a:rPr>
              <a:t>JAN 2026 · SHOWCASE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985000" y="6540500"/>
            <a:ext cx="4445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lang="en-US" dirty="0" sz="650" b="0" spc="65">
                <a:solidFill>
                  <a:srgbClr val="848E9C"/>
                </a:solidFill>
                <a:latin typeface="BinanceNova SemiBold"/>
              </a:rPr>
              <a:t>SLIDE </a:t>
            </a:r>
            <a:fld id="{A1B2C3D4-E5F6-4890-ABCD-EF0123456789}" type="slidenum">
              <a:rPr lang="en-US" dirty="0" sz="650" b="0" spc="65">
                <a:solidFill>
                  <a:srgbClr val="848E9C"/>
                </a:solidFill>
                <a:latin typeface="BinanceNova SemiBold"/>
              </a:rPr>
              <a:t>1</a:t>
            </a:fld>
          </a:p>
        </p:txBody>
      </p:sp>
      <p:sp>
        <p:nvSpPr>
          <p:cNvPr id="10" name="Rectangle 9"/>
          <p:cNvSpPr/>
          <p:nvPr/>
        </p:nvSpPr>
        <p:spPr>
          <a:xfrm>
            <a:off x="635000" y="1143000"/>
            <a:ext cx="508000" cy="25400"/>
          </a:xfrm>
          <a:prstGeom prst="rect">
            <a:avLst/>
          </a:prstGeom>
          <a:solidFill>
            <a:srgbClr val="FCD53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Kicker"/>
          <p:cNvSpPr>
            <a:spLocks noGrp="1"/>
          </p:cNvSpPr>
          <p:nvPr>
            <p:ph type="body" idx="10"/>
          </p:nvPr>
        </p:nvSpPr>
        <p:spPr>
          <a:xfrm>
            <a:off x="635000" y="1422400"/>
            <a:ext cx="109220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800" spc="80" cap="all">
                <a:solidFill>
                  <a:srgbClr val="FCD535"/>
                </a:solidFill>
                <a:latin typeface="BinanceNova"/>
              </a:rPr>
              <a:t>KEY TAKEAWAYS</a:t>
            </a:r>
          </a:p>
        </p:txBody>
      </p:sp>
      <p:sp>
        <p:nvSpPr>
          <p:cNvPr id="12" name="Action Title"/>
          <p:cNvSpPr>
            <a:spLocks noGrp="1"/>
          </p:cNvSpPr>
          <p:nvPr>
            <p:ph type="title"/>
          </p:nvPr>
        </p:nvSpPr>
        <p:spPr>
          <a:xfrm>
            <a:off x="635000" y="1727200"/>
            <a:ext cx="10922000" cy="1016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4999"/>
              </a:lnSpc>
              <a:buNone/>
            </a:pPr>
            <a:r>
              <a:rPr lang="en-US" sz="3200" b="1" spc="-48">
                <a:solidFill>
                  <a:srgbClr val="0B0E11"/>
                </a:solidFill>
                <a:latin typeface="BinanceNova"/>
              </a:rPr>
              <a:t>Three things to remember: platform first, measure the experience, write plainly.</a:t>
            </a:r>
          </a:p>
        </p:txBody>
      </p:sp>
      <p:sp>
        <p:nvSpPr>
          <p:cNvPr id="13" name="Rectangle 12"/>
          <p:cNvSpPr/>
          <p:nvPr/>
        </p:nvSpPr>
        <p:spPr>
          <a:xfrm>
            <a:off x="635000" y="3175000"/>
            <a:ext cx="304800" cy="19050"/>
          </a:xfrm>
          <a:prstGeom prst="rect">
            <a:avLst/>
          </a:prstGeom>
          <a:solidFill>
            <a:srgbClr val="FCD53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Card 1 Counter"/>
          <p:cNvSpPr>
            <a:spLocks noGrp="1"/>
          </p:cNvSpPr>
          <p:nvPr>
            <p:ph type="body" idx="20"/>
          </p:nvPr>
        </p:nvSpPr>
        <p:spPr>
          <a:xfrm>
            <a:off x="635000" y="3302000"/>
            <a:ext cx="26162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spc="70" cap="all">
                <a:solidFill>
                  <a:srgbClr val="FCD535"/>
                </a:solidFill>
                <a:latin typeface="BinancePlex"/>
              </a:rPr>
              <a:t>01</a:t>
            </a:r>
          </a:p>
        </p:txBody>
      </p:sp>
      <p:sp>
        <p:nvSpPr>
          <p:cNvPr id="15" name="Card 1 Heading"/>
          <p:cNvSpPr>
            <a:spLocks noGrp="1"/>
          </p:cNvSpPr>
          <p:nvPr>
            <p:ph type="body" idx="21"/>
          </p:nvPr>
        </p:nvSpPr>
        <p:spPr>
          <a:xfrm>
            <a:off x="635000" y="3581400"/>
            <a:ext cx="2616200" cy="635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4999"/>
              </a:lnSpc>
              <a:buNone/>
            </a:pPr>
            <a:r>
              <a:rPr lang="en-US" sz="1600" spc="-19">
                <a:solidFill>
                  <a:srgbClr val="0B0E11"/>
                </a:solidFill>
                <a:latin typeface="BinanceNova Medium"/>
              </a:rPr>
              <a:t>Platform first.</a:t>
            </a:r>
          </a:p>
        </p:txBody>
      </p:sp>
      <p:sp>
        <p:nvSpPr>
          <p:cNvPr id="16" name="Card 1 Body"/>
          <p:cNvSpPr>
            <a:spLocks noGrp="1"/>
          </p:cNvSpPr>
          <p:nvPr>
            <p:ph type="body" idx="22"/>
          </p:nvPr>
        </p:nvSpPr>
        <p:spPr>
          <a:xfrm>
            <a:off x="635000" y="4318000"/>
            <a:ext cx="2616200" cy="1778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1000">
                <a:solidFill>
                  <a:srgbClr val="848E9C"/>
                </a:solidFill>
                <a:latin typeface="BinanceNova"/>
              </a:rPr>
              <a:t>Every new SKU ships on the unified OS core from the first production run. No line-specific forks after Q2.</a:t>
            </a:r>
          </a:p>
        </p:txBody>
      </p:sp>
      <p:sp>
        <p:nvSpPr>
          <p:cNvPr id="17" name="Card 1 Owner"/>
          <p:cNvSpPr>
            <a:spLocks noGrp="1"/>
          </p:cNvSpPr>
          <p:nvPr>
            <p:ph type="body" idx="23"/>
          </p:nvPr>
        </p:nvSpPr>
        <p:spPr>
          <a:xfrm>
            <a:off x="635000" y="6223000"/>
            <a:ext cx="2616200" cy="1524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spc="70" cap="all">
                <a:solidFill>
                  <a:srgbClr val="B7BDC6"/>
                </a:solidFill>
                <a:latin typeface="BinancePlex"/>
              </a:rPr>
              <a:t>OWNER · PLATFORM VP</a:t>
            </a:r>
          </a:p>
        </p:txBody>
      </p:sp>
      <p:sp>
        <p:nvSpPr>
          <p:cNvPr id="18" name="Rectangle 17"/>
          <p:cNvSpPr/>
          <p:nvPr/>
        </p:nvSpPr>
        <p:spPr>
          <a:xfrm>
            <a:off x="3403600" y="3175000"/>
            <a:ext cx="304800" cy="19050"/>
          </a:xfrm>
          <a:prstGeom prst="rect">
            <a:avLst/>
          </a:prstGeom>
          <a:solidFill>
            <a:srgbClr val="FCD53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Card 2 Counter"/>
          <p:cNvSpPr>
            <a:spLocks noGrp="1"/>
          </p:cNvSpPr>
          <p:nvPr>
            <p:ph type="body" idx="24"/>
          </p:nvPr>
        </p:nvSpPr>
        <p:spPr>
          <a:xfrm>
            <a:off x="3403600" y="3302000"/>
            <a:ext cx="26162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spc="70" cap="all">
                <a:solidFill>
                  <a:srgbClr val="FCD535"/>
                </a:solidFill>
                <a:latin typeface="BinancePlex"/>
              </a:rPr>
              <a:t>02</a:t>
            </a:r>
          </a:p>
        </p:txBody>
      </p:sp>
      <p:sp>
        <p:nvSpPr>
          <p:cNvPr id="20" name="Card 2 Heading"/>
          <p:cNvSpPr>
            <a:spLocks noGrp="1"/>
          </p:cNvSpPr>
          <p:nvPr>
            <p:ph type="body" idx="25"/>
          </p:nvPr>
        </p:nvSpPr>
        <p:spPr>
          <a:xfrm>
            <a:off x="3403600" y="3581400"/>
            <a:ext cx="2616200" cy="635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4999"/>
              </a:lnSpc>
              <a:buNone/>
            </a:pPr>
            <a:r>
              <a:rPr lang="en-US" sz="1600" spc="-19">
                <a:solidFill>
                  <a:srgbClr val="0B0E11"/>
                </a:solidFill>
                <a:latin typeface="BinanceNova Medium"/>
              </a:rPr>
              <a:t>Measure the experience.</a:t>
            </a:r>
          </a:p>
        </p:txBody>
      </p:sp>
      <p:sp>
        <p:nvSpPr>
          <p:cNvPr id="21" name="Card 2 Body"/>
          <p:cNvSpPr>
            <a:spLocks noGrp="1"/>
          </p:cNvSpPr>
          <p:nvPr>
            <p:ph type="body" idx="26"/>
          </p:nvPr>
        </p:nvSpPr>
        <p:spPr>
          <a:xfrm>
            <a:off x="3403600" y="4318000"/>
            <a:ext cx="2616200" cy="1778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1000">
                <a:solidFill>
                  <a:srgbClr val="848E9C"/>
                </a:solidFill>
                <a:latin typeface="BinanceNova"/>
              </a:rPr>
              <a:t>Telemetry is the product, not an add-on. Every feature must ship with the metric that proves it worked.</a:t>
            </a:r>
          </a:p>
        </p:txBody>
      </p:sp>
      <p:sp>
        <p:nvSpPr>
          <p:cNvPr id="22" name="Card 2 Owner"/>
          <p:cNvSpPr>
            <a:spLocks noGrp="1"/>
          </p:cNvSpPr>
          <p:nvPr>
            <p:ph type="body" idx="27"/>
          </p:nvPr>
        </p:nvSpPr>
        <p:spPr>
          <a:xfrm>
            <a:off x="3403600" y="6223000"/>
            <a:ext cx="2616200" cy="1524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spc="70" cap="all">
                <a:solidFill>
                  <a:srgbClr val="B7BDC6"/>
                </a:solidFill>
                <a:latin typeface="BinancePlex"/>
              </a:rPr>
              <a:t>OWNER · DATA LEAD</a:t>
            </a:r>
          </a:p>
        </p:txBody>
      </p:sp>
      <p:sp>
        <p:nvSpPr>
          <p:cNvPr id="23" name="Rectangle 22"/>
          <p:cNvSpPr/>
          <p:nvPr/>
        </p:nvSpPr>
        <p:spPr>
          <a:xfrm>
            <a:off x="6172200" y="3175000"/>
            <a:ext cx="304800" cy="19050"/>
          </a:xfrm>
          <a:prstGeom prst="rect">
            <a:avLst/>
          </a:prstGeom>
          <a:solidFill>
            <a:srgbClr val="FCD53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Card 3 Counter"/>
          <p:cNvSpPr>
            <a:spLocks noGrp="1"/>
          </p:cNvSpPr>
          <p:nvPr>
            <p:ph type="body" idx="28"/>
          </p:nvPr>
        </p:nvSpPr>
        <p:spPr>
          <a:xfrm>
            <a:off x="6172200" y="3302000"/>
            <a:ext cx="26162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spc="70" cap="all">
                <a:solidFill>
                  <a:srgbClr val="FCD535"/>
                </a:solidFill>
                <a:latin typeface="BinancePlex"/>
              </a:rPr>
              <a:t>03</a:t>
            </a:r>
          </a:p>
        </p:txBody>
      </p:sp>
      <p:sp>
        <p:nvSpPr>
          <p:cNvPr id="25" name="Card 3 Heading"/>
          <p:cNvSpPr>
            <a:spLocks noGrp="1"/>
          </p:cNvSpPr>
          <p:nvPr>
            <p:ph type="body" idx="29"/>
          </p:nvPr>
        </p:nvSpPr>
        <p:spPr>
          <a:xfrm>
            <a:off x="6172200" y="3581400"/>
            <a:ext cx="2616200" cy="635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4999"/>
              </a:lnSpc>
              <a:buNone/>
            </a:pPr>
            <a:r>
              <a:rPr lang="en-US" sz="1600" spc="-19">
                <a:solidFill>
                  <a:srgbClr val="0B0E11"/>
                </a:solidFill>
                <a:latin typeface="BinanceNova Medium"/>
              </a:rPr>
              <a:t>Write plainly.</a:t>
            </a:r>
          </a:p>
        </p:txBody>
      </p:sp>
      <p:sp>
        <p:nvSpPr>
          <p:cNvPr id="26" name="Card 3 Body"/>
          <p:cNvSpPr>
            <a:spLocks noGrp="1"/>
          </p:cNvSpPr>
          <p:nvPr>
            <p:ph type="body" idx="30"/>
          </p:nvPr>
        </p:nvSpPr>
        <p:spPr>
          <a:xfrm>
            <a:off x="6172200" y="4318000"/>
            <a:ext cx="2616200" cy="1778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1000">
                <a:solidFill>
                  <a:srgbClr val="848E9C"/>
                </a:solidFill>
                <a:latin typeface="BinanceNova"/>
              </a:rPr>
              <a:t>Release notes, app copy, service sheets — all authored in the Feinschliff voice. Short sentences. Concrete nouns.</a:t>
            </a:r>
          </a:p>
        </p:txBody>
      </p:sp>
      <p:sp>
        <p:nvSpPr>
          <p:cNvPr id="27" name="Card 3 Owner"/>
          <p:cNvSpPr>
            <a:spLocks noGrp="1"/>
          </p:cNvSpPr>
          <p:nvPr>
            <p:ph type="body" idx="31"/>
          </p:nvPr>
        </p:nvSpPr>
        <p:spPr>
          <a:xfrm>
            <a:off x="6172200" y="6223000"/>
            <a:ext cx="2616200" cy="1524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spc="70" cap="all">
                <a:solidFill>
                  <a:srgbClr val="B7BDC6"/>
                </a:solidFill>
                <a:latin typeface="BinancePlex"/>
              </a:rPr>
              <a:t>OWNER · CONTENT LEAD</a:t>
            </a:r>
          </a:p>
        </p:txBody>
      </p:sp>
      <p:sp>
        <p:nvSpPr>
          <p:cNvPr id="28" name="Rectangle 27"/>
          <p:cNvSpPr/>
          <p:nvPr/>
        </p:nvSpPr>
        <p:spPr>
          <a:xfrm>
            <a:off x="8940800" y="3175000"/>
            <a:ext cx="304800" cy="19050"/>
          </a:xfrm>
          <a:prstGeom prst="rect">
            <a:avLst/>
          </a:prstGeom>
          <a:solidFill>
            <a:srgbClr val="FCD53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Card 4 Counter"/>
          <p:cNvSpPr>
            <a:spLocks noGrp="1"/>
          </p:cNvSpPr>
          <p:nvPr>
            <p:ph type="body" idx="32"/>
          </p:nvPr>
        </p:nvSpPr>
        <p:spPr>
          <a:xfrm>
            <a:off x="8940800" y="3302000"/>
            <a:ext cx="26162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spc="70" cap="all">
                <a:solidFill>
                  <a:srgbClr val="FCD535"/>
                </a:solidFill>
                <a:latin typeface="BinancePlex"/>
              </a:rPr>
              <a:t>04</a:t>
            </a:r>
          </a:p>
        </p:txBody>
      </p:sp>
      <p:sp>
        <p:nvSpPr>
          <p:cNvPr id="30" name="Card 4 Heading"/>
          <p:cNvSpPr>
            <a:spLocks noGrp="1"/>
          </p:cNvSpPr>
          <p:nvPr>
            <p:ph type="body" idx="33"/>
          </p:nvPr>
        </p:nvSpPr>
        <p:spPr>
          <a:xfrm>
            <a:off x="8940800" y="3581400"/>
            <a:ext cx="2616200" cy="635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4999"/>
              </a:lnSpc>
              <a:buNone/>
            </a:pPr>
            <a:r>
              <a:rPr lang="en-US" sz="1600" spc="-19">
                <a:solidFill>
                  <a:srgbClr val="0B0E11"/>
                </a:solidFill>
                <a:latin typeface="BinanceNova Medium"/>
              </a:rPr>
              <a:t>Ship weekly.</a:t>
            </a:r>
          </a:p>
        </p:txBody>
      </p:sp>
      <p:sp>
        <p:nvSpPr>
          <p:cNvPr id="31" name="Card 4 Body"/>
          <p:cNvSpPr>
            <a:spLocks noGrp="1"/>
          </p:cNvSpPr>
          <p:nvPr>
            <p:ph type="body" idx="34"/>
          </p:nvPr>
        </p:nvSpPr>
        <p:spPr>
          <a:xfrm>
            <a:off x="8940800" y="4318000"/>
            <a:ext cx="2616200" cy="1778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1000">
                <a:solidFill>
                  <a:srgbClr val="848E9C"/>
                </a:solidFill>
                <a:latin typeface="BinanceNova"/>
              </a:rPr>
              <a:t>Every squad cuts a release every week; anything that can't be weekly is a platform bug to be retired.</a:t>
            </a:r>
          </a:p>
        </p:txBody>
      </p:sp>
      <p:sp>
        <p:nvSpPr>
          <p:cNvPr id="32" name="Card 4 Owner"/>
          <p:cNvSpPr>
            <a:spLocks noGrp="1"/>
          </p:cNvSpPr>
          <p:nvPr>
            <p:ph type="body" idx="35"/>
          </p:nvPr>
        </p:nvSpPr>
        <p:spPr>
          <a:xfrm>
            <a:off x="8940800" y="6223000"/>
            <a:ext cx="2616200" cy="1524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spc="70" cap="all">
                <a:solidFill>
                  <a:srgbClr val="B7BDC6"/>
                </a:solidFill>
                <a:latin typeface="BinancePlex"/>
              </a:rPr>
              <a:t>OWNER · ENG DIRECTOR</a:t>
            </a:r>
          </a:p>
        </p:txBody>
      </p:sp>
    </p:spTree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Feinschliff · Executive Summary">
    <p:bg>
      <p:bgPr>
        <a:solidFill>
          <a:srgbClr val="0B0E1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1"/>
          <p:cNvSpPr/>
          <p:nvPr/>
        </p:nvSpPr>
        <p:spPr>
          <a:xfrm>
            <a:off x="723900" y="417068"/>
            <a:ext cx="49784" cy="49784"/>
          </a:xfrm>
          <a:custGeom>
            <a:avLst/>
            <a:gdLst/>
            <a:ahLst/>
            <a:cxnLst/>
            <a:rect l="l" t="t" r="r" b="b"/>
            <a:pathLst>
              <a:path w="49784" h="49784">
                <a:moveTo>
                  <a:pt x="0" y="0"/>
                </a:moveTo>
                <a:lnTo>
                  <a:pt x="49784" y="49784"/>
                </a:lnTo>
                <a:lnTo>
                  <a:pt x="0" y="49784"/>
                </a:lnTo>
                <a:close/>
              </a:path>
            </a:pathLst>
          </a:custGeom>
          <a:solidFill>
            <a:srgbClr val="FCD5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Freeform 2"/>
          <p:cNvSpPr/>
          <p:nvPr/>
        </p:nvSpPr>
        <p:spPr>
          <a:xfrm>
            <a:off x="752348" y="445516"/>
            <a:ext cx="49784" cy="49784"/>
          </a:xfrm>
          <a:custGeom>
            <a:avLst/>
            <a:gdLst/>
            <a:ahLst/>
            <a:cxnLst/>
            <a:rect l="l" t="t" r="r" b="b"/>
            <a:pathLst>
              <a:path w="49784" h="49784">
                <a:moveTo>
                  <a:pt x="49784" y="49784"/>
                </a:moveTo>
                <a:lnTo>
                  <a:pt x="0" y="0"/>
                </a:lnTo>
                <a:lnTo>
                  <a:pt x="0" y="49784"/>
                </a:lnTo>
                <a:close/>
              </a:path>
            </a:pathLst>
          </a:custGeom>
          <a:solidFill>
            <a:srgbClr val="FCD5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Freeform 3"/>
          <p:cNvSpPr/>
          <p:nvPr/>
        </p:nvSpPr>
        <p:spPr>
          <a:xfrm>
            <a:off x="674116" y="523748"/>
            <a:ext cx="49784" cy="49784"/>
          </a:xfrm>
          <a:custGeom>
            <a:avLst/>
            <a:gdLst/>
            <a:ahLst/>
            <a:cxnLst/>
            <a:rect l="l" t="t" r="r" b="b"/>
            <a:pathLst>
              <a:path w="49784" h="49784">
                <a:moveTo>
                  <a:pt x="49784" y="49784"/>
                </a:moveTo>
                <a:lnTo>
                  <a:pt x="0" y="0"/>
                </a:lnTo>
                <a:lnTo>
                  <a:pt x="49784" y="0"/>
                </a:lnTo>
                <a:close/>
              </a:path>
            </a:pathLst>
          </a:custGeom>
          <a:solidFill>
            <a:srgbClr val="FCD5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Freeform 4"/>
          <p:cNvSpPr/>
          <p:nvPr/>
        </p:nvSpPr>
        <p:spPr>
          <a:xfrm>
            <a:off x="645668" y="495300"/>
            <a:ext cx="49784" cy="49784"/>
          </a:xfrm>
          <a:custGeom>
            <a:avLst/>
            <a:gdLst/>
            <a:ahLst/>
            <a:cxnLst/>
            <a:rect l="l" t="t" r="r" b="b"/>
            <a:pathLst>
              <a:path w="49784" h="49784">
                <a:moveTo>
                  <a:pt x="0" y="0"/>
                </a:moveTo>
                <a:lnTo>
                  <a:pt x="49784" y="49784"/>
                </a:lnTo>
                <a:lnTo>
                  <a:pt x="49784" y="0"/>
                </a:lnTo>
                <a:close/>
              </a:path>
            </a:pathLst>
          </a:custGeom>
          <a:solidFill>
            <a:srgbClr val="FCD5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01700" y="406400"/>
            <a:ext cx="2032000" cy="25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 spc="110">
                <a:solidFill>
                  <a:srgbClr val="FCD535"/>
                </a:solidFill>
                <a:latin typeface="BinanceNova"/>
              </a:rPr>
              <a:t>BINANCE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017000" y="508000"/>
            <a:ext cx="2667000" cy="177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700" spc="70" b="0">
                <a:solidFill>
                  <a:srgbClr val="848E9C"/>
                </a:solidFill>
                <a:latin typeface="BinanceNova SemiBold"/>
              </a:rPr>
              <a:t>EXECUTIVE SUMMARY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62000" y="6540500"/>
            <a:ext cx="4445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650" spc="65" b="0">
                <a:solidFill>
                  <a:srgbClr val="848E9C"/>
                </a:solidFill>
                <a:latin typeface="BinanceNova SemiBold"/>
              </a:rPr>
              <a:t>JAN 2026 · SHOWCASE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985000" y="6540500"/>
            <a:ext cx="4445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lang="en-US" dirty="0" sz="650" b="0" spc="65">
                <a:solidFill>
                  <a:srgbClr val="848E9C"/>
                </a:solidFill>
                <a:latin typeface="BinanceNova SemiBold"/>
              </a:rPr>
              <a:t>SLIDE </a:t>
            </a:r>
            <a:fld id="{A1B2C3D4-E5F6-4890-ABCD-EF0123456789}" type="slidenum">
              <a:rPr lang="en-US" dirty="0" sz="650" b="0" spc="65">
                <a:solidFill>
                  <a:srgbClr val="848E9C"/>
                </a:solidFill>
                <a:latin typeface="BinanceNova SemiBold"/>
              </a:rPr>
              <a:t>1</a:t>
            </a:fld>
          </a:p>
        </p:txBody>
      </p:sp>
      <p:sp>
        <p:nvSpPr>
          <p:cNvPr id="10" name="Rectangle 9"/>
          <p:cNvSpPr/>
          <p:nvPr/>
        </p:nvSpPr>
        <p:spPr>
          <a:xfrm>
            <a:off x="635000" y="889000"/>
            <a:ext cx="50800" cy="876300"/>
          </a:xfrm>
          <a:prstGeom prst="rect">
            <a:avLst/>
          </a:prstGeom>
          <a:solidFill>
            <a:srgbClr val="FCD53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Eyebrow"/>
          <p:cNvSpPr>
            <a:spLocks noGrp="1"/>
          </p:cNvSpPr>
          <p:nvPr>
            <p:ph type="body" idx="10"/>
          </p:nvPr>
        </p:nvSpPr>
        <p:spPr>
          <a:xfrm>
            <a:off x="838200" y="889000"/>
            <a:ext cx="101600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800" spc="80" cap="all">
                <a:solidFill>
                  <a:srgbClr val="FCD535"/>
                </a:solidFill>
                <a:latin typeface="BinanceNova"/>
              </a:rPr>
              <a:t>EXECUTIVE SUMMARY</a:t>
            </a:r>
          </a:p>
        </p:txBody>
      </p:sp>
      <p:sp>
        <p:nvSpPr>
          <p:cNvPr id="12" name="Title"/>
          <p:cNvSpPr>
            <a:spLocks noGrp="1"/>
          </p:cNvSpPr>
          <p:nvPr>
            <p:ph type="title"/>
          </p:nvPr>
        </p:nvSpPr>
        <p:spPr>
          <a:xfrm>
            <a:off x="838200" y="1206500"/>
            <a:ext cx="10922000" cy="635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3200" spc="-48">
                <a:solidFill>
                  <a:srgbClr val="FFFFFF"/>
                </a:solidFill>
                <a:latin typeface="BinanceNova"/>
              </a:rPr>
              <a:t>Four insights, three next steps — the 2026 plan on one page.</a:t>
            </a:r>
          </a:p>
        </p:txBody>
      </p:sp>
      <p:sp>
        <p:nvSpPr>
          <p:cNvPr id="13" name="Lede"/>
          <p:cNvSpPr>
            <a:spLocks noGrp="1"/>
          </p:cNvSpPr>
          <p:nvPr>
            <p:ph type="body" idx="11"/>
          </p:nvPr>
        </p:nvSpPr>
        <p:spPr>
          <a:xfrm>
            <a:off x="635000" y="2286000"/>
            <a:ext cx="10922000" cy="508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40000"/>
              </a:lnSpc>
              <a:buNone/>
            </a:pPr>
            <a:r>
              <a:rPr lang="en-US" sz="1000">
                <a:solidFill>
                  <a:srgbClr val="FFFFFF"/>
                </a:solidFill>
                <a:latin typeface="BinanceNova"/>
              </a:rPr>
              <a:t>Platform economics turned in FY25 — active use per account grew while cloud cost fell. Convert that signal into the 2026 commitments below.</a:t>
            </a:r>
          </a:p>
        </p:txBody>
      </p:sp>
      <p:sp>
        <p:nvSpPr>
          <p:cNvPr id="14" name="Col1 Label"/>
          <p:cNvSpPr>
            <a:spLocks noGrp="1"/>
          </p:cNvSpPr>
          <p:nvPr>
            <p:ph type="body" idx="20"/>
          </p:nvPr>
        </p:nvSpPr>
        <p:spPr>
          <a:xfrm>
            <a:off x="635000" y="3175000"/>
            <a:ext cx="5207000" cy="1778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spc="112" cap="all">
                <a:solidFill>
                  <a:srgbClr val="FCD535"/>
                </a:solidFill>
                <a:latin typeface="BinancePlex"/>
              </a:rPr>
              <a:t>INSIGHTS</a:t>
            </a:r>
          </a:p>
        </p:txBody>
      </p:sp>
      <p:sp>
        <p:nvSpPr>
          <p:cNvPr id="15" name="Rectangle 14"/>
          <p:cNvSpPr/>
          <p:nvPr/>
        </p:nvSpPr>
        <p:spPr>
          <a:xfrm>
            <a:off x="635000" y="3378200"/>
            <a:ext cx="5207000" cy="6350"/>
          </a:xfrm>
          <a:prstGeom prst="rect">
            <a:avLst/>
          </a:prstGeom>
          <a:solidFill>
            <a:srgbClr val="2B313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635000" y="3543300"/>
            <a:ext cx="50800" cy="50800"/>
          </a:xfrm>
          <a:prstGeom prst="rect">
            <a:avLst/>
          </a:prstGeom>
          <a:solidFill>
            <a:srgbClr val="FCD53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Col1 Item1 Heading"/>
          <p:cNvSpPr>
            <a:spLocks noGrp="1"/>
          </p:cNvSpPr>
          <p:nvPr>
            <p:ph type="body" idx="21"/>
          </p:nvPr>
        </p:nvSpPr>
        <p:spPr>
          <a:xfrm>
            <a:off x="787400" y="3479800"/>
            <a:ext cx="5054600" cy="2032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4999"/>
              </a:lnSpc>
              <a:buNone/>
            </a:pPr>
            <a:r>
              <a:rPr lang="en-US" sz="1300" spc="-13">
                <a:solidFill>
                  <a:srgbClr val="EAECEF"/>
                </a:solidFill>
                <a:latin typeface="BinanceNova Medium"/>
              </a:rPr>
              <a:t>Platform share is compounding.</a:t>
            </a:r>
          </a:p>
        </p:txBody>
      </p:sp>
      <p:sp>
        <p:nvSpPr>
          <p:cNvPr id="18" name="Col1 Item1 Body"/>
          <p:cNvSpPr>
            <a:spLocks noGrp="1"/>
          </p:cNvSpPr>
          <p:nvPr>
            <p:ph type="body" idx="22"/>
          </p:nvPr>
        </p:nvSpPr>
        <p:spPr>
          <a:xfrm>
            <a:off x="787400" y="3695700"/>
            <a:ext cx="5054600" cy="2794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40000"/>
              </a:lnSpc>
              <a:buNone/>
            </a:pPr>
            <a:r>
              <a:rPr lang="en-US" sz="900">
                <a:solidFill>
                  <a:srgbClr val="FFFFFF"/>
                </a:solidFill>
                <a:latin typeface="BinanceNova"/>
              </a:rPr>
              <a:t>Platform and services are the fastest-growing revenue line; legacy hardware is flat in absolute terms.</a:t>
            </a:r>
          </a:p>
        </p:txBody>
      </p:sp>
      <p:sp>
        <p:nvSpPr>
          <p:cNvPr id="19" name="Rectangle 18"/>
          <p:cNvSpPr/>
          <p:nvPr/>
        </p:nvSpPr>
        <p:spPr>
          <a:xfrm>
            <a:off x="635000" y="4051300"/>
            <a:ext cx="50800" cy="50800"/>
          </a:xfrm>
          <a:prstGeom prst="rect">
            <a:avLst/>
          </a:prstGeom>
          <a:solidFill>
            <a:srgbClr val="FCD53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Col1 Item2 Heading"/>
          <p:cNvSpPr>
            <a:spLocks noGrp="1"/>
          </p:cNvSpPr>
          <p:nvPr>
            <p:ph type="body" idx="23"/>
          </p:nvPr>
        </p:nvSpPr>
        <p:spPr>
          <a:xfrm>
            <a:off x="787400" y="3987800"/>
            <a:ext cx="5054600" cy="2032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4999"/>
              </a:lnSpc>
              <a:buNone/>
            </a:pPr>
            <a:r>
              <a:rPr lang="en-US" sz="1300" spc="-13">
                <a:solidFill>
                  <a:srgbClr val="EAECEF"/>
                </a:solidFill>
                <a:latin typeface="BinanceNova Medium"/>
              </a:rPr>
              <a:t>First-run pairing is the biggest leak.</a:t>
            </a:r>
          </a:p>
        </p:txBody>
      </p:sp>
      <p:sp>
        <p:nvSpPr>
          <p:cNvPr id="21" name="Col1 Item2 Body"/>
          <p:cNvSpPr>
            <a:spLocks noGrp="1"/>
          </p:cNvSpPr>
          <p:nvPr>
            <p:ph type="body" idx="24"/>
          </p:nvPr>
        </p:nvSpPr>
        <p:spPr>
          <a:xfrm>
            <a:off x="787400" y="4203700"/>
            <a:ext cx="5054600" cy="2794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40000"/>
              </a:lnSpc>
              <a:buNone/>
            </a:pPr>
            <a:r>
              <a:rPr lang="en-US" sz="900">
                <a:solidFill>
                  <a:srgbClr val="FFFFFF"/>
                </a:solidFill>
                <a:latin typeface="BinanceNova"/>
              </a:rPr>
              <a:t>One in three buyers never pairs the product — fixable in firmware and the quickest lift to 90-day activation.</a:t>
            </a:r>
          </a:p>
        </p:txBody>
      </p:sp>
      <p:sp>
        <p:nvSpPr>
          <p:cNvPr id="22" name="Rectangle 21"/>
          <p:cNvSpPr/>
          <p:nvPr/>
        </p:nvSpPr>
        <p:spPr>
          <a:xfrm>
            <a:off x="635000" y="4559300"/>
            <a:ext cx="50800" cy="50800"/>
          </a:xfrm>
          <a:prstGeom prst="rect">
            <a:avLst/>
          </a:prstGeom>
          <a:solidFill>
            <a:srgbClr val="FCD53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Col1 Item3 Heading"/>
          <p:cNvSpPr>
            <a:spLocks noGrp="1"/>
          </p:cNvSpPr>
          <p:nvPr>
            <p:ph type="body" idx="25"/>
          </p:nvPr>
        </p:nvSpPr>
        <p:spPr>
          <a:xfrm>
            <a:off x="787400" y="4495800"/>
            <a:ext cx="5054600" cy="2032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4999"/>
              </a:lnSpc>
              <a:buNone/>
            </a:pPr>
            <a:r>
              <a:rPr lang="en-US" sz="1300" spc="-13">
                <a:solidFill>
                  <a:srgbClr val="EAECEF"/>
                </a:solidFill>
                <a:latin typeface="BinanceNova Medium"/>
              </a:rPr>
              <a:t>Telemetry is now default-on.</a:t>
            </a:r>
          </a:p>
        </p:txBody>
      </p:sp>
      <p:sp>
        <p:nvSpPr>
          <p:cNvPr id="24" name="Col1 Item3 Body"/>
          <p:cNvSpPr>
            <a:spLocks noGrp="1"/>
          </p:cNvSpPr>
          <p:nvPr>
            <p:ph type="body" idx="26"/>
          </p:nvPr>
        </p:nvSpPr>
        <p:spPr>
          <a:xfrm>
            <a:off x="787400" y="4711700"/>
            <a:ext cx="5054600" cy="2794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40000"/>
              </a:lnSpc>
              <a:buNone/>
            </a:pPr>
            <a:r>
              <a:rPr lang="en-US" sz="900">
                <a:solidFill>
                  <a:srgbClr val="FFFFFF"/>
                </a:solidFill>
                <a:latin typeface="BinanceNova"/>
              </a:rPr>
              <a:t>Every production unit reports usage and health from day one; the data contract is locked and versioned.</a:t>
            </a:r>
          </a:p>
        </p:txBody>
      </p:sp>
      <p:sp>
        <p:nvSpPr>
          <p:cNvPr id="25" name="Rectangle 24"/>
          <p:cNvSpPr/>
          <p:nvPr/>
        </p:nvSpPr>
        <p:spPr>
          <a:xfrm>
            <a:off x="635000" y="5067300"/>
            <a:ext cx="50800" cy="50800"/>
          </a:xfrm>
          <a:prstGeom prst="rect">
            <a:avLst/>
          </a:prstGeom>
          <a:solidFill>
            <a:srgbClr val="FCD53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Col1 Item4 Heading"/>
          <p:cNvSpPr>
            <a:spLocks noGrp="1"/>
          </p:cNvSpPr>
          <p:nvPr>
            <p:ph type="body" idx="27"/>
          </p:nvPr>
        </p:nvSpPr>
        <p:spPr>
          <a:xfrm>
            <a:off x="787400" y="5003800"/>
            <a:ext cx="5054600" cy="2032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4999"/>
              </a:lnSpc>
              <a:buNone/>
            </a:pPr>
            <a:r>
              <a:rPr lang="en-US" sz="1300" spc="-13">
                <a:solidFill>
                  <a:srgbClr val="EAECEF"/>
                </a:solidFill>
                <a:latin typeface="BinanceNova Medium"/>
              </a:rPr>
              <a:t>Hybrid platform beats build-vs-buy.</a:t>
            </a:r>
          </a:p>
        </p:txBody>
      </p:sp>
      <p:sp>
        <p:nvSpPr>
          <p:cNvPr id="27" name="Col1 Item4 Body"/>
          <p:cNvSpPr>
            <a:spLocks noGrp="1"/>
          </p:cNvSpPr>
          <p:nvPr>
            <p:ph type="body" idx="28"/>
          </p:nvPr>
        </p:nvSpPr>
        <p:spPr>
          <a:xfrm>
            <a:off x="787400" y="5219700"/>
            <a:ext cx="5054600" cy="2794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40000"/>
              </a:lnSpc>
              <a:buNone/>
            </a:pPr>
            <a:r>
              <a:rPr lang="en-US" sz="900">
                <a:solidFill>
                  <a:srgbClr val="FFFFFF"/>
                </a:solidFill>
                <a:latin typeface="BinanceNova"/>
              </a:rPr>
              <a:t>Core in-house, cloud and ML partner-operated — wins on speed and control without the full build-out.</a:t>
            </a:r>
          </a:p>
        </p:txBody>
      </p:sp>
      <p:sp>
        <p:nvSpPr>
          <p:cNvPr id="28" name="Col2 Label"/>
          <p:cNvSpPr>
            <a:spLocks noGrp="1"/>
          </p:cNvSpPr>
          <p:nvPr>
            <p:ph type="body" idx="30"/>
          </p:nvPr>
        </p:nvSpPr>
        <p:spPr>
          <a:xfrm>
            <a:off x="6350000" y="3175000"/>
            <a:ext cx="5207000" cy="1778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spc="112" cap="all">
                <a:solidFill>
                  <a:srgbClr val="FCD535"/>
                </a:solidFill>
                <a:latin typeface="BinancePlex"/>
              </a:rPr>
              <a:t>NEXT STEPS</a:t>
            </a:r>
          </a:p>
        </p:txBody>
      </p:sp>
      <p:sp>
        <p:nvSpPr>
          <p:cNvPr id="29" name="Rectangle 28"/>
          <p:cNvSpPr/>
          <p:nvPr/>
        </p:nvSpPr>
        <p:spPr>
          <a:xfrm>
            <a:off x="6350000" y="3378200"/>
            <a:ext cx="5207000" cy="6350"/>
          </a:xfrm>
          <a:prstGeom prst="rect">
            <a:avLst/>
          </a:prstGeom>
          <a:solidFill>
            <a:srgbClr val="2B313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>
            <a:off x="6350000" y="3543300"/>
            <a:ext cx="50800" cy="50800"/>
          </a:xfrm>
          <a:prstGeom prst="rect">
            <a:avLst/>
          </a:prstGeom>
          <a:solidFill>
            <a:srgbClr val="FCD53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Col2 Item1 Heading"/>
          <p:cNvSpPr>
            <a:spLocks noGrp="1"/>
          </p:cNvSpPr>
          <p:nvPr>
            <p:ph type="body" idx="31"/>
          </p:nvPr>
        </p:nvSpPr>
        <p:spPr>
          <a:xfrm>
            <a:off x="6502400" y="3479800"/>
            <a:ext cx="5054600" cy="2032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4999"/>
              </a:lnSpc>
              <a:buNone/>
            </a:pPr>
            <a:r>
              <a:rPr lang="en-US" sz="1300" spc="-13">
                <a:solidFill>
                  <a:srgbClr val="EAECEF"/>
                </a:solidFill>
                <a:latin typeface="BinanceNova Medium"/>
              </a:rPr>
              <a:t>Consolidate firmware across SKUs.</a:t>
            </a:r>
          </a:p>
        </p:txBody>
      </p:sp>
      <p:sp>
        <p:nvSpPr>
          <p:cNvPr id="32" name="Col2 Item1 Body"/>
          <p:cNvSpPr>
            <a:spLocks noGrp="1"/>
          </p:cNvSpPr>
          <p:nvPr>
            <p:ph type="body" idx="32"/>
          </p:nvPr>
        </p:nvSpPr>
        <p:spPr>
          <a:xfrm>
            <a:off x="6502400" y="3695700"/>
            <a:ext cx="5054600" cy="2794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40000"/>
              </a:lnSpc>
              <a:buNone/>
            </a:pPr>
            <a:r>
              <a:rPr lang="en-US" sz="900">
                <a:solidFill>
                  <a:srgbClr val="FFFFFF"/>
                </a:solidFill>
                <a:latin typeface="BinanceNova"/>
              </a:rPr>
              <a:t>Retire the last two forks; every line onto the shared OS core by end of Q2.</a:t>
            </a:r>
          </a:p>
        </p:txBody>
      </p:sp>
      <p:sp>
        <p:nvSpPr>
          <p:cNvPr id="33" name="Rectangle 32"/>
          <p:cNvSpPr/>
          <p:nvPr/>
        </p:nvSpPr>
        <p:spPr>
          <a:xfrm>
            <a:off x="6350000" y="4051300"/>
            <a:ext cx="50800" cy="50800"/>
          </a:xfrm>
          <a:prstGeom prst="rect">
            <a:avLst/>
          </a:prstGeom>
          <a:solidFill>
            <a:srgbClr val="FCD53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Col2 Item2 Heading"/>
          <p:cNvSpPr>
            <a:spLocks noGrp="1"/>
          </p:cNvSpPr>
          <p:nvPr>
            <p:ph type="body" idx="33"/>
          </p:nvPr>
        </p:nvSpPr>
        <p:spPr>
          <a:xfrm>
            <a:off x="6502400" y="3987800"/>
            <a:ext cx="5054600" cy="2032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4999"/>
              </a:lnSpc>
              <a:buNone/>
            </a:pPr>
            <a:r>
              <a:rPr lang="en-US" sz="1300" spc="-13">
                <a:solidFill>
                  <a:srgbClr val="EAECEF"/>
                </a:solidFill>
                <a:latin typeface="BinanceNova Medium"/>
              </a:rPr>
              <a:t>Ship the pairing-flow fix.</a:t>
            </a:r>
          </a:p>
        </p:txBody>
      </p:sp>
      <p:sp>
        <p:nvSpPr>
          <p:cNvPr id="35" name="Col2 Item2 Body"/>
          <p:cNvSpPr>
            <a:spLocks noGrp="1"/>
          </p:cNvSpPr>
          <p:nvPr>
            <p:ph type="body" idx="34"/>
          </p:nvPr>
        </p:nvSpPr>
        <p:spPr>
          <a:xfrm>
            <a:off x="6502400" y="4203700"/>
            <a:ext cx="5054600" cy="2794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40000"/>
              </a:lnSpc>
              <a:buNone/>
            </a:pPr>
            <a:r>
              <a:rPr lang="en-US" sz="900">
                <a:solidFill>
                  <a:srgbClr val="FFFFFF"/>
                </a:solidFill>
                <a:latin typeface="BinanceNova"/>
              </a:rPr>
              <a:t>Firmware patch for mixed-SSID routers lands in the Q1 release, with instrumentation on first-try success.</a:t>
            </a:r>
          </a:p>
        </p:txBody>
      </p:sp>
      <p:sp>
        <p:nvSpPr>
          <p:cNvPr id="36" name="Rectangle 35"/>
          <p:cNvSpPr/>
          <p:nvPr/>
        </p:nvSpPr>
        <p:spPr>
          <a:xfrm>
            <a:off x="6350000" y="4559300"/>
            <a:ext cx="50800" cy="50800"/>
          </a:xfrm>
          <a:prstGeom prst="rect">
            <a:avLst/>
          </a:prstGeom>
          <a:solidFill>
            <a:srgbClr val="FCD53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Col2 Item3 Heading"/>
          <p:cNvSpPr>
            <a:spLocks noGrp="1"/>
          </p:cNvSpPr>
          <p:nvPr>
            <p:ph type="body" idx="35"/>
          </p:nvPr>
        </p:nvSpPr>
        <p:spPr>
          <a:xfrm>
            <a:off x="6502400" y="4495800"/>
            <a:ext cx="5054600" cy="2032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4999"/>
              </a:lnSpc>
              <a:buNone/>
            </a:pPr>
            <a:r>
              <a:rPr lang="en-US" sz="1300" spc="-13">
                <a:solidFill>
                  <a:srgbClr val="EAECEF"/>
                </a:solidFill>
                <a:latin typeface="BinanceNova Medium"/>
              </a:rPr>
              <a:t>Open the developer API preview.</a:t>
            </a:r>
          </a:p>
        </p:txBody>
      </p:sp>
      <p:sp>
        <p:nvSpPr>
          <p:cNvPr id="38" name="Col2 Item3 Body"/>
          <p:cNvSpPr>
            <a:spLocks noGrp="1"/>
          </p:cNvSpPr>
          <p:nvPr>
            <p:ph type="body" idx="36"/>
          </p:nvPr>
        </p:nvSpPr>
        <p:spPr>
          <a:xfrm>
            <a:off x="6502400" y="4711700"/>
            <a:ext cx="5054600" cy="2794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40000"/>
              </a:lnSpc>
              <a:buNone/>
            </a:pPr>
            <a:r>
              <a:rPr lang="en-US" sz="900">
                <a:solidFill>
                  <a:srgbClr val="FFFFFF"/>
                </a:solidFill>
                <a:latin typeface="BinanceNova"/>
              </a:rPr>
              <a:t>Partner preview end of H1, GA at year-end — 30 design partners already signed.</a:t>
            </a:r>
          </a:p>
        </p:txBody>
      </p:sp>
      <p:sp>
        <p:nvSpPr>
          <p:cNvPr id="39" name="Rectangle 38"/>
          <p:cNvSpPr/>
          <p:nvPr/>
        </p:nvSpPr>
        <p:spPr>
          <a:xfrm>
            <a:off x="6350000" y="5067300"/>
            <a:ext cx="50800" cy="50800"/>
          </a:xfrm>
          <a:prstGeom prst="rect">
            <a:avLst/>
          </a:prstGeom>
          <a:solidFill>
            <a:srgbClr val="FCD53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Col2 Item4 Heading"/>
          <p:cNvSpPr>
            <a:spLocks noGrp="1"/>
          </p:cNvSpPr>
          <p:nvPr>
            <p:ph type="body" idx="37"/>
          </p:nvPr>
        </p:nvSpPr>
        <p:spPr>
          <a:xfrm>
            <a:off x="6502400" y="5003800"/>
            <a:ext cx="5054600" cy="2032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4999"/>
              </a:lnSpc>
              <a:buNone/>
            </a:pPr>
            <a:r>
              <a:rPr lang="en-US" sz="1300" spc="-13">
                <a:solidFill>
                  <a:srgbClr val="EAECEF"/>
                </a:solidFill>
                <a:latin typeface="BinanceNova Medium"/>
              </a:rPr>
              <a:t>Lock the hybrid platform deal.</a:t>
            </a:r>
          </a:p>
        </p:txBody>
      </p:sp>
      <p:sp>
        <p:nvSpPr>
          <p:cNvPr id="41" name="Col2 Item4 Body"/>
          <p:cNvSpPr>
            <a:spLocks noGrp="1"/>
          </p:cNvSpPr>
          <p:nvPr>
            <p:ph type="body" idx="38"/>
          </p:nvPr>
        </p:nvSpPr>
        <p:spPr>
          <a:xfrm>
            <a:off x="6502400" y="5219700"/>
            <a:ext cx="5054600" cy="2794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40000"/>
              </a:lnSpc>
              <a:buNone/>
            </a:pPr>
            <a:r>
              <a:rPr lang="en-US" sz="900">
                <a:solidFill>
                  <a:srgbClr val="FFFFFF"/>
                </a:solidFill>
                <a:latin typeface="BinanceNova"/>
              </a:rPr>
              <a:t>Finalise cloud and ML vendor terms; platform group staffed and chartered for a Q2 kick-off.</a:t>
            </a:r>
          </a:p>
        </p:txBody>
      </p:sp>
      <p:sp>
        <p:nvSpPr>
          <p:cNvPr id="42" name="Rectangle 41"/>
          <p:cNvSpPr/>
          <p:nvPr/>
        </p:nvSpPr>
        <p:spPr>
          <a:xfrm>
            <a:off x="635000" y="5778500"/>
            <a:ext cx="10922000" cy="6350"/>
          </a:xfrm>
          <a:prstGeom prst="rect">
            <a:avLst/>
          </a:prstGeom>
          <a:solidFill>
            <a:srgbClr val="2B313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Rectangle 42"/>
          <p:cNvSpPr/>
          <p:nvPr/>
        </p:nvSpPr>
        <p:spPr>
          <a:xfrm>
            <a:off x="635000" y="6286500"/>
            <a:ext cx="10922000" cy="6350"/>
          </a:xfrm>
          <a:prstGeom prst="rect">
            <a:avLst/>
          </a:prstGeom>
          <a:solidFill>
            <a:srgbClr val="2B313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KPI 1 Value"/>
          <p:cNvSpPr>
            <a:spLocks noGrp="1"/>
          </p:cNvSpPr>
          <p:nvPr>
            <p:ph type="body" idx="50"/>
          </p:nvPr>
        </p:nvSpPr>
        <p:spPr>
          <a:xfrm>
            <a:off x="787400" y="5842000"/>
            <a:ext cx="1016000" cy="381000"/>
          </a:xfrm>
        </p:spPr>
        <p:txBody>
          <a:bodyPr lIns="0" tIns="0" rIns="0" bIns="0" wrap="square" anchor="b"/>
          <a:lstStyle/>
          <a:p>
            <a:pPr marL="0" indent="0" algn="r">
              <a:buNone/>
            </a:pPr>
            <a:r>
              <a:rPr lang="en-US" sz="2800" b="1" spc="-56">
                <a:solidFill>
                  <a:srgbClr val="EAECEF"/>
                </a:solidFill>
                <a:latin typeface="BinanceNova"/>
              </a:rPr>
              <a:t>+43</a:t>
            </a:r>
          </a:p>
        </p:txBody>
      </p:sp>
      <p:sp>
        <p:nvSpPr>
          <p:cNvPr id="45" name="KPI 1 Unit"/>
          <p:cNvSpPr>
            <a:spLocks noGrp="1"/>
          </p:cNvSpPr>
          <p:nvPr>
            <p:ph type="body" idx="51"/>
          </p:nvPr>
        </p:nvSpPr>
        <p:spPr>
          <a:xfrm>
            <a:off x="1803400" y="5842000"/>
            <a:ext cx="381000" cy="381000"/>
          </a:xfrm>
        </p:spPr>
        <p:txBody>
          <a:bodyPr lIns="0" tIns="0" rIns="0" bIns="0" wrap="square" anchor="b"/>
          <a:lstStyle/>
          <a:p>
            <a:pPr marL="0" indent="0" algn="l">
              <a:buNone/>
            </a:pPr>
            <a:r>
              <a:rPr lang="en-US" sz="1100">
                <a:solidFill>
                  <a:srgbClr val="FFFFFF"/>
                </a:solidFill>
                <a:latin typeface="BinanceNova"/>
              </a:rPr>
              <a:t>%</a:t>
            </a:r>
          </a:p>
        </p:txBody>
      </p:sp>
      <p:sp>
        <p:nvSpPr>
          <p:cNvPr id="46" name="KPI 1 Key"/>
          <p:cNvSpPr>
            <a:spLocks noGrp="1"/>
          </p:cNvSpPr>
          <p:nvPr>
            <p:ph type="body" idx="52"/>
          </p:nvPr>
        </p:nvSpPr>
        <p:spPr>
          <a:xfrm>
            <a:off x="2286000" y="5981700"/>
            <a:ext cx="1835150" cy="165100"/>
          </a:xfrm>
        </p:spPr>
        <p:txBody>
          <a:bodyPr lIns="0" tIns="0" rIns="0" bIns="0" wrap="square" anchor="b"/>
          <a:lstStyle/>
          <a:p>
            <a:pPr marL="0" indent="0" algn="l">
              <a:buNone/>
            </a:pPr>
            <a:r>
              <a:rPr lang="en-US" sz="700" spc="70" cap="all">
                <a:solidFill>
                  <a:srgbClr val="FFFFFF"/>
                </a:solidFill>
                <a:latin typeface="BinancePlex"/>
              </a:rPr>
              <a:t>ACTIVE TIME · 5Y</a:t>
            </a:r>
          </a:p>
        </p:txBody>
      </p:sp>
      <p:sp>
        <p:nvSpPr>
          <p:cNvPr id="47" name="Rectangle 46"/>
          <p:cNvSpPr/>
          <p:nvPr/>
        </p:nvSpPr>
        <p:spPr>
          <a:xfrm>
            <a:off x="4273550" y="5829300"/>
            <a:ext cx="6350" cy="406400"/>
          </a:xfrm>
          <a:prstGeom prst="rect">
            <a:avLst/>
          </a:prstGeom>
          <a:solidFill>
            <a:srgbClr val="2B313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KPI 2 Value"/>
          <p:cNvSpPr>
            <a:spLocks noGrp="1"/>
          </p:cNvSpPr>
          <p:nvPr>
            <p:ph type="body" idx="53"/>
          </p:nvPr>
        </p:nvSpPr>
        <p:spPr>
          <a:xfrm>
            <a:off x="4425950" y="5842000"/>
            <a:ext cx="1016000" cy="381000"/>
          </a:xfrm>
        </p:spPr>
        <p:txBody>
          <a:bodyPr lIns="0" tIns="0" rIns="0" bIns="0" wrap="square" anchor="b"/>
          <a:lstStyle/>
          <a:p>
            <a:pPr marL="0" indent="0" algn="r">
              <a:buNone/>
            </a:pPr>
            <a:r>
              <a:rPr lang="en-US" sz="2800" b="1" spc="-56">
                <a:solidFill>
                  <a:srgbClr val="EAECEF"/>
                </a:solidFill>
                <a:latin typeface="BinanceNova"/>
              </a:rPr>
              <a:t>14</a:t>
            </a:r>
          </a:p>
        </p:txBody>
      </p:sp>
      <p:sp>
        <p:nvSpPr>
          <p:cNvPr id="49" name="KPI 2 Unit"/>
          <p:cNvSpPr>
            <a:spLocks noGrp="1"/>
          </p:cNvSpPr>
          <p:nvPr>
            <p:ph type="body" idx="54"/>
          </p:nvPr>
        </p:nvSpPr>
        <p:spPr>
          <a:xfrm>
            <a:off x="5441950" y="5842000"/>
            <a:ext cx="381000" cy="381000"/>
          </a:xfrm>
        </p:spPr>
        <p:txBody>
          <a:bodyPr lIns="0" tIns="0" rIns="0" bIns="0" wrap="square" anchor="b"/>
          <a:lstStyle/>
          <a:p>
            <a:pPr marL="0" indent="0" algn="l">
              <a:buNone/>
            </a:pPr>
            <a:r>
              <a:rPr lang="en-US" sz="1100">
                <a:solidFill>
                  <a:srgbClr val="FFFFFF"/>
                </a:solidFill>
                <a:latin typeface="BinanceNova"/>
              </a:rPr>
              <a:t> bn</a:t>
            </a:r>
          </a:p>
        </p:txBody>
      </p:sp>
      <p:sp>
        <p:nvSpPr>
          <p:cNvPr id="50" name="KPI 2 Key"/>
          <p:cNvSpPr>
            <a:spLocks noGrp="1"/>
          </p:cNvSpPr>
          <p:nvPr>
            <p:ph type="body" idx="55"/>
          </p:nvPr>
        </p:nvSpPr>
        <p:spPr>
          <a:xfrm>
            <a:off x="5924550" y="5981700"/>
            <a:ext cx="1835150" cy="165100"/>
          </a:xfrm>
        </p:spPr>
        <p:txBody>
          <a:bodyPr lIns="0" tIns="0" rIns="0" bIns="0" wrap="square" anchor="b"/>
          <a:lstStyle/>
          <a:p>
            <a:pPr marL="0" indent="0" algn="l">
              <a:buNone/>
            </a:pPr>
            <a:r>
              <a:rPr lang="en-US" sz="700" spc="70" cap="all">
                <a:solidFill>
                  <a:srgbClr val="FFFFFF"/>
                </a:solidFill>
                <a:latin typeface="BinancePlex"/>
              </a:rPr>
              <a:t>REVENUE · EUR</a:t>
            </a:r>
          </a:p>
        </p:txBody>
      </p:sp>
      <p:sp>
        <p:nvSpPr>
          <p:cNvPr id="51" name="Rectangle 50"/>
          <p:cNvSpPr/>
          <p:nvPr/>
        </p:nvSpPr>
        <p:spPr>
          <a:xfrm>
            <a:off x="7912100" y="5829300"/>
            <a:ext cx="6350" cy="406400"/>
          </a:xfrm>
          <a:prstGeom prst="rect">
            <a:avLst/>
          </a:prstGeom>
          <a:solidFill>
            <a:srgbClr val="2B313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KPI 3 Value"/>
          <p:cNvSpPr>
            <a:spLocks noGrp="1"/>
          </p:cNvSpPr>
          <p:nvPr>
            <p:ph type="body" idx="56"/>
          </p:nvPr>
        </p:nvSpPr>
        <p:spPr>
          <a:xfrm>
            <a:off x="8064500" y="5842000"/>
            <a:ext cx="1016000" cy="381000"/>
          </a:xfrm>
        </p:spPr>
        <p:txBody>
          <a:bodyPr lIns="0" tIns="0" rIns="0" bIns="0" wrap="square" anchor="b"/>
          <a:lstStyle/>
          <a:p>
            <a:pPr marL="0" indent="0" algn="r">
              <a:buNone/>
            </a:pPr>
            <a:r>
              <a:rPr lang="en-US" sz="2800" b="1" spc="-56">
                <a:solidFill>
                  <a:srgbClr val="EAECEF"/>
                </a:solidFill>
                <a:latin typeface="BinanceNova"/>
              </a:rPr>
              <a:t>95</a:t>
            </a:r>
          </a:p>
        </p:txBody>
      </p:sp>
      <p:sp>
        <p:nvSpPr>
          <p:cNvPr id="53" name="KPI 3 Unit"/>
          <p:cNvSpPr>
            <a:spLocks noGrp="1"/>
          </p:cNvSpPr>
          <p:nvPr>
            <p:ph type="body" idx="57"/>
          </p:nvPr>
        </p:nvSpPr>
        <p:spPr>
          <a:xfrm>
            <a:off x="9080500" y="5842000"/>
            <a:ext cx="381000" cy="381000"/>
          </a:xfrm>
        </p:spPr>
        <p:txBody>
          <a:bodyPr lIns="0" tIns="0" rIns="0" bIns="0" wrap="square" anchor="b"/>
          <a:lstStyle/>
          <a:p>
            <a:pPr marL="0" indent="0" algn="l">
              <a:buNone/>
            </a:pPr>
            <a:r>
              <a:rPr lang="en-US" sz="1100">
                <a:solidFill>
                  <a:srgbClr val="FFFFFF"/>
                </a:solidFill>
                <a:latin typeface="BinanceNova"/>
              </a:rPr>
              <a:t>%</a:t>
            </a:r>
          </a:p>
        </p:txBody>
      </p:sp>
      <p:sp>
        <p:nvSpPr>
          <p:cNvPr id="54" name="KPI 3 Key"/>
          <p:cNvSpPr>
            <a:spLocks noGrp="1"/>
          </p:cNvSpPr>
          <p:nvPr>
            <p:ph type="body" idx="58"/>
          </p:nvPr>
        </p:nvSpPr>
        <p:spPr>
          <a:xfrm>
            <a:off x="9563100" y="5981700"/>
            <a:ext cx="1835150" cy="165100"/>
          </a:xfrm>
        </p:spPr>
        <p:txBody>
          <a:bodyPr lIns="0" tIns="0" rIns="0" bIns="0" wrap="square" anchor="b"/>
          <a:lstStyle/>
          <a:p>
            <a:pPr marL="0" indent="0" algn="l">
              <a:buNone/>
            </a:pPr>
            <a:r>
              <a:rPr lang="en-US" sz="700" spc="70" cap="all">
                <a:solidFill>
                  <a:srgbClr val="FFFFFF"/>
                </a:solidFill>
                <a:latin typeface="BinancePlex"/>
              </a:rPr>
              <a:t>TELEMETRY OPT-IN</a:t>
            </a:r>
          </a:p>
        </p:txBody>
      </p:sp>
      <p:sp>
        <p:nvSpPr>
          <p:cNvPr id="55" name="Source"/>
          <p:cNvSpPr>
            <a:spLocks noGrp="1"/>
          </p:cNvSpPr>
          <p:nvPr>
            <p:ph type="body" idx="60"/>
          </p:nvPr>
        </p:nvSpPr>
        <p:spPr>
          <a:xfrm>
            <a:off x="635000" y="6477000"/>
            <a:ext cx="10922000" cy="1524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spc="70" cap="all">
                <a:solidFill>
                  <a:srgbClr val="FFFFFF"/>
                </a:solidFill>
                <a:latin typeface="BinancePlex"/>
              </a:rPr>
              <a:t>SOURCE · SAMPLE DATA, FY25 PRELIMINARY</a:t>
            </a:r>
          </a:p>
        </p:txBody>
      </p:sp>
    </p:spTree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Feinschliff · Line Chart">
    <p:bg>
      <p:bgPr>
        <a:solidFill>
          <a:srgbClr val="0B0E1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1"/>
          <p:cNvSpPr/>
          <p:nvPr/>
        </p:nvSpPr>
        <p:spPr>
          <a:xfrm>
            <a:off x="723900" y="417068"/>
            <a:ext cx="49784" cy="49784"/>
          </a:xfrm>
          <a:custGeom>
            <a:avLst/>
            <a:gdLst/>
            <a:ahLst/>
            <a:cxnLst/>
            <a:rect l="l" t="t" r="r" b="b"/>
            <a:pathLst>
              <a:path w="49784" h="49784">
                <a:moveTo>
                  <a:pt x="0" y="0"/>
                </a:moveTo>
                <a:lnTo>
                  <a:pt x="49784" y="49784"/>
                </a:lnTo>
                <a:lnTo>
                  <a:pt x="0" y="49784"/>
                </a:lnTo>
                <a:close/>
              </a:path>
            </a:pathLst>
          </a:custGeom>
          <a:solidFill>
            <a:srgbClr val="FCD5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Freeform 2"/>
          <p:cNvSpPr/>
          <p:nvPr/>
        </p:nvSpPr>
        <p:spPr>
          <a:xfrm>
            <a:off x="752348" y="445516"/>
            <a:ext cx="49784" cy="49784"/>
          </a:xfrm>
          <a:custGeom>
            <a:avLst/>
            <a:gdLst/>
            <a:ahLst/>
            <a:cxnLst/>
            <a:rect l="l" t="t" r="r" b="b"/>
            <a:pathLst>
              <a:path w="49784" h="49784">
                <a:moveTo>
                  <a:pt x="49784" y="49784"/>
                </a:moveTo>
                <a:lnTo>
                  <a:pt x="0" y="0"/>
                </a:lnTo>
                <a:lnTo>
                  <a:pt x="0" y="49784"/>
                </a:lnTo>
                <a:close/>
              </a:path>
            </a:pathLst>
          </a:custGeom>
          <a:solidFill>
            <a:srgbClr val="FCD5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Freeform 3"/>
          <p:cNvSpPr/>
          <p:nvPr/>
        </p:nvSpPr>
        <p:spPr>
          <a:xfrm>
            <a:off x="674116" y="523748"/>
            <a:ext cx="49784" cy="49784"/>
          </a:xfrm>
          <a:custGeom>
            <a:avLst/>
            <a:gdLst/>
            <a:ahLst/>
            <a:cxnLst/>
            <a:rect l="l" t="t" r="r" b="b"/>
            <a:pathLst>
              <a:path w="49784" h="49784">
                <a:moveTo>
                  <a:pt x="49784" y="49784"/>
                </a:moveTo>
                <a:lnTo>
                  <a:pt x="0" y="0"/>
                </a:lnTo>
                <a:lnTo>
                  <a:pt x="49784" y="0"/>
                </a:lnTo>
                <a:close/>
              </a:path>
            </a:pathLst>
          </a:custGeom>
          <a:solidFill>
            <a:srgbClr val="FCD5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Freeform 4"/>
          <p:cNvSpPr/>
          <p:nvPr/>
        </p:nvSpPr>
        <p:spPr>
          <a:xfrm>
            <a:off x="645668" y="495300"/>
            <a:ext cx="49784" cy="49784"/>
          </a:xfrm>
          <a:custGeom>
            <a:avLst/>
            <a:gdLst/>
            <a:ahLst/>
            <a:cxnLst/>
            <a:rect l="l" t="t" r="r" b="b"/>
            <a:pathLst>
              <a:path w="49784" h="49784">
                <a:moveTo>
                  <a:pt x="0" y="0"/>
                </a:moveTo>
                <a:lnTo>
                  <a:pt x="49784" y="49784"/>
                </a:lnTo>
                <a:lnTo>
                  <a:pt x="49784" y="0"/>
                </a:lnTo>
                <a:close/>
              </a:path>
            </a:pathLst>
          </a:custGeom>
          <a:solidFill>
            <a:srgbClr val="FCD5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01700" y="406400"/>
            <a:ext cx="2032000" cy="25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 spc="110">
                <a:solidFill>
                  <a:srgbClr val="FCD535"/>
                </a:solidFill>
                <a:latin typeface="BinanceNova"/>
              </a:rPr>
              <a:t>BINANCE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017000" y="508000"/>
            <a:ext cx="2667000" cy="177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700" spc="70" b="0">
                <a:solidFill>
                  <a:srgbClr val="848E9C"/>
                </a:solidFill>
                <a:latin typeface="BinanceNova SemiBold"/>
              </a:rPr>
              <a:t>LINE CHART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62000" y="6540500"/>
            <a:ext cx="4445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650" spc="65" b="0">
                <a:solidFill>
                  <a:srgbClr val="848E9C"/>
                </a:solidFill>
                <a:latin typeface="BinanceNova SemiBold"/>
              </a:rPr>
              <a:t>JAN 2026 · SHOWCASE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985000" y="6540500"/>
            <a:ext cx="4445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lang="en-US" dirty="0" sz="650" b="0" spc="65">
                <a:solidFill>
                  <a:srgbClr val="848E9C"/>
                </a:solidFill>
                <a:latin typeface="BinanceNova SemiBold"/>
              </a:rPr>
              <a:t>SLIDE </a:t>
            </a:r>
            <a:fld id="{A1B2C3D4-E5F6-4890-ABCD-EF0123456789}" type="slidenum">
              <a:rPr lang="en-US" dirty="0" sz="650" b="0" spc="65">
                <a:solidFill>
                  <a:srgbClr val="848E9C"/>
                </a:solidFill>
                <a:latin typeface="BinanceNova SemiBold"/>
              </a:rPr>
              <a:t>1</a:t>
            </a:fld>
          </a:p>
        </p:txBody>
      </p:sp>
      <p:sp>
        <p:nvSpPr>
          <p:cNvPr id="10" name="Rectangle 9"/>
          <p:cNvSpPr/>
          <p:nvPr/>
        </p:nvSpPr>
        <p:spPr>
          <a:xfrm>
            <a:off x="635000" y="1651000"/>
            <a:ext cx="50800" cy="876300"/>
          </a:xfrm>
          <a:prstGeom prst="rect">
            <a:avLst/>
          </a:prstGeom>
          <a:solidFill>
            <a:srgbClr val="FCD53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Eyebrow"/>
          <p:cNvSpPr>
            <a:spLocks noGrp="1"/>
          </p:cNvSpPr>
          <p:nvPr>
            <p:ph type="body" idx="10"/>
          </p:nvPr>
        </p:nvSpPr>
        <p:spPr>
          <a:xfrm>
            <a:off x="838200" y="1651000"/>
            <a:ext cx="101600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800" spc="80" cap="all">
                <a:solidFill>
                  <a:srgbClr val="FCD535"/>
                </a:solidFill>
                <a:latin typeface="BinanceNova"/>
              </a:rPr>
              <a:t>PER-ACCOUNT METRICS, FY21–FY25</a:t>
            </a:r>
          </a:p>
        </p:txBody>
      </p:sp>
      <p:sp>
        <p:nvSpPr>
          <p:cNvPr id="12" name="Title"/>
          <p:cNvSpPr>
            <a:spLocks noGrp="1"/>
          </p:cNvSpPr>
          <p:nvPr>
            <p:ph type="title"/>
          </p:nvPr>
        </p:nvSpPr>
        <p:spPr>
          <a:xfrm>
            <a:off x="838200" y="1968500"/>
            <a:ext cx="10922000" cy="635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3200" spc="-48">
                <a:solidFill>
                  <a:srgbClr val="FFFFFF"/>
                </a:solidFill>
                <a:latin typeface="BinanceNova"/>
              </a:rPr>
              <a:t>Per-account active time grew 43% while cloud cost per account declined — platform economics are turning.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35000" y="5835650"/>
            <a:ext cx="304800" cy="1397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700" spc="56">
                <a:solidFill>
                  <a:srgbClr val="FFFFFF"/>
                </a:solidFill>
                <a:latin typeface="BinancePlex"/>
              </a:rPr>
              <a:t>0</a:t>
            </a:r>
          </a:p>
        </p:txBody>
      </p:sp>
      <p:sp>
        <p:nvSpPr>
          <p:cNvPr id="14" name="Rectangle 13"/>
          <p:cNvSpPr/>
          <p:nvPr/>
        </p:nvSpPr>
        <p:spPr>
          <a:xfrm>
            <a:off x="990600" y="5194300"/>
            <a:ext cx="7797800" cy="6350"/>
          </a:xfrm>
          <a:prstGeom prst="rect">
            <a:avLst/>
          </a:prstGeom>
          <a:solidFill>
            <a:srgbClr val="2B313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35000" y="5127625"/>
            <a:ext cx="304800" cy="1397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700" spc="56">
                <a:solidFill>
                  <a:srgbClr val="FFFFFF"/>
                </a:solidFill>
                <a:latin typeface="BinancePlex"/>
              </a:rPr>
              <a:t>50</a:t>
            </a:r>
          </a:p>
        </p:txBody>
      </p:sp>
      <p:sp>
        <p:nvSpPr>
          <p:cNvPr id="16" name="Rectangle 15"/>
          <p:cNvSpPr/>
          <p:nvPr/>
        </p:nvSpPr>
        <p:spPr>
          <a:xfrm>
            <a:off x="990600" y="4486275"/>
            <a:ext cx="7797800" cy="6350"/>
          </a:xfrm>
          <a:prstGeom prst="rect">
            <a:avLst/>
          </a:prstGeom>
          <a:solidFill>
            <a:srgbClr val="2B313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35000" y="4419600"/>
            <a:ext cx="304800" cy="1397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700" spc="56">
                <a:solidFill>
                  <a:srgbClr val="FFFFFF"/>
                </a:solidFill>
                <a:latin typeface="BinancePlex"/>
              </a:rPr>
              <a:t>100</a:t>
            </a:r>
          </a:p>
        </p:txBody>
      </p:sp>
      <p:sp>
        <p:nvSpPr>
          <p:cNvPr id="18" name="Rectangle 17"/>
          <p:cNvSpPr/>
          <p:nvPr/>
        </p:nvSpPr>
        <p:spPr>
          <a:xfrm>
            <a:off x="990600" y="3778250"/>
            <a:ext cx="7797800" cy="6350"/>
          </a:xfrm>
          <a:prstGeom prst="rect">
            <a:avLst/>
          </a:prstGeom>
          <a:solidFill>
            <a:srgbClr val="2B313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35000" y="3711575"/>
            <a:ext cx="304800" cy="1397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700" spc="56">
                <a:solidFill>
                  <a:srgbClr val="FFFFFF"/>
                </a:solidFill>
                <a:latin typeface="BinancePlex"/>
              </a:rPr>
              <a:t>150</a:t>
            </a:r>
          </a:p>
        </p:txBody>
      </p:sp>
      <p:sp>
        <p:nvSpPr>
          <p:cNvPr id="20" name="Rectangle 19"/>
          <p:cNvSpPr/>
          <p:nvPr/>
        </p:nvSpPr>
        <p:spPr>
          <a:xfrm>
            <a:off x="990600" y="3070225"/>
            <a:ext cx="7797800" cy="6350"/>
          </a:xfrm>
          <a:prstGeom prst="rect">
            <a:avLst/>
          </a:prstGeom>
          <a:solidFill>
            <a:srgbClr val="2B313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35000" y="3003550"/>
            <a:ext cx="304800" cy="1397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700" spc="56">
                <a:solidFill>
                  <a:srgbClr val="FFFFFF"/>
                </a:solidFill>
                <a:latin typeface="BinancePlex"/>
              </a:rPr>
              <a:t>200</a:t>
            </a:r>
          </a:p>
        </p:txBody>
      </p:sp>
      <p:sp>
        <p:nvSpPr>
          <p:cNvPr id="22" name="Rectangle 21"/>
          <p:cNvSpPr/>
          <p:nvPr/>
        </p:nvSpPr>
        <p:spPr>
          <a:xfrm>
            <a:off x="990600" y="5899150"/>
            <a:ext cx="7797800" cy="12700"/>
          </a:xfrm>
          <a:prstGeom prst="rect">
            <a:avLst/>
          </a:prstGeom>
          <a:solidFill>
            <a:srgbClr val="0B0E1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Freeform 22"/>
          <p:cNvSpPr/>
          <p:nvPr/>
        </p:nvSpPr>
        <p:spPr>
          <a:xfrm>
            <a:off x="990600" y="3299968"/>
            <a:ext cx="7797800" cy="792988"/>
          </a:xfrm>
          <a:custGeom>
            <a:avLst/>
            <a:gdLst/>
            <a:ahLst/>
            <a:cxnLst/>
            <a:rect l="l" t="t" r="r" b="b"/>
            <a:pathLst>
              <a:path w="7797800" h="792988">
                <a:moveTo>
                  <a:pt x="0" y="792988"/>
                </a:moveTo>
                <a:lnTo>
                  <a:pt x="1949450" y="651383"/>
                </a:lnTo>
                <a:lnTo>
                  <a:pt x="3898900" y="311531"/>
                </a:lnTo>
                <a:lnTo>
                  <a:pt x="5848350" y="127444"/>
                </a:lnTo>
                <a:lnTo>
                  <a:pt x="7797800" y="0"/>
                </a:lnTo>
              </a:path>
            </a:pathLst>
          </a:custGeom>
          <a:noFill/>
          <a:ln w="19050">
            <a:solidFill>
              <a:srgbClr val="FCD53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Oval 23"/>
          <p:cNvSpPr/>
          <p:nvPr/>
        </p:nvSpPr>
        <p:spPr>
          <a:xfrm>
            <a:off x="958850" y="4061206"/>
            <a:ext cx="63500" cy="63500"/>
          </a:xfrm>
          <a:prstGeom prst="ellipse">
            <a:avLst/>
          </a:prstGeom>
          <a:solidFill>
            <a:srgbClr val="FCD53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Oval 24"/>
          <p:cNvSpPr/>
          <p:nvPr/>
        </p:nvSpPr>
        <p:spPr>
          <a:xfrm>
            <a:off x="2908300" y="3919601"/>
            <a:ext cx="63500" cy="63500"/>
          </a:xfrm>
          <a:prstGeom prst="ellipse">
            <a:avLst/>
          </a:prstGeom>
          <a:solidFill>
            <a:srgbClr val="FCD53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Oval 25"/>
          <p:cNvSpPr/>
          <p:nvPr/>
        </p:nvSpPr>
        <p:spPr>
          <a:xfrm>
            <a:off x="4857750" y="3579749"/>
            <a:ext cx="63500" cy="63500"/>
          </a:xfrm>
          <a:prstGeom prst="ellipse">
            <a:avLst/>
          </a:prstGeom>
          <a:solidFill>
            <a:srgbClr val="FCD53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Oval 26"/>
          <p:cNvSpPr/>
          <p:nvPr/>
        </p:nvSpPr>
        <p:spPr>
          <a:xfrm>
            <a:off x="6807200" y="3395662"/>
            <a:ext cx="63500" cy="63500"/>
          </a:xfrm>
          <a:prstGeom prst="ellipse">
            <a:avLst/>
          </a:prstGeom>
          <a:solidFill>
            <a:srgbClr val="FCD53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Oval 27"/>
          <p:cNvSpPr/>
          <p:nvPr/>
        </p:nvSpPr>
        <p:spPr>
          <a:xfrm>
            <a:off x="8756650" y="3268218"/>
            <a:ext cx="63500" cy="63500"/>
          </a:xfrm>
          <a:prstGeom prst="ellipse">
            <a:avLst/>
          </a:prstGeom>
          <a:solidFill>
            <a:srgbClr val="FCD53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Freeform 28"/>
          <p:cNvSpPr/>
          <p:nvPr/>
        </p:nvSpPr>
        <p:spPr>
          <a:xfrm>
            <a:off x="990600" y="3356610"/>
            <a:ext cx="7797800" cy="1557655"/>
          </a:xfrm>
          <a:custGeom>
            <a:avLst/>
            <a:gdLst/>
            <a:ahLst/>
            <a:cxnLst/>
            <a:rect l="l" t="t" r="r" b="b"/>
            <a:pathLst>
              <a:path w="7797800" h="1557655">
                <a:moveTo>
                  <a:pt x="0" y="0"/>
                </a:moveTo>
                <a:lnTo>
                  <a:pt x="1949450" y="169926"/>
                </a:lnTo>
                <a:lnTo>
                  <a:pt x="3898900" y="566420"/>
                </a:lnTo>
                <a:lnTo>
                  <a:pt x="5848350" y="1062038"/>
                </a:lnTo>
                <a:lnTo>
                  <a:pt x="7797800" y="1557655"/>
                </a:lnTo>
              </a:path>
            </a:pathLst>
          </a:custGeom>
          <a:noFill/>
          <a:ln w="12700">
            <a:solidFill>
              <a:srgbClr val="0B0E1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Oval 29"/>
          <p:cNvSpPr/>
          <p:nvPr/>
        </p:nvSpPr>
        <p:spPr>
          <a:xfrm>
            <a:off x="958850" y="3324860"/>
            <a:ext cx="63500" cy="63500"/>
          </a:xfrm>
          <a:prstGeom prst="ellipse">
            <a:avLst/>
          </a:prstGeom>
          <a:solidFill>
            <a:srgbClr val="0B0E1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Oval 30"/>
          <p:cNvSpPr/>
          <p:nvPr/>
        </p:nvSpPr>
        <p:spPr>
          <a:xfrm>
            <a:off x="2908300" y="3494786"/>
            <a:ext cx="63500" cy="63500"/>
          </a:xfrm>
          <a:prstGeom prst="ellipse">
            <a:avLst/>
          </a:prstGeom>
          <a:solidFill>
            <a:srgbClr val="0B0E1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Oval 31"/>
          <p:cNvSpPr/>
          <p:nvPr/>
        </p:nvSpPr>
        <p:spPr>
          <a:xfrm>
            <a:off x="4857750" y="3891280"/>
            <a:ext cx="63500" cy="63500"/>
          </a:xfrm>
          <a:prstGeom prst="ellipse">
            <a:avLst/>
          </a:prstGeom>
          <a:solidFill>
            <a:srgbClr val="0B0E1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Oval 32"/>
          <p:cNvSpPr/>
          <p:nvPr/>
        </p:nvSpPr>
        <p:spPr>
          <a:xfrm>
            <a:off x="6807200" y="4386898"/>
            <a:ext cx="63500" cy="63500"/>
          </a:xfrm>
          <a:prstGeom prst="ellipse">
            <a:avLst/>
          </a:prstGeom>
          <a:solidFill>
            <a:srgbClr val="0B0E1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Oval 33"/>
          <p:cNvSpPr/>
          <p:nvPr/>
        </p:nvSpPr>
        <p:spPr>
          <a:xfrm>
            <a:off x="8756650" y="4882515"/>
            <a:ext cx="63500" cy="63500"/>
          </a:xfrm>
          <a:prstGeom prst="ellipse">
            <a:avLst/>
          </a:prstGeom>
          <a:solidFill>
            <a:srgbClr val="0B0E1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X label 1"/>
          <p:cNvSpPr>
            <a:spLocks noGrp="1"/>
          </p:cNvSpPr>
          <p:nvPr>
            <p:ph type="body" idx="20"/>
          </p:nvPr>
        </p:nvSpPr>
        <p:spPr>
          <a:xfrm>
            <a:off x="673100" y="5994400"/>
            <a:ext cx="635000" cy="152400"/>
          </a:xfrm>
        </p:spPr>
        <p:txBody>
          <a:bodyPr lIns="0" tIns="0" rIns="0" bIns="0" wrap="square" anchor="t"/>
          <a:lstStyle/>
          <a:p>
            <a:pPr marL="0" indent="0" algn="ctr">
              <a:buNone/>
            </a:pPr>
            <a:r>
              <a:rPr lang="en-US" sz="700" spc="56" cap="all">
                <a:solidFill>
                  <a:srgbClr val="FFFFFF"/>
                </a:solidFill>
                <a:latin typeface="BinancePlex"/>
              </a:rPr>
              <a:t>FY21</a:t>
            </a:r>
          </a:p>
        </p:txBody>
      </p:sp>
      <p:sp>
        <p:nvSpPr>
          <p:cNvPr id="36" name="X label 2"/>
          <p:cNvSpPr>
            <a:spLocks noGrp="1"/>
          </p:cNvSpPr>
          <p:nvPr>
            <p:ph type="body" idx="21"/>
          </p:nvPr>
        </p:nvSpPr>
        <p:spPr>
          <a:xfrm>
            <a:off x="2622550" y="5994400"/>
            <a:ext cx="635000" cy="152400"/>
          </a:xfrm>
        </p:spPr>
        <p:txBody>
          <a:bodyPr lIns="0" tIns="0" rIns="0" bIns="0" wrap="square" anchor="t"/>
          <a:lstStyle/>
          <a:p>
            <a:pPr marL="0" indent="0" algn="ctr">
              <a:buNone/>
            </a:pPr>
            <a:r>
              <a:rPr lang="en-US" sz="700" spc="56" cap="all">
                <a:solidFill>
                  <a:srgbClr val="FFFFFF"/>
                </a:solidFill>
                <a:latin typeface="BinancePlex"/>
              </a:rPr>
              <a:t>FY22</a:t>
            </a:r>
          </a:p>
        </p:txBody>
      </p:sp>
      <p:sp>
        <p:nvSpPr>
          <p:cNvPr id="37" name="X label 3"/>
          <p:cNvSpPr>
            <a:spLocks noGrp="1"/>
          </p:cNvSpPr>
          <p:nvPr>
            <p:ph type="body" idx="22"/>
          </p:nvPr>
        </p:nvSpPr>
        <p:spPr>
          <a:xfrm>
            <a:off x="4572000" y="5994400"/>
            <a:ext cx="635000" cy="152400"/>
          </a:xfrm>
        </p:spPr>
        <p:txBody>
          <a:bodyPr lIns="0" tIns="0" rIns="0" bIns="0" wrap="square" anchor="t"/>
          <a:lstStyle/>
          <a:p>
            <a:pPr marL="0" indent="0" algn="ctr">
              <a:buNone/>
            </a:pPr>
            <a:r>
              <a:rPr lang="en-US" sz="700" spc="56" cap="all">
                <a:solidFill>
                  <a:srgbClr val="FFFFFF"/>
                </a:solidFill>
                <a:latin typeface="BinancePlex"/>
              </a:rPr>
              <a:t>FY23</a:t>
            </a:r>
          </a:p>
        </p:txBody>
      </p:sp>
      <p:sp>
        <p:nvSpPr>
          <p:cNvPr id="38" name="X label 4"/>
          <p:cNvSpPr>
            <a:spLocks noGrp="1"/>
          </p:cNvSpPr>
          <p:nvPr>
            <p:ph type="body" idx="23"/>
          </p:nvPr>
        </p:nvSpPr>
        <p:spPr>
          <a:xfrm>
            <a:off x="6521450" y="5994400"/>
            <a:ext cx="635000" cy="152400"/>
          </a:xfrm>
        </p:spPr>
        <p:txBody>
          <a:bodyPr lIns="0" tIns="0" rIns="0" bIns="0" wrap="square" anchor="t"/>
          <a:lstStyle/>
          <a:p>
            <a:pPr marL="0" indent="0" algn="ctr">
              <a:buNone/>
            </a:pPr>
            <a:r>
              <a:rPr lang="en-US" sz="700" spc="56" cap="all">
                <a:solidFill>
                  <a:srgbClr val="FFFFFF"/>
                </a:solidFill>
                <a:latin typeface="BinancePlex"/>
              </a:rPr>
              <a:t>FY24</a:t>
            </a:r>
          </a:p>
        </p:txBody>
      </p:sp>
      <p:sp>
        <p:nvSpPr>
          <p:cNvPr id="39" name="X label 5"/>
          <p:cNvSpPr>
            <a:spLocks noGrp="1"/>
          </p:cNvSpPr>
          <p:nvPr>
            <p:ph type="body" idx="24"/>
          </p:nvPr>
        </p:nvSpPr>
        <p:spPr>
          <a:xfrm>
            <a:off x="8470900" y="5994400"/>
            <a:ext cx="635000" cy="152400"/>
          </a:xfrm>
        </p:spPr>
        <p:txBody>
          <a:bodyPr lIns="0" tIns="0" rIns="0" bIns="0" wrap="square" anchor="t"/>
          <a:lstStyle/>
          <a:p>
            <a:pPr marL="0" indent="0" algn="ctr">
              <a:buNone/>
            </a:pPr>
            <a:r>
              <a:rPr lang="en-US" sz="700" spc="56" cap="all">
                <a:solidFill>
                  <a:srgbClr val="FFFFFF"/>
                </a:solidFill>
                <a:latin typeface="BinancePlex"/>
              </a:rPr>
              <a:t>FY25</a:t>
            </a:r>
          </a:p>
        </p:txBody>
      </p:sp>
      <p:sp>
        <p:nvSpPr>
          <p:cNvPr id="40" name="Rectangle 39"/>
          <p:cNvSpPr/>
          <p:nvPr/>
        </p:nvSpPr>
        <p:spPr>
          <a:xfrm>
            <a:off x="9144000" y="3244850"/>
            <a:ext cx="114300" cy="38100"/>
          </a:xfrm>
          <a:prstGeom prst="rect">
            <a:avLst/>
          </a:prstGeom>
          <a:solidFill>
            <a:srgbClr val="FCD53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Series 1 Name"/>
          <p:cNvSpPr>
            <a:spLocks noGrp="1"/>
          </p:cNvSpPr>
          <p:nvPr>
            <p:ph type="body" idx="30"/>
          </p:nvPr>
        </p:nvSpPr>
        <p:spPr>
          <a:xfrm>
            <a:off x="9372600" y="3175000"/>
            <a:ext cx="2032000" cy="1778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900">
                <a:solidFill>
                  <a:srgbClr val="EAECEF"/>
                </a:solidFill>
                <a:latin typeface="BinanceNova Medium"/>
              </a:rPr>
              <a:t>Active time per account</a:t>
            </a:r>
          </a:p>
        </p:txBody>
      </p:sp>
      <p:sp>
        <p:nvSpPr>
          <p:cNvPr id="42" name="Rectangle 41"/>
          <p:cNvSpPr/>
          <p:nvPr/>
        </p:nvSpPr>
        <p:spPr>
          <a:xfrm>
            <a:off x="9144000" y="3498850"/>
            <a:ext cx="114300" cy="38100"/>
          </a:xfrm>
          <a:prstGeom prst="rect">
            <a:avLst/>
          </a:prstGeom>
          <a:solidFill>
            <a:srgbClr val="0B0E1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Series 2 Name"/>
          <p:cNvSpPr>
            <a:spLocks noGrp="1"/>
          </p:cNvSpPr>
          <p:nvPr>
            <p:ph type="body" idx="31"/>
          </p:nvPr>
        </p:nvSpPr>
        <p:spPr>
          <a:xfrm>
            <a:off x="9372600" y="3429000"/>
            <a:ext cx="2032000" cy="1778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900">
                <a:solidFill>
                  <a:srgbClr val="EAECEF"/>
                </a:solidFill>
                <a:latin typeface="BinanceNova Medium"/>
              </a:rPr>
              <a:t>Cloud cost per account</a:t>
            </a:r>
          </a:p>
        </p:txBody>
      </p:sp>
      <p:sp>
        <p:nvSpPr>
          <p:cNvPr id="44" name="Source / caption"/>
          <p:cNvSpPr>
            <a:spLocks noGrp="1"/>
          </p:cNvSpPr>
          <p:nvPr>
            <p:ph type="body" idx="40"/>
          </p:nvPr>
        </p:nvSpPr>
        <p:spPr>
          <a:xfrm>
            <a:off x="635000" y="6318250"/>
            <a:ext cx="10922000" cy="1524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spc="70" cap="all">
                <a:solidFill>
                  <a:srgbClr val="FFFFFF"/>
                </a:solidFill>
                <a:latin typeface="BinancePlex"/>
              </a:rPr>
              <a:t>SOURCE · FEINSCHLIFF ANALYTICS, N = 2.4M ACCOUNTS</a:t>
            </a:r>
          </a:p>
        </p:txBody>
      </p:sp>
    </p:spTree>
  </p:cSld>
  <p:clrMapOvr>
    <a:masterClrMapping/>
  </p:clrMapOvr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Feinschliff · Scorecard">
    <p:bg>
      <p:bgPr>
        <a:solidFill>
          <a:srgbClr val="0B0E1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1"/>
          <p:cNvSpPr/>
          <p:nvPr/>
        </p:nvSpPr>
        <p:spPr>
          <a:xfrm>
            <a:off x="723900" y="417068"/>
            <a:ext cx="49784" cy="49784"/>
          </a:xfrm>
          <a:custGeom>
            <a:avLst/>
            <a:gdLst/>
            <a:ahLst/>
            <a:cxnLst/>
            <a:rect l="l" t="t" r="r" b="b"/>
            <a:pathLst>
              <a:path w="49784" h="49784">
                <a:moveTo>
                  <a:pt x="0" y="0"/>
                </a:moveTo>
                <a:lnTo>
                  <a:pt x="49784" y="49784"/>
                </a:lnTo>
                <a:lnTo>
                  <a:pt x="0" y="49784"/>
                </a:lnTo>
                <a:close/>
              </a:path>
            </a:pathLst>
          </a:custGeom>
          <a:solidFill>
            <a:srgbClr val="FCD5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Freeform 2"/>
          <p:cNvSpPr/>
          <p:nvPr/>
        </p:nvSpPr>
        <p:spPr>
          <a:xfrm>
            <a:off x="752348" y="445516"/>
            <a:ext cx="49784" cy="49784"/>
          </a:xfrm>
          <a:custGeom>
            <a:avLst/>
            <a:gdLst/>
            <a:ahLst/>
            <a:cxnLst/>
            <a:rect l="l" t="t" r="r" b="b"/>
            <a:pathLst>
              <a:path w="49784" h="49784">
                <a:moveTo>
                  <a:pt x="49784" y="49784"/>
                </a:moveTo>
                <a:lnTo>
                  <a:pt x="0" y="0"/>
                </a:lnTo>
                <a:lnTo>
                  <a:pt x="0" y="49784"/>
                </a:lnTo>
                <a:close/>
              </a:path>
            </a:pathLst>
          </a:custGeom>
          <a:solidFill>
            <a:srgbClr val="FCD5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Freeform 3"/>
          <p:cNvSpPr/>
          <p:nvPr/>
        </p:nvSpPr>
        <p:spPr>
          <a:xfrm>
            <a:off x="674116" y="523748"/>
            <a:ext cx="49784" cy="49784"/>
          </a:xfrm>
          <a:custGeom>
            <a:avLst/>
            <a:gdLst/>
            <a:ahLst/>
            <a:cxnLst/>
            <a:rect l="l" t="t" r="r" b="b"/>
            <a:pathLst>
              <a:path w="49784" h="49784">
                <a:moveTo>
                  <a:pt x="49784" y="49784"/>
                </a:moveTo>
                <a:lnTo>
                  <a:pt x="0" y="0"/>
                </a:lnTo>
                <a:lnTo>
                  <a:pt x="49784" y="0"/>
                </a:lnTo>
                <a:close/>
              </a:path>
            </a:pathLst>
          </a:custGeom>
          <a:solidFill>
            <a:srgbClr val="FCD5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Freeform 4"/>
          <p:cNvSpPr/>
          <p:nvPr/>
        </p:nvSpPr>
        <p:spPr>
          <a:xfrm>
            <a:off x="645668" y="495300"/>
            <a:ext cx="49784" cy="49784"/>
          </a:xfrm>
          <a:custGeom>
            <a:avLst/>
            <a:gdLst/>
            <a:ahLst/>
            <a:cxnLst/>
            <a:rect l="l" t="t" r="r" b="b"/>
            <a:pathLst>
              <a:path w="49784" h="49784">
                <a:moveTo>
                  <a:pt x="0" y="0"/>
                </a:moveTo>
                <a:lnTo>
                  <a:pt x="49784" y="49784"/>
                </a:lnTo>
                <a:lnTo>
                  <a:pt x="49784" y="0"/>
                </a:lnTo>
                <a:close/>
              </a:path>
            </a:pathLst>
          </a:custGeom>
          <a:solidFill>
            <a:srgbClr val="FCD5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01700" y="406400"/>
            <a:ext cx="2032000" cy="25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 spc="110">
                <a:solidFill>
                  <a:srgbClr val="FCD535"/>
                </a:solidFill>
                <a:latin typeface="BinanceNova"/>
              </a:rPr>
              <a:t>BINANCE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017000" y="508000"/>
            <a:ext cx="2667000" cy="177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700" spc="70" b="0">
                <a:solidFill>
                  <a:srgbClr val="848E9C"/>
                </a:solidFill>
                <a:latin typeface="BinanceNova SemiBold"/>
              </a:rPr>
              <a:t>SCORECARD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62000" y="6540500"/>
            <a:ext cx="4445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650" spc="65" b="0">
                <a:solidFill>
                  <a:srgbClr val="848E9C"/>
                </a:solidFill>
                <a:latin typeface="BinanceNova SemiBold"/>
              </a:rPr>
              <a:t>JAN 2026 · SHOWCASE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985000" y="6540500"/>
            <a:ext cx="4445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lang="en-US" dirty="0" sz="650" b="0" spc="65">
                <a:solidFill>
                  <a:srgbClr val="848E9C"/>
                </a:solidFill>
                <a:latin typeface="BinanceNova SemiBold"/>
              </a:rPr>
              <a:t>SLIDE </a:t>
            </a:r>
            <a:fld id="{A1B2C3D4-E5F6-4890-ABCD-EF0123456789}" type="slidenum">
              <a:rPr lang="en-US" dirty="0" sz="650" b="0" spc="65">
                <a:solidFill>
                  <a:srgbClr val="848E9C"/>
                </a:solidFill>
                <a:latin typeface="BinanceNova SemiBold"/>
              </a:rPr>
              <a:t>1</a:t>
            </a:fld>
          </a:p>
        </p:txBody>
      </p:sp>
      <p:sp>
        <p:nvSpPr>
          <p:cNvPr id="10" name="Rectangle 9"/>
          <p:cNvSpPr/>
          <p:nvPr/>
        </p:nvSpPr>
        <p:spPr>
          <a:xfrm>
            <a:off x="635000" y="1651000"/>
            <a:ext cx="50800" cy="876300"/>
          </a:xfrm>
          <a:prstGeom prst="rect">
            <a:avLst/>
          </a:prstGeom>
          <a:solidFill>
            <a:srgbClr val="FCD53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Eyebrow"/>
          <p:cNvSpPr>
            <a:spLocks noGrp="1"/>
          </p:cNvSpPr>
          <p:nvPr>
            <p:ph type="body" idx="10"/>
          </p:nvPr>
        </p:nvSpPr>
        <p:spPr>
          <a:xfrm>
            <a:off x="838200" y="1651000"/>
            <a:ext cx="101600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800" spc="80" cap="all">
                <a:solidFill>
                  <a:srgbClr val="FCD535"/>
                </a:solidFill>
                <a:latin typeface="BinanceNova"/>
              </a:rPr>
              <a:t>PORTFOLIO HEALTH · FY25 Q3</a:t>
            </a:r>
          </a:p>
        </p:txBody>
      </p:sp>
      <p:sp>
        <p:nvSpPr>
          <p:cNvPr id="12" name="Title"/>
          <p:cNvSpPr>
            <a:spLocks noGrp="1"/>
          </p:cNvSpPr>
          <p:nvPr>
            <p:ph type="title"/>
          </p:nvPr>
        </p:nvSpPr>
        <p:spPr>
          <a:xfrm>
            <a:off x="838200" y="1968500"/>
            <a:ext cx="10922000" cy="635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3200" spc="-48">
                <a:solidFill>
                  <a:srgbClr val="FFFFFF"/>
                </a:solidFill>
                <a:latin typeface="BinanceNova"/>
              </a:rPr>
              <a:t>Four of five workstreams are on track; developer API slips into Q4 and data-platform integration is off the critical path.</a:t>
            </a:r>
          </a:p>
        </p:txBody>
      </p:sp>
      <p:sp>
        <p:nvSpPr>
          <p:cNvPr id="13" name="Rectangle 12"/>
          <p:cNvSpPr/>
          <p:nvPr/>
        </p:nvSpPr>
        <p:spPr>
          <a:xfrm>
            <a:off x="635000" y="3270250"/>
            <a:ext cx="10922000" cy="635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2790825" y="2921000"/>
            <a:ext cx="6350" cy="3175000"/>
          </a:xfrm>
          <a:prstGeom prst="rect">
            <a:avLst/>
          </a:prstGeom>
          <a:solidFill>
            <a:srgbClr val="2B313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4981575" y="2921000"/>
            <a:ext cx="6350" cy="3175000"/>
          </a:xfrm>
          <a:prstGeom prst="rect">
            <a:avLst/>
          </a:prstGeom>
          <a:solidFill>
            <a:srgbClr val="2B313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7172325" y="2921000"/>
            <a:ext cx="6350" cy="3175000"/>
          </a:xfrm>
          <a:prstGeom prst="rect">
            <a:avLst/>
          </a:prstGeom>
          <a:solidFill>
            <a:srgbClr val="2B313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9363075" y="2921000"/>
            <a:ext cx="6350" cy="3175000"/>
          </a:xfrm>
          <a:prstGeom prst="rect">
            <a:avLst/>
          </a:prstGeom>
          <a:solidFill>
            <a:srgbClr val="2B313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635000" y="3978275"/>
            <a:ext cx="10922000" cy="6350"/>
          </a:xfrm>
          <a:prstGeom prst="rect">
            <a:avLst/>
          </a:prstGeom>
          <a:solidFill>
            <a:srgbClr val="2B313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635000" y="4683125"/>
            <a:ext cx="10922000" cy="6350"/>
          </a:xfrm>
          <a:prstGeom prst="rect">
            <a:avLst/>
          </a:prstGeom>
          <a:solidFill>
            <a:srgbClr val="2B313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635000" y="5387975"/>
            <a:ext cx="10922000" cy="6350"/>
          </a:xfrm>
          <a:prstGeom prst="rect">
            <a:avLst/>
          </a:prstGeom>
          <a:solidFill>
            <a:srgbClr val="2B313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2921000" y="3390900"/>
            <a:ext cx="114300" cy="114300"/>
          </a:xfrm>
          <a:prstGeom prst="ellipse">
            <a:avLst/>
          </a:prstGeom>
          <a:solidFill>
            <a:srgbClr val="8FB88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Oval 21"/>
          <p:cNvSpPr/>
          <p:nvPr/>
        </p:nvSpPr>
        <p:spPr>
          <a:xfrm>
            <a:off x="5111750" y="3390900"/>
            <a:ext cx="114300" cy="114300"/>
          </a:xfrm>
          <a:prstGeom prst="ellipse">
            <a:avLst/>
          </a:prstGeom>
          <a:solidFill>
            <a:srgbClr val="8FB88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Oval 22"/>
          <p:cNvSpPr/>
          <p:nvPr/>
        </p:nvSpPr>
        <p:spPr>
          <a:xfrm>
            <a:off x="7302500" y="3390900"/>
            <a:ext cx="114300" cy="114300"/>
          </a:xfrm>
          <a:prstGeom prst="ellipse">
            <a:avLst/>
          </a:prstGeom>
          <a:solidFill>
            <a:srgbClr val="8FB88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Oval 23"/>
          <p:cNvSpPr/>
          <p:nvPr/>
        </p:nvSpPr>
        <p:spPr>
          <a:xfrm>
            <a:off x="9493250" y="3390900"/>
            <a:ext cx="114300" cy="114300"/>
          </a:xfrm>
          <a:prstGeom prst="ellipse">
            <a:avLst/>
          </a:prstGeom>
          <a:solidFill>
            <a:srgbClr val="8FB88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Oval 24"/>
          <p:cNvSpPr/>
          <p:nvPr/>
        </p:nvSpPr>
        <p:spPr>
          <a:xfrm>
            <a:off x="2921000" y="4095750"/>
            <a:ext cx="114300" cy="114300"/>
          </a:xfrm>
          <a:prstGeom prst="ellipse">
            <a:avLst/>
          </a:prstGeom>
          <a:solidFill>
            <a:srgbClr val="FCD53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Oval 25"/>
          <p:cNvSpPr/>
          <p:nvPr/>
        </p:nvSpPr>
        <p:spPr>
          <a:xfrm>
            <a:off x="5111750" y="4095750"/>
            <a:ext cx="114300" cy="114300"/>
          </a:xfrm>
          <a:prstGeom prst="ellipse">
            <a:avLst/>
          </a:prstGeom>
          <a:solidFill>
            <a:srgbClr val="FCD53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Oval 26"/>
          <p:cNvSpPr/>
          <p:nvPr/>
        </p:nvSpPr>
        <p:spPr>
          <a:xfrm>
            <a:off x="7302500" y="4095750"/>
            <a:ext cx="114300" cy="114300"/>
          </a:xfrm>
          <a:prstGeom prst="ellipse">
            <a:avLst/>
          </a:prstGeom>
          <a:solidFill>
            <a:srgbClr val="8FB88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Oval 27"/>
          <p:cNvSpPr/>
          <p:nvPr/>
        </p:nvSpPr>
        <p:spPr>
          <a:xfrm>
            <a:off x="9493250" y="4095750"/>
            <a:ext cx="114300" cy="114300"/>
          </a:xfrm>
          <a:prstGeom prst="ellipse">
            <a:avLst/>
          </a:prstGeom>
          <a:solidFill>
            <a:srgbClr val="8FB88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Oval 28"/>
          <p:cNvSpPr/>
          <p:nvPr/>
        </p:nvSpPr>
        <p:spPr>
          <a:xfrm>
            <a:off x="2921000" y="4800600"/>
            <a:ext cx="114300" cy="114300"/>
          </a:xfrm>
          <a:prstGeom prst="ellipse">
            <a:avLst/>
          </a:prstGeom>
          <a:solidFill>
            <a:srgbClr val="A0484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Oval 29"/>
          <p:cNvSpPr/>
          <p:nvPr/>
        </p:nvSpPr>
        <p:spPr>
          <a:xfrm>
            <a:off x="5111750" y="4800600"/>
            <a:ext cx="114300" cy="114300"/>
          </a:xfrm>
          <a:prstGeom prst="ellipse">
            <a:avLst/>
          </a:prstGeom>
          <a:solidFill>
            <a:srgbClr val="FCD53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Oval 30"/>
          <p:cNvSpPr/>
          <p:nvPr/>
        </p:nvSpPr>
        <p:spPr>
          <a:xfrm>
            <a:off x="7302500" y="4800600"/>
            <a:ext cx="114300" cy="114300"/>
          </a:xfrm>
          <a:prstGeom prst="ellipse">
            <a:avLst/>
          </a:prstGeom>
          <a:solidFill>
            <a:srgbClr val="FCD53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Oval 31"/>
          <p:cNvSpPr/>
          <p:nvPr/>
        </p:nvSpPr>
        <p:spPr>
          <a:xfrm>
            <a:off x="9493250" y="4800600"/>
            <a:ext cx="114300" cy="114300"/>
          </a:xfrm>
          <a:prstGeom prst="ellipse">
            <a:avLst/>
          </a:prstGeom>
          <a:solidFill>
            <a:srgbClr val="A0484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Oval 32"/>
          <p:cNvSpPr/>
          <p:nvPr/>
        </p:nvSpPr>
        <p:spPr>
          <a:xfrm>
            <a:off x="2921000" y="5505450"/>
            <a:ext cx="114300" cy="114300"/>
          </a:xfrm>
          <a:prstGeom prst="ellipse">
            <a:avLst/>
          </a:prstGeom>
          <a:solidFill>
            <a:srgbClr val="FCD53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Oval 33"/>
          <p:cNvSpPr/>
          <p:nvPr/>
        </p:nvSpPr>
        <p:spPr>
          <a:xfrm>
            <a:off x="5111750" y="5505450"/>
            <a:ext cx="114300" cy="114300"/>
          </a:xfrm>
          <a:prstGeom prst="ellipse">
            <a:avLst/>
          </a:prstGeom>
          <a:solidFill>
            <a:srgbClr val="A0484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Oval 34"/>
          <p:cNvSpPr/>
          <p:nvPr/>
        </p:nvSpPr>
        <p:spPr>
          <a:xfrm>
            <a:off x="7302500" y="5505450"/>
            <a:ext cx="114300" cy="114300"/>
          </a:xfrm>
          <a:prstGeom prst="ellipse">
            <a:avLst/>
          </a:prstGeom>
          <a:solidFill>
            <a:srgbClr val="A0484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Oval 35"/>
          <p:cNvSpPr/>
          <p:nvPr/>
        </p:nvSpPr>
        <p:spPr>
          <a:xfrm>
            <a:off x="9493250" y="5505450"/>
            <a:ext cx="114300" cy="114300"/>
          </a:xfrm>
          <a:prstGeom prst="ellipse">
            <a:avLst/>
          </a:prstGeom>
          <a:solidFill>
            <a:srgbClr val="A0484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Column 1 Header"/>
          <p:cNvSpPr>
            <a:spLocks noGrp="1"/>
          </p:cNvSpPr>
          <p:nvPr>
            <p:ph type="body" idx="20"/>
          </p:nvPr>
        </p:nvSpPr>
        <p:spPr>
          <a:xfrm>
            <a:off x="2921000" y="3035300"/>
            <a:ext cx="1936750" cy="2413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800" spc="80" cap="all">
                <a:solidFill>
                  <a:srgbClr val="FFFFFF"/>
                </a:solidFill>
                <a:latin typeface="BinancePlex"/>
              </a:rPr>
              <a:t>Q1 FY25</a:t>
            </a:r>
          </a:p>
        </p:txBody>
      </p:sp>
      <p:sp>
        <p:nvSpPr>
          <p:cNvPr id="38" name="Column 2 Header"/>
          <p:cNvSpPr>
            <a:spLocks noGrp="1"/>
          </p:cNvSpPr>
          <p:nvPr>
            <p:ph type="body" idx="21"/>
          </p:nvPr>
        </p:nvSpPr>
        <p:spPr>
          <a:xfrm>
            <a:off x="5111750" y="3035300"/>
            <a:ext cx="1936750" cy="2413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800" spc="80" cap="all">
                <a:solidFill>
                  <a:srgbClr val="FFFFFF"/>
                </a:solidFill>
                <a:latin typeface="BinancePlex"/>
              </a:rPr>
              <a:t>Q2 FY25</a:t>
            </a:r>
          </a:p>
        </p:txBody>
      </p:sp>
      <p:sp>
        <p:nvSpPr>
          <p:cNvPr id="39" name="Column 3 Header"/>
          <p:cNvSpPr>
            <a:spLocks noGrp="1"/>
          </p:cNvSpPr>
          <p:nvPr>
            <p:ph type="body" idx="22"/>
          </p:nvPr>
        </p:nvSpPr>
        <p:spPr>
          <a:xfrm>
            <a:off x="7302500" y="3035300"/>
            <a:ext cx="1936750" cy="2413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800" spc="80" cap="all">
                <a:solidFill>
                  <a:srgbClr val="FFFFFF"/>
                </a:solidFill>
                <a:latin typeface="BinancePlex"/>
              </a:rPr>
              <a:t>Q3 FY25</a:t>
            </a:r>
          </a:p>
        </p:txBody>
      </p:sp>
      <p:sp>
        <p:nvSpPr>
          <p:cNvPr id="40" name="Column 4 Header"/>
          <p:cNvSpPr>
            <a:spLocks noGrp="1"/>
          </p:cNvSpPr>
          <p:nvPr>
            <p:ph type="body" idx="23"/>
          </p:nvPr>
        </p:nvSpPr>
        <p:spPr>
          <a:xfrm>
            <a:off x="9493250" y="3035300"/>
            <a:ext cx="1936750" cy="2413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800" spc="80" cap="all">
                <a:solidFill>
                  <a:srgbClr val="FFFFFF"/>
                </a:solidFill>
                <a:latin typeface="BinancePlex"/>
              </a:rPr>
              <a:t>Q4 FY25</a:t>
            </a:r>
          </a:p>
        </p:txBody>
      </p:sp>
      <p:sp>
        <p:nvSpPr>
          <p:cNvPr id="41" name="Row 1 Label"/>
          <p:cNvSpPr>
            <a:spLocks noGrp="1"/>
          </p:cNvSpPr>
          <p:nvPr>
            <p:ph type="body" idx="30"/>
          </p:nvPr>
        </p:nvSpPr>
        <p:spPr>
          <a:xfrm>
            <a:off x="762000" y="3502025"/>
            <a:ext cx="1955800" cy="254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100" spc="-11">
                <a:solidFill>
                  <a:srgbClr val="EAECEF"/>
                </a:solidFill>
                <a:latin typeface="BinanceNova Medium"/>
              </a:rPr>
              <a:t>Firmware consolidation</a:t>
            </a:r>
          </a:p>
        </p:txBody>
      </p:sp>
      <p:sp>
        <p:nvSpPr>
          <p:cNvPr id="42" name="Row 2 Label"/>
          <p:cNvSpPr>
            <a:spLocks noGrp="1"/>
          </p:cNvSpPr>
          <p:nvPr>
            <p:ph type="body" idx="31"/>
          </p:nvPr>
        </p:nvSpPr>
        <p:spPr>
          <a:xfrm>
            <a:off x="762000" y="4206875"/>
            <a:ext cx="1955800" cy="254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100" spc="-11">
                <a:solidFill>
                  <a:srgbClr val="EAECEF"/>
                </a:solidFill>
                <a:latin typeface="BinanceNova Medium"/>
              </a:rPr>
              <a:t>Default-on telemetry</a:t>
            </a:r>
          </a:p>
        </p:txBody>
      </p:sp>
      <p:sp>
        <p:nvSpPr>
          <p:cNvPr id="43" name="Row 3 Label"/>
          <p:cNvSpPr>
            <a:spLocks noGrp="1"/>
          </p:cNvSpPr>
          <p:nvPr>
            <p:ph type="body" idx="32"/>
          </p:nvPr>
        </p:nvSpPr>
        <p:spPr>
          <a:xfrm>
            <a:off x="762000" y="4911725"/>
            <a:ext cx="1955800" cy="254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100" spc="-11">
                <a:solidFill>
                  <a:srgbClr val="EAECEF"/>
                </a:solidFill>
                <a:latin typeface="BinanceNova Medium"/>
              </a:rPr>
              <a:t>Developer API</a:t>
            </a:r>
          </a:p>
        </p:txBody>
      </p:sp>
      <p:sp>
        <p:nvSpPr>
          <p:cNvPr id="44" name="Row 4 Label"/>
          <p:cNvSpPr>
            <a:spLocks noGrp="1"/>
          </p:cNvSpPr>
          <p:nvPr>
            <p:ph type="body" idx="33"/>
          </p:nvPr>
        </p:nvSpPr>
        <p:spPr>
          <a:xfrm>
            <a:off x="762000" y="5616575"/>
            <a:ext cx="1955800" cy="254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100" spc="-11">
                <a:solidFill>
                  <a:srgbClr val="EAECEF"/>
                </a:solidFill>
                <a:latin typeface="BinanceNova Medium"/>
              </a:rPr>
              <a:t>Data-platform integration</a:t>
            </a:r>
          </a:p>
        </p:txBody>
      </p:sp>
      <p:sp>
        <p:nvSpPr>
          <p:cNvPr id="45" name="Cell r1c1"/>
          <p:cNvSpPr>
            <a:spLocks noGrp="1"/>
          </p:cNvSpPr>
          <p:nvPr>
            <p:ph type="body" idx="40"/>
          </p:nvPr>
        </p:nvSpPr>
        <p:spPr>
          <a:xfrm>
            <a:off x="3111500" y="3365500"/>
            <a:ext cx="1746250" cy="47625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30000"/>
              </a:lnSpc>
              <a:buNone/>
            </a:pPr>
            <a:r>
              <a:rPr lang="en-US" sz="1000">
                <a:solidFill>
                  <a:srgbClr val="FFFFFF"/>
                </a:solidFill>
                <a:latin typeface="BinanceNova"/>
              </a:rPr>
              <a:t>Cutover · 62%</a:t>
            </a:r>
          </a:p>
        </p:txBody>
      </p:sp>
      <p:sp>
        <p:nvSpPr>
          <p:cNvPr id="46" name="Cell r1c2"/>
          <p:cNvSpPr>
            <a:spLocks noGrp="1"/>
          </p:cNvSpPr>
          <p:nvPr>
            <p:ph type="body" idx="41"/>
          </p:nvPr>
        </p:nvSpPr>
        <p:spPr>
          <a:xfrm>
            <a:off x="5302250" y="3365500"/>
            <a:ext cx="1746250" cy="47625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30000"/>
              </a:lnSpc>
              <a:buNone/>
            </a:pPr>
            <a:r>
              <a:rPr lang="en-US" sz="1000">
                <a:solidFill>
                  <a:srgbClr val="FFFFFF"/>
                </a:solidFill>
                <a:latin typeface="BinanceNova"/>
              </a:rPr>
              <a:t>Cutover · 100%</a:t>
            </a:r>
          </a:p>
        </p:txBody>
      </p:sp>
      <p:sp>
        <p:nvSpPr>
          <p:cNvPr id="47" name="Cell r1c3"/>
          <p:cNvSpPr>
            <a:spLocks noGrp="1"/>
          </p:cNvSpPr>
          <p:nvPr>
            <p:ph type="body" idx="42"/>
          </p:nvPr>
        </p:nvSpPr>
        <p:spPr>
          <a:xfrm>
            <a:off x="7493000" y="3365500"/>
            <a:ext cx="1746250" cy="47625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30000"/>
              </a:lnSpc>
              <a:buNone/>
            </a:pPr>
            <a:r>
              <a:rPr lang="en-US" sz="1000">
                <a:solidFill>
                  <a:srgbClr val="FFFFFF"/>
                </a:solidFill>
                <a:latin typeface="BinanceNova"/>
              </a:rPr>
              <a:t>Shipped</a:t>
            </a:r>
          </a:p>
        </p:txBody>
      </p:sp>
      <p:sp>
        <p:nvSpPr>
          <p:cNvPr id="48" name="Cell r1c4"/>
          <p:cNvSpPr>
            <a:spLocks noGrp="1"/>
          </p:cNvSpPr>
          <p:nvPr>
            <p:ph type="body" idx="43"/>
          </p:nvPr>
        </p:nvSpPr>
        <p:spPr>
          <a:xfrm>
            <a:off x="9683750" y="3365500"/>
            <a:ext cx="1746250" cy="47625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30000"/>
              </a:lnSpc>
              <a:buNone/>
            </a:pPr>
            <a:r>
              <a:rPr lang="en-US" sz="1000">
                <a:solidFill>
                  <a:srgbClr val="FFFFFF"/>
                </a:solidFill>
                <a:latin typeface="BinanceNova"/>
              </a:rPr>
              <a:t>Stable</a:t>
            </a:r>
          </a:p>
        </p:txBody>
      </p:sp>
      <p:sp>
        <p:nvSpPr>
          <p:cNvPr id="49" name="Cell r2c1"/>
          <p:cNvSpPr>
            <a:spLocks noGrp="1"/>
          </p:cNvSpPr>
          <p:nvPr>
            <p:ph type="body" idx="45"/>
          </p:nvPr>
        </p:nvSpPr>
        <p:spPr>
          <a:xfrm>
            <a:off x="3111500" y="4070350"/>
            <a:ext cx="1746250" cy="47625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30000"/>
              </a:lnSpc>
              <a:buNone/>
            </a:pPr>
            <a:r>
              <a:rPr lang="en-US" sz="1000">
                <a:solidFill>
                  <a:srgbClr val="FFFFFF"/>
                </a:solidFill>
                <a:latin typeface="BinanceNova"/>
              </a:rPr>
              <a:t>Pilot factories</a:t>
            </a:r>
          </a:p>
        </p:txBody>
      </p:sp>
      <p:sp>
        <p:nvSpPr>
          <p:cNvPr id="50" name="Cell r2c2"/>
          <p:cNvSpPr>
            <a:spLocks noGrp="1"/>
          </p:cNvSpPr>
          <p:nvPr>
            <p:ph type="body" idx="46"/>
          </p:nvPr>
        </p:nvSpPr>
        <p:spPr>
          <a:xfrm>
            <a:off x="5302250" y="4070350"/>
            <a:ext cx="1746250" cy="47625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30000"/>
              </a:lnSpc>
              <a:buNone/>
            </a:pPr>
            <a:r>
              <a:rPr lang="en-US" sz="1000">
                <a:solidFill>
                  <a:srgbClr val="FFFFFF"/>
                </a:solidFill>
                <a:latin typeface="BinanceNova"/>
              </a:rPr>
              <a:t>Rollout 40%</a:t>
            </a:r>
          </a:p>
        </p:txBody>
      </p:sp>
      <p:sp>
        <p:nvSpPr>
          <p:cNvPr id="51" name="Cell r2c3"/>
          <p:cNvSpPr>
            <a:spLocks noGrp="1"/>
          </p:cNvSpPr>
          <p:nvPr>
            <p:ph type="body" idx="47"/>
          </p:nvPr>
        </p:nvSpPr>
        <p:spPr>
          <a:xfrm>
            <a:off x="7493000" y="4070350"/>
            <a:ext cx="1746250" cy="47625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30000"/>
              </a:lnSpc>
              <a:buNone/>
            </a:pPr>
            <a:r>
              <a:rPr lang="en-US" sz="1000">
                <a:solidFill>
                  <a:srgbClr val="FFFFFF"/>
                </a:solidFill>
                <a:latin typeface="BinanceNova"/>
              </a:rPr>
              <a:t>Rollout 85%</a:t>
            </a:r>
          </a:p>
        </p:txBody>
      </p:sp>
      <p:sp>
        <p:nvSpPr>
          <p:cNvPr id="52" name="Cell r2c4"/>
          <p:cNvSpPr>
            <a:spLocks noGrp="1"/>
          </p:cNvSpPr>
          <p:nvPr>
            <p:ph type="body" idx="48"/>
          </p:nvPr>
        </p:nvSpPr>
        <p:spPr>
          <a:xfrm>
            <a:off x="9683750" y="4070350"/>
            <a:ext cx="1746250" cy="47625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30000"/>
              </a:lnSpc>
              <a:buNone/>
            </a:pPr>
            <a:r>
              <a:rPr lang="en-US" sz="1000">
                <a:solidFill>
                  <a:srgbClr val="FFFFFF"/>
                </a:solidFill>
                <a:latin typeface="BinanceNova"/>
              </a:rPr>
              <a:t>Default-on</a:t>
            </a:r>
          </a:p>
        </p:txBody>
      </p:sp>
      <p:sp>
        <p:nvSpPr>
          <p:cNvPr id="53" name="Cell r3c1"/>
          <p:cNvSpPr>
            <a:spLocks noGrp="1"/>
          </p:cNvSpPr>
          <p:nvPr>
            <p:ph type="body" idx="50"/>
          </p:nvPr>
        </p:nvSpPr>
        <p:spPr>
          <a:xfrm>
            <a:off x="3111500" y="4775200"/>
            <a:ext cx="1746250" cy="47625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30000"/>
              </a:lnSpc>
              <a:buNone/>
            </a:pPr>
            <a:r>
              <a:rPr lang="en-US" sz="1000">
                <a:solidFill>
                  <a:srgbClr val="FFFFFF"/>
                </a:solidFill>
                <a:latin typeface="BinanceNova"/>
              </a:rPr>
              <a:t>Design only</a:t>
            </a:r>
          </a:p>
        </p:txBody>
      </p:sp>
      <p:sp>
        <p:nvSpPr>
          <p:cNvPr id="54" name="Cell r3c2"/>
          <p:cNvSpPr>
            <a:spLocks noGrp="1"/>
          </p:cNvSpPr>
          <p:nvPr>
            <p:ph type="body" idx="51"/>
          </p:nvPr>
        </p:nvSpPr>
        <p:spPr>
          <a:xfrm>
            <a:off x="5302250" y="4775200"/>
            <a:ext cx="1746250" cy="47625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30000"/>
              </a:lnSpc>
              <a:buNone/>
            </a:pPr>
            <a:r>
              <a:rPr lang="en-US" sz="1000">
                <a:solidFill>
                  <a:srgbClr val="FFFFFF"/>
                </a:solidFill>
                <a:latin typeface="BinanceNova"/>
              </a:rPr>
              <a:t>Preview private</a:t>
            </a:r>
          </a:p>
        </p:txBody>
      </p:sp>
      <p:sp>
        <p:nvSpPr>
          <p:cNvPr id="55" name="Cell r3c3"/>
          <p:cNvSpPr>
            <a:spLocks noGrp="1"/>
          </p:cNvSpPr>
          <p:nvPr>
            <p:ph type="body" idx="52"/>
          </p:nvPr>
        </p:nvSpPr>
        <p:spPr>
          <a:xfrm>
            <a:off x="7493000" y="4775200"/>
            <a:ext cx="1746250" cy="47625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30000"/>
              </a:lnSpc>
              <a:buNone/>
            </a:pPr>
            <a:r>
              <a:rPr lang="en-US" sz="1000">
                <a:solidFill>
                  <a:srgbClr val="FFFFFF"/>
                </a:solidFill>
                <a:latin typeface="BinanceNova"/>
              </a:rPr>
              <a:t>Preview public</a:t>
            </a:r>
          </a:p>
        </p:txBody>
      </p:sp>
      <p:sp>
        <p:nvSpPr>
          <p:cNvPr id="56" name="Cell r3c4"/>
          <p:cNvSpPr>
            <a:spLocks noGrp="1"/>
          </p:cNvSpPr>
          <p:nvPr>
            <p:ph type="body" idx="53"/>
          </p:nvPr>
        </p:nvSpPr>
        <p:spPr>
          <a:xfrm>
            <a:off x="9683750" y="4775200"/>
            <a:ext cx="1746250" cy="47625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30000"/>
              </a:lnSpc>
              <a:buNone/>
            </a:pPr>
            <a:r>
              <a:rPr lang="en-US" sz="1000">
                <a:solidFill>
                  <a:srgbClr val="FFFFFF"/>
                </a:solidFill>
                <a:latin typeface="BinanceNova"/>
              </a:rPr>
              <a:t>GA → Q4 slip</a:t>
            </a:r>
          </a:p>
        </p:txBody>
      </p:sp>
      <p:sp>
        <p:nvSpPr>
          <p:cNvPr id="57" name="Cell r4c1"/>
          <p:cNvSpPr>
            <a:spLocks noGrp="1"/>
          </p:cNvSpPr>
          <p:nvPr>
            <p:ph type="body" idx="55"/>
          </p:nvPr>
        </p:nvSpPr>
        <p:spPr>
          <a:xfrm>
            <a:off x="3111500" y="5480050"/>
            <a:ext cx="1746250" cy="47625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30000"/>
              </a:lnSpc>
              <a:buNone/>
            </a:pPr>
            <a:r>
              <a:rPr lang="en-US" sz="1000">
                <a:solidFill>
                  <a:srgbClr val="FFFFFF"/>
                </a:solidFill>
                <a:latin typeface="BinanceNova"/>
              </a:rPr>
              <a:t>Scope locked</a:t>
            </a:r>
          </a:p>
        </p:txBody>
      </p:sp>
      <p:sp>
        <p:nvSpPr>
          <p:cNvPr id="58" name="Cell r4c2"/>
          <p:cNvSpPr>
            <a:spLocks noGrp="1"/>
          </p:cNvSpPr>
          <p:nvPr>
            <p:ph type="body" idx="56"/>
          </p:nvPr>
        </p:nvSpPr>
        <p:spPr>
          <a:xfrm>
            <a:off x="5302250" y="5480050"/>
            <a:ext cx="1746250" cy="47625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30000"/>
              </a:lnSpc>
              <a:buNone/>
            </a:pPr>
            <a:r>
              <a:rPr lang="en-US" sz="1000">
                <a:solidFill>
                  <a:srgbClr val="FFFFFF"/>
                </a:solidFill>
                <a:latin typeface="BinanceNova"/>
              </a:rPr>
              <a:t>Vendor delay</a:t>
            </a:r>
          </a:p>
        </p:txBody>
      </p:sp>
      <p:sp>
        <p:nvSpPr>
          <p:cNvPr id="59" name="Cell r4c3"/>
          <p:cNvSpPr>
            <a:spLocks noGrp="1"/>
          </p:cNvSpPr>
          <p:nvPr>
            <p:ph type="body" idx="57"/>
          </p:nvPr>
        </p:nvSpPr>
        <p:spPr>
          <a:xfrm>
            <a:off x="7493000" y="5480050"/>
            <a:ext cx="1746250" cy="47625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30000"/>
              </a:lnSpc>
              <a:buNone/>
            </a:pPr>
            <a:r>
              <a:rPr lang="en-US" sz="1000">
                <a:solidFill>
                  <a:srgbClr val="FFFFFF"/>
                </a:solidFill>
                <a:latin typeface="BinanceNova"/>
              </a:rPr>
              <a:t>Off plan</a:t>
            </a:r>
          </a:p>
        </p:txBody>
      </p:sp>
      <p:sp>
        <p:nvSpPr>
          <p:cNvPr id="60" name="Cell r4c4"/>
          <p:cNvSpPr>
            <a:spLocks noGrp="1"/>
          </p:cNvSpPr>
          <p:nvPr>
            <p:ph type="body" idx="58"/>
          </p:nvPr>
        </p:nvSpPr>
        <p:spPr>
          <a:xfrm>
            <a:off x="9683750" y="5480050"/>
            <a:ext cx="1746250" cy="47625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30000"/>
              </a:lnSpc>
              <a:buNone/>
            </a:pPr>
            <a:r>
              <a:rPr lang="en-US" sz="1000">
                <a:solidFill>
                  <a:srgbClr val="FFFFFF"/>
                </a:solidFill>
                <a:latin typeface="BinanceNova"/>
              </a:rPr>
              <a:t>Re-baseline</a:t>
            </a:r>
          </a:p>
        </p:txBody>
      </p:sp>
      <p:sp>
        <p:nvSpPr>
          <p:cNvPr id="61" name="Oval 60"/>
          <p:cNvSpPr/>
          <p:nvPr/>
        </p:nvSpPr>
        <p:spPr>
          <a:xfrm>
            <a:off x="8496300" y="6235700"/>
            <a:ext cx="88900" cy="88900"/>
          </a:xfrm>
          <a:prstGeom prst="ellipse">
            <a:avLst/>
          </a:prstGeom>
          <a:solidFill>
            <a:srgbClr val="8FB88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" name="TextBox 61"/>
          <p:cNvSpPr txBox="1"/>
          <p:nvPr/>
        </p:nvSpPr>
        <p:spPr>
          <a:xfrm>
            <a:off x="8648700" y="6210300"/>
            <a:ext cx="6985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700" spc="70">
                <a:solidFill>
                  <a:srgbClr val="FFFFFF"/>
                </a:solidFill>
                <a:latin typeface="BinancePlex"/>
              </a:rPr>
              <a:t>ON TRACK</a:t>
            </a:r>
          </a:p>
        </p:txBody>
      </p:sp>
      <p:sp>
        <p:nvSpPr>
          <p:cNvPr id="63" name="Oval 62"/>
          <p:cNvSpPr/>
          <p:nvPr/>
        </p:nvSpPr>
        <p:spPr>
          <a:xfrm>
            <a:off x="9601200" y="6235700"/>
            <a:ext cx="88900" cy="88900"/>
          </a:xfrm>
          <a:prstGeom prst="ellipse">
            <a:avLst/>
          </a:prstGeom>
          <a:solidFill>
            <a:srgbClr val="FCD53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4" name="TextBox 63"/>
          <p:cNvSpPr txBox="1"/>
          <p:nvPr/>
        </p:nvSpPr>
        <p:spPr>
          <a:xfrm>
            <a:off x="9753600" y="6210300"/>
            <a:ext cx="6985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700" spc="70">
                <a:solidFill>
                  <a:srgbClr val="FFFFFF"/>
                </a:solidFill>
                <a:latin typeface="BinancePlex"/>
              </a:rPr>
              <a:t>AT RISK</a:t>
            </a:r>
          </a:p>
        </p:txBody>
      </p:sp>
      <p:sp>
        <p:nvSpPr>
          <p:cNvPr id="65" name="Oval 64"/>
          <p:cNvSpPr/>
          <p:nvPr/>
        </p:nvSpPr>
        <p:spPr>
          <a:xfrm>
            <a:off x="10706100" y="6235700"/>
            <a:ext cx="88900" cy="88900"/>
          </a:xfrm>
          <a:prstGeom prst="ellipse">
            <a:avLst/>
          </a:prstGeom>
          <a:solidFill>
            <a:srgbClr val="A0484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6" name="TextBox 65"/>
          <p:cNvSpPr txBox="1"/>
          <p:nvPr/>
        </p:nvSpPr>
        <p:spPr>
          <a:xfrm>
            <a:off x="10858500" y="6210300"/>
            <a:ext cx="6985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700" spc="70">
                <a:solidFill>
                  <a:srgbClr val="FFFFFF"/>
                </a:solidFill>
                <a:latin typeface="BinancePlex"/>
              </a:rPr>
              <a:t>OFF TRACK</a:t>
            </a:r>
          </a:p>
        </p:txBody>
      </p:sp>
      <p:sp>
        <p:nvSpPr>
          <p:cNvPr id="67" name="Source"/>
          <p:cNvSpPr>
            <a:spLocks noGrp="1"/>
          </p:cNvSpPr>
          <p:nvPr>
            <p:ph type="body" idx="60"/>
          </p:nvPr>
        </p:nvSpPr>
        <p:spPr>
          <a:xfrm>
            <a:off x="635000" y="6350000"/>
            <a:ext cx="10922000" cy="1524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spc="70" cap="all">
                <a:solidFill>
                  <a:srgbClr val="FFFFFF"/>
                </a:solidFill>
                <a:latin typeface="BinancePlex"/>
              </a:rPr>
              <a:t>SOURCE · PROGRAMME BOARD · FY25 Q3 STATUS REVIEW</a:t>
            </a:r>
          </a:p>
        </p:txBody>
      </p:sp>
    </p:spTree>
  </p:cSld>
  <p:clrMapOvr>
    <a:masterClrMapping/>
  </p:clrMapOvr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Feinschliff · Gantt">
    <p:bg>
      <p:bgPr>
        <a:solidFill>
          <a:srgbClr val="0B0E1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1"/>
          <p:cNvSpPr/>
          <p:nvPr/>
        </p:nvSpPr>
        <p:spPr>
          <a:xfrm>
            <a:off x="723900" y="417068"/>
            <a:ext cx="49784" cy="49784"/>
          </a:xfrm>
          <a:custGeom>
            <a:avLst/>
            <a:gdLst/>
            <a:ahLst/>
            <a:cxnLst/>
            <a:rect l="l" t="t" r="r" b="b"/>
            <a:pathLst>
              <a:path w="49784" h="49784">
                <a:moveTo>
                  <a:pt x="0" y="0"/>
                </a:moveTo>
                <a:lnTo>
                  <a:pt x="49784" y="49784"/>
                </a:lnTo>
                <a:lnTo>
                  <a:pt x="0" y="49784"/>
                </a:lnTo>
                <a:close/>
              </a:path>
            </a:pathLst>
          </a:custGeom>
          <a:solidFill>
            <a:srgbClr val="FCD5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Freeform 2"/>
          <p:cNvSpPr/>
          <p:nvPr/>
        </p:nvSpPr>
        <p:spPr>
          <a:xfrm>
            <a:off x="752348" y="445516"/>
            <a:ext cx="49784" cy="49784"/>
          </a:xfrm>
          <a:custGeom>
            <a:avLst/>
            <a:gdLst/>
            <a:ahLst/>
            <a:cxnLst/>
            <a:rect l="l" t="t" r="r" b="b"/>
            <a:pathLst>
              <a:path w="49784" h="49784">
                <a:moveTo>
                  <a:pt x="49784" y="49784"/>
                </a:moveTo>
                <a:lnTo>
                  <a:pt x="0" y="0"/>
                </a:lnTo>
                <a:lnTo>
                  <a:pt x="0" y="49784"/>
                </a:lnTo>
                <a:close/>
              </a:path>
            </a:pathLst>
          </a:custGeom>
          <a:solidFill>
            <a:srgbClr val="FCD5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Freeform 3"/>
          <p:cNvSpPr/>
          <p:nvPr/>
        </p:nvSpPr>
        <p:spPr>
          <a:xfrm>
            <a:off x="674116" y="523748"/>
            <a:ext cx="49784" cy="49784"/>
          </a:xfrm>
          <a:custGeom>
            <a:avLst/>
            <a:gdLst/>
            <a:ahLst/>
            <a:cxnLst/>
            <a:rect l="l" t="t" r="r" b="b"/>
            <a:pathLst>
              <a:path w="49784" h="49784">
                <a:moveTo>
                  <a:pt x="49784" y="49784"/>
                </a:moveTo>
                <a:lnTo>
                  <a:pt x="0" y="0"/>
                </a:lnTo>
                <a:lnTo>
                  <a:pt x="49784" y="0"/>
                </a:lnTo>
                <a:close/>
              </a:path>
            </a:pathLst>
          </a:custGeom>
          <a:solidFill>
            <a:srgbClr val="FCD5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Freeform 4"/>
          <p:cNvSpPr/>
          <p:nvPr/>
        </p:nvSpPr>
        <p:spPr>
          <a:xfrm>
            <a:off x="645668" y="495300"/>
            <a:ext cx="49784" cy="49784"/>
          </a:xfrm>
          <a:custGeom>
            <a:avLst/>
            <a:gdLst/>
            <a:ahLst/>
            <a:cxnLst/>
            <a:rect l="l" t="t" r="r" b="b"/>
            <a:pathLst>
              <a:path w="49784" h="49784">
                <a:moveTo>
                  <a:pt x="0" y="0"/>
                </a:moveTo>
                <a:lnTo>
                  <a:pt x="49784" y="49784"/>
                </a:lnTo>
                <a:lnTo>
                  <a:pt x="49784" y="0"/>
                </a:lnTo>
                <a:close/>
              </a:path>
            </a:pathLst>
          </a:custGeom>
          <a:solidFill>
            <a:srgbClr val="FCD5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01700" y="406400"/>
            <a:ext cx="2032000" cy="25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 spc="110">
                <a:solidFill>
                  <a:srgbClr val="FCD535"/>
                </a:solidFill>
                <a:latin typeface="BinanceNova"/>
              </a:rPr>
              <a:t>BINANCE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017000" y="508000"/>
            <a:ext cx="2667000" cy="177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700" spc="70" b="0">
                <a:solidFill>
                  <a:srgbClr val="848E9C"/>
                </a:solidFill>
                <a:latin typeface="BinanceNova SemiBold"/>
              </a:rPr>
              <a:t>GANTT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62000" y="6540500"/>
            <a:ext cx="4445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650" spc="65" b="0">
                <a:solidFill>
                  <a:srgbClr val="848E9C"/>
                </a:solidFill>
                <a:latin typeface="BinanceNova SemiBold"/>
              </a:rPr>
              <a:t>JAN 2026 · SHOWCASE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985000" y="6540500"/>
            <a:ext cx="4445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lang="en-US" dirty="0" sz="650" b="0" spc="65">
                <a:solidFill>
                  <a:srgbClr val="848E9C"/>
                </a:solidFill>
                <a:latin typeface="BinanceNova SemiBold"/>
              </a:rPr>
              <a:t>SLIDE </a:t>
            </a:r>
            <a:fld id="{A1B2C3D4-E5F6-4890-ABCD-EF0123456789}" type="slidenum">
              <a:rPr lang="en-US" dirty="0" sz="650" b="0" spc="65">
                <a:solidFill>
                  <a:srgbClr val="848E9C"/>
                </a:solidFill>
                <a:latin typeface="BinanceNova SemiBold"/>
              </a:rPr>
              <a:t>1</a:t>
            </a:fld>
          </a:p>
        </p:txBody>
      </p:sp>
      <p:sp>
        <p:nvSpPr>
          <p:cNvPr id="10" name="Rectangle 9"/>
          <p:cNvSpPr/>
          <p:nvPr/>
        </p:nvSpPr>
        <p:spPr>
          <a:xfrm>
            <a:off x="635000" y="1651000"/>
            <a:ext cx="50800" cy="876300"/>
          </a:xfrm>
          <a:prstGeom prst="rect">
            <a:avLst/>
          </a:prstGeom>
          <a:solidFill>
            <a:srgbClr val="FCD53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Eyebrow"/>
          <p:cNvSpPr>
            <a:spLocks noGrp="1"/>
          </p:cNvSpPr>
          <p:nvPr>
            <p:ph type="body" idx="10"/>
          </p:nvPr>
        </p:nvSpPr>
        <p:spPr>
          <a:xfrm>
            <a:off x="838200" y="1651000"/>
            <a:ext cx="101600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800" spc="80" cap="all">
                <a:solidFill>
                  <a:srgbClr val="FCD535"/>
                </a:solidFill>
                <a:latin typeface="BinanceNova"/>
              </a:rPr>
              <a:t>WORKSTREAMS — FY25 DELIVERY PLAN</a:t>
            </a:r>
          </a:p>
        </p:txBody>
      </p:sp>
      <p:sp>
        <p:nvSpPr>
          <p:cNvPr id="12" name="Title"/>
          <p:cNvSpPr>
            <a:spLocks noGrp="1"/>
          </p:cNvSpPr>
          <p:nvPr>
            <p:ph type="title"/>
          </p:nvPr>
        </p:nvSpPr>
        <p:spPr>
          <a:xfrm>
            <a:off x="838200" y="1968500"/>
            <a:ext cx="10922000" cy="635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3200" spc="-48">
                <a:solidFill>
                  <a:srgbClr val="FFFFFF"/>
                </a:solidFill>
                <a:latin typeface="BinanceNova"/>
              </a:rPr>
              <a:t>Firmware consolidation lands in Q2; the developer API goes GA in Q4, dependent on telemetry rollout.</a:t>
            </a:r>
          </a:p>
        </p:txBody>
      </p:sp>
      <p:sp>
        <p:nvSpPr>
          <p:cNvPr id="13" name="Rectangle 12"/>
          <p:cNvSpPr/>
          <p:nvPr/>
        </p:nvSpPr>
        <p:spPr>
          <a:xfrm>
            <a:off x="4794250" y="2921000"/>
            <a:ext cx="6350" cy="304800"/>
          </a:xfrm>
          <a:prstGeom prst="rect">
            <a:avLst/>
          </a:prstGeom>
          <a:solidFill>
            <a:srgbClr val="2B313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7048500" y="2921000"/>
            <a:ext cx="6350" cy="304800"/>
          </a:xfrm>
          <a:prstGeom prst="rect">
            <a:avLst/>
          </a:prstGeom>
          <a:solidFill>
            <a:srgbClr val="2B313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9302750" y="2921000"/>
            <a:ext cx="6350" cy="304800"/>
          </a:xfrm>
          <a:prstGeom prst="rect">
            <a:avLst/>
          </a:prstGeom>
          <a:solidFill>
            <a:srgbClr val="2B313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635000" y="3225800"/>
            <a:ext cx="10922000" cy="6350"/>
          </a:xfrm>
          <a:prstGeom prst="rect">
            <a:avLst/>
          </a:prstGeom>
          <a:solidFill>
            <a:srgbClr val="0B0E1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4794250" y="3225800"/>
            <a:ext cx="6350" cy="2032000"/>
          </a:xfrm>
          <a:prstGeom prst="rect">
            <a:avLst/>
          </a:prstGeom>
          <a:solidFill>
            <a:srgbClr val="2B313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7048500" y="3225800"/>
            <a:ext cx="6350" cy="2032000"/>
          </a:xfrm>
          <a:prstGeom prst="rect">
            <a:avLst/>
          </a:prstGeom>
          <a:solidFill>
            <a:srgbClr val="2B313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9302750" y="3225800"/>
            <a:ext cx="6350" cy="2032000"/>
          </a:xfrm>
          <a:prstGeom prst="rect">
            <a:avLst/>
          </a:prstGeom>
          <a:solidFill>
            <a:srgbClr val="2B313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2578100" y="3390900"/>
            <a:ext cx="4432300" cy="177800"/>
          </a:xfrm>
          <a:prstGeom prst="rect">
            <a:avLst/>
          </a:prstGeom>
          <a:solidFill>
            <a:srgbClr val="FCD53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Diamond 20"/>
          <p:cNvSpPr/>
          <p:nvPr/>
        </p:nvSpPr>
        <p:spPr>
          <a:xfrm>
            <a:off x="6765925" y="3422650"/>
            <a:ext cx="114300" cy="114300"/>
          </a:xfrm>
          <a:prstGeom prst="diamond">
            <a:avLst/>
          </a:prstGeom>
          <a:solidFill>
            <a:srgbClr val="FCD53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635000" y="3733800"/>
            <a:ext cx="10922000" cy="6350"/>
          </a:xfrm>
          <a:prstGeom prst="rect">
            <a:avLst/>
          </a:prstGeom>
          <a:solidFill>
            <a:srgbClr val="2B313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2578100" y="3898900"/>
            <a:ext cx="6686550" cy="177800"/>
          </a:xfrm>
          <a:prstGeom prst="rect">
            <a:avLst/>
          </a:prstGeom>
          <a:solidFill>
            <a:srgbClr val="0B0E1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Diamond 23"/>
          <p:cNvSpPr/>
          <p:nvPr/>
        </p:nvSpPr>
        <p:spPr>
          <a:xfrm>
            <a:off x="8794750" y="3930650"/>
            <a:ext cx="114300" cy="114300"/>
          </a:xfrm>
          <a:prstGeom prst="diamond">
            <a:avLst/>
          </a:prstGeom>
          <a:solidFill>
            <a:srgbClr val="FCD53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635000" y="4241800"/>
            <a:ext cx="10922000" cy="6350"/>
          </a:xfrm>
          <a:prstGeom prst="rect">
            <a:avLst/>
          </a:prstGeom>
          <a:solidFill>
            <a:srgbClr val="2B313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4832350" y="4492625"/>
            <a:ext cx="38100" cy="6350"/>
          </a:xfrm>
          <a:prstGeom prst="rect">
            <a:avLst/>
          </a:prstGeom>
          <a:solidFill>
            <a:srgbClr val="848E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4908550" y="4492625"/>
            <a:ext cx="38100" cy="6350"/>
          </a:xfrm>
          <a:prstGeom prst="rect">
            <a:avLst/>
          </a:prstGeom>
          <a:solidFill>
            <a:srgbClr val="848E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4984750" y="4492625"/>
            <a:ext cx="38100" cy="6350"/>
          </a:xfrm>
          <a:prstGeom prst="rect">
            <a:avLst/>
          </a:prstGeom>
          <a:solidFill>
            <a:srgbClr val="848E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5060950" y="4492625"/>
            <a:ext cx="38100" cy="6350"/>
          </a:xfrm>
          <a:prstGeom prst="rect">
            <a:avLst/>
          </a:prstGeom>
          <a:solidFill>
            <a:srgbClr val="848E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>
            <a:off x="5137150" y="4492625"/>
            <a:ext cx="38100" cy="6350"/>
          </a:xfrm>
          <a:prstGeom prst="rect">
            <a:avLst/>
          </a:prstGeom>
          <a:solidFill>
            <a:srgbClr val="848E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5213350" y="4492625"/>
            <a:ext cx="38100" cy="6350"/>
          </a:xfrm>
          <a:prstGeom prst="rect">
            <a:avLst/>
          </a:prstGeom>
          <a:solidFill>
            <a:srgbClr val="848E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ectangle 31"/>
          <p:cNvSpPr/>
          <p:nvPr/>
        </p:nvSpPr>
        <p:spPr>
          <a:xfrm>
            <a:off x="5289550" y="4492625"/>
            <a:ext cx="38100" cy="6350"/>
          </a:xfrm>
          <a:prstGeom prst="rect">
            <a:avLst/>
          </a:prstGeom>
          <a:solidFill>
            <a:srgbClr val="848E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ectangle 32"/>
          <p:cNvSpPr/>
          <p:nvPr/>
        </p:nvSpPr>
        <p:spPr>
          <a:xfrm>
            <a:off x="5365750" y="4492625"/>
            <a:ext cx="38100" cy="6350"/>
          </a:xfrm>
          <a:prstGeom prst="rect">
            <a:avLst/>
          </a:prstGeom>
          <a:solidFill>
            <a:srgbClr val="848E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Rectangle 33"/>
          <p:cNvSpPr/>
          <p:nvPr/>
        </p:nvSpPr>
        <p:spPr>
          <a:xfrm>
            <a:off x="5441950" y="4492625"/>
            <a:ext cx="38100" cy="6350"/>
          </a:xfrm>
          <a:prstGeom prst="rect">
            <a:avLst/>
          </a:prstGeom>
          <a:solidFill>
            <a:srgbClr val="848E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Rectangle 34"/>
          <p:cNvSpPr/>
          <p:nvPr/>
        </p:nvSpPr>
        <p:spPr>
          <a:xfrm>
            <a:off x="5518150" y="4492625"/>
            <a:ext cx="38100" cy="6350"/>
          </a:xfrm>
          <a:prstGeom prst="rect">
            <a:avLst/>
          </a:prstGeom>
          <a:solidFill>
            <a:srgbClr val="848E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Rectangle 35"/>
          <p:cNvSpPr/>
          <p:nvPr/>
        </p:nvSpPr>
        <p:spPr>
          <a:xfrm>
            <a:off x="5594350" y="4492625"/>
            <a:ext cx="38100" cy="6350"/>
          </a:xfrm>
          <a:prstGeom prst="rect">
            <a:avLst/>
          </a:prstGeom>
          <a:solidFill>
            <a:srgbClr val="848E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Rectangle 36"/>
          <p:cNvSpPr/>
          <p:nvPr/>
        </p:nvSpPr>
        <p:spPr>
          <a:xfrm>
            <a:off x="5670550" y="4492625"/>
            <a:ext cx="38100" cy="6350"/>
          </a:xfrm>
          <a:prstGeom prst="rect">
            <a:avLst/>
          </a:prstGeom>
          <a:solidFill>
            <a:srgbClr val="848E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Rectangle 37"/>
          <p:cNvSpPr/>
          <p:nvPr/>
        </p:nvSpPr>
        <p:spPr>
          <a:xfrm>
            <a:off x="5746750" y="4492625"/>
            <a:ext cx="38100" cy="6350"/>
          </a:xfrm>
          <a:prstGeom prst="rect">
            <a:avLst/>
          </a:prstGeom>
          <a:solidFill>
            <a:srgbClr val="848E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Rectangle 38"/>
          <p:cNvSpPr/>
          <p:nvPr/>
        </p:nvSpPr>
        <p:spPr>
          <a:xfrm>
            <a:off x="5822950" y="4492625"/>
            <a:ext cx="38100" cy="6350"/>
          </a:xfrm>
          <a:prstGeom prst="rect">
            <a:avLst/>
          </a:prstGeom>
          <a:solidFill>
            <a:srgbClr val="848E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Rectangle 39"/>
          <p:cNvSpPr/>
          <p:nvPr/>
        </p:nvSpPr>
        <p:spPr>
          <a:xfrm>
            <a:off x="5899150" y="4492625"/>
            <a:ext cx="38100" cy="6350"/>
          </a:xfrm>
          <a:prstGeom prst="rect">
            <a:avLst/>
          </a:prstGeom>
          <a:solidFill>
            <a:srgbClr val="848E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Rectangle 40"/>
          <p:cNvSpPr/>
          <p:nvPr/>
        </p:nvSpPr>
        <p:spPr>
          <a:xfrm>
            <a:off x="5975350" y="4492625"/>
            <a:ext cx="38100" cy="6350"/>
          </a:xfrm>
          <a:prstGeom prst="rect">
            <a:avLst/>
          </a:prstGeom>
          <a:solidFill>
            <a:srgbClr val="848E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Rectangle 41"/>
          <p:cNvSpPr/>
          <p:nvPr/>
        </p:nvSpPr>
        <p:spPr>
          <a:xfrm>
            <a:off x="6051550" y="4492625"/>
            <a:ext cx="38100" cy="6350"/>
          </a:xfrm>
          <a:prstGeom prst="rect">
            <a:avLst/>
          </a:prstGeom>
          <a:solidFill>
            <a:srgbClr val="848E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Rectangle 42"/>
          <p:cNvSpPr/>
          <p:nvPr/>
        </p:nvSpPr>
        <p:spPr>
          <a:xfrm>
            <a:off x="6127750" y="4492625"/>
            <a:ext cx="38100" cy="6350"/>
          </a:xfrm>
          <a:prstGeom prst="rect">
            <a:avLst/>
          </a:prstGeom>
          <a:solidFill>
            <a:srgbClr val="848E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Rectangle 43"/>
          <p:cNvSpPr/>
          <p:nvPr/>
        </p:nvSpPr>
        <p:spPr>
          <a:xfrm>
            <a:off x="6203950" y="4492625"/>
            <a:ext cx="38100" cy="6350"/>
          </a:xfrm>
          <a:prstGeom prst="rect">
            <a:avLst/>
          </a:prstGeom>
          <a:solidFill>
            <a:srgbClr val="848E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Rectangle 44"/>
          <p:cNvSpPr/>
          <p:nvPr/>
        </p:nvSpPr>
        <p:spPr>
          <a:xfrm>
            <a:off x="6280150" y="4492625"/>
            <a:ext cx="38100" cy="6350"/>
          </a:xfrm>
          <a:prstGeom prst="rect">
            <a:avLst/>
          </a:prstGeom>
          <a:solidFill>
            <a:srgbClr val="848E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Rectangle 45"/>
          <p:cNvSpPr/>
          <p:nvPr/>
        </p:nvSpPr>
        <p:spPr>
          <a:xfrm>
            <a:off x="6356350" y="4492625"/>
            <a:ext cx="38100" cy="6350"/>
          </a:xfrm>
          <a:prstGeom prst="rect">
            <a:avLst/>
          </a:prstGeom>
          <a:solidFill>
            <a:srgbClr val="848E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Rectangle 46"/>
          <p:cNvSpPr/>
          <p:nvPr/>
        </p:nvSpPr>
        <p:spPr>
          <a:xfrm>
            <a:off x="6432550" y="4492625"/>
            <a:ext cx="38100" cy="6350"/>
          </a:xfrm>
          <a:prstGeom prst="rect">
            <a:avLst/>
          </a:prstGeom>
          <a:solidFill>
            <a:srgbClr val="848E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Rectangle 47"/>
          <p:cNvSpPr/>
          <p:nvPr/>
        </p:nvSpPr>
        <p:spPr>
          <a:xfrm>
            <a:off x="6508750" y="4492625"/>
            <a:ext cx="38100" cy="6350"/>
          </a:xfrm>
          <a:prstGeom prst="rect">
            <a:avLst/>
          </a:prstGeom>
          <a:solidFill>
            <a:srgbClr val="848E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Rectangle 48"/>
          <p:cNvSpPr/>
          <p:nvPr/>
        </p:nvSpPr>
        <p:spPr>
          <a:xfrm>
            <a:off x="6584950" y="4492625"/>
            <a:ext cx="38100" cy="6350"/>
          </a:xfrm>
          <a:prstGeom prst="rect">
            <a:avLst/>
          </a:prstGeom>
          <a:solidFill>
            <a:srgbClr val="848E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Rectangle 49"/>
          <p:cNvSpPr/>
          <p:nvPr/>
        </p:nvSpPr>
        <p:spPr>
          <a:xfrm>
            <a:off x="6661150" y="4492625"/>
            <a:ext cx="38100" cy="6350"/>
          </a:xfrm>
          <a:prstGeom prst="rect">
            <a:avLst/>
          </a:prstGeom>
          <a:solidFill>
            <a:srgbClr val="848E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Rectangle 50"/>
          <p:cNvSpPr/>
          <p:nvPr/>
        </p:nvSpPr>
        <p:spPr>
          <a:xfrm>
            <a:off x="6737350" y="4492625"/>
            <a:ext cx="38100" cy="6350"/>
          </a:xfrm>
          <a:prstGeom prst="rect">
            <a:avLst/>
          </a:prstGeom>
          <a:solidFill>
            <a:srgbClr val="848E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Rectangle 51"/>
          <p:cNvSpPr/>
          <p:nvPr/>
        </p:nvSpPr>
        <p:spPr>
          <a:xfrm>
            <a:off x="6813550" y="4492625"/>
            <a:ext cx="38100" cy="6350"/>
          </a:xfrm>
          <a:prstGeom prst="rect">
            <a:avLst/>
          </a:prstGeom>
          <a:solidFill>
            <a:srgbClr val="848E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Rectangle 52"/>
          <p:cNvSpPr/>
          <p:nvPr/>
        </p:nvSpPr>
        <p:spPr>
          <a:xfrm>
            <a:off x="6889750" y="4492625"/>
            <a:ext cx="38100" cy="6350"/>
          </a:xfrm>
          <a:prstGeom prst="rect">
            <a:avLst/>
          </a:prstGeom>
          <a:solidFill>
            <a:srgbClr val="848E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Rectangle 53"/>
          <p:cNvSpPr/>
          <p:nvPr/>
        </p:nvSpPr>
        <p:spPr>
          <a:xfrm>
            <a:off x="6965950" y="4492625"/>
            <a:ext cx="38100" cy="6350"/>
          </a:xfrm>
          <a:prstGeom prst="rect">
            <a:avLst/>
          </a:prstGeom>
          <a:solidFill>
            <a:srgbClr val="848E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Rectangle 54"/>
          <p:cNvSpPr/>
          <p:nvPr/>
        </p:nvSpPr>
        <p:spPr>
          <a:xfrm>
            <a:off x="7086600" y="4406900"/>
            <a:ext cx="4432300" cy="177800"/>
          </a:xfrm>
          <a:prstGeom prst="rect">
            <a:avLst/>
          </a:prstGeom>
          <a:solidFill>
            <a:srgbClr val="FCD53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Rectangle 55"/>
          <p:cNvSpPr/>
          <p:nvPr/>
        </p:nvSpPr>
        <p:spPr>
          <a:xfrm>
            <a:off x="635000" y="4749800"/>
            <a:ext cx="10922000" cy="6350"/>
          </a:xfrm>
          <a:prstGeom prst="rect">
            <a:avLst/>
          </a:prstGeom>
          <a:solidFill>
            <a:srgbClr val="2B313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Rectangle 56"/>
          <p:cNvSpPr/>
          <p:nvPr/>
        </p:nvSpPr>
        <p:spPr>
          <a:xfrm>
            <a:off x="4832350" y="5000625"/>
            <a:ext cx="38100" cy="6350"/>
          </a:xfrm>
          <a:prstGeom prst="rect">
            <a:avLst/>
          </a:prstGeom>
          <a:solidFill>
            <a:srgbClr val="848E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" name="Rectangle 57"/>
          <p:cNvSpPr/>
          <p:nvPr/>
        </p:nvSpPr>
        <p:spPr>
          <a:xfrm>
            <a:off x="4908550" y="5000625"/>
            <a:ext cx="38100" cy="6350"/>
          </a:xfrm>
          <a:prstGeom prst="rect">
            <a:avLst/>
          </a:prstGeom>
          <a:solidFill>
            <a:srgbClr val="848E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" name="Rectangle 58"/>
          <p:cNvSpPr/>
          <p:nvPr/>
        </p:nvSpPr>
        <p:spPr>
          <a:xfrm>
            <a:off x="4984750" y="5000625"/>
            <a:ext cx="38100" cy="6350"/>
          </a:xfrm>
          <a:prstGeom prst="rect">
            <a:avLst/>
          </a:prstGeom>
          <a:solidFill>
            <a:srgbClr val="848E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" name="Rectangle 59"/>
          <p:cNvSpPr/>
          <p:nvPr/>
        </p:nvSpPr>
        <p:spPr>
          <a:xfrm>
            <a:off x="5060950" y="5000625"/>
            <a:ext cx="38100" cy="6350"/>
          </a:xfrm>
          <a:prstGeom prst="rect">
            <a:avLst/>
          </a:prstGeom>
          <a:solidFill>
            <a:srgbClr val="848E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" name="Rectangle 60"/>
          <p:cNvSpPr/>
          <p:nvPr/>
        </p:nvSpPr>
        <p:spPr>
          <a:xfrm>
            <a:off x="5137150" y="5000625"/>
            <a:ext cx="38100" cy="6350"/>
          </a:xfrm>
          <a:prstGeom prst="rect">
            <a:avLst/>
          </a:prstGeom>
          <a:solidFill>
            <a:srgbClr val="848E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" name="Rectangle 61"/>
          <p:cNvSpPr/>
          <p:nvPr/>
        </p:nvSpPr>
        <p:spPr>
          <a:xfrm>
            <a:off x="5213350" y="5000625"/>
            <a:ext cx="38100" cy="6350"/>
          </a:xfrm>
          <a:prstGeom prst="rect">
            <a:avLst/>
          </a:prstGeom>
          <a:solidFill>
            <a:srgbClr val="848E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3" name="Rectangle 62"/>
          <p:cNvSpPr/>
          <p:nvPr/>
        </p:nvSpPr>
        <p:spPr>
          <a:xfrm>
            <a:off x="5289550" y="5000625"/>
            <a:ext cx="38100" cy="6350"/>
          </a:xfrm>
          <a:prstGeom prst="rect">
            <a:avLst/>
          </a:prstGeom>
          <a:solidFill>
            <a:srgbClr val="848E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4" name="Rectangle 63"/>
          <p:cNvSpPr/>
          <p:nvPr/>
        </p:nvSpPr>
        <p:spPr>
          <a:xfrm>
            <a:off x="5365750" y="5000625"/>
            <a:ext cx="38100" cy="6350"/>
          </a:xfrm>
          <a:prstGeom prst="rect">
            <a:avLst/>
          </a:prstGeom>
          <a:solidFill>
            <a:srgbClr val="848E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5" name="Rectangle 64"/>
          <p:cNvSpPr/>
          <p:nvPr/>
        </p:nvSpPr>
        <p:spPr>
          <a:xfrm>
            <a:off x="5441950" y="5000625"/>
            <a:ext cx="38100" cy="6350"/>
          </a:xfrm>
          <a:prstGeom prst="rect">
            <a:avLst/>
          </a:prstGeom>
          <a:solidFill>
            <a:srgbClr val="848E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6" name="Rectangle 65"/>
          <p:cNvSpPr/>
          <p:nvPr/>
        </p:nvSpPr>
        <p:spPr>
          <a:xfrm>
            <a:off x="5518150" y="5000625"/>
            <a:ext cx="38100" cy="6350"/>
          </a:xfrm>
          <a:prstGeom prst="rect">
            <a:avLst/>
          </a:prstGeom>
          <a:solidFill>
            <a:srgbClr val="848E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7" name="Rectangle 66"/>
          <p:cNvSpPr/>
          <p:nvPr/>
        </p:nvSpPr>
        <p:spPr>
          <a:xfrm>
            <a:off x="5594350" y="5000625"/>
            <a:ext cx="38100" cy="6350"/>
          </a:xfrm>
          <a:prstGeom prst="rect">
            <a:avLst/>
          </a:prstGeom>
          <a:solidFill>
            <a:srgbClr val="848E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8" name="Rectangle 67"/>
          <p:cNvSpPr/>
          <p:nvPr/>
        </p:nvSpPr>
        <p:spPr>
          <a:xfrm>
            <a:off x="5670550" y="5000625"/>
            <a:ext cx="38100" cy="6350"/>
          </a:xfrm>
          <a:prstGeom prst="rect">
            <a:avLst/>
          </a:prstGeom>
          <a:solidFill>
            <a:srgbClr val="848E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9" name="Rectangle 68"/>
          <p:cNvSpPr/>
          <p:nvPr/>
        </p:nvSpPr>
        <p:spPr>
          <a:xfrm>
            <a:off x="5746750" y="5000625"/>
            <a:ext cx="38100" cy="6350"/>
          </a:xfrm>
          <a:prstGeom prst="rect">
            <a:avLst/>
          </a:prstGeom>
          <a:solidFill>
            <a:srgbClr val="848E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0" name="Rectangle 69"/>
          <p:cNvSpPr/>
          <p:nvPr/>
        </p:nvSpPr>
        <p:spPr>
          <a:xfrm>
            <a:off x="5822950" y="5000625"/>
            <a:ext cx="38100" cy="6350"/>
          </a:xfrm>
          <a:prstGeom prst="rect">
            <a:avLst/>
          </a:prstGeom>
          <a:solidFill>
            <a:srgbClr val="848E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1" name="Rectangle 70"/>
          <p:cNvSpPr/>
          <p:nvPr/>
        </p:nvSpPr>
        <p:spPr>
          <a:xfrm>
            <a:off x="5899150" y="5000625"/>
            <a:ext cx="38100" cy="6350"/>
          </a:xfrm>
          <a:prstGeom prst="rect">
            <a:avLst/>
          </a:prstGeom>
          <a:solidFill>
            <a:srgbClr val="848E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2" name="Rectangle 71"/>
          <p:cNvSpPr/>
          <p:nvPr/>
        </p:nvSpPr>
        <p:spPr>
          <a:xfrm>
            <a:off x="5975350" y="5000625"/>
            <a:ext cx="38100" cy="6350"/>
          </a:xfrm>
          <a:prstGeom prst="rect">
            <a:avLst/>
          </a:prstGeom>
          <a:solidFill>
            <a:srgbClr val="848E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3" name="Rectangle 72"/>
          <p:cNvSpPr/>
          <p:nvPr/>
        </p:nvSpPr>
        <p:spPr>
          <a:xfrm>
            <a:off x="6051550" y="5000625"/>
            <a:ext cx="38100" cy="6350"/>
          </a:xfrm>
          <a:prstGeom prst="rect">
            <a:avLst/>
          </a:prstGeom>
          <a:solidFill>
            <a:srgbClr val="848E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4" name="Rectangle 73"/>
          <p:cNvSpPr/>
          <p:nvPr/>
        </p:nvSpPr>
        <p:spPr>
          <a:xfrm>
            <a:off x="6127750" y="5000625"/>
            <a:ext cx="38100" cy="6350"/>
          </a:xfrm>
          <a:prstGeom prst="rect">
            <a:avLst/>
          </a:prstGeom>
          <a:solidFill>
            <a:srgbClr val="848E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5" name="Rectangle 74"/>
          <p:cNvSpPr/>
          <p:nvPr/>
        </p:nvSpPr>
        <p:spPr>
          <a:xfrm>
            <a:off x="6203950" y="5000625"/>
            <a:ext cx="38100" cy="6350"/>
          </a:xfrm>
          <a:prstGeom prst="rect">
            <a:avLst/>
          </a:prstGeom>
          <a:solidFill>
            <a:srgbClr val="848E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6" name="Rectangle 75"/>
          <p:cNvSpPr/>
          <p:nvPr/>
        </p:nvSpPr>
        <p:spPr>
          <a:xfrm>
            <a:off x="6280150" y="5000625"/>
            <a:ext cx="38100" cy="6350"/>
          </a:xfrm>
          <a:prstGeom prst="rect">
            <a:avLst/>
          </a:prstGeom>
          <a:solidFill>
            <a:srgbClr val="848E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7" name="Rectangle 76"/>
          <p:cNvSpPr/>
          <p:nvPr/>
        </p:nvSpPr>
        <p:spPr>
          <a:xfrm>
            <a:off x="6356350" y="5000625"/>
            <a:ext cx="38100" cy="6350"/>
          </a:xfrm>
          <a:prstGeom prst="rect">
            <a:avLst/>
          </a:prstGeom>
          <a:solidFill>
            <a:srgbClr val="848E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8" name="Rectangle 77"/>
          <p:cNvSpPr/>
          <p:nvPr/>
        </p:nvSpPr>
        <p:spPr>
          <a:xfrm>
            <a:off x="6432550" y="5000625"/>
            <a:ext cx="38100" cy="6350"/>
          </a:xfrm>
          <a:prstGeom prst="rect">
            <a:avLst/>
          </a:prstGeom>
          <a:solidFill>
            <a:srgbClr val="848E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9" name="Rectangle 78"/>
          <p:cNvSpPr/>
          <p:nvPr/>
        </p:nvSpPr>
        <p:spPr>
          <a:xfrm>
            <a:off x="6508750" y="5000625"/>
            <a:ext cx="38100" cy="6350"/>
          </a:xfrm>
          <a:prstGeom prst="rect">
            <a:avLst/>
          </a:prstGeom>
          <a:solidFill>
            <a:srgbClr val="848E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0" name="Rectangle 79"/>
          <p:cNvSpPr/>
          <p:nvPr/>
        </p:nvSpPr>
        <p:spPr>
          <a:xfrm>
            <a:off x="6584950" y="5000625"/>
            <a:ext cx="38100" cy="6350"/>
          </a:xfrm>
          <a:prstGeom prst="rect">
            <a:avLst/>
          </a:prstGeom>
          <a:solidFill>
            <a:srgbClr val="848E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1" name="Rectangle 80"/>
          <p:cNvSpPr/>
          <p:nvPr/>
        </p:nvSpPr>
        <p:spPr>
          <a:xfrm>
            <a:off x="6661150" y="5000625"/>
            <a:ext cx="38100" cy="6350"/>
          </a:xfrm>
          <a:prstGeom prst="rect">
            <a:avLst/>
          </a:prstGeom>
          <a:solidFill>
            <a:srgbClr val="848E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2" name="Rectangle 81"/>
          <p:cNvSpPr/>
          <p:nvPr/>
        </p:nvSpPr>
        <p:spPr>
          <a:xfrm>
            <a:off x="6737350" y="5000625"/>
            <a:ext cx="38100" cy="6350"/>
          </a:xfrm>
          <a:prstGeom prst="rect">
            <a:avLst/>
          </a:prstGeom>
          <a:solidFill>
            <a:srgbClr val="848E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3" name="Rectangle 82"/>
          <p:cNvSpPr/>
          <p:nvPr/>
        </p:nvSpPr>
        <p:spPr>
          <a:xfrm>
            <a:off x="6813550" y="5000625"/>
            <a:ext cx="38100" cy="6350"/>
          </a:xfrm>
          <a:prstGeom prst="rect">
            <a:avLst/>
          </a:prstGeom>
          <a:solidFill>
            <a:srgbClr val="848E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4" name="Rectangle 83"/>
          <p:cNvSpPr/>
          <p:nvPr/>
        </p:nvSpPr>
        <p:spPr>
          <a:xfrm>
            <a:off x="6889750" y="5000625"/>
            <a:ext cx="38100" cy="6350"/>
          </a:xfrm>
          <a:prstGeom prst="rect">
            <a:avLst/>
          </a:prstGeom>
          <a:solidFill>
            <a:srgbClr val="848E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5" name="Rectangle 84"/>
          <p:cNvSpPr/>
          <p:nvPr/>
        </p:nvSpPr>
        <p:spPr>
          <a:xfrm>
            <a:off x="6965950" y="5000625"/>
            <a:ext cx="38100" cy="6350"/>
          </a:xfrm>
          <a:prstGeom prst="rect">
            <a:avLst/>
          </a:prstGeom>
          <a:solidFill>
            <a:srgbClr val="848E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6" name="Rectangle 85"/>
          <p:cNvSpPr/>
          <p:nvPr/>
        </p:nvSpPr>
        <p:spPr>
          <a:xfrm>
            <a:off x="7086600" y="4914900"/>
            <a:ext cx="2178050" cy="177800"/>
          </a:xfrm>
          <a:prstGeom prst="rect">
            <a:avLst/>
          </a:prstGeom>
          <a:solidFill>
            <a:srgbClr val="0B0E1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7" name="Rectangle 86"/>
          <p:cNvSpPr/>
          <p:nvPr/>
        </p:nvSpPr>
        <p:spPr>
          <a:xfrm>
            <a:off x="9340850" y="4914900"/>
            <a:ext cx="2178050" cy="177800"/>
          </a:xfrm>
          <a:prstGeom prst="rect">
            <a:avLst/>
          </a:prstGeom>
          <a:solidFill>
            <a:srgbClr val="FCD53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8" name="Diamond 87"/>
          <p:cNvSpPr/>
          <p:nvPr/>
        </p:nvSpPr>
        <p:spPr>
          <a:xfrm>
            <a:off x="11274425" y="4946650"/>
            <a:ext cx="114300" cy="114300"/>
          </a:xfrm>
          <a:prstGeom prst="diamond">
            <a:avLst/>
          </a:prstGeom>
          <a:solidFill>
            <a:srgbClr val="FCD53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9" name="Rectangle 88"/>
          <p:cNvSpPr/>
          <p:nvPr/>
        </p:nvSpPr>
        <p:spPr>
          <a:xfrm>
            <a:off x="635000" y="5257800"/>
            <a:ext cx="10922000" cy="6350"/>
          </a:xfrm>
          <a:prstGeom prst="rect">
            <a:avLst/>
          </a:prstGeom>
          <a:solidFill>
            <a:srgbClr val="0B0E1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0" name="Period 1"/>
          <p:cNvSpPr>
            <a:spLocks noGrp="1"/>
          </p:cNvSpPr>
          <p:nvPr>
            <p:ph type="body" idx="20"/>
          </p:nvPr>
        </p:nvSpPr>
        <p:spPr>
          <a:xfrm>
            <a:off x="2603500" y="3009900"/>
            <a:ext cx="2127250" cy="2159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spc="70" cap="all">
                <a:solidFill>
                  <a:srgbClr val="EAECEF"/>
                </a:solidFill>
                <a:latin typeface="BinancePlex"/>
              </a:rPr>
              <a:t>Q1 · PLAN</a:t>
            </a:r>
          </a:p>
        </p:txBody>
      </p:sp>
      <p:sp>
        <p:nvSpPr>
          <p:cNvPr id="91" name="Period 2"/>
          <p:cNvSpPr>
            <a:spLocks noGrp="1"/>
          </p:cNvSpPr>
          <p:nvPr>
            <p:ph type="body" idx="21"/>
          </p:nvPr>
        </p:nvSpPr>
        <p:spPr>
          <a:xfrm>
            <a:off x="4857750" y="3009900"/>
            <a:ext cx="2127250" cy="2159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spc="70" cap="all">
                <a:solidFill>
                  <a:srgbClr val="EAECEF"/>
                </a:solidFill>
                <a:latin typeface="BinancePlex"/>
              </a:rPr>
              <a:t>Q2 · BUILD</a:t>
            </a:r>
          </a:p>
        </p:txBody>
      </p:sp>
      <p:sp>
        <p:nvSpPr>
          <p:cNvPr id="92" name="Period 3"/>
          <p:cNvSpPr>
            <a:spLocks noGrp="1"/>
          </p:cNvSpPr>
          <p:nvPr>
            <p:ph type="body" idx="22"/>
          </p:nvPr>
        </p:nvSpPr>
        <p:spPr>
          <a:xfrm>
            <a:off x="7112000" y="3009900"/>
            <a:ext cx="2127250" cy="2159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spc="70" cap="all">
                <a:solidFill>
                  <a:srgbClr val="EAECEF"/>
                </a:solidFill>
                <a:latin typeface="BinancePlex"/>
              </a:rPr>
              <a:t>Q3 · PILOT</a:t>
            </a:r>
          </a:p>
        </p:txBody>
      </p:sp>
      <p:sp>
        <p:nvSpPr>
          <p:cNvPr id="93" name="Period 4"/>
          <p:cNvSpPr>
            <a:spLocks noGrp="1"/>
          </p:cNvSpPr>
          <p:nvPr>
            <p:ph type="body" idx="23"/>
          </p:nvPr>
        </p:nvSpPr>
        <p:spPr>
          <a:xfrm>
            <a:off x="9366250" y="3009900"/>
            <a:ext cx="2127250" cy="2159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spc="70" cap="all">
                <a:solidFill>
                  <a:srgbClr val="EAECEF"/>
                </a:solidFill>
                <a:latin typeface="BinancePlex"/>
              </a:rPr>
              <a:t>Q4 · SCALE</a:t>
            </a:r>
          </a:p>
        </p:txBody>
      </p:sp>
      <p:sp>
        <p:nvSpPr>
          <p:cNvPr id="94" name="Lane 1 Label"/>
          <p:cNvSpPr>
            <a:spLocks noGrp="1"/>
          </p:cNvSpPr>
          <p:nvPr>
            <p:ph type="body" idx="30"/>
          </p:nvPr>
        </p:nvSpPr>
        <p:spPr>
          <a:xfrm>
            <a:off x="698500" y="3289300"/>
            <a:ext cx="1778000" cy="381000"/>
          </a:xfrm>
        </p:spPr>
        <p:txBody>
          <a:bodyPr lIns="0" tIns="0" rIns="0" bIns="0" wrap="square" anchor="ctr"/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700" spc="70" cap="all">
                <a:solidFill>
                  <a:srgbClr val="FCD535"/>
                </a:solidFill>
                <a:latin typeface="BinancePlex"/>
              </a:rPr>
              <a:t>FIRMWARE CONSOLIDATION</a:t>
            </a:r>
          </a:p>
          <a:p>
            <a:pPr marL="0" indent="0" algn="l">
              <a:lnSpc>
                <a:spcPct val="150000"/>
              </a:lnSpc>
              <a:buNone/>
            </a:pPr>
            <a:r>
              <a:rPr lang="en-US" sz="700" spc="70" cap="all">
                <a:solidFill>
                  <a:srgbClr val="FCD535"/>
                </a:solidFill>
                <a:latin typeface="BinancePlex"/>
              </a:rPr>
              <a:t>OWNER · PLATFORM</a:t>
            </a:r>
          </a:p>
        </p:txBody>
      </p:sp>
      <p:sp>
        <p:nvSpPr>
          <p:cNvPr id="95" name="Lane 2 Label"/>
          <p:cNvSpPr>
            <a:spLocks noGrp="1"/>
          </p:cNvSpPr>
          <p:nvPr>
            <p:ph type="body" idx="31"/>
          </p:nvPr>
        </p:nvSpPr>
        <p:spPr>
          <a:xfrm>
            <a:off x="698500" y="3797300"/>
            <a:ext cx="1778000" cy="381000"/>
          </a:xfrm>
        </p:spPr>
        <p:txBody>
          <a:bodyPr lIns="0" tIns="0" rIns="0" bIns="0" wrap="square" anchor="ctr"/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700" spc="70" cap="all">
                <a:solidFill>
                  <a:srgbClr val="FCD535"/>
                </a:solidFill>
                <a:latin typeface="BinancePlex"/>
              </a:rPr>
              <a:t>DEFAULT-ON TELEMETRY</a:t>
            </a:r>
          </a:p>
          <a:p>
            <a:pPr marL="0" indent="0" algn="l">
              <a:lnSpc>
                <a:spcPct val="150000"/>
              </a:lnSpc>
              <a:buNone/>
            </a:pPr>
            <a:r>
              <a:rPr lang="en-US" sz="700" spc="70" cap="all">
                <a:solidFill>
                  <a:srgbClr val="FCD535"/>
                </a:solidFill>
                <a:latin typeface="BinancePlex"/>
              </a:rPr>
              <a:t>OWNER · DATA</a:t>
            </a:r>
          </a:p>
        </p:txBody>
      </p:sp>
      <p:sp>
        <p:nvSpPr>
          <p:cNvPr id="96" name="Lane 3 Label"/>
          <p:cNvSpPr>
            <a:spLocks noGrp="1"/>
          </p:cNvSpPr>
          <p:nvPr>
            <p:ph type="body" idx="32"/>
          </p:nvPr>
        </p:nvSpPr>
        <p:spPr>
          <a:xfrm>
            <a:off x="698500" y="4305300"/>
            <a:ext cx="1778000" cy="381000"/>
          </a:xfrm>
        </p:spPr>
        <p:txBody>
          <a:bodyPr lIns="0" tIns="0" rIns="0" bIns="0" wrap="square" anchor="ctr"/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700" spc="70" cap="all">
                <a:solidFill>
                  <a:srgbClr val="FCD535"/>
                </a:solidFill>
                <a:latin typeface="BinancePlex"/>
              </a:rPr>
              <a:t>REGIONAL PILOT · 2,000 CUSTOMERS</a:t>
            </a:r>
          </a:p>
          <a:p>
            <a:pPr marL="0" indent="0" algn="l">
              <a:lnSpc>
                <a:spcPct val="150000"/>
              </a:lnSpc>
              <a:buNone/>
            </a:pPr>
            <a:r>
              <a:rPr lang="en-US" sz="700" spc="70" cap="all">
                <a:solidFill>
                  <a:srgbClr val="FCD535"/>
                </a:solidFill>
                <a:latin typeface="BinancePlex"/>
              </a:rPr>
              <a:t>OWNER · CONSUMER</a:t>
            </a:r>
          </a:p>
        </p:txBody>
      </p:sp>
      <p:sp>
        <p:nvSpPr>
          <p:cNvPr id="97" name="Lane 4 Label"/>
          <p:cNvSpPr>
            <a:spLocks noGrp="1"/>
          </p:cNvSpPr>
          <p:nvPr>
            <p:ph type="body" idx="33"/>
          </p:nvPr>
        </p:nvSpPr>
        <p:spPr>
          <a:xfrm>
            <a:off x="698500" y="4813300"/>
            <a:ext cx="1778000" cy="381000"/>
          </a:xfrm>
        </p:spPr>
        <p:txBody>
          <a:bodyPr lIns="0" tIns="0" rIns="0" bIns="0" wrap="square" anchor="ctr"/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700" spc="70" cap="all">
                <a:solidFill>
                  <a:srgbClr val="FCD535"/>
                </a:solidFill>
                <a:latin typeface="BinancePlex"/>
              </a:rPr>
              <a:t>DEVELOPER API</a:t>
            </a:r>
          </a:p>
          <a:p>
            <a:pPr marL="0" indent="0" algn="l">
              <a:lnSpc>
                <a:spcPct val="150000"/>
              </a:lnSpc>
              <a:buNone/>
            </a:pPr>
            <a:r>
              <a:rPr lang="en-US" sz="700" spc="70" cap="all">
                <a:solidFill>
                  <a:srgbClr val="FCD535"/>
                </a:solidFill>
                <a:latin typeface="BinancePlex"/>
              </a:rPr>
              <a:t>OWNER · PLATFORM</a:t>
            </a:r>
          </a:p>
        </p:txBody>
      </p:sp>
      <p:sp>
        <p:nvSpPr>
          <p:cNvPr id="98" name="Lane 1 Bar 1 Label"/>
          <p:cNvSpPr>
            <a:spLocks noGrp="1"/>
          </p:cNvSpPr>
          <p:nvPr>
            <p:ph type="body" idx="40"/>
          </p:nvPr>
        </p:nvSpPr>
        <p:spPr>
          <a:xfrm>
            <a:off x="2628900" y="3390900"/>
            <a:ext cx="4330700" cy="177800"/>
          </a:xfrm>
        </p:spPr>
        <p:txBody>
          <a:bodyPr lIns="0" tIns="0" rIns="0" bIns="0" wrap="square" anchor="ctr"/>
          <a:lstStyle/>
          <a:p>
            <a:pPr marL="0" indent="0" algn="l">
              <a:buNone/>
            </a:pPr>
            <a:r>
              <a:rPr lang="en-US" sz="650" spc="52" cap="all">
                <a:solidFill>
                  <a:srgbClr val="EAECEF"/>
                </a:solidFill>
                <a:latin typeface="BinancePlex"/>
              </a:rPr>
              <a:t>CUTOVER · ALL SKUS</a:t>
            </a:r>
          </a:p>
        </p:txBody>
      </p:sp>
      <p:sp>
        <p:nvSpPr>
          <p:cNvPr id="99" name="Lane 2 Bar 1 Label"/>
          <p:cNvSpPr>
            <a:spLocks noGrp="1"/>
          </p:cNvSpPr>
          <p:nvPr>
            <p:ph type="body" idx="43"/>
          </p:nvPr>
        </p:nvSpPr>
        <p:spPr>
          <a:xfrm>
            <a:off x="2628900" y="3898900"/>
            <a:ext cx="6584950" cy="177800"/>
          </a:xfrm>
        </p:spPr>
        <p:txBody>
          <a:bodyPr lIns="0" tIns="0" rIns="0" bIns="0" wrap="square" anchor="ctr"/>
          <a:lstStyle/>
          <a:p>
            <a:pPr marL="0" indent="0" algn="l">
              <a:buNone/>
            </a:pPr>
            <a:r>
              <a:rPr lang="en-US" sz="650" spc="52" cap="all">
                <a:solidFill>
                  <a:srgbClr val="0B0E11"/>
                </a:solidFill>
                <a:latin typeface="BinancePlex"/>
              </a:rPr>
              <a:t>FACTORY ROLLOUT</a:t>
            </a:r>
          </a:p>
        </p:txBody>
      </p:sp>
      <p:sp>
        <p:nvSpPr>
          <p:cNvPr id="100" name="Lane 3 Bar 2 Label"/>
          <p:cNvSpPr>
            <a:spLocks noGrp="1"/>
          </p:cNvSpPr>
          <p:nvPr>
            <p:ph type="body" idx="47"/>
          </p:nvPr>
        </p:nvSpPr>
        <p:spPr>
          <a:xfrm>
            <a:off x="7137400" y="4406900"/>
            <a:ext cx="4330700" cy="177800"/>
          </a:xfrm>
        </p:spPr>
        <p:txBody>
          <a:bodyPr lIns="0" tIns="0" rIns="0" bIns="0" wrap="square" anchor="ctr"/>
          <a:lstStyle/>
          <a:p>
            <a:pPr marL="0" indent="0" algn="l">
              <a:buNone/>
            </a:pPr>
            <a:r>
              <a:rPr lang="en-US" sz="650" spc="52" cap="all">
                <a:solidFill>
                  <a:srgbClr val="EAECEF"/>
                </a:solidFill>
                <a:latin typeface="BinancePlex"/>
              </a:rPr>
              <a:t>INSTRUMENTED STUDY</a:t>
            </a:r>
          </a:p>
        </p:txBody>
      </p:sp>
      <p:sp>
        <p:nvSpPr>
          <p:cNvPr id="101" name="Lane 4 Bar 2 Label"/>
          <p:cNvSpPr>
            <a:spLocks noGrp="1"/>
          </p:cNvSpPr>
          <p:nvPr>
            <p:ph type="body" idx="50"/>
          </p:nvPr>
        </p:nvSpPr>
        <p:spPr>
          <a:xfrm>
            <a:off x="7137400" y="4914900"/>
            <a:ext cx="2076450" cy="177800"/>
          </a:xfrm>
        </p:spPr>
        <p:txBody>
          <a:bodyPr lIns="0" tIns="0" rIns="0" bIns="0" wrap="square" anchor="ctr"/>
          <a:lstStyle/>
          <a:p>
            <a:pPr marL="0" indent="0" algn="l">
              <a:buNone/>
            </a:pPr>
            <a:r>
              <a:rPr lang="en-US" sz="650" spc="52" cap="all">
                <a:solidFill>
                  <a:srgbClr val="0B0E11"/>
                </a:solidFill>
                <a:latin typeface="BinancePlex"/>
              </a:rPr>
              <a:t>PREVIEW</a:t>
            </a:r>
          </a:p>
        </p:txBody>
      </p:sp>
      <p:sp>
        <p:nvSpPr>
          <p:cNvPr id="102" name="Lane 4 Bar 3 Label"/>
          <p:cNvSpPr>
            <a:spLocks noGrp="1"/>
          </p:cNvSpPr>
          <p:nvPr>
            <p:ph type="body" idx="51"/>
          </p:nvPr>
        </p:nvSpPr>
        <p:spPr>
          <a:xfrm>
            <a:off x="9391650" y="4914900"/>
            <a:ext cx="2076450" cy="177800"/>
          </a:xfrm>
        </p:spPr>
        <p:txBody>
          <a:bodyPr lIns="0" tIns="0" rIns="0" bIns="0" wrap="square" anchor="ctr"/>
          <a:lstStyle/>
          <a:p>
            <a:pPr marL="0" indent="0" algn="l">
              <a:buNone/>
            </a:pPr>
            <a:r>
              <a:rPr lang="en-US" sz="650" spc="52" cap="all">
                <a:solidFill>
                  <a:srgbClr val="EAECEF"/>
                </a:solidFill>
                <a:latin typeface="BinancePlex"/>
              </a:rPr>
              <a:t>GA</a:t>
            </a:r>
          </a:p>
        </p:txBody>
      </p:sp>
      <p:sp>
        <p:nvSpPr>
          <p:cNvPr id="103" name="Source / caption"/>
          <p:cNvSpPr>
            <a:spLocks noGrp="1"/>
          </p:cNvSpPr>
          <p:nvPr>
            <p:ph type="body" idx="60"/>
          </p:nvPr>
        </p:nvSpPr>
        <p:spPr>
          <a:xfrm>
            <a:off x="635000" y="6350000"/>
            <a:ext cx="10922000" cy="1524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spc="70" cap="all">
                <a:solidFill>
                  <a:srgbClr val="FFFFFF"/>
                </a:solidFill>
                <a:latin typeface="BinancePlex"/>
              </a:rPr>
              <a:t>COMMITTED · CRITICAL PATH · DEPENDENCY WINDOW · MILESTONE</a:t>
            </a:r>
          </a:p>
        </p:txBody>
      </p:sp>
    </p:spTree>
  </p:cSld>
  <p:clrMapOvr>
    <a:masterClrMapping/>
  </p:clrMapOvr>
</p:sldLayout>
</file>

<file path=ppt/slideLayouts/slideLayout32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Feinschliff · Funnel">
    <p:bg>
      <p:bgPr>
        <a:solidFill>
          <a:srgbClr val="0B0E1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1"/>
          <p:cNvSpPr/>
          <p:nvPr/>
        </p:nvSpPr>
        <p:spPr>
          <a:xfrm>
            <a:off x="723900" y="417068"/>
            <a:ext cx="49784" cy="49784"/>
          </a:xfrm>
          <a:custGeom>
            <a:avLst/>
            <a:gdLst/>
            <a:ahLst/>
            <a:cxnLst/>
            <a:rect l="l" t="t" r="r" b="b"/>
            <a:pathLst>
              <a:path w="49784" h="49784">
                <a:moveTo>
                  <a:pt x="0" y="0"/>
                </a:moveTo>
                <a:lnTo>
                  <a:pt x="49784" y="49784"/>
                </a:lnTo>
                <a:lnTo>
                  <a:pt x="0" y="49784"/>
                </a:lnTo>
                <a:close/>
              </a:path>
            </a:pathLst>
          </a:custGeom>
          <a:solidFill>
            <a:srgbClr val="FCD5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Freeform 2"/>
          <p:cNvSpPr/>
          <p:nvPr/>
        </p:nvSpPr>
        <p:spPr>
          <a:xfrm>
            <a:off x="752348" y="445516"/>
            <a:ext cx="49784" cy="49784"/>
          </a:xfrm>
          <a:custGeom>
            <a:avLst/>
            <a:gdLst/>
            <a:ahLst/>
            <a:cxnLst/>
            <a:rect l="l" t="t" r="r" b="b"/>
            <a:pathLst>
              <a:path w="49784" h="49784">
                <a:moveTo>
                  <a:pt x="49784" y="49784"/>
                </a:moveTo>
                <a:lnTo>
                  <a:pt x="0" y="0"/>
                </a:lnTo>
                <a:lnTo>
                  <a:pt x="0" y="49784"/>
                </a:lnTo>
                <a:close/>
              </a:path>
            </a:pathLst>
          </a:custGeom>
          <a:solidFill>
            <a:srgbClr val="FCD5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Freeform 3"/>
          <p:cNvSpPr/>
          <p:nvPr/>
        </p:nvSpPr>
        <p:spPr>
          <a:xfrm>
            <a:off x="674116" y="523748"/>
            <a:ext cx="49784" cy="49784"/>
          </a:xfrm>
          <a:custGeom>
            <a:avLst/>
            <a:gdLst/>
            <a:ahLst/>
            <a:cxnLst/>
            <a:rect l="l" t="t" r="r" b="b"/>
            <a:pathLst>
              <a:path w="49784" h="49784">
                <a:moveTo>
                  <a:pt x="49784" y="49784"/>
                </a:moveTo>
                <a:lnTo>
                  <a:pt x="0" y="0"/>
                </a:lnTo>
                <a:lnTo>
                  <a:pt x="49784" y="0"/>
                </a:lnTo>
                <a:close/>
              </a:path>
            </a:pathLst>
          </a:custGeom>
          <a:solidFill>
            <a:srgbClr val="FCD5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Freeform 4"/>
          <p:cNvSpPr/>
          <p:nvPr/>
        </p:nvSpPr>
        <p:spPr>
          <a:xfrm>
            <a:off x="645668" y="495300"/>
            <a:ext cx="49784" cy="49784"/>
          </a:xfrm>
          <a:custGeom>
            <a:avLst/>
            <a:gdLst/>
            <a:ahLst/>
            <a:cxnLst/>
            <a:rect l="l" t="t" r="r" b="b"/>
            <a:pathLst>
              <a:path w="49784" h="49784">
                <a:moveTo>
                  <a:pt x="0" y="0"/>
                </a:moveTo>
                <a:lnTo>
                  <a:pt x="49784" y="49784"/>
                </a:lnTo>
                <a:lnTo>
                  <a:pt x="49784" y="0"/>
                </a:lnTo>
                <a:close/>
              </a:path>
            </a:pathLst>
          </a:custGeom>
          <a:solidFill>
            <a:srgbClr val="FCD5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01700" y="406400"/>
            <a:ext cx="2032000" cy="25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 spc="110">
                <a:solidFill>
                  <a:srgbClr val="FCD535"/>
                </a:solidFill>
                <a:latin typeface="BinanceNova"/>
              </a:rPr>
              <a:t>BINANCE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017000" y="508000"/>
            <a:ext cx="2667000" cy="177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700" spc="70" b="0">
                <a:solidFill>
                  <a:srgbClr val="848E9C"/>
                </a:solidFill>
                <a:latin typeface="BinanceNova SemiBold"/>
              </a:rPr>
              <a:t>FUNNEL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62000" y="6540500"/>
            <a:ext cx="4445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650" spc="65" b="0">
                <a:solidFill>
                  <a:srgbClr val="848E9C"/>
                </a:solidFill>
                <a:latin typeface="BinanceNova SemiBold"/>
              </a:rPr>
              <a:t>JAN 2026 · SHOWCASE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985000" y="6540500"/>
            <a:ext cx="4445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lang="en-US" dirty="0" sz="650" b="0" spc="65">
                <a:solidFill>
                  <a:srgbClr val="848E9C"/>
                </a:solidFill>
                <a:latin typeface="BinanceNova SemiBold"/>
              </a:rPr>
              <a:t>SLIDE </a:t>
            </a:r>
            <a:fld id="{A1B2C3D4-E5F6-4890-ABCD-EF0123456789}" type="slidenum">
              <a:rPr lang="en-US" dirty="0" sz="650" b="0" spc="65">
                <a:solidFill>
                  <a:srgbClr val="848E9C"/>
                </a:solidFill>
                <a:latin typeface="BinanceNova SemiBold"/>
              </a:rPr>
              <a:t>1</a:t>
            </a:fld>
          </a:p>
        </p:txBody>
      </p:sp>
      <p:sp>
        <p:nvSpPr>
          <p:cNvPr id="10" name="Rectangle 9"/>
          <p:cNvSpPr/>
          <p:nvPr/>
        </p:nvSpPr>
        <p:spPr>
          <a:xfrm>
            <a:off x="635000" y="1651000"/>
            <a:ext cx="50800" cy="876300"/>
          </a:xfrm>
          <a:prstGeom prst="rect">
            <a:avLst/>
          </a:prstGeom>
          <a:solidFill>
            <a:srgbClr val="FCD53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Eyebrow"/>
          <p:cNvSpPr>
            <a:spLocks noGrp="1"/>
          </p:cNvSpPr>
          <p:nvPr>
            <p:ph type="body" idx="10"/>
          </p:nvPr>
        </p:nvSpPr>
        <p:spPr>
          <a:xfrm>
            <a:off x="838200" y="1651000"/>
            <a:ext cx="101600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800" spc="80" cap="all">
                <a:solidFill>
                  <a:srgbClr val="FCD535"/>
                </a:solidFill>
                <a:latin typeface="BinanceNova"/>
              </a:rPr>
              <a:t>APP ACTIVATION FUNNEL · Q4 FY25</a:t>
            </a:r>
          </a:p>
        </p:txBody>
      </p:sp>
      <p:sp>
        <p:nvSpPr>
          <p:cNvPr id="12" name="Title"/>
          <p:cNvSpPr>
            <a:spLocks noGrp="1"/>
          </p:cNvSpPr>
          <p:nvPr>
            <p:ph type="title"/>
          </p:nvPr>
        </p:nvSpPr>
        <p:spPr>
          <a:xfrm>
            <a:off x="838200" y="1968500"/>
            <a:ext cx="10922000" cy="635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3200" spc="-48">
                <a:solidFill>
                  <a:srgbClr val="FFFFFF"/>
                </a:solidFill>
                <a:latin typeface="BinanceNova"/>
              </a:rPr>
              <a:t>One in three buyers never pairs their product — first-run setup is the largest and most fixable drop-off.</a:t>
            </a:r>
          </a:p>
        </p:txBody>
      </p:sp>
      <p:sp>
        <p:nvSpPr>
          <p:cNvPr id="13" name="Freeform 12"/>
          <p:cNvSpPr/>
          <p:nvPr/>
        </p:nvSpPr>
        <p:spPr>
          <a:xfrm>
            <a:off x="635000" y="3048000"/>
            <a:ext cx="3048000" cy="774700"/>
          </a:xfrm>
          <a:custGeom>
            <a:avLst/>
            <a:gdLst/>
            <a:ahLst/>
            <a:cxnLst/>
            <a:rect l="l" t="t" r="r" b="b"/>
            <a:pathLst>
              <a:path w="3048000" h="774700">
                <a:moveTo>
                  <a:pt x="0" y="0"/>
                </a:moveTo>
                <a:lnTo>
                  <a:pt x="3048000" y="0"/>
                </a:lnTo>
                <a:lnTo>
                  <a:pt x="2778125" y="774700"/>
                </a:lnTo>
                <a:lnTo>
                  <a:pt x="269875" y="774700"/>
                </a:lnTo>
                <a:close/>
              </a:path>
            </a:pathLst>
          </a:custGeom>
          <a:solidFill>
            <a:srgbClr val="0B0E1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Freeform 13"/>
          <p:cNvSpPr/>
          <p:nvPr/>
        </p:nvSpPr>
        <p:spPr>
          <a:xfrm>
            <a:off x="904875" y="3848100"/>
            <a:ext cx="2508250" cy="774700"/>
          </a:xfrm>
          <a:custGeom>
            <a:avLst/>
            <a:gdLst/>
            <a:ahLst/>
            <a:cxnLst/>
            <a:rect l="l" t="t" r="r" b="b"/>
            <a:pathLst>
              <a:path w="2508250" h="774700">
                <a:moveTo>
                  <a:pt x="0" y="0"/>
                </a:moveTo>
                <a:lnTo>
                  <a:pt x="2508250" y="0"/>
                </a:lnTo>
                <a:lnTo>
                  <a:pt x="2238375" y="774700"/>
                </a:lnTo>
                <a:lnTo>
                  <a:pt x="269875" y="774700"/>
                </a:lnTo>
                <a:close/>
              </a:path>
            </a:pathLst>
          </a:custGeom>
          <a:solidFill>
            <a:srgbClr val="0B0E1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Freeform 14"/>
          <p:cNvSpPr/>
          <p:nvPr/>
        </p:nvSpPr>
        <p:spPr>
          <a:xfrm>
            <a:off x="1174750" y="4648200"/>
            <a:ext cx="1968500" cy="774700"/>
          </a:xfrm>
          <a:custGeom>
            <a:avLst/>
            <a:gdLst/>
            <a:ahLst/>
            <a:cxnLst/>
            <a:rect l="l" t="t" r="r" b="b"/>
            <a:pathLst>
              <a:path w="1968500" h="774700">
                <a:moveTo>
                  <a:pt x="0" y="0"/>
                </a:moveTo>
                <a:lnTo>
                  <a:pt x="1968500" y="0"/>
                </a:lnTo>
                <a:lnTo>
                  <a:pt x="1698625" y="774700"/>
                </a:lnTo>
                <a:lnTo>
                  <a:pt x="269875" y="774700"/>
                </a:lnTo>
                <a:close/>
              </a:path>
            </a:pathLst>
          </a:custGeom>
          <a:solidFill>
            <a:srgbClr val="FCD53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Freeform 15"/>
          <p:cNvSpPr/>
          <p:nvPr/>
        </p:nvSpPr>
        <p:spPr>
          <a:xfrm>
            <a:off x="1444625" y="5448300"/>
            <a:ext cx="1428750" cy="774700"/>
          </a:xfrm>
          <a:custGeom>
            <a:avLst/>
            <a:gdLst/>
            <a:ahLst/>
            <a:cxnLst/>
            <a:rect l="l" t="t" r="r" b="b"/>
            <a:pathLst>
              <a:path w="1428750" h="774700">
                <a:moveTo>
                  <a:pt x="0" y="0"/>
                </a:moveTo>
                <a:lnTo>
                  <a:pt x="1428750" y="0"/>
                </a:lnTo>
                <a:lnTo>
                  <a:pt x="1158875" y="774700"/>
                </a:lnTo>
                <a:lnTo>
                  <a:pt x="269875" y="774700"/>
                </a:lnTo>
                <a:close/>
              </a:path>
            </a:pathLst>
          </a:custGeom>
          <a:solidFill>
            <a:srgbClr val="0B0E1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3937000" y="3048000"/>
            <a:ext cx="3048000" cy="6350"/>
          </a:xfrm>
          <a:prstGeom prst="rect">
            <a:avLst/>
          </a:prstGeom>
          <a:solidFill>
            <a:srgbClr val="2B313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Stage 1 Name"/>
          <p:cNvSpPr>
            <a:spLocks noGrp="1"/>
          </p:cNvSpPr>
          <p:nvPr>
            <p:ph type="body" idx="20"/>
          </p:nvPr>
        </p:nvSpPr>
        <p:spPr>
          <a:xfrm>
            <a:off x="3937000" y="3124200"/>
            <a:ext cx="2032000" cy="2286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1300" spc="-16">
                <a:solidFill>
                  <a:srgbClr val="0B0E11"/>
                </a:solidFill>
                <a:latin typeface="BinanceNova Medium"/>
              </a:rPr>
              <a:t>Product sold</a:t>
            </a:r>
          </a:p>
        </p:txBody>
      </p:sp>
      <p:sp>
        <p:nvSpPr>
          <p:cNvPr id="19" name="Stage 1 Detail"/>
          <p:cNvSpPr>
            <a:spLocks noGrp="1"/>
          </p:cNvSpPr>
          <p:nvPr>
            <p:ph type="body" idx="21"/>
          </p:nvPr>
        </p:nvSpPr>
        <p:spPr>
          <a:xfrm>
            <a:off x="3937000" y="3365500"/>
            <a:ext cx="2032000" cy="1524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30000"/>
              </a:lnSpc>
              <a:buNone/>
            </a:pPr>
            <a:r>
              <a:rPr lang="en-US" sz="700">
                <a:solidFill>
                  <a:srgbClr val="FFFFFF"/>
                </a:solidFill>
                <a:latin typeface="BinanceNova"/>
              </a:rPr>
              <a:t>Shipment, any SKU</a:t>
            </a:r>
          </a:p>
        </p:txBody>
      </p:sp>
      <p:sp>
        <p:nvSpPr>
          <p:cNvPr id="20" name="Stage 1 Volume"/>
          <p:cNvSpPr>
            <a:spLocks noGrp="1"/>
          </p:cNvSpPr>
          <p:nvPr>
            <p:ph type="body" idx="22"/>
          </p:nvPr>
        </p:nvSpPr>
        <p:spPr>
          <a:xfrm>
            <a:off x="6096000" y="3124200"/>
            <a:ext cx="889000" cy="279400"/>
          </a:xfrm>
        </p:spPr>
        <p:txBody>
          <a:bodyPr lIns="0" tIns="0" rIns="0" bIns="0" wrap="square" anchor="t"/>
          <a:lstStyle/>
          <a:p>
            <a:pPr marL="0" indent="0" algn="r">
              <a:buNone/>
            </a:pPr>
            <a:r>
              <a:rPr lang="en-US" sz="1700" b="1" spc="-34">
                <a:solidFill>
                  <a:srgbClr val="0B0E11"/>
                </a:solidFill>
                <a:latin typeface="BinanceNova"/>
              </a:rPr>
              <a:t>2.4 M</a:t>
            </a:r>
          </a:p>
        </p:txBody>
      </p:sp>
      <p:sp>
        <p:nvSpPr>
          <p:cNvPr id="21" name="Stage 1 Rate"/>
          <p:cNvSpPr>
            <a:spLocks noGrp="1"/>
          </p:cNvSpPr>
          <p:nvPr>
            <p:ph type="body" idx="23"/>
          </p:nvPr>
        </p:nvSpPr>
        <p:spPr>
          <a:xfrm>
            <a:off x="6096000" y="3429000"/>
            <a:ext cx="889000" cy="127000"/>
          </a:xfrm>
        </p:spPr>
        <p:txBody>
          <a:bodyPr lIns="0" tIns="0" rIns="0" bIns="0" wrap="square" anchor="t"/>
          <a:lstStyle/>
          <a:p>
            <a:pPr marL="0" indent="0" algn="r">
              <a:buNone/>
            </a:pPr>
            <a:r>
              <a:rPr lang="en-US" sz="650" spc="65" cap="all">
                <a:solidFill>
                  <a:srgbClr val="FFFFFF"/>
                </a:solidFill>
                <a:latin typeface="BinancePlex"/>
              </a:rPr>
              <a:t>100%</a:t>
            </a:r>
          </a:p>
        </p:txBody>
      </p:sp>
      <p:sp>
        <p:nvSpPr>
          <p:cNvPr id="22" name="Rectangle 21"/>
          <p:cNvSpPr/>
          <p:nvPr/>
        </p:nvSpPr>
        <p:spPr>
          <a:xfrm>
            <a:off x="3937000" y="3848100"/>
            <a:ext cx="3048000" cy="6350"/>
          </a:xfrm>
          <a:prstGeom prst="rect">
            <a:avLst/>
          </a:prstGeom>
          <a:solidFill>
            <a:srgbClr val="2B313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Stage 2 Name"/>
          <p:cNvSpPr>
            <a:spLocks noGrp="1"/>
          </p:cNvSpPr>
          <p:nvPr>
            <p:ph type="body" idx="24"/>
          </p:nvPr>
        </p:nvSpPr>
        <p:spPr>
          <a:xfrm>
            <a:off x="3937000" y="3924300"/>
            <a:ext cx="2032000" cy="2286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1300" spc="-16">
                <a:solidFill>
                  <a:srgbClr val="0B0E11"/>
                </a:solidFill>
                <a:latin typeface="BinanceNova Medium"/>
              </a:rPr>
              <a:t>App installed</a:t>
            </a:r>
          </a:p>
        </p:txBody>
      </p:sp>
      <p:sp>
        <p:nvSpPr>
          <p:cNvPr id="24" name="Stage 2 Detail"/>
          <p:cNvSpPr>
            <a:spLocks noGrp="1"/>
          </p:cNvSpPr>
          <p:nvPr>
            <p:ph type="body" idx="25"/>
          </p:nvPr>
        </p:nvSpPr>
        <p:spPr>
          <a:xfrm>
            <a:off x="3937000" y="4165600"/>
            <a:ext cx="2032000" cy="1524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30000"/>
              </a:lnSpc>
              <a:buNone/>
            </a:pPr>
            <a:r>
              <a:rPr lang="en-US" sz="700">
                <a:solidFill>
                  <a:srgbClr val="FFFFFF"/>
                </a:solidFill>
                <a:latin typeface="BinanceNova"/>
              </a:rPr>
              <a:t>Within 30 days of purchase</a:t>
            </a:r>
          </a:p>
        </p:txBody>
      </p:sp>
      <p:sp>
        <p:nvSpPr>
          <p:cNvPr id="25" name="Stage 2 Volume"/>
          <p:cNvSpPr>
            <a:spLocks noGrp="1"/>
          </p:cNvSpPr>
          <p:nvPr>
            <p:ph type="body" idx="26"/>
          </p:nvPr>
        </p:nvSpPr>
        <p:spPr>
          <a:xfrm>
            <a:off x="6096000" y="3924300"/>
            <a:ext cx="889000" cy="279400"/>
          </a:xfrm>
        </p:spPr>
        <p:txBody>
          <a:bodyPr lIns="0" tIns="0" rIns="0" bIns="0" wrap="square" anchor="t"/>
          <a:lstStyle/>
          <a:p>
            <a:pPr marL="0" indent="0" algn="r">
              <a:buNone/>
            </a:pPr>
            <a:r>
              <a:rPr lang="en-US" sz="1700" b="1" spc="-34">
                <a:solidFill>
                  <a:srgbClr val="0B0E11"/>
                </a:solidFill>
                <a:latin typeface="BinanceNova"/>
              </a:rPr>
              <a:t>2.0 M</a:t>
            </a:r>
          </a:p>
        </p:txBody>
      </p:sp>
      <p:sp>
        <p:nvSpPr>
          <p:cNvPr id="26" name="Stage 2 Rate"/>
          <p:cNvSpPr>
            <a:spLocks noGrp="1"/>
          </p:cNvSpPr>
          <p:nvPr>
            <p:ph type="body" idx="27"/>
          </p:nvPr>
        </p:nvSpPr>
        <p:spPr>
          <a:xfrm>
            <a:off x="6096000" y="4229100"/>
            <a:ext cx="889000" cy="127000"/>
          </a:xfrm>
        </p:spPr>
        <p:txBody>
          <a:bodyPr lIns="0" tIns="0" rIns="0" bIns="0" wrap="square" anchor="t"/>
          <a:lstStyle/>
          <a:p>
            <a:pPr marL="0" indent="0" algn="r">
              <a:buNone/>
            </a:pPr>
            <a:r>
              <a:rPr lang="en-US" sz="650" spc="65" cap="all">
                <a:solidFill>
                  <a:srgbClr val="FFFFFF"/>
                </a:solidFill>
                <a:latin typeface="BinancePlex"/>
              </a:rPr>
              <a:t>84%</a:t>
            </a:r>
          </a:p>
        </p:txBody>
      </p:sp>
      <p:sp>
        <p:nvSpPr>
          <p:cNvPr id="27" name="Rectangle 26"/>
          <p:cNvSpPr/>
          <p:nvPr/>
        </p:nvSpPr>
        <p:spPr>
          <a:xfrm>
            <a:off x="3937000" y="4648200"/>
            <a:ext cx="3048000" cy="6350"/>
          </a:xfrm>
          <a:prstGeom prst="rect">
            <a:avLst/>
          </a:prstGeom>
          <a:solidFill>
            <a:srgbClr val="2B313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Stage 3 Name"/>
          <p:cNvSpPr>
            <a:spLocks noGrp="1"/>
          </p:cNvSpPr>
          <p:nvPr>
            <p:ph type="body" idx="28"/>
          </p:nvPr>
        </p:nvSpPr>
        <p:spPr>
          <a:xfrm>
            <a:off x="3937000" y="4724400"/>
            <a:ext cx="2032000" cy="2286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1300" spc="-16">
                <a:solidFill>
                  <a:srgbClr val="0B0E11"/>
                </a:solidFill>
                <a:latin typeface="BinanceNova Medium"/>
              </a:rPr>
              <a:t>Product paired</a:t>
            </a:r>
          </a:p>
        </p:txBody>
      </p:sp>
      <p:sp>
        <p:nvSpPr>
          <p:cNvPr id="29" name="Stage 3 Detail"/>
          <p:cNvSpPr>
            <a:spLocks noGrp="1"/>
          </p:cNvSpPr>
          <p:nvPr>
            <p:ph type="body" idx="29"/>
          </p:nvPr>
        </p:nvSpPr>
        <p:spPr>
          <a:xfrm>
            <a:off x="3937000" y="4965700"/>
            <a:ext cx="2032000" cy="1524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30000"/>
              </a:lnSpc>
              <a:buNone/>
            </a:pPr>
            <a:r>
              <a:rPr lang="en-US" sz="700">
                <a:solidFill>
                  <a:srgbClr val="FFFFFF"/>
                </a:solidFill>
                <a:latin typeface="BinanceNova"/>
              </a:rPr>
              <a:t>First-run setup completed</a:t>
            </a:r>
          </a:p>
        </p:txBody>
      </p:sp>
      <p:sp>
        <p:nvSpPr>
          <p:cNvPr id="30" name="Stage 3 Volume"/>
          <p:cNvSpPr>
            <a:spLocks noGrp="1"/>
          </p:cNvSpPr>
          <p:nvPr>
            <p:ph type="body" idx="30"/>
          </p:nvPr>
        </p:nvSpPr>
        <p:spPr>
          <a:xfrm>
            <a:off x="6096000" y="4724400"/>
            <a:ext cx="889000" cy="279400"/>
          </a:xfrm>
        </p:spPr>
        <p:txBody>
          <a:bodyPr lIns="0" tIns="0" rIns="0" bIns="0" wrap="square" anchor="t"/>
          <a:lstStyle/>
          <a:p>
            <a:pPr marL="0" indent="0" algn="r">
              <a:buNone/>
            </a:pPr>
            <a:r>
              <a:rPr lang="en-US" sz="1700" b="1" spc="-34">
                <a:solidFill>
                  <a:srgbClr val="0B0E11"/>
                </a:solidFill>
                <a:latin typeface="BinanceNova"/>
              </a:rPr>
              <a:t>1.5 M</a:t>
            </a:r>
          </a:p>
        </p:txBody>
      </p:sp>
      <p:sp>
        <p:nvSpPr>
          <p:cNvPr id="31" name="Stage 3 Rate"/>
          <p:cNvSpPr>
            <a:spLocks noGrp="1"/>
          </p:cNvSpPr>
          <p:nvPr>
            <p:ph type="body" idx="31"/>
          </p:nvPr>
        </p:nvSpPr>
        <p:spPr>
          <a:xfrm>
            <a:off x="6096000" y="5029200"/>
            <a:ext cx="889000" cy="127000"/>
          </a:xfrm>
        </p:spPr>
        <p:txBody>
          <a:bodyPr lIns="0" tIns="0" rIns="0" bIns="0" wrap="square" anchor="t"/>
          <a:lstStyle/>
          <a:p>
            <a:pPr marL="0" indent="0" algn="r">
              <a:buNone/>
            </a:pPr>
            <a:r>
              <a:rPr lang="en-US" sz="650" spc="65" cap="all">
                <a:solidFill>
                  <a:srgbClr val="FFFFFF"/>
                </a:solidFill>
                <a:latin typeface="BinancePlex"/>
              </a:rPr>
              <a:t>62%</a:t>
            </a:r>
          </a:p>
        </p:txBody>
      </p:sp>
      <p:sp>
        <p:nvSpPr>
          <p:cNvPr id="32" name="Rectangle 31"/>
          <p:cNvSpPr/>
          <p:nvPr/>
        </p:nvSpPr>
        <p:spPr>
          <a:xfrm>
            <a:off x="3937000" y="5448300"/>
            <a:ext cx="3048000" cy="6350"/>
          </a:xfrm>
          <a:prstGeom prst="rect">
            <a:avLst/>
          </a:prstGeom>
          <a:solidFill>
            <a:srgbClr val="2B313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Stage 4 Name"/>
          <p:cNvSpPr>
            <a:spLocks noGrp="1"/>
          </p:cNvSpPr>
          <p:nvPr>
            <p:ph type="body" idx="32"/>
          </p:nvPr>
        </p:nvSpPr>
        <p:spPr>
          <a:xfrm>
            <a:off x="3937000" y="5524500"/>
            <a:ext cx="2032000" cy="2286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1300" spc="-16">
                <a:solidFill>
                  <a:srgbClr val="0B0E11"/>
                </a:solidFill>
                <a:latin typeface="BinanceNova Medium"/>
              </a:rPr>
              <a:t>Active at 90 days</a:t>
            </a:r>
          </a:p>
        </p:txBody>
      </p:sp>
      <p:sp>
        <p:nvSpPr>
          <p:cNvPr id="34" name="Stage 4 Detail"/>
          <p:cNvSpPr>
            <a:spLocks noGrp="1"/>
          </p:cNvSpPr>
          <p:nvPr>
            <p:ph type="body" idx="33"/>
          </p:nvPr>
        </p:nvSpPr>
        <p:spPr>
          <a:xfrm>
            <a:off x="3937000" y="5765800"/>
            <a:ext cx="2032000" cy="1524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30000"/>
              </a:lnSpc>
              <a:buNone/>
            </a:pPr>
            <a:r>
              <a:rPr lang="en-US" sz="700">
                <a:solidFill>
                  <a:srgbClr val="FFFFFF"/>
                </a:solidFill>
                <a:latin typeface="BinanceNova"/>
              </a:rPr>
              <a:t>≥4 cycles in last month</a:t>
            </a:r>
          </a:p>
        </p:txBody>
      </p:sp>
      <p:sp>
        <p:nvSpPr>
          <p:cNvPr id="35" name="Stage 4 Volume"/>
          <p:cNvSpPr>
            <a:spLocks noGrp="1"/>
          </p:cNvSpPr>
          <p:nvPr>
            <p:ph type="body" idx="34"/>
          </p:nvPr>
        </p:nvSpPr>
        <p:spPr>
          <a:xfrm>
            <a:off x="6096000" y="5524500"/>
            <a:ext cx="889000" cy="279400"/>
          </a:xfrm>
        </p:spPr>
        <p:txBody>
          <a:bodyPr lIns="0" tIns="0" rIns="0" bIns="0" wrap="square" anchor="t"/>
          <a:lstStyle/>
          <a:p>
            <a:pPr marL="0" indent="0" algn="r">
              <a:buNone/>
            </a:pPr>
            <a:r>
              <a:rPr lang="en-US" sz="1700" b="1" spc="-34">
                <a:solidFill>
                  <a:srgbClr val="0B0E11"/>
                </a:solidFill>
                <a:latin typeface="BinanceNova"/>
              </a:rPr>
              <a:t>870 K</a:t>
            </a:r>
          </a:p>
        </p:txBody>
      </p:sp>
      <p:sp>
        <p:nvSpPr>
          <p:cNvPr id="36" name="Stage 4 Rate"/>
          <p:cNvSpPr>
            <a:spLocks noGrp="1"/>
          </p:cNvSpPr>
          <p:nvPr>
            <p:ph type="body" idx="35"/>
          </p:nvPr>
        </p:nvSpPr>
        <p:spPr>
          <a:xfrm>
            <a:off x="6096000" y="5829300"/>
            <a:ext cx="889000" cy="127000"/>
          </a:xfrm>
        </p:spPr>
        <p:txBody>
          <a:bodyPr lIns="0" tIns="0" rIns="0" bIns="0" wrap="square" anchor="t"/>
          <a:lstStyle/>
          <a:p>
            <a:pPr marL="0" indent="0" algn="r">
              <a:buNone/>
            </a:pPr>
            <a:r>
              <a:rPr lang="en-US" sz="650" spc="65" cap="all">
                <a:solidFill>
                  <a:srgbClr val="FFFFFF"/>
                </a:solidFill>
                <a:latin typeface="BinancePlex"/>
              </a:rPr>
              <a:t>36%</a:t>
            </a:r>
          </a:p>
        </p:txBody>
      </p:sp>
      <p:sp>
        <p:nvSpPr>
          <p:cNvPr id="37" name="Rectangle 36"/>
          <p:cNvSpPr/>
          <p:nvPr/>
        </p:nvSpPr>
        <p:spPr>
          <a:xfrm>
            <a:off x="7493000" y="3048000"/>
            <a:ext cx="4064000" cy="6350"/>
          </a:xfrm>
          <a:prstGeom prst="rect">
            <a:avLst/>
          </a:prstGeom>
          <a:solidFill>
            <a:srgbClr val="2B313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Dropoff 1 Pct"/>
          <p:cNvSpPr>
            <a:spLocks noGrp="1"/>
          </p:cNvSpPr>
          <p:nvPr>
            <p:ph type="body" idx="50"/>
          </p:nvPr>
        </p:nvSpPr>
        <p:spPr>
          <a:xfrm>
            <a:off x="7493000" y="3149600"/>
            <a:ext cx="4064000" cy="3556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2300" b="1" spc="-46">
                <a:solidFill>
                  <a:srgbClr val="FCD535"/>
                </a:solidFill>
                <a:latin typeface="BinanceNova"/>
              </a:rPr>
              <a:t>−22 pt</a:t>
            </a:r>
          </a:p>
        </p:txBody>
      </p:sp>
      <p:sp>
        <p:nvSpPr>
          <p:cNvPr id="39" name="Dropoff 1 Label"/>
          <p:cNvSpPr>
            <a:spLocks noGrp="1"/>
          </p:cNvSpPr>
          <p:nvPr>
            <p:ph type="body" idx="51"/>
          </p:nvPr>
        </p:nvSpPr>
        <p:spPr>
          <a:xfrm>
            <a:off x="7493000" y="3530600"/>
            <a:ext cx="4064000" cy="1397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spc="70" cap="all">
                <a:solidFill>
                  <a:srgbClr val="FFFFFF"/>
                </a:solidFill>
                <a:latin typeface="BinancePlex"/>
              </a:rPr>
              <a:t>TRIAL → ACTIVATE</a:t>
            </a:r>
          </a:p>
        </p:txBody>
      </p:sp>
      <p:sp>
        <p:nvSpPr>
          <p:cNvPr id="40" name="Dropoff 1 Body"/>
          <p:cNvSpPr>
            <a:spLocks noGrp="1"/>
          </p:cNvSpPr>
          <p:nvPr>
            <p:ph type="body" idx="52"/>
          </p:nvPr>
        </p:nvSpPr>
        <p:spPr>
          <a:xfrm>
            <a:off x="7493000" y="3733800"/>
            <a:ext cx="4064000" cy="254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800">
                <a:solidFill>
                  <a:srgbClr val="FFFFFF"/>
                </a:solidFill>
                <a:latin typeface="BinanceNova"/>
              </a:rPr>
              <a:t>Activation fails on mixed-SSID routers and Wi-Fi 6 backward compatibility. Fix is scoped for Q1.</a:t>
            </a:r>
          </a:p>
        </p:txBody>
      </p:sp>
      <p:sp>
        <p:nvSpPr>
          <p:cNvPr id="41" name="Rectangle 40"/>
          <p:cNvSpPr/>
          <p:nvPr/>
        </p:nvSpPr>
        <p:spPr>
          <a:xfrm>
            <a:off x="7493000" y="4140200"/>
            <a:ext cx="4064000" cy="6350"/>
          </a:xfrm>
          <a:prstGeom prst="rect">
            <a:avLst/>
          </a:prstGeom>
          <a:solidFill>
            <a:srgbClr val="2B313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Dropoff 2 Pct"/>
          <p:cNvSpPr>
            <a:spLocks noGrp="1"/>
          </p:cNvSpPr>
          <p:nvPr>
            <p:ph type="body" idx="54"/>
          </p:nvPr>
        </p:nvSpPr>
        <p:spPr>
          <a:xfrm>
            <a:off x="7493000" y="4241800"/>
            <a:ext cx="4064000" cy="3556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2300" b="1" spc="-46">
                <a:solidFill>
                  <a:srgbClr val="FCD535"/>
                </a:solidFill>
                <a:latin typeface="BinanceNova"/>
              </a:rPr>
              <a:t>−14 pt</a:t>
            </a:r>
          </a:p>
        </p:txBody>
      </p:sp>
      <p:sp>
        <p:nvSpPr>
          <p:cNvPr id="43" name="Dropoff 2 Label"/>
          <p:cNvSpPr>
            <a:spLocks noGrp="1"/>
          </p:cNvSpPr>
          <p:nvPr>
            <p:ph type="body" idx="55"/>
          </p:nvPr>
        </p:nvSpPr>
        <p:spPr>
          <a:xfrm>
            <a:off x="7493000" y="4622800"/>
            <a:ext cx="4064000" cy="1397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spc="70" cap="all">
                <a:solidFill>
                  <a:srgbClr val="FFFFFF"/>
                </a:solidFill>
                <a:latin typeface="BinancePlex"/>
              </a:rPr>
              <a:t>FEATURE → 90D ACTIVE</a:t>
            </a:r>
          </a:p>
        </p:txBody>
      </p:sp>
      <p:sp>
        <p:nvSpPr>
          <p:cNvPr id="44" name="Dropoff 2 Body"/>
          <p:cNvSpPr>
            <a:spLocks noGrp="1"/>
          </p:cNvSpPr>
          <p:nvPr>
            <p:ph type="body" idx="56"/>
          </p:nvPr>
        </p:nvSpPr>
        <p:spPr>
          <a:xfrm>
            <a:off x="7493000" y="4826000"/>
            <a:ext cx="4064000" cy="254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800">
                <a:solidFill>
                  <a:srgbClr val="FFFFFF"/>
                </a:solidFill>
                <a:latin typeface="BinanceNova"/>
              </a:rPr>
              <a:t>Users try one session then default to the panel. Cadence nudges in-app are live in Q2.</a:t>
            </a:r>
          </a:p>
        </p:txBody>
      </p:sp>
      <p:sp>
        <p:nvSpPr>
          <p:cNvPr id="45" name="Rectangle 44"/>
          <p:cNvSpPr/>
          <p:nvPr/>
        </p:nvSpPr>
        <p:spPr>
          <a:xfrm>
            <a:off x="7493000" y="5232400"/>
            <a:ext cx="4064000" cy="6350"/>
          </a:xfrm>
          <a:prstGeom prst="rect">
            <a:avLst/>
          </a:prstGeom>
          <a:solidFill>
            <a:srgbClr val="2B313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Dropoff 3 Pct"/>
          <p:cNvSpPr>
            <a:spLocks noGrp="1"/>
          </p:cNvSpPr>
          <p:nvPr>
            <p:ph type="body" idx="58"/>
          </p:nvPr>
        </p:nvSpPr>
        <p:spPr>
          <a:xfrm>
            <a:off x="7493000" y="5334000"/>
            <a:ext cx="4064000" cy="3556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endParaRPr lang="en-US"/>
          </a:p>
        </p:txBody>
      </p:sp>
      <p:sp>
        <p:nvSpPr>
          <p:cNvPr id="47" name="Dropoff 3 Label"/>
          <p:cNvSpPr>
            <a:spLocks noGrp="1"/>
          </p:cNvSpPr>
          <p:nvPr>
            <p:ph type="body" idx="59"/>
          </p:nvPr>
        </p:nvSpPr>
        <p:spPr>
          <a:xfrm>
            <a:off x="7493000" y="5715000"/>
            <a:ext cx="4064000" cy="1397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endParaRPr lang="en-US"/>
          </a:p>
        </p:txBody>
      </p:sp>
      <p:sp>
        <p:nvSpPr>
          <p:cNvPr id="48" name="Dropoff 3 Body"/>
          <p:cNvSpPr>
            <a:spLocks noGrp="1"/>
          </p:cNvSpPr>
          <p:nvPr>
            <p:ph type="body" idx="60"/>
          </p:nvPr>
        </p:nvSpPr>
        <p:spPr>
          <a:xfrm>
            <a:off x="7493000" y="5918200"/>
            <a:ext cx="4064000" cy="254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50000"/>
              </a:lnSpc>
              <a:buNone/>
            </a:pPr>
            <a:endParaRPr lang="en-US"/>
          </a:p>
        </p:txBody>
      </p:sp>
    </p:spTree>
  </p:cSld>
  <p:clrMapOvr>
    <a:masterClrMapping/>
  </p:clrMapOvr>
</p:sldLayout>
</file>

<file path=ppt/slideLayouts/slideLayout33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Feinschliff · Venn">
    <p:bg>
      <p:bgPr>
        <a:solidFill>
          <a:srgbClr val="0B0E1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1"/>
          <p:cNvSpPr/>
          <p:nvPr/>
        </p:nvSpPr>
        <p:spPr>
          <a:xfrm>
            <a:off x="723900" y="417068"/>
            <a:ext cx="49784" cy="49784"/>
          </a:xfrm>
          <a:custGeom>
            <a:avLst/>
            <a:gdLst/>
            <a:ahLst/>
            <a:cxnLst/>
            <a:rect l="l" t="t" r="r" b="b"/>
            <a:pathLst>
              <a:path w="49784" h="49784">
                <a:moveTo>
                  <a:pt x="0" y="0"/>
                </a:moveTo>
                <a:lnTo>
                  <a:pt x="49784" y="49784"/>
                </a:lnTo>
                <a:lnTo>
                  <a:pt x="0" y="49784"/>
                </a:lnTo>
                <a:close/>
              </a:path>
            </a:pathLst>
          </a:custGeom>
          <a:solidFill>
            <a:srgbClr val="FCD5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Freeform 2"/>
          <p:cNvSpPr/>
          <p:nvPr/>
        </p:nvSpPr>
        <p:spPr>
          <a:xfrm>
            <a:off x="752348" y="445516"/>
            <a:ext cx="49784" cy="49784"/>
          </a:xfrm>
          <a:custGeom>
            <a:avLst/>
            <a:gdLst/>
            <a:ahLst/>
            <a:cxnLst/>
            <a:rect l="l" t="t" r="r" b="b"/>
            <a:pathLst>
              <a:path w="49784" h="49784">
                <a:moveTo>
                  <a:pt x="49784" y="49784"/>
                </a:moveTo>
                <a:lnTo>
                  <a:pt x="0" y="0"/>
                </a:lnTo>
                <a:lnTo>
                  <a:pt x="0" y="49784"/>
                </a:lnTo>
                <a:close/>
              </a:path>
            </a:pathLst>
          </a:custGeom>
          <a:solidFill>
            <a:srgbClr val="FCD5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Freeform 3"/>
          <p:cNvSpPr/>
          <p:nvPr/>
        </p:nvSpPr>
        <p:spPr>
          <a:xfrm>
            <a:off x="674116" y="523748"/>
            <a:ext cx="49784" cy="49784"/>
          </a:xfrm>
          <a:custGeom>
            <a:avLst/>
            <a:gdLst/>
            <a:ahLst/>
            <a:cxnLst/>
            <a:rect l="l" t="t" r="r" b="b"/>
            <a:pathLst>
              <a:path w="49784" h="49784">
                <a:moveTo>
                  <a:pt x="49784" y="49784"/>
                </a:moveTo>
                <a:lnTo>
                  <a:pt x="0" y="0"/>
                </a:lnTo>
                <a:lnTo>
                  <a:pt x="49784" y="0"/>
                </a:lnTo>
                <a:close/>
              </a:path>
            </a:pathLst>
          </a:custGeom>
          <a:solidFill>
            <a:srgbClr val="FCD5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Freeform 4"/>
          <p:cNvSpPr/>
          <p:nvPr/>
        </p:nvSpPr>
        <p:spPr>
          <a:xfrm>
            <a:off x="645668" y="495300"/>
            <a:ext cx="49784" cy="49784"/>
          </a:xfrm>
          <a:custGeom>
            <a:avLst/>
            <a:gdLst/>
            <a:ahLst/>
            <a:cxnLst/>
            <a:rect l="l" t="t" r="r" b="b"/>
            <a:pathLst>
              <a:path w="49784" h="49784">
                <a:moveTo>
                  <a:pt x="0" y="0"/>
                </a:moveTo>
                <a:lnTo>
                  <a:pt x="49784" y="49784"/>
                </a:lnTo>
                <a:lnTo>
                  <a:pt x="49784" y="0"/>
                </a:lnTo>
                <a:close/>
              </a:path>
            </a:pathLst>
          </a:custGeom>
          <a:solidFill>
            <a:srgbClr val="FCD5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01700" y="406400"/>
            <a:ext cx="2032000" cy="25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 spc="110">
                <a:solidFill>
                  <a:srgbClr val="FCD535"/>
                </a:solidFill>
                <a:latin typeface="BinanceNova"/>
              </a:rPr>
              <a:t>BINANCE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017000" y="508000"/>
            <a:ext cx="2667000" cy="177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700" spc="70" b="0">
                <a:solidFill>
                  <a:srgbClr val="848E9C"/>
                </a:solidFill>
                <a:latin typeface="BinanceNova SemiBold"/>
              </a:rPr>
              <a:t>VENN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62000" y="6540500"/>
            <a:ext cx="4445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650" spc="65" b="0">
                <a:solidFill>
                  <a:srgbClr val="848E9C"/>
                </a:solidFill>
                <a:latin typeface="BinanceNova SemiBold"/>
              </a:rPr>
              <a:t>JAN 2026 · SHOWCASE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985000" y="6540500"/>
            <a:ext cx="4445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lang="en-US" dirty="0" sz="650" b="0" spc="65">
                <a:solidFill>
                  <a:srgbClr val="848E9C"/>
                </a:solidFill>
                <a:latin typeface="BinanceNova SemiBold"/>
              </a:rPr>
              <a:t>SLIDE </a:t>
            </a:r>
            <a:fld id="{A1B2C3D4-E5F6-4890-ABCD-EF0123456789}" type="slidenum">
              <a:rPr lang="en-US" dirty="0" sz="650" b="0" spc="65">
                <a:solidFill>
                  <a:srgbClr val="848E9C"/>
                </a:solidFill>
                <a:latin typeface="BinanceNova SemiBold"/>
              </a:rPr>
              <a:t>1</a:t>
            </a:fld>
          </a:p>
        </p:txBody>
      </p:sp>
      <p:sp>
        <p:nvSpPr>
          <p:cNvPr id="10" name="Rectangle 9"/>
          <p:cNvSpPr/>
          <p:nvPr/>
        </p:nvSpPr>
        <p:spPr>
          <a:xfrm>
            <a:off x="635000" y="1651000"/>
            <a:ext cx="50800" cy="876300"/>
          </a:xfrm>
          <a:prstGeom prst="rect">
            <a:avLst/>
          </a:prstGeom>
          <a:solidFill>
            <a:srgbClr val="FCD53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Eyebrow"/>
          <p:cNvSpPr>
            <a:spLocks noGrp="1"/>
          </p:cNvSpPr>
          <p:nvPr>
            <p:ph type="body" idx="10"/>
          </p:nvPr>
        </p:nvSpPr>
        <p:spPr>
          <a:xfrm>
            <a:off x="838200" y="1651000"/>
            <a:ext cx="101600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800" spc="80" cap="all">
                <a:solidFill>
                  <a:srgbClr val="FCD535"/>
                </a:solidFill>
                <a:latin typeface="BinanceNova"/>
              </a:rPr>
              <a:t>WHERE THE THREE BUSINESSES MEET</a:t>
            </a:r>
          </a:p>
        </p:txBody>
      </p:sp>
      <p:sp>
        <p:nvSpPr>
          <p:cNvPr id="12" name="Title"/>
          <p:cNvSpPr>
            <a:spLocks noGrp="1"/>
          </p:cNvSpPr>
          <p:nvPr>
            <p:ph type="title"/>
          </p:nvPr>
        </p:nvSpPr>
        <p:spPr>
          <a:xfrm>
            <a:off x="838200" y="1968500"/>
            <a:ext cx="10922000" cy="635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3200" spc="-48">
                <a:solidFill>
                  <a:srgbClr val="FFFFFF"/>
                </a:solidFill>
                <a:latin typeface="BinanceNova"/>
              </a:rPr>
              <a:t>The connected platform is the intersection — only the integrated brand has the product, the platform, and the service relationship.</a:t>
            </a:r>
          </a:p>
        </p:txBody>
      </p:sp>
      <p:sp>
        <p:nvSpPr>
          <p:cNvPr id="13" name="Oval 12"/>
          <p:cNvSpPr/>
          <p:nvPr/>
        </p:nvSpPr>
        <p:spPr>
          <a:xfrm>
            <a:off x="1587500" y="3238500"/>
            <a:ext cx="2159000" cy="2159000"/>
          </a:xfrm>
          <a:prstGeom prst="ellipse">
            <a:avLst/>
          </a:prstGeom>
          <a:solidFill>
            <a:srgbClr val="FCD535">
              <a:alpha val="50000"/>
            </a:srgbClr>
          </a:solidFill>
          <a:ln w="12700">
            <a:solidFill>
              <a:srgbClr val="0B0E1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3111500" y="3238500"/>
            <a:ext cx="2159000" cy="2159000"/>
          </a:xfrm>
          <a:prstGeom prst="ellipse">
            <a:avLst/>
          </a:prstGeom>
          <a:solidFill>
            <a:srgbClr val="0B0E11">
              <a:alpha val="50000"/>
            </a:srgbClr>
          </a:solidFill>
          <a:ln w="12700">
            <a:solidFill>
              <a:srgbClr val="0B0E1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2349500" y="4381500"/>
            <a:ext cx="2159000" cy="2159000"/>
          </a:xfrm>
          <a:prstGeom prst="ellipse">
            <a:avLst/>
          </a:prstGeom>
          <a:solidFill>
            <a:srgbClr val="FFFFFF">
              <a:alpha val="50000"/>
            </a:srgbClr>
          </a:solidFill>
          <a:ln w="12700">
            <a:solidFill>
              <a:srgbClr val="0B0E1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3098800" y="4400550"/>
            <a:ext cx="660400" cy="660400"/>
          </a:xfrm>
          <a:prstGeom prst="ellipse">
            <a:avLst/>
          </a:prstGeom>
          <a:solidFill>
            <a:srgbClr val="1E2329"/>
          </a:solidFill>
          <a:ln w="12700">
            <a:solidFill>
              <a:srgbClr val="0B0E1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Set A Name"/>
          <p:cNvSpPr>
            <a:spLocks noGrp="1"/>
          </p:cNvSpPr>
          <p:nvPr>
            <p:ph type="body" idx="20"/>
          </p:nvPr>
        </p:nvSpPr>
        <p:spPr>
          <a:xfrm>
            <a:off x="1016000" y="3594100"/>
            <a:ext cx="1524000" cy="165100"/>
          </a:xfrm>
        </p:spPr>
        <p:txBody>
          <a:bodyPr lIns="0" tIns="0" rIns="0" bIns="0" wrap="square" anchor="t"/>
          <a:lstStyle/>
          <a:p>
            <a:pPr marL="0" indent="0" algn="ctr">
              <a:buNone/>
            </a:pPr>
            <a:r>
              <a:rPr lang="en-US" sz="800" spc="80" cap="all">
                <a:solidFill>
                  <a:srgbClr val="EAECEF"/>
                </a:solidFill>
                <a:latin typeface="BinanceNova"/>
              </a:rPr>
              <a:t>CONSUMER</a:t>
            </a:r>
          </a:p>
        </p:txBody>
      </p:sp>
      <p:sp>
        <p:nvSpPr>
          <p:cNvPr id="18" name="Set A Subtitle"/>
          <p:cNvSpPr>
            <a:spLocks noGrp="1"/>
          </p:cNvSpPr>
          <p:nvPr>
            <p:ph type="body" idx="21"/>
          </p:nvPr>
        </p:nvSpPr>
        <p:spPr>
          <a:xfrm>
            <a:off x="1016000" y="3784600"/>
            <a:ext cx="1524000" cy="139700"/>
          </a:xfrm>
        </p:spPr>
        <p:txBody>
          <a:bodyPr lIns="0" tIns="0" rIns="0" bIns="0" wrap="square" anchor="t"/>
          <a:lstStyle/>
          <a:p>
            <a:pPr marL="0" indent="0" algn="ctr">
              <a:buNone/>
            </a:pPr>
            <a:r>
              <a:rPr lang="en-US" sz="700" spc="56">
                <a:solidFill>
                  <a:srgbClr val="FFFFFF"/>
                </a:solidFill>
                <a:latin typeface="BinancePlex"/>
              </a:rPr>
              <a:t>Product + brand</a:t>
            </a:r>
          </a:p>
        </p:txBody>
      </p:sp>
      <p:sp>
        <p:nvSpPr>
          <p:cNvPr id="19" name="Set B Name"/>
          <p:cNvSpPr>
            <a:spLocks noGrp="1"/>
          </p:cNvSpPr>
          <p:nvPr>
            <p:ph type="body" idx="24"/>
          </p:nvPr>
        </p:nvSpPr>
        <p:spPr>
          <a:xfrm>
            <a:off x="4318000" y="3594100"/>
            <a:ext cx="1524000" cy="165100"/>
          </a:xfrm>
        </p:spPr>
        <p:txBody>
          <a:bodyPr lIns="0" tIns="0" rIns="0" bIns="0" wrap="square" anchor="t"/>
          <a:lstStyle/>
          <a:p>
            <a:pPr marL="0" indent="0" algn="ctr">
              <a:buNone/>
            </a:pPr>
            <a:r>
              <a:rPr lang="en-US" sz="800" spc="80" cap="all">
                <a:solidFill>
                  <a:srgbClr val="EAECEF"/>
                </a:solidFill>
                <a:latin typeface="BinanceNova"/>
              </a:rPr>
              <a:t>PLATFORM</a:t>
            </a:r>
          </a:p>
        </p:txBody>
      </p:sp>
      <p:sp>
        <p:nvSpPr>
          <p:cNvPr id="20" name="Set B Subtitle"/>
          <p:cNvSpPr>
            <a:spLocks noGrp="1"/>
          </p:cNvSpPr>
          <p:nvPr>
            <p:ph type="body" idx="25"/>
          </p:nvPr>
        </p:nvSpPr>
        <p:spPr>
          <a:xfrm>
            <a:off x="4318000" y="3784600"/>
            <a:ext cx="1524000" cy="139700"/>
          </a:xfrm>
        </p:spPr>
        <p:txBody>
          <a:bodyPr lIns="0" tIns="0" rIns="0" bIns="0" wrap="square" anchor="t"/>
          <a:lstStyle/>
          <a:p>
            <a:pPr marL="0" indent="0" algn="ctr">
              <a:buNone/>
            </a:pPr>
            <a:r>
              <a:rPr lang="en-US" sz="700" spc="56">
                <a:solidFill>
                  <a:srgbClr val="FFFFFF"/>
                </a:solidFill>
                <a:latin typeface="BinancePlex"/>
              </a:rPr>
              <a:t>Firmware + API</a:t>
            </a:r>
          </a:p>
        </p:txBody>
      </p:sp>
      <p:sp>
        <p:nvSpPr>
          <p:cNvPr id="21" name="Set C Name"/>
          <p:cNvSpPr>
            <a:spLocks noGrp="1"/>
          </p:cNvSpPr>
          <p:nvPr>
            <p:ph type="body" idx="28"/>
          </p:nvPr>
        </p:nvSpPr>
        <p:spPr>
          <a:xfrm>
            <a:off x="2667000" y="6038850"/>
            <a:ext cx="1524000" cy="165100"/>
          </a:xfrm>
        </p:spPr>
        <p:txBody>
          <a:bodyPr lIns="0" tIns="0" rIns="0" bIns="0" wrap="square" anchor="t"/>
          <a:lstStyle/>
          <a:p>
            <a:pPr marL="0" indent="0" algn="ctr">
              <a:buNone/>
            </a:pPr>
            <a:r>
              <a:rPr lang="en-US" sz="800" spc="80" cap="all">
                <a:solidFill>
                  <a:srgbClr val="EAECEF"/>
                </a:solidFill>
                <a:latin typeface="BinanceNova"/>
              </a:rPr>
              <a:t>SERVICES</a:t>
            </a:r>
          </a:p>
        </p:txBody>
      </p:sp>
      <p:sp>
        <p:nvSpPr>
          <p:cNvPr id="22" name="Set C Subtitle"/>
          <p:cNvSpPr>
            <a:spLocks noGrp="1"/>
          </p:cNvSpPr>
          <p:nvPr>
            <p:ph type="body" idx="29"/>
          </p:nvPr>
        </p:nvSpPr>
        <p:spPr>
          <a:xfrm>
            <a:off x="2667000" y="6229350"/>
            <a:ext cx="1524000" cy="139700"/>
          </a:xfrm>
        </p:spPr>
        <p:txBody>
          <a:bodyPr lIns="0" tIns="0" rIns="0" bIns="0" wrap="square" anchor="t"/>
          <a:lstStyle/>
          <a:p>
            <a:pPr marL="0" indent="0" algn="ctr">
              <a:buNone/>
            </a:pPr>
            <a:r>
              <a:rPr lang="en-US" sz="700" spc="56">
                <a:solidFill>
                  <a:srgbClr val="FFFFFF"/>
                </a:solidFill>
                <a:latin typeface="BinancePlex"/>
              </a:rPr>
              <a:t>Install · repair</a:t>
            </a:r>
          </a:p>
        </p:txBody>
      </p:sp>
      <p:sp>
        <p:nvSpPr>
          <p:cNvPr id="23" name="Intersection AB"/>
          <p:cNvSpPr>
            <a:spLocks noGrp="1"/>
          </p:cNvSpPr>
          <p:nvPr>
            <p:ph type="body" idx="30"/>
          </p:nvPr>
        </p:nvSpPr>
        <p:spPr>
          <a:xfrm>
            <a:off x="2667000" y="4159250"/>
            <a:ext cx="1524000" cy="254000"/>
          </a:xfrm>
        </p:spPr>
        <p:txBody>
          <a:bodyPr lIns="0" tIns="0" rIns="0" bIns="0" wrap="square" anchor="ctr"/>
          <a:lstStyle/>
          <a:p>
            <a:pPr marL="0" indent="0" algn="ctr">
              <a:lnSpc>
                <a:spcPct val="120000"/>
              </a:lnSpc>
              <a:buNone/>
            </a:pPr>
            <a:r>
              <a:rPr lang="en-US" sz="800" spc="-4">
                <a:solidFill>
                  <a:srgbClr val="0B0E11"/>
                </a:solidFill>
                <a:latin typeface="BinanceNova Medium"/>
              </a:rPr>
              <a:t>Smart product</a:t>
            </a:r>
          </a:p>
        </p:txBody>
      </p:sp>
      <p:sp>
        <p:nvSpPr>
          <p:cNvPr id="24" name="Intersection AC"/>
          <p:cNvSpPr>
            <a:spLocks noGrp="1"/>
          </p:cNvSpPr>
          <p:nvPr>
            <p:ph type="body" idx="31"/>
          </p:nvPr>
        </p:nvSpPr>
        <p:spPr>
          <a:xfrm>
            <a:off x="1905000" y="4826000"/>
            <a:ext cx="1524000" cy="254000"/>
          </a:xfrm>
        </p:spPr>
        <p:txBody>
          <a:bodyPr lIns="0" tIns="0" rIns="0" bIns="0" wrap="square" anchor="ctr"/>
          <a:lstStyle/>
          <a:p>
            <a:pPr marL="0" indent="0" algn="ctr">
              <a:lnSpc>
                <a:spcPct val="120000"/>
              </a:lnSpc>
              <a:buNone/>
            </a:pPr>
            <a:r>
              <a:rPr lang="en-US" sz="800" spc="-4">
                <a:solidFill>
                  <a:srgbClr val="0B0E11"/>
                </a:solidFill>
                <a:latin typeface="BinanceNova Medium"/>
              </a:rPr>
              <a:t>In-home install</a:t>
            </a:r>
          </a:p>
        </p:txBody>
      </p:sp>
      <p:sp>
        <p:nvSpPr>
          <p:cNvPr id="25" name="Intersection BC"/>
          <p:cNvSpPr>
            <a:spLocks noGrp="1"/>
          </p:cNvSpPr>
          <p:nvPr>
            <p:ph type="body" idx="32"/>
          </p:nvPr>
        </p:nvSpPr>
        <p:spPr>
          <a:xfrm>
            <a:off x="3429000" y="4826000"/>
            <a:ext cx="1524000" cy="254000"/>
          </a:xfrm>
        </p:spPr>
        <p:txBody>
          <a:bodyPr lIns="0" tIns="0" rIns="0" bIns="0" wrap="square" anchor="ctr"/>
          <a:lstStyle/>
          <a:p>
            <a:pPr marL="0" indent="0" algn="ctr">
              <a:lnSpc>
                <a:spcPct val="120000"/>
              </a:lnSpc>
              <a:buNone/>
            </a:pPr>
            <a:r>
              <a:rPr lang="en-US" sz="800" spc="-4">
                <a:solidFill>
                  <a:srgbClr val="0B0E11"/>
                </a:solidFill>
                <a:latin typeface="BinanceNova Medium"/>
              </a:rPr>
              <a:t>Remote diagnostics</a:t>
            </a:r>
          </a:p>
        </p:txBody>
      </p:sp>
      <p:sp>
        <p:nvSpPr>
          <p:cNvPr id="26" name="Center Intersection"/>
          <p:cNvSpPr>
            <a:spLocks noGrp="1"/>
          </p:cNvSpPr>
          <p:nvPr>
            <p:ph type="body" idx="33"/>
          </p:nvPr>
        </p:nvSpPr>
        <p:spPr>
          <a:xfrm>
            <a:off x="2921000" y="4578350"/>
            <a:ext cx="1016000" cy="304800"/>
          </a:xfrm>
        </p:spPr>
        <p:txBody>
          <a:bodyPr lIns="0" tIns="0" rIns="0" bIns="0" wrap="square" anchor="ctr"/>
          <a:lstStyle/>
          <a:p>
            <a:pPr marL="0" indent="0" algn="ctr">
              <a:lnSpc>
                <a:spcPct val="110000"/>
              </a:lnSpc>
              <a:buNone/>
            </a:pPr>
            <a:r>
              <a:rPr lang="en-US" sz="700" b="1" spc="-4">
                <a:solidFill>
                  <a:srgbClr val="0B0E11"/>
                </a:solidFill>
                <a:latin typeface="BinanceNova"/>
              </a:rPr>
              <a:t>Connected platform</a:t>
            </a:r>
          </a:p>
        </p:txBody>
      </p:sp>
      <p:sp>
        <p:nvSpPr>
          <p:cNvPr id="27" name="Rectangle 26"/>
          <p:cNvSpPr/>
          <p:nvPr/>
        </p:nvSpPr>
        <p:spPr>
          <a:xfrm>
            <a:off x="6858000" y="2921000"/>
            <a:ext cx="4699000" cy="6350"/>
          </a:xfrm>
          <a:prstGeom prst="rect">
            <a:avLst/>
          </a:prstGeom>
          <a:solidFill>
            <a:srgbClr val="2B313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Item 1 Counter"/>
          <p:cNvSpPr>
            <a:spLocks noGrp="1"/>
          </p:cNvSpPr>
          <p:nvPr>
            <p:ph type="body" idx="40"/>
          </p:nvPr>
        </p:nvSpPr>
        <p:spPr>
          <a:xfrm>
            <a:off x="6858000" y="2997200"/>
            <a:ext cx="4699000" cy="1397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spc="70" cap="all">
                <a:solidFill>
                  <a:srgbClr val="FFFFFF"/>
                </a:solidFill>
                <a:latin typeface="BinancePlex"/>
              </a:rPr>
              <a:t>01 · CONSUMER × PLATFORM</a:t>
            </a:r>
          </a:p>
        </p:txBody>
      </p:sp>
      <p:sp>
        <p:nvSpPr>
          <p:cNvPr id="29" name="Item 1 Heading"/>
          <p:cNvSpPr>
            <a:spLocks noGrp="1"/>
          </p:cNvSpPr>
          <p:nvPr>
            <p:ph type="body" idx="41"/>
          </p:nvPr>
        </p:nvSpPr>
        <p:spPr>
          <a:xfrm>
            <a:off x="6858000" y="3175000"/>
            <a:ext cx="4699000" cy="2286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4999"/>
              </a:lnSpc>
              <a:buNone/>
            </a:pPr>
            <a:r>
              <a:rPr lang="en-US" sz="1200" spc="-14">
                <a:solidFill>
                  <a:srgbClr val="0B0E11"/>
                </a:solidFill>
                <a:latin typeface="BinanceNova Medium"/>
              </a:rPr>
              <a:t>Smart product</a:t>
            </a:r>
          </a:p>
        </p:txBody>
      </p:sp>
      <p:sp>
        <p:nvSpPr>
          <p:cNvPr id="30" name="Item 1 Body"/>
          <p:cNvSpPr>
            <a:spLocks noGrp="1"/>
          </p:cNvSpPr>
          <p:nvPr>
            <p:ph type="body" idx="42"/>
          </p:nvPr>
        </p:nvSpPr>
        <p:spPr>
          <a:xfrm>
            <a:off x="6858000" y="3429000"/>
            <a:ext cx="4699000" cy="22225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45000"/>
              </a:lnSpc>
              <a:buNone/>
            </a:pPr>
            <a:r>
              <a:rPr lang="en-US" sz="750">
                <a:solidFill>
                  <a:srgbClr val="FFFFFF"/>
                </a:solidFill>
                <a:latin typeface="BinanceNova"/>
              </a:rPr>
              <a:t>Firmware turns the object into an addressable node — the basis for every service we layer on top.</a:t>
            </a:r>
          </a:p>
        </p:txBody>
      </p:sp>
      <p:sp>
        <p:nvSpPr>
          <p:cNvPr id="31" name="Rectangle 30"/>
          <p:cNvSpPr/>
          <p:nvPr/>
        </p:nvSpPr>
        <p:spPr>
          <a:xfrm>
            <a:off x="6858000" y="3803650"/>
            <a:ext cx="4699000" cy="6350"/>
          </a:xfrm>
          <a:prstGeom prst="rect">
            <a:avLst/>
          </a:prstGeom>
          <a:solidFill>
            <a:srgbClr val="2B313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Item 2 Counter"/>
          <p:cNvSpPr>
            <a:spLocks noGrp="1"/>
          </p:cNvSpPr>
          <p:nvPr>
            <p:ph type="body" idx="44"/>
          </p:nvPr>
        </p:nvSpPr>
        <p:spPr>
          <a:xfrm>
            <a:off x="6858000" y="3879850"/>
            <a:ext cx="4699000" cy="1397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spc="70" cap="all">
                <a:solidFill>
                  <a:srgbClr val="FFFFFF"/>
                </a:solidFill>
                <a:latin typeface="BinancePlex"/>
              </a:rPr>
              <a:t>02 · PLATFORM × SERVICES</a:t>
            </a:r>
          </a:p>
        </p:txBody>
      </p:sp>
      <p:sp>
        <p:nvSpPr>
          <p:cNvPr id="33" name="Item 2 Heading"/>
          <p:cNvSpPr>
            <a:spLocks noGrp="1"/>
          </p:cNvSpPr>
          <p:nvPr>
            <p:ph type="body" idx="45"/>
          </p:nvPr>
        </p:nvSpPr>
        <p:spPr>
          <a:xfrm>
            <a:off x="6858000" y="4057650"/>
            <a:ext cx="4699000" cy="2286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4999"/>
              </a:lnSpc>
              <a:buNone/>
            </a:pPr>
            <a:r>
              <a:rPr lang="en-US" sz="1200" spc="-14">
                <a:solidFill>
                  <a:srgbClr val="0B0E11"/>
                </a:solidFill>
                <a:latin typeface="BinanceNova Medium"/>
              </a:rPr>
              <a:t>Remote diagnostics</a:t>
            </a:r>
          </a:p>
        </p:txBody>
      </p:sp>
      <p:sp>
        <p:nvSpPr>
          <p:cNvPr id="34" name="Item 2 Body"/>
          <p:cNvSpPr>
            <a:spLocks noGrp="1"/>
          </p:cNvSpPr>
          <p:nvPr>
            <p:ph type="body" idx="46"/>
          </p:nvPr>
        </p:nvSpPr>
        <p:spPr>
          <a:xfrm>
            <a:off x="6858000" y="4311650"/>
            <a:ext cx="4699000" cy="22225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45000"/>
              </a:lnSpc>
              <a:buNone/>
            </a:pPr>
            <a:r>
              <a:rPr lang="en-US" sz="750">
                <a:solidFill>
                  <a:srgbClr val="FFFFFF"/>
                </a:solidFill>
                <a:latin typeface="BinanceNova"/>
              </a:rPr>
              <a:t>Telemetry lets service pre-triage a call; first-time-fix rate rises, truck rolls fall.</a:t>
            </a:r>
          </a:p>
        </p:txBody>
      </p:sp>
      <p:sp>
        <p:nvSpPr>
          <p:cNvPr id="35" name="Rectangle 34"/>
          <p:cNvSpPr/>
          <p:nvPr/>
        </p:nvSpPr>
        <p:spPr>
          <a:xfrm>
            <a:off x="6858000" y="4686300"/>
            <a:ext cx="4699000" cy="6350"/>
          </a:xfrm>
          <a:prstGeom prst="rect">
            <a:avLst/>
          </a:prstGeom>
          <a:solidFill>
            <a:srgbClr val="2B313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Item 3 Counter"/>
          <p:cNvSpPr>
            <a:spLocks noGrp="1"/>
          </p:cNvSpPr>
          <p:nvPr>
            <p:ph type="body" idx="48"/>
          </p:nvPr>
        </p:nvSpPr>
        <p:spPr>
          <a:xfrm>
            <a:off x="6858000" y="4762500"/>
            <a:ext cx="4699000" cy="1397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spc="70" cap="all">
                <a:solidFill>
                  <a:srgbClr val="FFFFFF"/>
                </a:solidFill>
                <a:latin typeface="BinancePlex"/>
              </a:rPr>
              <a:t>03 · CONSUMER × SERVICES</a:t>
            </a:r>
          </a:p>
        </p:txBody>
      </p:sp>
      <p:sp>
        <p:nvSpPr>
          <p:cNvPr id="37" name="Item 3 Heading"/>
          <p:cNvSpPr>
            <a:spLocks noGrp="1"/>
          </p:cNvSpPr>
          <p:nvPr>
            <p:ph type="body" idx="49"/>
          </p:nvPr>
        </p:nvSpPr>
        <p:spPr>
          <a:xfrm>
            <a:off x="6858000" y="4940300"/>
            <a:ext cx="4699000" cy="2286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4999"/>
              </a:lnSpc>
              <a:buNone/>
            </a:pPr>
            <a:r>
              <a:rPr lang="en-US" sz="1200" spc="-14">
                <a:solidFill>
                  <a:srgbClr val="0B0E11"/>
                </a:solidFill>
                <a:latin typeface="BinanceNova Medium"/>
              </a:rPr>
              <a:t>In-home install</a:t>
            </a:r>
          </a:p>
        </p:txBody>
      </p:sp>
      <p:sp>
        <p:nvSpPr>
          <p:cNvPr id="38" name="Item 3 Body"/>
          <p:cNvSpPr>
            <a:spLocks noGrp="1"/>
          </p:cNvSpPr>
          <p:nvPr>
            <p:ph type="body" idx="50"/>
          </p:nvPr>
        </p:nvSpPr>
        <p:spPr>
          <a:xfrm>
            <a:off x="6858000" y="5194300"/>
            <a:ext cx="4699000" cy="22225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45000"/>
              </a:lnSpc>
              <a:buNone/>
            </a:pPr>
            <a:r>
              <a:rPr lang="en-US" sz="750">
                <a:solidFill>
                  <a:srgbClr val="FFFFFF"/>
                </a:solidFill>
                <a:latin typeface="BinanceNova"/>
              </a:rPr>
              <a:t>Existing service relationship carries trust; we extend it into the subscription tier.</a:t>
            </a:r>
          </a:p>
        </p:txBody>
      </p:sp>
      <p:sp>
        <p:nvSpPr>
          <p:cNvPr id="39" name="Rectangle 38"/>
          <p:cNvSpPr/>
          <p:nvPr/>
        </p:nvSpPr>
        <p:spPr>
          <a:xfrm>
            <a:off x="6858000" y="5568950"/>
            <a:ext cx="4699000" cy="12700"/>
          </a:xfrm>
          <a:prstGeom prst="rect">
            <a:avLst/>
          </a:prstGeom>
          <a:solidFill>
            <a:srgbClr val="FCD53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Item 4 Counter"/>
          <p:cNvSpPr>
            <a:spLocks noGrp="1"/>
          </p:cNvSpPr>
          <p:nvPr>
            <p:ph type="body" idx="52"/>
          </p:nvPr>
        </p:nvSpPr>
        <p:spPr>
          <a:xfrm>
            <a:off x="6858000" y="5645150"/>
            <a:ext cx="4699000" cy="1397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spc="70" cap="all">
                <a:solidFill>
                  <a:srgbClr val="FCD535"/>
                </a:solidFill>
                <a:latin typeface="BinancePlex"/>
              </a:rPr>
              <a:t>CENTER</a:t>
            </a:r>
          </a:p>
        </p:txBody>
      </p:sp>
      <p:sp>
        <p:nvSpPr>
          <p:cNvPr id="41" name="Item 4 Heading"/>
          <p:cNvSpPr>
            <a:spLocks noGrp="1"/>
          </p:cNvSpPr>
          <p:nvPr>
            <p:ph type="body" idx="53"/>
          </p:nvPr>
        </p:nvSpPr>
        <p:spPr>
          <a:xfrm>
            <a:off x="6858000" y="5822950"/>
            <a:ext cx="4699000" cy="2286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4999"/>
              </a:lnSpc>
              <a:buNone/>
            </a:pPr>
            <a:r>
              <a:rPr lang="en-US" sz="1200" spc="-14">
                <a:solidFill>
                  <a:srgbClr val="0B0E11"/>
                </a:solidFill>
                <a:latin typeface="BinanceNova Medium"/>
              </a:rPr>
              <a:t>Connected platform</a:t>
            </a:r>
          </a:p>
        </p:txBody>
      </p:sp>
      <p:sp>
        <p:nvSpPr>
          <p:cNvPr id="42" name="Item 4 Body"/>
          <p:cNvSpPr>
            <a:spLocks noGrp="1"/>
          </p:cNvSpPr>
          <p:nvPr>
            <p:ph type="body" idx="54"/>
          </p:nvPr>
        </p:nvSpPr>
        <p:spPr>
          <a:xfrm>
            <a:off x="6858000" y="6076950"/>
            <a:ext cx="4699000" cy="22225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45000"/>
              </a:lnSpc>
              <a:buNone/>
            </a:pPr>
            <a:r>
              <a:rPr lang="en-US" sz="750">
                <a:solidFill>
                  <a:srgbClr val="FFFFFF"/>
                </a:solidFill>
                <a:latin typeface="BinanceNova"/>
              </a:rPr>
              <a:t>Only Feinschliff sits in all three sets at scale — the moat no single-category competitor can cross.</a:t>
            </a:r>
          </a:p>
        </p:txBody>
      </p:sp>
    </p:spTree>
  </p:cSld>
  <p:clrMapOvr>
    <a:masterClrMapping/>
  </p:clrMapOvr>
</p:sldLayout>
</file>

<file path=ppt/slideLayouts/slideLayout34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Feinschliff · Diagram">
    <p:bg>
      <p:bgPr>
        <a:solidFill>
          <a:srgbClr val="0B0E1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635000" y="1587500"/>
            <a:ext cx="10922000" cy="4318000"/>
          </a:xfrm>
          <a:prstGeom prst="rect">
            <a:avLst/>
          </a:prstGeom>
          <a:solidFill>
            <a:srgbClr val="2B3139"/>
          </a:solidFill>
          <a:ln w="6350">
            <a:solidFill>
              <a:srgbClr val="848E9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62000" y="1714500"/>
            <a:ext cx="2540000" cy="1905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00" spc="80" b="0">
                <a:solidFill>
                  <a:srgbClr val="FFFFFF"/>
                </a:solidFill>
                <a:latin typeface="BinanceNova SemiBold"/>
              </a:rPr>
              <a:t>DIAGRAM · FILL VIA /DECK</a:t>
            </a:r>
          </a:p>
        </p:txBody>
      </p:sp>
      <p:sp>
        <p:nvSpPr>
          <p:cNvPr id="4" name="Freeform 3"/>
          <p:cNvSpPr/>
          <p:nvPr/>
        </p:nvSpPr>
        <p:spPr>
          <a:xfrm>
            <a:off x="723900" y="417068"/>
            <a:ext cx="49784" cy="49784"/>
          </a:xfrm>
          <a:custGeom>
            <a:avLst/>
            <a:gdLst/>
            <a:ahLst/>
            <a:cxnLst/>
            <a:rect l="l" t="t" r="r" b="b"/>
            <a:pathLst>
              <a:path w="49784" h="49784">
                <a:moveTo>
                  <a:pt x="0" y="0"/>
                </a:moveTo>
                <a:lnTo>
                  <a:pt x="49784" y="49784"/>
                </a:lnTo>
                <a:lnTo>
                  <a:pt x="0" y="49784"/>
                </a:lnTo>
                <a:close/>
              </a:path>
            </a:pathLst>
          </a:custGeom>
          <a:solidFill>
            <a:srgbClr val="FCD5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Freeform 4"/>
          <p:cNvSpPr/>
          <p:nvPr/>
        </p:nvSpPr>
        <p:spPr>
          <a:xfrm>
            <a:off x="752348" y="445516"/>
            <a:ext cx="49784" cy="49784"/>
          </a:xfrm>
          <a:custGeom>
            <a:avLst/>
            <a:gdLst/>
            <a:ahLst/>
            <a:cxnLst/>
            <a:rect l="l" t="t" r="r" b="b"/>
            <a:pathLst>
              <a:path w="49784" h="49784">
                <a:moveTo>
                  <a:pt x="49784" y="49784"/>
                </a:moveTo>
                <a:lnTo>
                  <a:pt x="0" y="0"/>
                </a:lnTo>
                <a:lnTo>
                  <a:pt x="0" y="49784"/>
                </a:lnTo>
                <a:close/>
              </a:path>
            </a:pathLst>
          </a:custGeom>
          <a:solidFill>
            <a:srgbClr val="FCD5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Freeform 5"/>
          <p:cNvSpPr/>
          <p:nvPr/>
        </p:nvSpPr>
        <p:spPr>
          <a:xfrm>
            <a:off x="674116" y="523748"/>
            <a:ext cx="49784" cy="49784"/>
          </a:xfrm>
          <a:custGeom>
            <a:avLst/>
            <a:gdLst/>
            <a:ahLst/>
            <a:cxnLst/>
            <a:rect l="l" t="t" r="r" b="b"/>
            <a:pathLst>
              <a:path w="49784" h="49784">
                <a:moveTo>
                  <a:pt x="49784" y="49784"/>
                </a:moveTo>
                <a:lnTo>
                  <a:pt x="0" y="0"/>
                </a:lnTo>
                <a:lnTo>
                  <a:pt x="49784" y="0"/>
                </a:lnTo>
                <a:close/>
              </a:path>
            </a:pathLst>
          </a:custGeom>
          <a:solidFill>
            <a:srgbClr val="FCD5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Freeform 6"/>
          <p:cNvSpPr/>
          <p:nvPr/>
        </p:nvSpPr>
        <p:spPr>
          <a:xfrm>
            <a:off x="645668" y="495300"/>
            <a:ext cx="49784" cy="49784"/>
          </a:xfrm>
          <a:custGeom>
            <a:avLst/>
            <a:gdLst/>
            <a:ahLst/>
            <a:cxnLst/>
            <a:rect l="l" t="t" r="r" b="b"/>
            <a:pathLst>
              <a:path w="49784" h="49784">
                <a:moveTo>
                  <a:pt x="0" y="0"/>
                </a:moveTo>
                <a:lnTo>
                  <a:pt x="49784" y="49784"/>
                </a:lnTo>
                <a:lnTo>
                  <a:pt x="49784" y="0"/>
                </a:lnTo>
                <a:close/>
              </a:path>
            </a:pathLst>
          </a:custGeom>
          <a:solidFill>
            <a:srgbClr val="FCD5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01700" y="406400"/>
            <a:ext cx="2032000" cy="25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 spc="110">
                <a:solidFill>
                  <a:srgbClr val="FCD535"/>
                </a:solidFill>
                <a:latin typeface="BinanceNova"/>
              </a:rPr>
              <a:t>BINANCE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017000" y="508000"/>
            <a:ext cx="2667000" cy="177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700" spc="70" b="0">
                <a:solidFill>
                  <a:srgbClr val="848E9C"/>
                </a:solidFill>
                <a:latin typeface="BinanceNova SemiBold"/>
              </a:rPr>
              <a:t>LAYOUT · DIAGRAM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62000" y="6540500"/>
            <a:ext cx="4445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650" spc="65" b="0">
                <a:solidFill>
                  <a:srgbClr val="848E9C"/>
                </a:solidFill>
                <a:latin typeface="BinanceNova SemiBold"/>
              </a:rPr>
              <a:t>JAN 2026 · SHOWCASE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985000" y="6540500"/>
            <a:ext cx="4445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lang="en-US" dirty="0" sz="650" b="0" spc="65">
                <a:solidFill>
                  <a:srgbClr val="848E9C"/>
                </a:solidFill>
                <a:latin typeface="BinanceNova SemiBold"/>
              </a:rPr>
              <a:t>SLIDE </a:t>
            </a:r>
            <a:fld id="{A1B2C3D4-E5F6-4890-ABCD-EF0123456789}" type="slidenum">
              <a:rPr lang="en-US" dirty="0" sz="650" b="0" spc="65">
                <a:solidFill>
                  <a:srgbClr val="848E9C"/>
                </a:solidFill>
                <a:latin typeface="BinanceNova SemiBold"/>
              </a:rPr>
              <a:t>1</a:t>
            </a:fld>
          </a:p>
        </p:txBody>
      </p:sp>
      <p:sp>
        <p:nvSpPr>
          <p:cNvPr id="12" name="Rectangle 11"/>
          <p:cNvSpPr/>
          <p:nvPr/>
        </p:nvSpPr>
        <p:spPr>
          <a:xfrm>
            <a:off x="635000" y="762000"/>
            <a:ext cx="508000" cy="25400"/>
          </a:xfrm>
          <a:prstGeom prst="rect">
            <a:avLst/>
          </a:prstGeom>
          <a:solidFill>
            <a:srgbClr val="FCD53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Eyebrow"/>
          <p:cNvSpPr>
            <a:spLocks noGrp="1"/>
          </p:cNvSpPr>
          <p:nvPr>
            <p:ph type="body" idx="10"/>
          </p:nvPr>
        </p:nvSpPr>
        <p:spPr>
          <a:xfrm>
            <a:off x="635000" y="1016000"/>
            <a:ext cx="109220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800" spc="80" cap="all">
                <a:solidFill>
                  <a:srgbClr val="EAECEF"/>
                </a:solidFill>
                <a:latin typeface="BinanceNova"/>
              </a:rPr>
              <a:t>LAYOUT · DIAGRAM</a:t>
            </a:r>
          </a:p>
        </p:txBody>
      </p:sp>
      <p:sp>
        <p:nvSpPr>
          <p:cNvPr id="14" name="Title"/>
          <p:cNvSpPr>
            <a:spLocks noGrp="1"/>
          </p:cNvSpPr>
          <p:nvPr>
            <p:ph type="title"/>
          </p:nvPr>
        </p:nvSpPr>
        <p:spPr>
          <a:xfrm>
            <a:off x="635000" y="1238250"/>
            <a:ext cx="10922000" cy="3175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3200" b="1" spc="-64">
                <a:solidFill>
                  <a:srgbClr val="EAECEF"/>
                </a:solidFill>
                <a:latin typeface="BinanceNova"/>
              </a:rPr>
              <a:t>Architectural overview goes here.</a:t>
            </a:r>
          </a:p>
        </p:txBody>
      </p:sp>
      <p:sp>
        <p:nvSpPr>
          <p:cNvPr id="15" name="Caption"/>
          <p:cNvSpPr>
            <a:spLocks noGrp="1"/>
          </p:cNvSpPr>
          <p:nvPr>
            <p:ph type="body" idx="11"/>
          </p:nvPr>
        </p:nvSpPr>
        <p:spPr>
          <a:xfrm>
            <a:off x="635000" y="6064250"/>
            <a:ext cx="10922000" cy="2540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1000">
                <a:solidFill>
                  <a:srgbClr val="FFFFFF"/>
                </a:solidFill>
                <a:latin typeface="BinanceNova"/>
              </a:rPr>
              <a:t>Caption · source, figure number, etc.</a:t>
            </a:r>
          </a:p>
        </p:txBody>
      </p:sp>
    </p:spTree>
  </p:cSld>
  <p:clrMapOvr>
    <a:masterClrMapping/>
  </p:clrMapOvr>
</p:sldLayout>
</file>

<file path=ppt/slideLayouts/slideLayout35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Feinschliff · Tech Radar · Full Bleed">
    <p:bg>
      <p:bgPr>
        <a:solidFill>
          <a:srgbClr val="0B0E1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pattFill prst="wdDnDiag">
            <a:fgClr>
              <a:srgbClr val="2B3139"/>
            </a:fgClr>
            <a:bgClr>
              <a:srgbClr val="1E2329"/>
            </a:bgClr>
          </a:patt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0" y="0"/>
            <a:ext cx="12192000" cy="6858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800" spc="80">
                <a:solidFill>
                  <a:srgbClr val="FFFFFF"/>
                </a:solidFill>
                <a:latin typeface="BinancePlex"/>
              </a:rPr>
              <a:t>DROP TECH-RADAR PNG (RADAR-ENGINE RENDER)</a:t>
            </a:r>
          </a:p>
        </p:txBody>
      </p:sp>
    </p:spTree>
  </p:cSld>
  <p:clrMapOvr>
    <a:masterClrMapping/>
  </p:clrMapOvr>
</p:sldLayout>
</file>

<file path=ppt/slideLayouts/slideLayout36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Feinschliff · V-Model">
    <p:bg>
      <p:bgPr>
        <a:solidFill>
          <a:srgbClr val="0B0E1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1"/>
          <p:cNvSpPr/>
          <p:nvPr/>
        </p:nvSpPr>
        <p:spPr>
          <a:xfrm>
            <a:off x="723900" y="417068"/>
            <a:ext cx="49784" cy="49784"/>
          </a:xfrm>
          <a:custGeom>
            <a:avLst/>
            <a:gdLst/>
            <a:ahLst/>
            <a:cxnLst/>
            <a:rect l="l" t="t" r="r" b="b"/>
            <a:pathLst>
              <a:path w="49784" h="49784">
                <a:moveTo>
                  <a:pt x="0" y="0"/>
                </a:moveTo>
                <a:lnTo>
                  <a:pt x="49784" y="49784"/>
                </a:lnTo>
                <a:lnTo>
                  <a:pt x="0" y="49784"/>
                </a:lnTo>
                <a:close/>
              </a:path>
            </a:pathLst>
          </a:custGeom>
          <a:solidFill>
            <a:srgbClr val="FCD5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Freeform 2"/>
          <p:cNvSpPr/>
          <p:nvPr/>
        </p:nvSpPr>
        <p:spPr>
          <a:xfrm>
            <a:off x="752348" y="445516"/>
            <a:ext cx="49784" cy="49784"/>
          </a:xfrm>
          <a:custGeom>
            <a:avLst/>
            <a:gdLst/>
            <a:ahLst/>
            <a:cxnLst/>
            <a:rect l="l" t="t" r="r" b="b"/>
            <a:pathLst>
              <a:path w="49784" h="49784">
                <a:moveTo>
                  <a:pt x="49784" y="49784"/>
                </a:moveTo>
                <a:lnTo>
                  <a:pt x="0" y="0"/>
                </a:lnTo>
                <a:lnTo>
                  <a:pt x="0" y="49784"/>
                </a:lnTo>
                <a:close/>
              </a:path>
            </a:pathLst>
          </a:custGeom>
          <a:solidFill>
            <a:srgbClr val="FCD5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Freeform 3"/>
          <p:cNvSpPr/>
          <p:nvPr/>
        </p:nvSpPr>
        <p:spPr>
          <a:xfrm>
            <a:off x="674116" y="523748"/>
            <a:ext cx="49784" cy="49784"/>
          </a:xfrm>
          <a:custGeom>
            <a:avLst/>
            <a:gdLst/>
            <a:ahLst/>
            <a:cxnLst/>
            <a:rect l="l" t="t" r="r" b="b"/>
            <a:pathLst>
              <a:path w="49784" h="49784">
                <a:moveTo>
                  <a:pt x="49784" y="49784"/>
                </a:moveTo>
                <a:lnTo>
                  <a:pt x="0" y="0"/>
                </a:lnTo>
                <a:lnTo>
                  <a:pt x="49784" y="0"/>
                </a:lnTo>
                <a:close/>
              </a:path>
            </a:pathLst>
          </a:custGeom>
          <a:solidFill>
            <a:srgbClr val="FCD5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Freeform 4"/>
          <p:cNvSpPr/>
          <p:nvPr/>
        </p:nvSpPr>
        <p:spPr>
          <a:xfrm>
            <a:off x="645668" y="495300"/>
            <a:ext cx="49784" cy="49784"/>
          </a:xfrm>
          <a:custGeom>
            <a:avLst/>
            <a:gdLst/>
            <a:ahLst/>
            <a:cxnLst/>
            <a:rect l="l" t="t" r="r" b="b"/>
            <a:pathLst>
              <a:path w="49784" h="49784">
                <a:moveTo>
                  <a:pt x="0" y="0"/>
                </a:moveTo>
                <a:lnTo>
                  <a:pt x="49784" y="49784"/>
                </a:lnTo>
                <a:lnTo>
                  <a:pt x="49784" y="0"/>
                </a:lnTo>
                <a:close/>
              </a:path>
            </a:pathLst>
          </a:custGeom>
          <a:solidFill>
            <a:srgbClr val="FCD5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01700" y="406400"/>
            <a:ext cx="2032000" cy="25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 spc="110">
                <a:solidFill>
                  <a:srgbClr val="FCD535"/>
                </a:solidFill>
                <a:latin typeface="BinanceNova"/>
              </a:rPr>
              <a:t>BINANCE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017000" y="508000"/>
            <a:ext cx="2667000" cy="177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700" spc="70" b="0">
                <a:solidFill>
                  <a:srgbClr val="848E9C"/>
                </a:solidFill>
                <a:latin typeface="BinanceNova SemiBold"/>
              </a:rPr>
              <a:t>V-MODEL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62000" y="6540500"/>
            <a:ext cx="4445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650" spc="65" b="0">
                <a:solidFill>
                  <a:srgbClr val="848E9C"/>
                </a:solidFill>
                <a:latin typeface="BinanceNova SemiBold"/>
              </a:rPr>
              <a:t>JAN 2026 · SHOWCASE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985000" y="6540500"/>
            <a:ext cx="4445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lang="en-US" dirty="0" sz="650" b="0" spc="65">
                <a:solidFill>
                  <a:srgbClr val="848E9C"/>
                </a:solidFill>
                <a:latin typeface="BinanceNova SemiBold"/>
              </a:rPr>
              <a:t>SLIDE </a:t>
            </a:r>
            <a:fld id="{A1B2C3D4-E5F6-4890-ABCD-EF0123456789}" type="slidenum">
              <a:rPr lang="en-US" dirty="0" sz="650" b="0" spc="65">
                <a:solidFill>
                  <a:srgbClr val="848E9C"/>
                </a:solidFill>
                <a:latin typeface="BinanceNova SemiBold"/>
              </a:rPr>
              <a:t>1</a:t>
            </a:fld>
          </a:p>
        </p:txBody>
      </p:sp>
      <p:sp>
        <p:nvSpPr>
          <p:cNvPr id="10" name="Kicker"/>
          <p:cNvSpPr>
            <a:spLocks noGrp="1"/>
          </p:cNvSpPr>
          <p:nvPr>
            <p:ph type="body" idx="11"/>
          </p:nvPr>
        </p:nvSpPr>
        <p:spPr>
          <a:xfrm>
            <a:off x="635000" y="1143000"/>
            <a:ext cx="109220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800" spc="80" cap="all">
                <a:solidFill>
                  <a:srgbClr val="FCD535"/>
                </a:solidFill>
                <a:latin typeface="BinanceNova"/>
              </a:rPr>
              <a:t>VERIFICATION · VALIDATION</a:t>
            </a:r>
          </a:p>
        </p:txBody>
      </p:sp>
      <p:sp>
        <p:nvSpPr>
          <p:cNvPr id="11" name="Action Title"/>
          <p:cNvSpPr>
            <a:spLocks noGrp="1"/>
          </p:cNvSpPr>
          <p:nvPr>
            <p:ph type="title"/>
          </p:nvPr>
        </p:nvSpPr>
        <p:spPr>
          <a:xfrm>
            <a:off x="635000" y="1397000"/>
            <a:ext cx="10922000" cy="1016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4999"/>
              </a:lnSpc>
              <a:buNone/>
            </a:pPr>
            <a:r>
              <a:rPr lang="en-US" sz="2600" spc="-39">
                <a:solidFill>
                  <a:srgbClr val="EAECEF"/>
                </a:solidFill>
                <a:latin typeface="BinanceNova Medium"/>
              </a:rPr>
              <a:t>Every design step on the left has a matching test on the right — the V-model pairs them.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1016000" y="2800350"/>
            <a:ext cx="1270000" cy="609600"/>
          </a:xfrm>
          <a:prstGeom prst="rect">
            <a:avLst/>
          </a:prstGeom>
          <a:solidFill>
            <a:srgbClr val="1E232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1016000" y="2800350"/>
            <a:ext cx="25400" cy="609600"/>
          </a:xfrm>
          <a:prstGeom prst="rect">
            <a:avLst/>
          </a:prstGeom>
          <a:solidFill>
            <a:srgbClr val="0B0E1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9906000" y="2800350"/>
            <a:ext cx="1270000" cy="609600"/>
          </a:xfrm>
          <a:prstGeom prst="rect">
            <a:avLst/>
          </a:prstGeom>
          <a:solidFill>
            <a:srgbClr val="1E232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11150600" y="2800350"/>
            <a:ext cx="25400" cy="609600"/>
          </a:xfrm>
          <a:prstGeom prst="rect">
            <a:avLst/>
          </a:prstGeom>
          <a:solidFill>
            <a:srgbClr val="FCD53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2286000" y="3101975"/>
            <a:ext cx="38100" cy="6350"/>
          </a:xfrm>
          <a:prstGeom prst="rect">
            <a:avLst/>
          </a:prstGeom>
          <a:solidFill>
            <a:srgbClr val="848E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2362200" y="3101975"/>
            <a:ext cx="38100" cy="6350"/>
          </a:xfrm>
          <a:prstGeom prst="rect">
            <a:avLst/>
          </a:prstGeom>
          <a:solidFill>
            <a:srgbClr val="848E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2438400" y="3101975"/>
            <a:ext cx="38100" cy="6350"/>
          </a:xfrm>
          <a:prstGeom prst="rect">
            <a:avLst/>
          </a:prstGeom>
          <a:solidFill>
            <a:srgbClr val="848E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2514600" y="3101975"/>
            <a:ext cx="38100" cy="6350"/>
          </a:xfrm>
          <a:prstGeom prst="rect">
            <a:avLst/>
          </a:prstGeom>
          <a:solidFill>
            <a:srgbClr val="848E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2590800" y="3101975"/>
            <a:ext cx="38100" cy="6350"/>
          </a:xfrm>
          <a:prstGeom prst="rect">
            <a:avLst/>
          </a:prstGeom>
          <a:solidFill>
            <a:srgbClr val="848E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2667000" y="3101975"/>
            <a:ext cx="38100" cy="6350"/>
          </a:xfrm>
          <a:prstGeom prst="rect">
            <a:avLst/>
          </a:prstGeom>
          <a:solidFill>
            <a:srgbClr val="848E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2743200" y="3101975"/>
            <a:ext cx="38100" cy="6350"/>
          </a:xfrm>
          <a:prstGeom prst="rect">
            <a:avLst/>
          </a:prstGeom>
          <a:solidFill>
            <a:srgbClr val="848E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2819400" y="3101975"/>
            <a:ext cx="38100" cy="6350"/>
          </a:xfrm>
          <a:prstGeom prst="rect">
            <a:avLst/>
          </a:prstGeom>
          <a:solidFill>
            <a:srgbClr val="848E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2895600" y="3101975"/>
            <a:ext cx="38100" cy="6350"/>
          </a:xfrm>
          <a:prstGeom prst="rect">
            <a:avLst/>
          </a:prstGeom>
          <a:solidFill>
            <a:srgbClr val="848E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2971800" y="3101975"/>
            <a:ext cx="38100" cy="6350"/>
          </a:xfrm>
          <a:prstGeom prst="rect">
            <a:avLst/>
          </a:prstGeom>
          <a:solidFill>
            <a:srgbClr val="848E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3048000" y="3101975"/>
            <a:ext cx="38100" cy="6350"/>
          </a:xfrm>
          <a:prstGeom prst="rect">
            <a:avLst/>
          </a:prstGeom>
          <a:solidFill>
            <a:srgbClr val="848E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3124200" y="3101975"/>
            <a:ext cx="38100" cy="6350"/>
          </a:xfrm>
          <a:prstGeom prst="rect">
            <a:avLst/>
          </a:prstGeom>
          <a:solidFill>
            <a:srgbClr val="848E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3200400" y="3101975"/>
            <a:ext cx="38100" cy="6350"/>
          </a:xfrm>
          <a:prstGeom prst="rect">
            <a:avLst/>
          </a:prstGeom>
          <a:solidFill>
            <a:srgbClr val="848E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3276600" y="3101975"/>
            <a:ext cx="38100" cy="6350"/>
          </a:xfrm>
          <a:prstGeom prst="rect">
            <a:avLst/>
          </a:prstGeom>
          <a:solidFill>
            <a:srgbClr val="848E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>
            <a:off x="3352800" y="3101975"/>
            <a:ext cx="38100" cy="6350"/>
          </a:xfrm>
          <a:prstGeom prst="rect">
            <a:avLst/>
          </a:prstGeom>
          <a:solidFill>
            <a:srgbClr val="848E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3429000" y="3101975"/>
            <a:ext cx="38100" cy="6350"/>
          </a:xfrm>
          <a:prstGeom prst="rect">
            <a:avLst/>
          </a:prstGeom>
          <a:solidFill>
            <a:srgbClr val="848E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ectangle 31"/>
          <p:cNvSpPr/>
          <p:nvPr/>
        </p:nvSpPr>
        <p:spPr>
          <a:xfrm>
            <a:off x="3505200" y="3101975"/>
            <a:ext cx="38100" cy="6350"/>
          </a:xfrm>
          <a:prstGeom prst="rect">
            <a:avLst/>
          </a:prstGeom>
          <a:solidFill>
            <a:srgbClr val="848E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ectangle 32"/>
          <p:cNvSpPr/>
          <p:nvPr/>
        </p:nvSpPr>
        <p:spPr>
          <a:xfrm>
            <a:off x="3581400" y="3101975"/>
            <a:ext cx="38100" cy="6350"/>
          </a:xfrm>
          <a:prstGeom prst="rect">
            <a:avLst/>
          </a:prstGeom>
          <a:solidFill>
            <a:srgbClr val="848E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Rectangle 33"/>
          <p:cNvSpPr/>
          <p:nvPr/>
        </p:nvSpPr>
        <p:spPr>
          <a:xfrm>
            <a:off x="3657600" y="3101975"/>
            <a:ext cx="38100" cy="6350"/>
          </a:xfrm>
          <a:prstGeom prst="rect">
            <a:avLst/>
          </a:prstGeom>
          <a:solidFill>
            <a:srgbClr val="848E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Rectangle 34"/>
          <p:cNvSpPr/>
          <p:nvPr/>
        </p:nvSpPr>
        <p:spPr>
          <a:xfrm>
            <a:off x="3733800" y="3101975"/>
            <a:ext cx="38100" cy="6350"/>
          </a:xfrm>
          <a:prstGeom prst="rect">
            <a:avLst/>
          </a:prstGeom>
          <a:solidFill>
            <a:srgbClr val="848E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Rectangle 35"/>
          <p:cNvSpPr/>
          <p:nvPr/>
        </p:nvSpPr>
        <p:spPr>
          <a:xfrm>
            <a:off x="3810000" y="3101975"/>
            <a:ext cx="38100" cy="6350"/>
          </a:xfrm>
          <a:prstGeom prst="rect">
            <a:avLst/>
          </a:prstGeom>
          <a:solidFill>
            <a:srgbClr val="848E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Rectangle 36"/>
          <p:cNvSpPr/>
          <p:nvPr/>
        </p:nvSpPr>
        <p:spPr>
          <a:xfrm>
            <a:off x="3886200" y="3101975"/>
            <a:ext cx="38100" cy="6350"/>
          </a:xfrm>
          <a:prstGeom prst="rect">
            <a:avLst/>
          </a:prstGeom>
          <a:solidFill>
            <a:srgbClr val="848E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Rectangle 37"/>
          <p:cNvSpPr/>
          <p:nvPr/>
        </p:nvSpPr>
        <p:spPr>
          <a:xfrm>
            <a:off x="3962400" y="3101975"/>
            <a:ext cx="38100" cy="6350"/>
          </a:xfrm>
          <a:prstGeom prst="rect">
            <a:avLst/>
          </a:prstGeom>
          <a:solidFill>
            <a:srgbClr val="848E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Rectangle 38"/>
          <p:cNvSpPr/>
          <p:nvPr/>
        </p:nvSpPr>
        <p:spPr>
          <a:xfrm>
            <a:off x="4038600" y="3101975"/>
            <a:ext cx="38100" cy="6350"/>
          </a:xfrm>
          <a:prstGeom prst="rect">
            <a:avLst/>
          </a:prstGeom>
          <a:solidFill>
            <a:srgbClr val="848E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Rectangle 39"/>
          <p:cNvSpPr/>
          <p:nvPr/>
        </p:nvSpPr>
        <p:spPr>
          <a:xfrm>
            <a:off x="4114800" y="3101975"/>
            <a:ext cx="38100" cy="6350"/>
          </a:xfrm>
          <a:prstGeom prst="rect">
            <a:avLst/>
          </a:prstGeom>
          <a:solidFill>
            <a:srgbClr val="848E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Rectangle 40"/>
          <p:cNvSpPr/>
          <p:nvPr/>
        </p:nvSpPr>
        <p:spPr>
          <a:xfrm>
            <a:off x="4191000" y="3101975"/>
            <a:ext cx="38100" cy="6350"/>
          </a:xfrm>
          <a:prstGeom prst="rect">
            <a:avLst/>
          </a:prstGeom>
          <a:solidFill>
            <a:srgbClr val="848E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Rectangle 41"/>
          <p:cNvSpPr/>
          <p:nvPr/>
        </p:nvSpPr>
        <p:spPr>
          <a:xfrm>
            <a:off x="4267200" y="3101975"/>
            <a:ext cx="38100" cy="6350"/>
          </a:xfrm>
          <a:prstGeom prst="rect">
            <a:avLst/>
          </a:prstGeom>
          <a:solidFill>
            <a:srgbClr val="848E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Rectangle 42"/>
          <p:cNvSpPr/>
          <p:nvPr/>
        </p:nvSpPr>
        <p:spPr>
          <a:xfrm>
            <a:off x="4343400" y="3101975"/>
            <a:ext cx="38100" cy="6350"/>
          </a:xfrm>
          <a:prstGeom prst="rect">
            <a:avLst/>
          </a:prstGeom>
          <a:solidFill>
            <a:srgbClr val="848E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Rectangle 43"/>
          <p:cNvSpPr/>
          <p:nvPr/>
        </p:nvSpPr>
        <p:spPr>
          <a:xfrm>
            <a:off x="4419600" y="3101975"/>
            <a:ext cx="38100" cy="6350"/>
          </a:xfrm>
          <a:prstGeom prst="rect">
            <a:avLst/>
          </a:prstGeom>
          <a:solidFill>
            <a:srgbClr val="848E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Rectangle 44"/>
          <p:cNvSpPr/>
          <p:nvPr/>
        </p:nvSpPr>
        <p:spPr>
          <a:xfrm>
            <a:off x="4495800" y="3101975"/>
            <a:ext cx="38100" cy="6350"/>
          </a:xfrm>
          <a:prstGeom prst="rect">
            <a:avLst/>
          </a:prstGeom>
          <a:solidFill>
            <a:srgbClr val="848E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Rectangle 45"/>
          <p:cNvSpPr/>
          <p:nvPr/>
        </p:nvSpPr>
        <p:spPr>
          <a:xfrm>
            <a:off x="4572000" y="3101975"/>
            <a:ext cx="38100" cy="6350"/>
          </a:xfrm>
          <a:prstGeom prst="rect">
            <a:avLst/>
          </a:prstGeom>
          <a:solidFill>
            <a:srgbClr val="848E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Rectangle 46"/>
          <p:cNvSpPr/>
          <p:nvPr/>
        </p:nvSpPr>
        <p:spPr>
          <a:xfrm>
            <a:off x="4648200" y="3101975"/>
            <a:ext cx="38100" cy="6350"/>
          </a:xfrm>
          <a:prstGeom prst="rect">
            <a:avLst/>
          </a:prstGeom>
          <a:solidFill>
            <a:srgbClr val="848E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Rectangle 47"/>
          <p:cNvSpPr/>
          <p:nvPr/>
        </p:nvSpPr>
        <p:spPr>
          <a:xfrm>
            <a:off x="4724400" y="3101975"/>
            <a:ext cx="38100" cy="6350"/>
          </a:xfrm>
          <a:prstGeom prst="rect">
            <a:avLst/>
          </a:prstGeom>
          <a:solidFill>
            <a:srgbClr val="848E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Rectangle 48"/>
          <p:cNvSpPr/>
          <p:nvPr/>
        </p:nvSpPr>
        <p:spPr>
          <a:xfrm>
            <a:off x="4800600" y="3101975"/>
            <a:ext cx="38100" cy="6350"/>
          </a:xfrm>
          <a:prstGeom prst="rect">
            <a:avLst/>
          </a:prstGeom>
          <a:solidFill>
            <a:srgbClr val="848E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Rectangle 49"/>
          <p:cNvSpPr/>
          <p:nvPr/>
        </p:nvSpPr>
        <p:spPr>
          <a:xfrm>
            <a:off x="4876800" y="3101975"/>
            <a:ext cx="38100" cy="6350"/>
          </a:xfrm>
          <a:prstGeom prst="rect">
            <a:avLst/>
          </a:prstGeom>
          <a:solidFill>
            <a:srgbClr val="848E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Rectangle 50"/>
          <p:cNvSpPr/>
          <p:nvPr/>
        </p:nvSpPr>
        <p:spPr>
          <a:xfrm>
            <a:off x="4953000" y="3101975"/>
            <a:ext cx="38100" cy="6350"/>
          </a:xfrm>
          <a:prstGeom prst="rect">
            <a:avLst/>
          </a:prstGeom>
          <a:solidFill>
            <a:srgbClr val="848E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Rectangle 51"/>
          <p:cNvSpPr/>
          <p:nvPr/>
        </p:nvSpPr>
        <p:spPr>
          <a:xfrm>
            <a:off x="5029200" y="3101975"/>
            <a:ext cx="38100" cy="6350"/>
          </a:xfrm>
          <a:prstGeom prst="rect">
            <a:avLst/>
          </a:prstGeom>
          <a:solidFill>
            <a:srgbClr val="848E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Rectangle 52"/>
          <p:cNvSpPr/>
          <p:nvPr/>
        </p:nvSpPr>
        <p:spPr>
          <a:xfrm>
            <a:off x="5105400" y="3101975"/>
            <a:ext cx="38100" cy="6350"/>
          </a:xfrm>
          <a:prstGeom prst="rect">
            <a:avLst/>
          </a:prstGeom>
          <a:solidFill>
            <a:srgbClr val="848E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Rectangle 53"/>
          <p:cNvSpPr/>
          <p:nvPr/>
        </p:nvSpPr>
        <p:spPr>
          <a:xfrm>
            <a:off x="5181600" y="3101975"/>
            <a:ext cx="38100" cy="6350"/>
          </a:xfrm>
          <a:prstGeom prst="rect">
            <a:avLst/>
          </a:prstGeom>
          <a:solidFill>
            <a:srgbClr val="848E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Rectangle 54"/>
          <p:cNvSpPr/>
          <p:nvPr/>
        </p:nvSpPr>
        <p:spPr>
          <a:xfrm>
            <a:off x="5257800" y="3101975"/>
            <a:ext cx="38100" cy="6350"/>
          </a:xfrm>
          <a:prstGeom prst="rect">
            <a:avLst/>
          </a:prstGeom>
          <a:solidFill>
            <a:srgbClr val="848E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Rectangle 55"/>
          <p:cNvSpPr/>
          <p:nvPr/>
        </p:nvSpPr>
        <p:spPr>
          <a:xfrm>
            <a:off x="5334000" y="3101975"/>
            <a:ext cx="38100" cy="6350"/>
          </a:xfrm>
          <a:prstGeom prst="rect">
            <a:avLst/>
          </a:prstGeom>
          <a:solidFill>
            <a:srgbClr val="848E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Rectangle 56"/>
          <p:cNvSpPr/>
          <p:nvPr/>
        </p:nvSpPr>
        <p:spPr>
          <a:xfrm>
            <a:off x="5410200" y="3101975"/>
            <a:ext cx="38100" cy="6350"/>
          </a:xfrm>
          <a:prstGeom prst="rect">
            <a:avLst/>
          </a:prstGeom>
          <a:solidFill>
            <a:srgbClr val="848E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" name="Rectangle 57"/>
          <p:cNvSpPr/>
          <p:nvPr/>
        </p:nvSpPr>
        <p:spPr>
          <a:xfrm>
            <a:off x="5486400" y="3101975"/>
            <a:ext cx="38100" cy="6350"/>
          </a:xfrm>
          <a:prstGeom prst="rect">
            <a:avLst/>
          </a:prstGeom>
          <a:solidFill>
            <a:srgbClr val="848E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" name="Rectangle 58"/>
          <p:cNvSpPr/>
          <p:nvPr/>
        </p:nvSpPr>
        <p:spPr>
          <a:xfrm>
            <a:off x="5562600" y="3101975"/>
            <a:ext cx="38100" cy="6350"/>
          </a:xfrm>
          <a:prstGeom prst="rect">
            <a:avLst/>
          </a:prstGeom>
          <a:solidFill>
            <a:srgbClr val="848E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" name="Rectangle 59"/>
          <p:cNvSpPr/>
          <p:nvPr/>
        </p:nvSpPr>
        <p:spPr>
          <a:xfrm>
            <a:off x="5638800" y="3101975"/>
            <a:ext cx="38100" cy="6350"/>
          </a:xfrm>
          <a:prstGeom prst="rect">
            <a:avLst/>
          </a:prstGeom>
          <a:solidFill>
            <a:srgbClr val="848E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" name="Rectangle 60"/>
          <p:cNvSpPr/>
          <p:nvPr/>
        </p:nvSpPr>
        <p:spPr>
          <a:xfrm>
            <a:off x="5715000" y="3101975"/>
            <a:ext cx="38100" cy="6350"/>
          </a:xfrm>
          <a:prstGeom prst="rect">
            <a:avLst/>
          </a:prstGeom>
          <a:solidFill>
            <a:srgbClr val="848E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" name="Rectangle 61"/>
          <p:cNvSpPr/>
          <p:nvPr/>
        </p:nvSpPr>
        <p:spPr>
          <a:xfrm>
            <a:off x="5791200" y="3101975"/>
            <a:ext cx="38100" cy="6350"/>
          </a:xfrm>
          <a:prstGeom prst="rect">
            <a:avLst/>
          </a:prstGeom>
          <a:solidFill>
            <a:srgbClr val="848E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3" name="Rectangle 62"/>
          <p:cNvSpPr/>
          <p:nvPr/>
        </p:nvSpPr>
        <p:spPr>
          <a:xfrm>
            <a:off x="5867400" y="3101975"/>
            <a:ext cx="38100" cy="6350"/>
          </a:xfrm>
          <a:prstGeom prst="rect">
            <a:avLst/>
          </a:prstGeom>
          <a:solidFill>
            <a:srgbClr val="848E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4" name="Rectangle 63"/>
          <p:cNvSpPr/>
          <p:nvPr/>
        </p:nvSpPr>
        <p:spPr>
          <a:xfrm>
            <a:off x="5943600" y="3101975"/>
            <a:ext cx="38100" cy="6350"/>
          </a:xfrm>
          <a:prstGeom prst="rect">
            <a:avLst/>
          </a:prstGeom>
          <a:solidFill>
            <a:srgbClr val="848E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5" name="Rectangle 64"/>
          <p:cNvSpPr/>
          <p:nvPr/>
        </p:nvSpPr>
        <p:spPr>
          <a:xfrm>
            <a:off x="6019800" y="3101975"/>
            <a:ext cx="38100" cy="6350"/>
          </a:xfrm>
          <a:prstGeom prst="rect">
            <a:avLst/>
          </a:prstGeom>
          <a:solidFill>
            <a:srgbClr val="848E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6" name="Rectangle 65"/>
          <p:cNvSpPr/>
          <p:nvPr/>
        </p:nvSpPr>
        <p:spPr>
          <a:xfrm>
            <a:off x="6096000" y="3101975"/>
            <a:ext cx="38100" cy="6350"/>
          </a:xfrm>
          <a:prstGeom prst="rect">
            <a:avLst/>
          </a:prstGeom>
          <a:solidFill>
            <a:srgbClr val="848E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7" name="Rectangle 66"/>
          <p:cNvSpPr/>
          <p:nvPr/>
        </p:nvSpPr>
        <p:spPr>
          <a:xfrm>
            <a:off x="6172200" y="3101975"/>
            <a:ext cx="38100" cy="6350"/>
          </a:xfrm>
          <a:prstGeom prst="rect">
            <a:avLst/>
          </a:prstGeom>
          <a:solidFill>
            <a:srgbClr val="848E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8" name="Rectangle 67"/>
          <p:cNvSpPr/>
          <p:nvPr/>
        </p:nvSpPr>
        <p:spPr>
          <a:xfrm>
            <a:off x="6248400" y="3101975"/>
            <a:ext cx="38100" cy="6350"/>
          </a:xfrm>
          <a:prstGeom prst="rect">
            <a:avLst/>
          </a:prstGeom>
          <a:solidFill>
            <a:srgbClr val="848E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9" name="Rectangle 68"/>
          <p:cNvSpPr/>
          <p:nvPr/>
        </p:nvSpPr>
        <p:spPr>
          <a:xfrm>
            <a:off x="6324600" y="3101975"/>
            <a:ext cx="38100" cy="6350"/>
          </a:xfrm>
          <a:prstGeom prst="rect">
            <a:avLst/>
          </a:prstGeom>
          <a:solidFill>
            <a:srgbClr val="848E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0" name="Rectangle 69"/>
          <p:cNvSpPr/>
          <p:nvPr/>
        </p:nvSpPr>
        <p:spPr>
          <a:xfrm>
            <a:off x="6400800" y="3101975"/>
            <a:ext cx="38100" cy="6350"/>
          </a:xfrm>
          <a:prstGeom prst="rect">
            <a:avLst/>
          </a:prstGeom>
          <a:solidFill>
            <a:srgbClr val="848E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1" name="Rectangle 70"/>
          <p:cNvSpPr/>
          <p:nvPr/>
        </p:nvSpPr>
        <p:spPr>
          <a:xfrm>
            <a:off x="6477000" y="3101975"/>
            <a:ext cx="38100" cy="6350"/>
          </a:xfrm>
          <a:prstGeom prst="rect">
            <a:avLst/>
          </a:prstGeom>
          <a:solidFill>
            <a:srgbClr val="848E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2" name="Rectangle 71"/>
          <p:cNvSpPr/>
          <p:nvPr/>
        </p:nvSpPr>
        <p:spPr>
          <a:xfrm>
            <a:off x="6553200" y="3101975"/>
            <a:ext cx="38100" cy="6350"/>
          </a:xfrm>
          <a:prstGeom prst="rect">
            <a:avLst/>
          </a:prstGeom>
          <a:solidFill>
            <a:srgbClr val="848E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3" name="Rectangle 72"/>
          <p:cNvSpPr/>
          <p:nvPr/>
        </p:nvSpPr>
        <p:spPr>
          <a:xfrm>
            <a:off x="6629400" y="3101975"/>
            <a:ext cx="38100" cy="6350"/>
          </a:xfrm>
          <a:prstGeom prst="rect">
            <a:avLst/>
          </a:prstGeom>
          <a:solidFill>
            <a:srgbClr val="848E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4" name="Rectangle 73"/>
          <p:cNvSpPr/>
          <p:nvPr/>
        </p:nvSpPr>
        <p:spPr>
          <a:xfrm>
            <a:off x="6705600" y="3101975"/>
            <a:ext cx="38100" cy="6350"/>
          </a:xfrm>
          <a:prstGeom prst="rect">
            <a:avLst/>
          </a:prstGeom>
          <a:solidFill>
            <a:srgbClr val="848E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5" name="Rectangle 74"/>
          <p:cNvSpPr/>
          <p:nvPr/>
        </p:nvSpPr>
        <p:spPr>
          <a:xfrm>
            <a:off x="6781800" y="3101975"/>
            <a:ext cx="38100" cy="6350"/>
          </a:xfrm>
          <a:prstGeom prst="rect">
            <a:avLst/>
          </a:prstGeom>
          <a:solidFill>
            <a:srgbClr val="848E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6" name="Rectangle 75"/>
          <p:cNvSpPr/>
          <p:nvPr/>
        </p:nvSpPr>
        <p:spPr>
          <a:xfrm>
            <a:off x="6858000" y="3101975"/>
            <a:ext cx="38100" cy="6350"/>
          </a:xfrm>
          <a:prstGeom prst="rect">
            <a:avLst/>
          </a:prstGeom>
          <a:solidFill>
            <a:srgbClr val="848E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7" name="Rectangle 76"/>
          <p:cNvSpPr/>
          <p:nvPr/>
        </p:nvSpPr>
        <p:spPr>
          <a:xfrm>
            <a:off x="6934200" y="3101975"/>
            <a:ext cx="38100" cy="6350"/>
          </a:xfrm>
          <a:prstGeom prst="rect">
            <a:avLst/>
          </a:prstGeom>
          <a:solidFill>
            <a:srgbClr val="848E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8" name="Rectangle 77"/>
          <p:cNvSpPr/>
          <p:nvPr/>
        </p:nvSpPr>
        <p:spPr>
          <a:xfrm>
            <a:off x="7010400" y="3101975"/>
            <a:ext cx="38100" cy="6350"/>
          </a:xfrm>
          <a:prstGeom prst="rect">
            <a:avLst/>
          </a:prstGeom>
          <a:solidFill>
            <a:srgbClr val="848E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9" name="Rectangle 78"/>
          <p:cNvSpPr/>
          <p:nvPr/>
        </p:nvSpPr>
        <p:spPr>
          <a:xfrm>
            <a:off x="7086600" y="3101975"/>
            <a:ext cx="38100" cy="6350"/>
          </a:xfrm>
          <a:prstGeom prst="rect">
            <a:avLst/>
          </a:prstGeom>
          <a:solidFill>
            <a:srgbClr val="848E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0" name="Rectangle 79"/>
          <p:cNvSpPr/>
          <p:nvPr/>
        </p:nvSpPr>
        <p:spPr>
          <a:xfrm>
            <a:off x="7162800" y="3101975"/>
            <a:ext cx="38100" cy="6350"/>
          </a:xfrm>
          <a:prstGeom prst="rect">
            <a:avLst/>
          </a:prstGeom>
          <a:solidFill>
            <a:srgbClr val="848E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1" name="Rectangle 80"/>
          <p:cNvSpPr/>
          <p:nvPr/>
        </p:nvSpPr>
        <p:spPr>
          <a:xfrm>
            <a:off x="7239000" y="3101975"/>
            <a:ext cx="38100" cy="6350"/>
          </a:xfrm>
          <a:prstGeom prst="rect">
            <a:avLst/>
          </a:prstGeom>
          <a:solidFill>
            <a:srgbClr val="848E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2" name="Rectangle 81"/>
          <p:cNvSpPr/>
          <p:nvPr/>
        </p:nvSpPr>
        <p:spPr>
          <a:xfrm>
            <a:off x="7315200" y="3101975"/>
            <a:ext cx="38100" cy="6350"/>
          </a:xfrm>
          <a:prstGeom prst="rect">
            <a:avLst/>
          </a:prstGeom>
          <a:solidFill>
            <a:srgbClr val="848E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3" name="Rectangle 82"/>
          <p:cNvSpPr/>
          <p:nvPr/>
        </p:nvSpPr>
        <p:spPr>
          <a:xfrm>
            <a:off x="7391400" y="3101975"/>
            <a:ext cx="38100" cy="6350"/>
          </a:xfrm>
          <a:prstGeom prst="rect">
            <a:avLst/>
          </a:prstGeom>
          <a:solidFill>
            <a:srgbClr val="848E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4" name="Rectangle 83"/>
          <p:cNvSpPr/>
          <p:nvPr/>
        </p:nvSpPr>
        <p:spPr>
          <a:xfrm>
            <a:off x="7467600" y="3101975"/>
            <a:ext cx="38100" cy="6350"/>
          </a:xfrm>
          <a:prstGeom prst="rect">
            <a:avLst/>
          </a:prstGeom>
          <a:solidFill>
            <a:srgbClr val="848E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5" name="Rectangle 84"/>
          <p:cNvSpPr/>
          <p:nvPr/>
        </p:nvSpPr>
        <p:spPr>
          <a:xfrm>
            <a:off x="7543800" y="3101975"/>
            <a:ext cx="38100" cy="6350"/>
          </a:xfrm>
          <a:prstGeom prst="rect">
            <a:avLst/>
          </a:prstGeom>
          <a:solidFill>
            <a:srgbClr val="848E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6" name="Rectangle 85"/>
          <p:cNvSpPr/>
          <p:nvPr/>
        </p:nvSpPr>
        <p:spPr>
          <a:xfrm>
            <a:off x="7620000" y="3101975"/>
            <a:ext cx="38100" cy="6350"/>
          </a:xfrm>
          <a:prstGeom prst="rect">
            <a:avLst/>
          </a:prstGeom>
          <a:solidFill>
            <a:srgbClr val="848E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7" name="Rectangle 86"/>
          <p:cNvSpPr/>
          <p:nvPr/>
        </p:nvSpPr>
        <p:spPr>
          <a:xfrm>
            <a:off x="7696200" y="3101975"/>
            <a:ext cx="38100" cy="6350"/>
          </a:xfrm>
          <a:prstGeom prst="rect">
            <a:avLst/>
          </a:prstGeom>
          <a:solidFill>
            <a:srgbClr val="848E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8" name="Rectangle 87"/>
          <p:cNvSpPr/>
          <p:nvPr/>
        </p:nvSpPr>
        <p:spPr>
          <a:xfrm>
            <a:off x="7772400" y="3101975"/>
            <a:ext cx="38100" cy="6350"/>
          </a:xfrm>
          <a:prstGeom prst="rect">
            <a:avLst/>
          </a:prstGeom>
          <a:solidFill>
            <a:srgbClr val="848E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9" name="Rectangle 88"/>
          <p:cNvSpPr/>
          <p:nvPr/>
        </p:nvSpPr>
        <p:spPr>
          <a:xfrm>
            <a:off x="7848600" y="3101975"/>
            <a:ext cx="38100" cy="6350"/>
          </a:xfrm>
          <a:prstGeom prst="rect">
            <a:avLst/>
          </a:prstGeom>
          <a:solidFill>
            <a:srgbClr val="848E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0" name="Rectangle 89"/>
          <p:cNvSpPr/>
          <p:nvPr/>
        </p:nvSpPr>
        <p:spPr>
          <a:xfrm>
            <a:off x="7924800" y="3101975"/>
            <a:ext cx="38100" cy="6350"/>
          </a:xfrm>
          <a:prstGeom prst="rect">
            <a:avLst/>
          </a:prstGeom>
          <a:solidFill>
            <a:srgbClr val="848E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1" name="Rectangle 90"/>
          <p:cNvSpPr/>
          <p:nvPr/>
        </p:nvSpPr>
        <p:spPr>
          <a:xfrm>
            <a:off x="8001000" y="3101975"/>
            <a:ext cx="38100" cy="6350"/>
          </a:xfrm>
          <a:prstGeom prst="rect">
            <a:avLst/>
          </a:prstGeom>
          <a:solidFill>
            <a:srgbClr val="848E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2" name="Rectangle 91"/>
          <p:cNvSpPr/>
          <p:nvPr/>
        </p:nvSpPr>
        <p:spPr>
          <a:xfrm>
            <a:off x="8077200" y="3101975"/>
            <a:ext cx="38100" cy="6350"/>
          </a:xfrm>
          <a:prstGeom prst="rect">
            <a:avLst/>
          </a:prstGeom>
          <a:solidFill>
            <a:srgbClr val="848E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3" name="Rectangle 92"/>
          <p:cNvSpPr/>
          <p:nvPr/>
        </p:nvSpPr>
        <p:spPr>
          <a:xfrm>
            <a:off x="8153400" y="3101975"/>
            <a:ext cx="38100" cy="6350"/>
          </a:xfrm>
          <a:prstGeom prst="rect">
            <a:avLst/>
          </a:prstGeom>
          <a:solidFill>
            <a:srgbClr val="848E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4" name="Rectangle 93"/>
          <p:cNvSpPr/>
          <p:nvPr/>
        </p:nvSpPr>
        <p:spPr>
          <a:xfrm>
            <a:off x="8229600" y="3101975"/>
            <a:ext cx="38100" cy="6350"/>
          </a:xfrm>
          <a:prstGeom prst="rect">
            <a:avLst/>
          </a:prstGeom>
          <a:solidFill>
            <a:srgbClr val="848E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5" name="Rectangle 94"/>
          <p:cNvSpPr/>
          <p:nvPr/>
        </p:nvSpPr>
        <p:spPr>
          <a:xfrm>
            <a:off x="8305800" y="3101975"/>
            <a:ext cx="38100" cy="6350"/>
          </a:xfrm>
          <a:prstGeom prst="rect">
            <a:avLst/>
          </a:prstGeom>
          <a:solidFill>
            <a:srgbClr val="848E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6" name="Rectangle 95"/>
          <p:cNvSpPr/>
          <p:nvPr/>
        </p:nvSpPr>
        <p:spPr>
          <a:xfrm>
            <a:off x="8382000" y="3101975"/>
            <a:ext cx="38100" cy="6350"/>
          </a:xfrm>
          <a:prstGeom prst="rect">
            <a:avLst/>
          </a:prstGeom>
          <a:solidFill>
            <a:srgbClr val="848E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7" name="Rectangle 96"/>
          <p:cNvSpPr/>
          <p:nvPr/>
        </p:nvSpPr>
        <p:spPr>
          <a:xfrm>
            <a:off x="8458200" y="3101975"/>
            <a:ext cx="38100" cy="6350"/>
          </a:xfrm>
          <a:prstGeom prst="rect">
            <a:avLst/>
          </a:prstGeom>
          <a:solidFill>
            <a:srgbClr val="848E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8" name="Rectangle 97"/>
          <p:cNvSpPr/>
          <p:nvPr/>
        </p:nvSpPr>
        <p:spPr>
          <a:xfrm>
            <a:off x="8534400" y="3101975"/>
            <a:ext cx="38100" cy="6350"/>
          </a:xfrm>
          <a:prstGeom prst="rect">
            <a:avLst/>
          </a:prstGeom>
          <a:solidFill>
            <a:srgbClr val="848E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9" name="Rectangle 98"/>
          <p:cNvSpPr/>
          <p:nvPr/>
        </p:nvSpPr>
        <p:spPr>
          <a:xfrm>
            <a:off x="8610600" y="3101975"/>
            <a:ext cx="38100" cy="6350"/>
          </a:xfrm>
          <a:prstGeom prst="rect">
            <a:avLst/>
          </a:prstGeom>
          <a:solidFill>
            <a:srgbClr val="848E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0" name="Rectangle 99"/>
          <p:cNvSpPr/>
          <p:nvPr/>
        </p:nvSpPr>
        <p:spPr>
          <a:xfrm>
            <a:off x="8686800" y="3101975"/>
            <a:ext cx="38100" cy="6350"/>
          </a:xfrm>
          <a:prstGeom prst="rect">
            <a:avLst/>
          </a:prstGeom>
          <a:solidFill>
            <a:srgbClr val="848E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1" name="Rectangle 100"/>
          <p:cNvSpPr/>
          <p:nvPr/>
        </p:nvSpPr>
        <p:spPr>
          <a:xfrm>
            <a:off x="8763000" y="3101975"/>
            <a:ext cx="38100" cy="6350"/>
          </a:xfrm>
          <a:prstGeom prst="rect">
            <a:avLst/>
          </a:prstGeom>
          <a:solidFill>
            <a:srgbClr val="848E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2" name="Rectangle 101"/>
          <p:cNvSpPr/>
          <p:nvPr/>
        </p:nvSpPr>
        <p:spPr>
          <a:xfrm>
            <a:off x="8839200" y="3101975"/>
            <a:ext cx="38100" cy="6350"/>
          </a:xfrm>
          <a:prstGeom prst="rect">
            <a:avLst/>
          </a:prstGeom>
          <a:solidFill>
            <a:srgbClr val="848E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3" name="Rectangle 102"/>
          <p:cNvSpPr/>
          <p:nvPr/>
        </p:nvSpPr>
        <p:spPr>
          <a:xfrm>
            <a:off x="8915400" y="3101975"/>
            <a:ext cx="38100" cy="6350"/>
          </a:xfrm>
          <a:prstGeom prst="rect">
            <a:avLst/>
          </a:prstGeom>
          <a:solidFill>
            <a:srgbClr val="848E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4" name="Rectangle 103"/>
          <p:cNvSpPr/>
          <p:nvPr/>
        </p:nvSpPr>
        <p:spPr>
          <a:xfrm>
            <a:off x="8991600" y="3101975"/>
            <a:ext cx="38100" cy="6350"/>
          </a:xfrm>
          <a:prstGeom prst="rect">
            <a:avLst/>
          </a:prstGeom>
          <a:solidFill>
            <a:srgbClr val="848E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5" name="Rectangle 104"/>
          <p:cNvSpPr/>
          <p:nvPr/>
        </p:nvSpPr>
        <p:spPr>
          <a:xfrm>
            <a:off x="9067800" y="3101975"/>
            <a:ext cx="38100" cy="6350"/>
          </a:xfrm>
          <a:prstGeom prst="rect">
            <a:avLst/>
          </a:prstGeom>
          <a:solidFill>
            <a:srgbClr val="848E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6" name="Rectangle 105"/>
          <p:cNvSpPr/>
          <p:nvPr/>
        </p:nvSpPr>
        <p:spPr>
          <a:xfrm>
            <a:off x="9144000" y="3101975"/>
            <a:ext cx="38100" cy="6350"/>
          </a:xfrm>
          <a:prstGeom prst="rect">
            <a:avLst/>
          </a:prstGeom>
          <a:solidFill>
            <a:srgbClr val="848E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7" name="Rectangle 106"/>
          <p:cNvSpPr/>
          <p:nvPr/>
        </p:nvSpPr>
        <p:spPr>
          <a:xfrm>
            <a:off x="9220200" y="3101975"/>
            <a:ext cx="38100" cy="6350"/>
          </a:xfrm>
          <a:prstGeom prst="rect">
            <a:avLst/>
          </a:prstGeom>
          <a:solidFill>
            <a:srgbClr val="848E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8" name="Rectangle 107"/>
          <p:cNvSpPr/>
          <p:nvPr/>
        </p:nvSpPr>
        <p:spPr>
          <a:xfrm>
            <a:off x="9296400" y="3101975"/>
            <a:ext cx="38100" cy="6350"/>
          </a:xfrm>
          <a:prstGeom prst="rect">
            <a:avLst/>
          </a:prstGeom>
          <a:solidFill>
            <a:srgbClr val="848E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9" name="Rectangle 108"/>
          <p:cNvSpPr/>
          <p:nvPr/>
        </p:nvSpPr>
        <p:spPr>
          <a:xfrm>
            <a:off x="9372600" y="3101975"/>
            <a:ext cx="38100" cy="6350"/>
          </a:xfrm>
          <a:prstGeom prst="rect">
            <a:avLst/>
          </a:prstGeom>
          <a:solidFill>
            <a:srgbClr val="848E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0" name="Rectangle 109"/>
          <p:cNvSpPr/>
          <p:nvPr/>
        </p:nvSpPr>
        <p:spPr>
          <a:xfrm>
            <a:off x="9448800" y="3101975"/>
            <a:ext cx="38100" cy="6350"/>
          </a:xfrm>
          <a:prstGeom prst="rect">
            <a:avLst/>
          </a:prstGeom>
          <a:solidFill>
            <a:srgbClr val="848E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1" name="Rectangle 110"/>
          <p:cNvSpPr/>
          <p:nvPr/>
        </p:nvSpPr>
        <p:spPr>
          <a:xfrm>
            <a:off x="9525000" y="3101975"/>
            <a:ext cx="38100" cy="6350"/>
          </a:xfrm>
          <a:prstGeom prst="rect">
            <a:avLst/>
          </a:prstGeom>
          <a:solidFill>
            <a:srgbClr val="848E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2" name="Rectangle 111"/>
          <p:cNvSpPr/>
          <p:nvPr/>
        </p:nvSpPr>
        <p:spPr>
          <a:xfrm>
            <a:off x="9601200" y="3101975"/>
            <a:ext cx="38100" cy="6350"/>
          </a:xfrm>
          <a:prstGeom prst="rect">
            <a:avLst/>
          </a:prstGeom>
          <a:solidFill>
            <a:srgbClr val="848E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3" name="Rectangle 112"/>
          <p:cNvSpPr/>
          <p:nvPr/>
        </p:nvSpPr>
        <p:spPr>
          <a:xfrm>
            <a:off x="9677400" y="3101975"/>
            <a:ext cx="38100" cy="6350"/>
          </a:xfrm>
          <a:prstGeom prst="rect">
            <a:avLst/>
          </a:prstGeom>
          <a:solidFill>
            <a:srgbClr val="848E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4" name="Rectangle 113"/>
          <p:cNvSpPr/>
          <p:nvPr/>
        </p:nvSpPr>
        <p:spPr>
          <a:xfrm>
            <a:off x="9753600" y="3101975"/>
            <a:ext cx="38100" cy="6350"/>
          </a:xfrm>
          <a:prstGeom prst="rect">
            <a:avLst/>
          </a:prstGeom>
          <a:solidFill>
            <a:srgbClr val="848E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5" name="Rectangle 114"/>
          <p:cNvSpPr/>
          <p:nvPr/>
        </p:nvSpPr>
        <p:spPr>
          <a:xfrm>
            <a:off x="9829800" y="3101975"/>
            <a:ext cx="38100" cy="6350"/>
          </a:xfrm>
          <a:prstGeom prst="rect">
            <a:avLst/>
          </a:prstGeom>
          <a:solidFill>
            <a:srgbClr val="848E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6" name="Rectangle 115"/>
          <p:cNvSpPr/>
          <p:nvPr/>
        </p:nvSpPr>
        <p:spPr>
          <a:xfrm>
            <a:off x="5461000" y="3028950"/>
            <a:ext cx="1270000" cy="152400"/>
          </a:xfrm>
          <a:prstGeom prst="rect">
            <a:avLst/>
          </a:prstGeom>
          <a:solidFill>
            <a:srgbClr val="0B0E1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7" name="Rectangle 116"/>
          <p:cNvSpPr/>
          <p:nvPr/>
        </p:nvSpPr>
        <p:spPr>
          <a:xfrm>
            <a:off x="2286000" y="3473450"/>
            <a:ext cx="1270000" cy="609600"/>
          </a:xfrm>
          <a:prstGeom prst="rect">
            <a:avLst/>
          </a:prstGeom>
          <a:solidFill>
            <a:srgbClr val="1E232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8" name="Rectangle 117"/>
          <p:cNvSpPr/>
          <p:nvPr/>
        </p:nvSpPr>
        <p:spPr>
          <a:xfrm>
            <a:off x="2286000" y="3473450"/>
            <a:ext cx="25400" cy="609600"/>
          </a:xfrm>
          <a:prstGeom prst="rect">
            <a:avLst/>
          </a:prstGeom>
          <a:solidFill>
            <a:srgbClr val="0B0E1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9" name="Rectangle 118"/>
          <p:cNvSpPr/>
          <p:nvPr/>
        </p:nvSpPr>
        <p:spPr>
          <a:xfrm>
            <a:off x="8636000" y="3473450"/>
            <a:ext cx="1270000" cy="609600"/>
          </a:xfrm>
          <a:prstGeom prst="rect">
            <a:avLst/>
          </a:prstGeom>
          <a:solidFill>
            <a:srgbClr val="1E232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0" name="Rectangle 119"/>
          <p:cNvSpPr/>
          <p:nvPr/>
        </p:nvSpPr>
        <p:spPr>
          <a:xfrm>
            <a:off x="9880600" y="3473450"/>
            <a:ext cx="25400" cy="609600"/>
          </a:xfrm>
          <a:prstGeom prst="rect">
            <a:avLst/>
          </a:prstGeom>
          <a:solidFill>
            <a:srgbClr val="FCD53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1" name="Rectangle 120"/>
          <p:cNvSpPr/>
          <p:nvPr/>
        </p:nvSpPr>
        <p:spPr>
          <a:xfrm>
            <a:off x="3556000" y="3775075"/>
            <a:ext cx="38100" cy="6350"/>
          </a:xfrm>
          <a:prstGeom prst="rect">
            <a:avLst/>
          </a:prstGeom>
          <a:solidFill>
            <a:srgbClr val="848E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2" name="Rectangle 121"/>
          <p:cNvSpPr/>
          <p:nvPr/>
        </p:nvSpPr>
        <p:spPr>
          <a:xfrm>
            <a:off x="3632200" y="3775075"/>
            <a:ext cx="38100" cy="6350"/>
          </a:xfrm>
          <a:prstGeom prst="rect">
            <a:avLst/>
          </a:prstGeom>
          <a:solidFill>
            <a:srgbClr val="848E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3" name="Rectangle 122"/>
          <p:cNvSpPr/>
          <p:nvPr/>
        </p:nvSpPr>
        <p:spPr>
          <a:xfrm>
            <a:off x="3708400" y="3775075"/>
            <a:ext cx="38100" cy="6350"/>
          </a:xfrm>
          <a:prstGeom prst="rect">
            <a:avLst/>
          </a:prstGeom>
          <a:solidFill>
            <a:srgbClr val="848E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4" name="Rectangle 123"/>
          <p:cNvSpPr/>
          <p:nvPr/>
        </p:nvSpPr>
        <p:spPr>
          <a:xfrm>
            <a:off x="3784600" y="3775075"/>
            <a:ext cx="38100" cy="6350"/>
          </a:xfrm>
          <a:prstGeom prst="rect">
            <a:avLst/>
          </a:prstGeom>
          <a:solidFill>
            <a:srgbClr val="848E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5" name="Rectangle 124"/>
          <p:cNvSpPr/>
          <p:nvPr/>
        </p:nvSpPr>
        <p:spPr>
          <a:xfrm>
            <a:off x="3860800" y="3775075"/>
            <a:ext cx="38100" cy="6350"/>
          </a:xfrm>
          <a:prstGeom prst="rect">
            <a:avLst/>
          </a:prstGeom>
          <a:solidFill>
            <a:srgbClr val="848E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6" name="Rectangle 125"/>
          <p:cNvSpPr/>
          <p:nvPr/>
        </p:nvSpPr>
        <p:spPr>
          <a:xfrm>
            <a:off x="3937000" y="3775075"/>
            <a:ext cx="38100" cy="6350"/>
          </a:xfrm>
          <a:prstGeom prst="rect">
            <a:avLst/>
          </a:prstGeom>
          <a:solidFill>
            <a:srgbClr val="848E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7" name="Rectangle 126"/>
          <p:cNvSpPr/>
          <p:nvPr/>
        </p:nvSpPr>
        <p:spPr>
          <a:xfrm>
            <a:off x="4013200" y="3775075"/>
            <a:ext cx="38100" cy="6350"/>
          </a:xfrm>
          <a:prstGeom prst="rect">
            <a:avLst/>
          </a:prstGeom>
          <a:solidFill>
            <a:srgbClr val="848E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8" name="Rectangle 127"/>
          <p:cNvSpPr/>
          <p:nvPr/>
        </p:nvSpPr>
        <p:spPr>
          <a:xfrm>
            <a:off x="4089400" y="3775075"/>
            <a:ext cx="38100" cy="6350"/>
          </a:xfrm>
          <a:prstGeom prst="rect">
            <a:avLst/>
          </a:prstGeom>
          <a:solidFill>
            <a:srgbClr val="848E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9" name="Rectangle 128"/>
          <p:cNvSpPr/>
          <p:nvPr/>
        </p:nvSpPr>
        <p:spPr>
          <a:xfrm>
            <a:off x="4165600" y="3775075"/>
            <a:ext cx="38100" cy="6350"/>
          </a:xfrm>
          <a:prstGeom prst="rect">
            <a:avLst/>
          </a:prstGeom>
          <a:solidFill>
            <a:srgbClr val="848E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0" name="Rectangle 129"/>
          <p:cNvSpPr/>
          <p:nvPr/>
        </p:nvSpPr>
        <p:spPr>
          <a:xfrm>
            <a:off x="4241800" y="3775075"/>
            <a:ext cx="38100" cy="6350"/>
          </a:xfrm>
          <a:prstGeom prst="rect">
            <a:avLst/>
          </a:prstGeom>
          <a:solidFill>
            <a:srgbClr val="848E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1" name="Rectangle 130"/>
          <p:cNvSpPr/>
          <p:nvPr/>
        </p:nvSpPr>
        <p:spPr>
          <a:xfrm>
            <a:off x="4318000" y="3775075"/>
            <a:ext cx="38100" cy="6350"/>
          </a:xfrm>
          <a:prstGeom prst="rect">
            <a:avLst/>
          </a:prstGeom>
          <a:solidFill>
            <a:srgbClr val="848E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2" name="Rectangle 131"/>
          <p:cNvSpPr/>
          <p:nvPr/>
        </p:nvSpPr>
        <p:spPr>
          <a:xfrm>
            <a:off x="4394200" y="3775075"/>
            <a:ext cx="38100" cy="6350"/>
          </a:xfrm>
          <a:prstGeom prst="rect">
            <a:avLst/>
          </a:prstGeom>
          <a:solidFill>
            <a:srgbClr val="848E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3" name="Rectangle 132"/>
          <p:cNvSpPr/>
          <p:nvPr/>
        </p:nvSpPr>
        <p:spPr>
          <a:xfrm>
            <a:off x="4470400" y="3775075"/>
            <a:ext cx="38100" cy="6350"/>
          </a:xfrm>
          <a:prstGeom prst="rect">
            <a:avLst/>
          </a:prstGeom>
          <a:solidFill>
            <a:srgbClr val="848E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4" name="Rectangle 133"/>
          <p:cNvSpPr/>
          <p:nvPr/>
        </p:nvSpPr>
        <p:spPr>
          <a:xfrm>
            <a:off x="4546600" y="3775075"/>
            <a:ext cx="38100" cy="6350"/>
          </a:xfrm>
          <a:prstGeom prst="rect">
            <a:avLst/>
          </a:prstGeom>
          <a:solidFill>
            <a:srgbClr val="848E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5" name="Rectangle 134"/>
          <p:cNvSpPr/>
          <p:nvPr/>
        </p:nvSpPr>
        <p:spPr>
          <a:xfrm>
            <a:off x="4622800" y="3775075"/>
            <a:ext cx="38100" cy="6350"/>
          </a:xfrm>
          <a:prstGeom prst="rect">
            <a:avLst/>
          </a:prstGeom>
          <a:solidFill>
            <a:srgbClr val="848E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6" name="Rectangle 135"/>
          <p:cNvSpPr/>
          <p:nvPr/>
        </p:nvSpPr>
        <p:spPr>
          <a:xfrm>
            <a:off x="4699000" y="3775075"/>
            <a:ext cx="38100" cy="6350"/>
          </a:xfrm>
          <a:prstGeom prst="rect">
            <a:avLst/>
          </a:prstGeom>
          <a:solidFill>
            <a:srgbClr val="848E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7" name="Rectangle 136"/>
          <p:cNvSpPr/>
          <p:nvPr/>
        </p:nvSpPr>
        <p:spPr>
          <a:xfrm>
            <a:off x="4775200" y="3775075"/>
            <a:ext cx="38100" cy="6350"/>
          </a:xfrm>
          <a:prstGeom prst="rect">
            <a:avLst/>
          </a:prstGeom>
          <a:solidFill>
            <a:srgbClr val="848E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8" name="Rectangle 137"/>
          <p:cNvSpPr/>
          <p:nvPr/>
        </p:nvSpPr>
        <p:spPr>
          <a:xfrm>
            <a:off x="4851400" y="3775075"/>
            <a:ext cx="38100" cy="6350"/>
          </a:xfrm>
          <a:prstGeom prst="rect">
            <a:avLst/>
          </a:prstGeom>
          <a:solidFill>
            <a:srgbClr val="848E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9" name="Rectangle 138"/>
          <p:cNvSpPr/>
          <p:nvPr/>
        </p:nvSpPr>
        <p:spPr>
          <a:xfrm>
            <a:off x="4927600" y="3775075"/>
            <a:ext cx="38100" cy="6350"/>
          </a:xfrm>
          <a:prstGeom prst="rect">
            <a:avLst/>
          </a:prstGeom>
          <a:solidFill>
            <a:srgbClr val="848E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0" name="Rectangle 139"/>
          <p:cNvSpPr/>
          <p:nvPr/>
        </p:nvSpPr>
        <p:spPr>
          <a:xfrm>
            <a:off x="5003800" y="3775075"/>
            <a:ext cx="38100" cy="6350"/>
          </a:xfrm>
          <a:prstGeom prst="rect">
            <a:avLst/>
          </a:prstGeom>
          <a:solidFill>
            <a:srgbClr val="848E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1" name="Rectangle 140"/>
          <p:cNvSpPr/>
          <p:nvPr/>
        </p:nvSpPr>
        <p:spPr>
          <a:xfrm>
            <a:off x="5080000" y="3775075"/>
            <a:ext cx="38100" cy="6350"/>
          </a:xfrm>
          <a:prstGeom prst="rect">
            <a:avLst/>
          </a:prstGeom>
          <a:solidFill>
            <a:srgbClr val="848E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2" name="Rectangle 141"/>
          <p:cNvSpPr/>
          <p:nvPr/>
        </p:nvSpPr>
        <p:spPr>
          <a:xfrm>
            <a:off x="5156200" y="3775075"/>
            <a:ext cx="38100" cy="6350"/>
          </a:xfrm>
          <a:prstGeom prst="rect">
            <a:avLst/>
          </a:prstGeom>
          <a:solidFill>
            <a:srgbClr val="848E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3" name="Rectangle 142"/>
          <p:cNvSpPr/>
          <p:nvPr/>
        </p:nvSpPr>
        <p:spPr>
          <a:xfrm>
            <a:off x="5232400" y="3775075"/>
            <a:ext cx="38100" cy="6350"/>
          </a:xfrm>
          <a:prstGeom prst="rect">
            <a:avLst/>
          </a:prstGeom>
          <a:solidFill>
            <a:srgbClr val="848E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4" name="Rectangle 143"/>
          <p:cNvSpPr/>
          <p:nvPr/>
        </p:nvSpPr>
        <p:spPr>
          <a:xfrm>
            <a:off x="5308600" y="3775075"/>
            <a:ext cx="38100" cy="6350"/>
          </a:xfrm>
          <a:prstGeom prst="rect">
            <a:avLst/>
          </a:prstGeom>
          <a:solidFill>
            <a:srgbClr val="848E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5" name="Rectangle 144"/>
          <p:cNvSpPr/>
          <p:nvPr/>
        </p:nvSpPr>
        <p:spPr>
          <a:xfrm>
            <a:off x="5384800" y="3775075"/>
            <a:ext cx="38100" cy="6350"/>
          </a:xfrm>
          <a:prstGeom prst="rect">
            <a:avLst/>
          </a:prstGeom>
          <a:solidFill>
            <a:srgbClr val="848E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6" name="Rectangle 145"/>
          <p:cNvSpPr/>
          <p:nvPr/>
        </p:nvSpPr>
        <p:spPr>
          <a:xfrm>
            <a:off x="5461000" y="3775075"/>
            <a:ext cx="38100" cy="6350"/>
          </a:xfrm>
          <a:prstGeom prst="rect">
            <a:avLst/>
          </a:prstGeom>
          <a:solidFill>
            <a:srgbClr val="848E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7" name="Rectangle 146"/>
          <p:cNvSpPr/>
          <p:nvPr/>
        </p:nvSpPr>
        <p:spPr>
          <a:xfrm>
            <a:off x="5537200" y="3775075"/>
            <a:ext cx="38100" cy="6350"/>
          </a:xfrm>
          <a:prstGeom prst="rect">
            <a:avLst/>
          </a:prstGeom>
          <a:solidFill>
            <a:srgbClr val="848E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8" name="Rectangle 147"/>
          <p:cNvSpPr/>
          <p:nvPr/>
        </p:nvSpPr>
        <p:spPr>
          <a:xfrm>
            <a:off x="5613400" y="3775075"/>
            <a:ext cx="38100" cy="6350"/>
          </a:xfrm>
          <a:prstGeom prst="rect">
            <a:avLst/>
          </a:prstGeom>
          <a:solidFill>
            <a:srgbClr val="848E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9" name="Rectangle 148"/>
          <p:cNvSpPr/>
          <p:nvPr/>
        </p:nvSpPr>
        <p:spPr>
          <a:xfrm>
            <a:off x="5689600" y="3775075"/>
            <a:ext cx="38100" cy="6350"/>
          </a:xfrm>
          <a:prstGeom prst="rect">
            <a:avLst/>
          </a:prstGeom>
          <a:solidFill>
            <a:srgbClr val="848E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0" name="Rectangle 149"/>
          <p:cNvSpPr/>
          <p:nvPr/>
        </p:nvSpPr>
        <p:spPr>
          <a:xfrm>
            <a:off x="5765800" y="3775075"/>
            <a:ext cx="38100" cy="6350"/>
          </a:xfrm>
          <a:prstGeom prst="rect">
            <a:avLst/>
          </a:prstGeom>
          <a:solidFill>
            <a:srgbClr val="848E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1" name="Rectangle 150"/>
          <p:cNvSpPr/>
          <p:nvPr/>
        </p:nvSpPr>
        <p:spPr>
          <a:xfrm>
            <a:off x="5842000" y="3775075"/>
            <a:ext cx="38100" cy="6350"/>
          </a:xfrm>
          <a:prstGeom prst="rect">
            <a:avLst/>
          </a:prstGeom>
          <a:solidFill>
            <a:srgbClr val="848E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2" name="Rectangle 151"/>
          <p:cNvSpPr/>
          <p:nvPr/>
        </p:nvSpPr>
        <p:spPr>
          <a:xfrm>
            <a:off x="5918200" y="3775075"/>
            <a:ext cx="38100" cy="6350"/>
          </a:xfrm>
          <a:prstGeom prst="rect">
            <a:avLst/>
          </a:prstGeom>
          <a:solidFill>
            <a:srgbClr val="848E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3" name="Rectangle 152"/>
          <p:cNvSpPr/>
          <p:nvPr/>
        </p:nvSpPr>
        <p:spPr>
          <a:xfrm>
            <a:off x="5994400" y="3775075"/>
            <a:ext cx="38100" cy="6350"/>
          </a:xfrm>
          <a:prstGeom prst="rect">
            <a:avLst/>
          </a:prstGeom>
          <a:solidFill>
            <a:srgbClr val="848E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4" name="Rectangle 153"/>
          <p:cNvSpPr/>
          <p:nvPr/>
        </p:nvSpPr>
        <p:spPr>
          <a:xfrm>
            <a:off x="6070600" y="3775075"/>
            <a:ext cx="38100" cy="6350"/>
          </a:xfrm>
          <a:prstGeom prst="rect">
            <a:avLst/>
          </a:prstGeom>
          <a:solidFill>
            <a:srgbClr val="848E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5" name="Rectangle 154"/>
          <p:cNvSpPr/>
          <p:nvPr/>
        </p:nvSpPr>
        <p:spPr>
          <a:xfrm>
            <a:off x="6146800" y="3775075"/>
            <a:ext cx="38100" cy="6350"/>
          </a:xfrm>
          <a:prstGeom prst="rect">
            <a:avLst/>
          </a:prstGeom>
          <a:solidFill>
            <a:srgbClr val="848E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6" name="Rectangle 155"/>
          <p:cNvSpPr/>
          <p:nvPr/>
        </p:nvSpPr>
        <p:spPr>
          <a:xfrm>
            <a:off x="6223000" y="3775075"/>
            <a:ext cx="38100" cy="6350"/>
          </a:xfrm>
          <a:prstGeom prst="rect">
            <a:avLst/>
          </a:prstGeom>
          <a:solidFill>
            <a:srgbClr val="848E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7" name="Rectangle 156"/>
          <p:cNvSpPr/>
          <p:nvPr/>
        </p:nvSpPr>
        <p:spPr>
          <a:xfrm>
            <a:off x="6299200" y="3775075"/>
            <a:ext cx="38100" cy="6350"/>
          </a:xfrm>
          <a:prstGeom prst="rect">
            <a:avLst/>
          </a:prstGeom>
          <a:solidFill>
            <a:srgbClr val="848E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8" name="Rectangle 157"/>
          <p:cNvSpPr/>
          <p:nvPr/>
        </p:nvSpPr>
        <p:spPr>
          <a:xfrm>
            <a:off x="6375400" y="3775075"/>
            <a:ext cx="38100" cy="6350"/>
          </a:xfrm>
          <a:prstGeom prst="rect">
            <a:avLst/>
          </a:prstGeom>
          <a:solidFill>
            <a:srgbClr val="848E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9" name="Rectangle 158"/>
          <p:cNvSpPr/>
          <p:nvPr/>
        </p:nvSpPr>
        <p:spPr>
          <a:xfrm>
            <a:off x="6451600" y="3775075"/>
            <a:ext cx="38100" cy="6350"/>
          </a:xfrm>
          <a:prstGeom prst="rect">
            <a:avLst/>
          </a:prstGeom>
          <a:solidFill>
            <a:srgbClr val="848E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0" name="Rectangle 159"/>
          <p:cNvSpPr/>
          <p:nvPr/>
        </p:nvSpPr>
        <p:spPr>
          <a:xfrm>
            <a:off x="6527800" y="3775075"/>
            <a:ext cx="38100" cy="6350"/>
          </a:xfrm>
          <a:prstGeom prst="rect">
            <a:avLst/>
          </a:prstGeom>
          <a:solidFill>
            <a:srgbClr val="848E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1" name="Rectangle 160"/>
          <p:cNvSpPr/>
          <p:nvPr/>
        </p:nvSpPr>
        <p:spPr>
          <a:xfrm>
            <a:off x="6604000" y="3775075"/>
            <a:ext cx="38100" cy="6350"/>
          </a:xfrm>
          <a:prstGeom prst="rect">
            <a:avLst/>
          </a:prstGeom>
          <a:solidFill>
            <a:srgbClr val="848E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2" name="Rectangle 161"/>
          <p:cNvSpPr/>
          <p:nvPr/>
        </p:nvSpPr>
        <p:spPr>
          <a:xfrm>
            <a:off x="6680200" y="3775075"/>
            <a:ext cx="38100" cy="6350"/>
          </a:xfrm>
          <a:prstGeom prst="rect">
            <a:avLst/>
          </a:prstGeom>
          <a:solidFill>
            <a:srgbClr val="848E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3" name="Rectangle 162"/>
          <p:cNvSpPr/>
          <p:nvPr/>
        </p:nvSpPr>
        <p:spPr>
          <a:xfrm>
            <a:off x="6756400" y="3775075"/>
            <a:ext cx="38100" cy="6350"/>
          </a:xfrm>
          <a:prstGeom prst="rect">
            <a:avLst/>
          </a:prstGeom>
          <a:solidFill>
            <a:srgbClr val="848E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4" name="Rectangle 163"/>
          <p:cNvSpPr/>
          <p:nvPr/>
        </p:nvSpPr>
        <p:spPr>
          <a:xfrm>
            <a:off x="6832600" y="3775075"/>
            <a:ext cx="38100" cy="6350"/>
          </a:xfrm>
          <a:prstGeom prst="rect">
            <a:avLst/>
          </a:prstGeom>
          <a:solidFill>
            <a:srgbClr val="848E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5" name="Rectangle 164"/>
          <p:cNvSpPr/>
          <p:nvPr/>
        </p:nvSpPr>
        <p:spPr>
          <a:xfrm>
            <a:off x="6908800" y="3775075"/>
            <a:ext cx="38100" cy="6350"/>
          </a:xfrm>
          <a:prstGeom prst="rect">
            <a:avLst/>
          </a:prstGeom>
          <a:solidFill>
            <a:srgbClr val="848E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6" name="Rectangle 165"/>
          <p:cNvSpPr/>
          <p:nvPr/>
        </p:nvSpPr>
        <p:spPr>
          <a:xfrm>
            <a:off x="6985000" y="3775075"/>
            <a:ext cx="38100" cy="6350"/>
          </a:xfrm>
          <a:prstGeom prst="rect">
            <a:avLst/>
          </a:prstGeom>
          <a:solidFill>
            <a:srgbClr val="848E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7" name="Rectangle 166"/>
          <p:cNvSpPr/>
          <p:nvPr/>
        </p:nvSpPr>
        <p:spPr>
          <a:xfrm>
            <a:off x="7061200" y="3775075"/>
            <a:ext cx="38100" cy="6350"/>
          </a:xfrm>
          <a:prstGeom prst="rect">
            <a:avLst/>
          </a:prstGeom>
          <a:solidFill>
            <a:srgbClr val="848E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8" name="Rectangle 167"/>
          <p:cNvSpPr/>
          <p:nvPr/>
        </p:nvSpPr>
        <p:spPr>
          <a:xfrm>
            <a:off x="7137400" y="3775075"/>
            <a:ext cx="38100" cy="6350"/>
          </a:xfrm>
          <a:prstGeom prst="rect">
            <a:avLst/>
          </a:prstGeom>
          <a:solidFill>
            <a:srgbClr val="848E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9" name="Rectangle 168"/>
          <p:cNvSpPr/>
          <p:nvPr/>
        </p:nvSpPr>
        <p:spPr>
          <a:xfrm>
            <a:off x="7213600" y="3775075"/>
            <a:ext cx="38100" cy="6350"/>
          </a:xfrm>
          <a:prstGeom prst="rect">
            <a:avLst/>
          </a:prstGeom>
          <a:solidFill>
            <a:srgbClr val="848E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0" name="Rectangle 169"/>
          <p:cNvSpPr/>
          <p:nvPr/>
        </p:nvSpPr>
        <p:spPr>
          <a:xfrm>
            <a:off x="7289800" y="3775075"/>
            <a:ext cx="38100" cy="6350"/>
          </a:xfrm>
          <a:prstGeom prst="rect">
            <a:avLst/>
          </a:prstGeom>
          <a:solidFill>
            <a:srgbClr val="848E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1" name="Rectangle 170"/>
          <p:cNvSpPr/>
          <p:nvPr/>
        </p:nvSpPr>
        <p:spPr>
          <a:xfrm>
            <a:off x="7366000" y="3775075"/>
            <a:ext cx="38100" cy="6350"/>
          </a:xfrm>
          <a:prstGeom prst="rect">
            <a:avLst/>
          </a:prstGeom>
          <a:solidFill>
            <a:srgbClr val="848E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2" name="Rectangle 171"/>
          <p:cNvSpPr/>
          <p:nvPr/>
        </p:nvSpPr>
        <p:spPr>
          <a:xfrm>
            <a:off x="7442200" y="3775075"/>
            <a:ext cx="38100" cy="6350"/>
          </a:xfrm>
          <a:prstGeom prst="rect">
            <a:avLst/>
          </a:prstGeom>
          <a:solidFill>
            <a:srgbClr val="848E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3" name="Rectangle 172"/>
          <p:cNvSpPr/>
          <p:nvPr/>
        </p:nvSpPr>
        <p:spPr>
          <a:xfrm>
            <a:off x="7518400" y="3775075"/>
            <a:ext cx="38100" cy="6350"/>
          </a:xfrm>
          <a:prstGeom prst="rect">
            <a:avLst/>
          </a:prstGeom>
          <a:solidFill>
            <a:srgbClr val="848E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4" name="Rectangle 173"/>
          <p:cNvSpPr/>
          <p:nvPr/>
        </p:nvSpPr>
        <p:spPr>
          <a:xfrm>
            <a:off x="7594600" y="3775075"/>
            <a:ext cx="38100" cy="6350"/>
          </a:xfrm>
          <a:prstGeom prst="rect">
            <a:avLst/>
          </a:prstGeom>
          <a:solidFill>
            <a:srgbClr val="848E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5" name="Rectangle 174"/>
          <p:cNvSpPr/>
          <p:nvPr/>
        </p:nvSpPr>
        <p:spPr>
          <a:xfrm>
            <a:off x="7670800" y="3775075"/>
            <a:ext cx="38100" cy="6350"/>
          </a:xfrm>
          <a:prstGeom prst="rect">
            <a:avLst/>
          </a:prstGeom>
          <a:solidFill>
            <a:srgbClr val="848E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6" name="Rectangle 175"/>
          <p:cNvSpPr/>
          <p:nvPr/>
        </p:nvSpPr>
        <p:spPr>
          <a:xfrm>
            <a:off x="7747000" y="3775075"/>
            <a:ext cx="38100" cy="6350"/>
          </a:xfrm>
          <a:prstGeom prst="rect">
            <a:avLst/>
          </a:prstGeom>
          <a:solidFill>
            <a:srgbClr val="848E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7" name="Rectangle 176"/>
          <p:cNvSpPr/>
          <p:nvPr/>
        </p:nvSpPr>
        <p:spPr>
          <a:xfrm>
            <a:off x="7823200" y="3775075"/>
            <a:ext cx="38100" cy="6350"/>
          </a:xfrm>
          <a:prstGeom prst="rect">
            <a:avLst/>
          </a:prstGeom>
          <a:solidFill>
            <a:srgbClr val="848E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8" name="Rectangle 177"/>
          <p:cNvSpPr/>
          <p:nvPr/>
        </p:nvSpPr>
        <p:spPr>
          <a:xfrm>
            <a:off x="7899400" y="3775075"/>
            <a:ext cx="38100" cy="6350"/>
          </a:xfrm>
          <a:prstGeom prst="rect">
            <a:avLst/>
          </a:prstGeom>
          <a:solidFill>
            <a:srgbClr val="848E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9" name="Rectangle 178"/>
          <p:cNvSpPr/>
          <p:nvPr/>
        </p:nvSpPr>
        <p:spPr>
          <a:xfrm>
            <a:off x="7975600" y="3775075"/>
            <a:ext cx="38100" cy="6350"/>
          </a:xfrm>
          <a:prstGeom prst="rect">
            <a:avLst/>
          </a:prstGeom>
          <a:solidFill>
            <a:srgbClr val="848E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0" name="Rectangle 179"/>
          <p:cNvSpPr/>
          <p:nvPr/>
        </p:nvSpPr>
        <p:spPr>
          <a:xfrm>
            <a:off x="8051800" y="3775075"/>
            <a:ext cx="38100" cy="6350"/>
          </a:xfrm>
          <a:prstGeom prst="rect">
            <a:avLst/>
          </a:prstGeom>
          <a:solidFill>
            <a:srgbClr val="848E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1" name="Rectangle 180"/>
          <p:cNvSpPr/>
          <p:nvPr/>
        </p:nvSpPr>
        <p:spPr>
          <a:xfrm>
            <a:off x="8128000" y="3775075"/>
            <a:ext cx="38100" cy="6350"/>
          </a:xfrm>
          <a:prstGeom prst="rect">
            <a:avLst/>
          </a:prstGeom>
          <a:solidFill>
            <a:srgbClr val="848E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2" name="Rectangle 181"/>
          <p:cNvSpPr/>
          <p:nvPr/>
        </p:nvSpPr>
        <p:spPr>
          <a:xfrm>
            <a:off x="8204200" y="3775075"/>
            <a:ext cx="38100" cy="6350"/>
          </a:xfrm>
          <a:prstGeom prst="rect">
            <a:avLst/>
          </a:prstGeom>
          <a:solidFill>
            <a:srgbClr val="848E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3" name="Rectangle 182"/>
          <p:cNvSpPr/>
          <p:nvPr/>
        </p:nvSpPr>
        <p:spPr>
          <a:xfrm>
            <a:off x="8280400" y="3775075"/>
            <a:ext cx="38100" cy="6350"/>
          </a:xfrm>
          <a:prstGeom prst="rect">
            <a:avLst/>
          </a:prstGeom>
          <a:solidFill>
            <a:srgbClr val="848E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4" name="Rectangle 183"/>
          <p:cNvSpPr/>
          <p:nvPr/>
        </p:nvSpPr>
        <p:spPr>
          <a:xfrm>
            <a:off x="8356600" y="3775075"/>
            <a:ext cx="38100" cy="6350"/>
          </a:xfrm>
          <a:prstGeom prst="rect">
            <a:avLst/>
          </a:prstGeom>
          <a:solidFill>
            <a:srgbClr val="848E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5" name="Rectangle 184"/>
          <p:cNvSpPr/>
          <p:nvPr/>
        </p:nvSpPr>
        <p:spPr>
          <a:xfrm>
            <a:off x="8432800" y="3775075"/>
            <a:ext cx="38100" cy="6350"/>
          </a:xfrm>
          <a:prstGeom prst="rect">
            <a:avLst/>
          </a:prstGeom>
          <a:solidFill>
            <a:srgbClr val="848E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6" name="Rectangle 185"/>
          <p:cNvSpPr/>
          <p:nvPr/>
        </p:nvSpPr>
        <p:spPr>
          <a:xfrm>
            <a:off x="8509000" y="3775075"/>
            <a:ext cx="38100" cy="6350"/>
          </a:xfrm>
          <a:prstGeom prst="rect">
            <a:avLst/>
          </a:prstGeom>
          <a:solidFill>
            <a:srgbClr val="848E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7" name="Rectangle 186"/>
          <p:cNvSpPr/>
          <p:nvPr/>
        </p:nvSpPr>
        <p:spPr>
          <a:xfrm>
            <a:off x="8585200" y="3775075"/>
            <a:ext cx="38100" cy="6350"/>
          </a:xfrm>
          <a:prstGeom prst="rect">
            <a:avLst/>
          </a:prstGeom>
          <a:solidFill>
            <a:srgbClr val="848E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8" name="Rectangle 187"/>
          <p:cNvSpPr/>
          <p:nvPr/>
        </p:nvSpPr>
        <p:spPr>
          <a:xfrm>
            <a:off x="5461000" y="3702050"/>
            <a:ext cx="1270000" cy="152400"/>
          </a:xfrm>
          <a:prstGeom prst="rect">
            <a:avLst/>
          </a:prstGeom>
          <a:solidFill>
            <a:srgbClr val="0B0E1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9" name="Rectangle 188"/>
          <p:cNvSpPr/>
          <p:nvPr/>
        </p:nvSpPr>
        <p:spPr>
          <a:xfrm>
            <a:off x="3556000" y="4146550"/>
            <a:ext cx="1270000" cy="609600"/>
          </a:xfrm>
          <a:prstGeom prst="rect">
            <a:avLst/>
          </a:prstGeom>
          <a:solidFill>
            <a:srgbClr val="1E232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0" name="Rectangle 189"/>
          <p:cNvSpPr/>
          <p:nvPr/>
        </p:nvSpPr>
        <p:spPr>
          <a:xfrm>
            <a:off x="3556000" y="4146550"/>
            <a:ext cx="25400" cy="609600"/>
          </a:xfrm>
          <a:prstGeom prst="rect">
            <a:avLst/>
          </a:prstGeom>
          <a:solidFill>
            <a:srgbClr val="0B0E1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1" name="Rectangle 190"/>
          <p:cNvSpPr/>
          <p:nvPr/>
        </p:nvSpPr>
        <p:spPr>
          <a:xfrm>
            <a:off x="7366000" y="4146550"/>
            <a:ext cx="1270000" cy="609600"/>
          </a:xfrm>
          <a:prstGeom prst="rect">
            <a:avLst/>
          </a:prstGeom>
          <a:solidFill>
            <a:srgbClr val="1E232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2" name="Rectangle 191"/>
          <p:cNvSpPr/>
          <p:nvPr/>
        </p:nvSpPr>
        <p:spPr>
          <a:xfrm>
            <a:off x="8610600" y="4146550"/>
            <a:ext cx="25400" cy="609600"/>
          </a:xfrm>
          <a:prstGeom prst="rect">
            <a:avLst/>
          </a:prstGeom>
          <a:solidFill>
            <a:srgbClr val="FCD53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3" name="Rectangle 192"/>
          <p:cNvSpPr/>
          <p:nvPr/>
        </p:nvSpPr>
        <p:spPr>
          <a:xfrm>
            <a:off x="4826000" y="4448175"/>
            <a:ext cx="38100" cy="6350"/>
          </a:xfrm>
          <a:prstGeom prst="rect">
            <a:avLst/>
          </a:prstGeom>
          <a:solidFill>
            <a:srgbClr val="848E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4" name="Rectangle 193"/>
          <p:cNvSpPr/>
          <p:nvPr/>
        </p:nvSpPr>
        <p:spPr>
          <a:xfrm>
            <a:off x="4902200" y="4448175"/>
            <a:ext cx="38100" cy="6350"/>
          </a:xfrm>
          <a:prstGeom prst="rect">
            <a:avLst/>
          </a:prstGeom>
          <a:solidFill>
            <a:srgbClr val="848E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5" name="Rectangle 194"/>
          <p:cNvSpPr/>
          <p:nvPr/>
        </p:nvSpPr>
        <p:spPr>
          <a:xfrm>
            <a:off x="4978400" y="4448175"/>
            <a:ext cx="38100" cy="6350"/>
          </a:xfrm>
          <a:prstGeom prst="rect">
            <a:avLst/>
          </a:prstGeom>
          <a:solidFill>
            <a:srgbClr val="848E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6" name="Rectangle 195"/>
          <p:cNvSpPr/>
          <p:nvPr/>
        </p:nvSpPr>
        <p:spPr>
          <a:xfrm>
            <a:off x="5054600" y="4448175"/>
            <a:ext cx="38100" cy="6350"/>
          </a:xfrm>
          <a:prstGeom prst="rect">
            <a:avLst/>
          </a:prstGeom>
          <a:solidFill>
            <a:srgbClr val="848E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7" name="Rectangle 196"/>
          <p:cNvSpPr/>
          <p:nvPr/>
        </p:nvSpPr>
        <p:spPr>
          <a:xfrm>
            <a:off x="5130800" y="4448175"/>
            <a:ext cx="38100" cy="6350"/>
          </a:xfrm>
          <a:prstGeom prst="rect">
            <a:avLst/>
          </a:prstGeom>
          <a:solidFill>
            <a:srgbClr val="848E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8" name="Rectangle 197"/>
          <p:cNvSpPr/>
          <p:nvPr/>
        </p:nvSpPr>
        <p:spPr>
          <a:xfrm>
            <a:off x="5207000" y="4448175"/>
            <a:ext cx="38100" cy="6350"/>
          </a:xfrm>
          <a:prstGeom prst="rect">
            <a:avLst/>
          </a:prstGeom>
          <a:solidFill>
            <a:srgbClr val="848E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9" name="Rectangle 198"/>
          <p:cNvSpPr/>
          <p:nvPr/>
        </p:nvSpPr>
        <p:spPr>
          <a:xfrm>
            <a:off x="5283200" y="4448175"/>
            <a:ext cx="38100" cy="6350"/>
          </a:xfrm>
          <a:prstGeom prst="rect">
            <a:avLst/>
          </a:prstGeom>
          <a:solidFill>
            <a:srgbClr val="848E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0" name="Rectangle 199"/>
          <p:cNvSpPr/>
          <p:nvPr/>
        </p:nvSpPr>
        <p:spPr>
          <a:xfrm>
            <a:off x="5359400" y="4448175"/>
            <a:ext cx="38100" cy="6350"/>
          </a:xfrm>
          <a:prstGeom prst="rect">
            <a:avLst/>
          </a:prstGeom>
          <a:solidFill>
            <a:srgbClr val="848E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1" name="Rectangle 200"/>
          <p:cNvSpPr/>
          <p:nvPr/>
        </p:nvSpPr>
        <p:spPr>
          <a:xfrm>
            <a:off x="5435600" y="4448175"/>
            <a:ext cx="38100" cy="6350"/>
          </a:xfrm>
          <a:prstGeom prst="rect">
            <a:avLst/>
          </a:prstGeom>
          <a:solidFill>
            <a:srgbClr val="848E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2" name="Rectangle 201"/>
          <p:cNvSpPr/>
          <p:nvPr/>
        </p:nvSpPr>
        <p:spPr>
          <a:xfrm>
            <a:off x="5511800" y="4448175"/>
            <a:ext cx="38100" cy="6350"/>
          </a:xfrm>
          <a:prstGeom prst="rect">
            <a:avLst/>
          </a:prstGeom>
          <a:solidFill>
            <a:srgbClr val="848E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3" name="Rectangle 202"/>
          <p:cNvSpPr/>
          <p:nvPr/>
        </p:nvSpPr>
        <p:spPr>
          <a:xfrm>
            <a:off x="5588000" y="4448175"/>
            <a:ext cx="38100" cy="6350"/>
          </a:xfrm>
          <a:prstGeom prst="rect">
            <a:avLst/>
          </a:prstGeom>
          <a:solidFill>
            <a:srgbClr val="848E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4" name="Rectangle 203"/>
          <p:cNvSpPr/>
          <p:nvPr/>
        </p:nvSpPr>
        <p:spPr>
          <a:xfrm>
            <a:off x="5664200" y="4448175"/>
            <a:ext cx="38100" cy="6350"/>
          </a:xfrm>
          <a:prstGeom prst="rect">
            <a:avLst/>
          </a:prstGeom>
          <a:solidFill>
            <a:srgbClr val="848E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5" name="Rectangle 204"/>
          <p:cNvSpPr/>
          <p:nvPr/>
        </p:nvSpPr>
        <p:spPr>
          <a:xfrm>
            <a:off x="5740400" y="4448175"/>
            <a:ext cx="38100" cy="6350"/>
          </a:xfrm>
          <a:prstGeom prst="rect">
            <a:avLst/>
          </a:prstGeom>
          <a:solidFill>
            <a:srgbClr val="848E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6" name="Rectangle 205"/>
          <p:cNvSpPr/>
          <p:nvPr/>
        </p:nvSpPr>
        <p:spPr>
          <a:xfrm>
            <a:off x="5816600" y="4448175"/>
            <a:ext cx="38100" cy="6350"/>
          </a:xfrm>
          <a:prstGeom prst="rect">
            <a:avLst/>
          </a:prstGeom>
          <a:solidFill>
            <a:srgbClr val="848E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7" name="Rectangle 206"/>
          <p:cNvSpPr/>
          <p:nvPr/>
        </p:nvSpPr>
        <p:spPr>
          <a:xfrm>
            <a:off x="5892800" y="4448175"/>
            <a:ext cx="38100" cy="6350"/>
          </a:xfrm>
          <a:prstGeom prst="rect">
            <a:avLst/>
          </a:prstGeom>
          <a:solidFill>
            <a:srgbClr val="848E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8" name="Rectangle 207"/>
          <p:cNvSpPr/>
          <p:nvPr/>
        </p:nvSpPr>
        <p:spPr>
          <a:xfrm>
            <a:off x="5969000" y="4448175"/>
            <a:ext cx="38100" cy="6350"/>
          </a:xfrm>
          <a:prstGeom prst="rect">
            <a:avLst/>
          </a:prstGeom>
          <a:solidFill>
            <a:srgbClr val="848E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9" name="Rectangle 208"/>
          <p:cNvSpPr/>
          <p:nvPr/>
        </p:nvSpPr>
        <p:spPr>
          <a:xfrm>
            <a:off x="6045200" y="4448175"/>
            <a:ext cx="38100" cy="6350"/>
          </a:xfrm>
          <a:prstGeom prst="rect">
            <a:avLst/>
          </a:prstGeom>
          <a:solidFill>
            <a:srgbClr val="848E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0" name="Rectangle 209"/>
          <p:cNvSpPr/>
          <p:nvPr/>
        </p:nvSpPr>
        <p:spPr>
          <a:xfrm>
            <a:off x="6121400" y="4448175"/>
            <a:ext cx="38100" cy="6350"/>
          </a:xfrm>
          <a:prstGeom prst="rect">
            <a:avLst/>
          </a:prstGeom>
          <a:solidFill>
            <a:srgbClr val="848E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1" name="Rectangle 210"/>
          <p:cNvSpPr/>
          <p:nvPr/>
        </p:nvSpPr>
        <p:spPr>
          <a:xfrm>
            <a:off x="6197600" y="4448175"/>
            <a:ext cx="38100" cy="6350"/>
          </a:xfrm>
          <a:prstGeom prst="rect">
            <a:avLst/>
          </a:prstGeom>
          <a:solidFill>
            <a:srgbClr val="848E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2" name="Rectangle 211"/>
          <p:cNvSpPr/>
          <p:nvPr/>
        </p:nvSpPr>
        <p:spPr>
          <a:xfrm>
            <a:off x="6273800" y="4448175"/>
            <a:ext cx="38100" cy="6350"/>
          </a:xfrm>
          <a:prstGeom prst="rect">
            <a:avLst/>
          </a:prstGeom>
          <a:solidFill>
            <a:srgbClr val="848E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3" name="Rectangle 212"/>
          <p:cNvSpPr/>
          <p:nvPr/>
        </p:nvSpPr>
        <p:spPr>
          <a:xfrm>
            <a:off x="6350000" y="4448175"/>
            <a:ext cx="38100" cy="6350"/>
          </a:xfrm>
          <a:prstGeom prst="rect">
            <a:avLst/>
          </a:prstGeom>
          <a:solidFill>
            <a:srgbClr val="848E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4" name="Rectangle 213"/>
          <p:cNvSpPr/>
          <p:nvPr/>
        </p:nvSpPr>
        <p:spPr>
          <a:xfrm>
            <a:off x="6426200" y="4448175"/>
            <a:ext cx="38100" cy="6350"/>
          </a:xfrm>
          <a:prstGeom prst="rect">
            <a:avLst/>
          </a:prstGeom>
          <a:solidFill>
            <a:srgbClr val="848E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5" name="Rectangle 214"/>
          <p:cNvSpPr/>
          <p:nvPr/>
        </p:nvSpPr>
        <p:spPr>
          <a:xfrm>
            <a:off x="6502400" y="4448175"/>
            <a:ext cx="38100" cy="6350"/>
          </a:xfrm>
          <a:prstGeom prst="rect">
            <a:avLst/>
          </a:prstGeom>
          <a:solidFill>
            <a:srgbClr val="848E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6" name="Rectangle 215"/>
          <p:cNvSpPr/>
          <p:nvPr/>
        </p:nvSpPr>
        <p:spPr>
          <a:xfrm>
            <a:off x="6578600" y="4448175"/>
            <a:ext cx="38100" cy="6350"/>
          </a:xfrm>
          <a:prstGeom prst="rect">
            <a:avLst/>
          </a:prstGeom>
          <a:solidFill>
            <a:srgbClr val="848E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7" name="Rectangle 216"/>
          <p:cNvSpPr/>
          <p:nvPr/>
        </p:nvSpPr>
        <p:spPr>
          <a:xfrm>
            <a:off x="6654800" y="4448175"/>
            <a:ext cx="38100" cy="6350"/>
          </a:xfrm>
          <a:prstGeom prst="rect">
            <a:avLst/>
          </a:prstGeom>
          <a:solidFill>
            <a:srgbClr val="848E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8" name="Rectangle 217"/>
          <p:cNvSpPr/>
          <p:nvPr/>
        </p:nvSpPr>
        <p:spPr>
          <a:xfrm>
            <a:off x="6731000" y="4448175"/>
            <a:ext cx="38100" cy="6350"/>
          </a:xfrm>
          <a:prstGeom prst="rect">
            <a:avLst/>
          </a:prstGeom>
          <a:solidFill>
            <a:srgbClr val="848E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9" name="Rectangle 218"/>
          <p:cNvSpPr/>
          <p:nvPr/>
        </p:nvSpPr>
        <p:spPr>
          <a:xfrm>
            <a:off x="6807200" y="4448175"/>
            <a:ext cx="38100" cy="6350"/>
          </a:xfrm>
          <a:prstGeom prst="rect">
            <a:avLst/>
          </a:prstGeom>
          <a:solidFill>
            <a:srgbClr val="848E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0" name="Rectangle 219"/>
          <p:cNvSpPr/>
          <p:nvPr/>
        </p:nvSpPr>
        <p:spPr>
          <a:xfrm>
            <a:off x="6883400" y="4448175"/>
            <a:ext cx="38100" cy="6350"/>
          </a:xfrm>
          <a:prstGeom prst="rect">
            <a:avLst/>
          </a:prstGeom>
          <a:solidFill>
            <a:srgbClr val="848E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1" name="Rectangle 220"/>
          <p:cNvSpPr/>
          <p:nvPr/>
        </p:nvSpPr>
        <p:spPr>
          <a:xfrm>
            <a:off x="6959600" y="4448175"/>
            <a:ext cx="38100" cy="6350"/>
          </a:xfrm>
          <a:prstGeom prst="rect">
            <a:avLst/>
          </a:prstGeom>
          <a:solidFill>
            <a:srgbClr val="848E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2" name="Rectangle 221"/>
          <p:cNvSpPr/>
          <p:nvPr/>
        </p:nvSpPr>
        <p:spPr>
          <a:xfrm>
            <a:off x="7035800" y="4448175"/>
            <a:ext cx="38100" cy="6350"/>
          </a:xfrm>
          <a:prstGeom prst="rect">
            <a:avLst/>
          </a:prstGeom>
          <a:solidFill>
            <a:srgbClr val="848E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3" name="Rectangle 222"/>
          <p:cNvSpPr/>
          <p:nvPr/>
        </p:nvSpPr>
        <p:spPr>
          <a:xfrm>
            <a:off x="7112000" y="4448175"/>
            <a:ext cx="38100" cy="6350"/>
          </a:xfrm>
          <a:prstGeom prst="rect">
            <a:avLst/>
          </a:prstGeom>
          <a:solidFill>
            <a:srgbClr val="848E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4" name="Rectangle 223"/>
          <p:cNvSpPr/>
          <p:nvPr/>
        </p:nvSpPr>
        <p:spPr>
          <a:xfrm>
            <a:off x="7188200" y="4448175"/>
            <a:ext cx="38100" cy="6350"/>
          </a:xfrm>
          <a:prstGeom prst="rect">
            <a:avLst/>
          </a:prstGeom>
          <a:solidFill>
            <a:srgbClr val="848E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5" name="Rectangle 224"/>
          <p:cNvSpPr/>
          <p:nvPr/>
        </p:nvSpPr>
        <p:spPr>
          <a:xfrm>
            <a:off x="7264400" y="4448175"/>
            <a:ext cx="38100" cy="6350"/>
          </a:xfrm>
          <a:prstGeom prst="rect">
            <a:avLst/>
          </a:prstGeom>
          <a:solidFill>
            <a:srgbClr val="848E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6" name="Rectangle 225"/>
          <p:cNvSpPr/>
          <p:nvPr/>
        </p:nvSpPr>
        <p:spPr>
          <a:xfrm>
            <a:off x="7340600" y="4448175"/>
            <a:ext cx="25400" cy="6350"/>
          </a:xfrm>
          <a:prstGeom prst="rect">
            <a:avLst/>
          </a:prstGeom>
          <a:solidFill>
            <a:srgbClr val="848E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7" name="Rectangle 226"/>
          <p:cNvSpPr/>
          <p:nvPr/>
        </p:nvSpPr>
        <p:spPr>
          <a:xfrm>
            <a:off x="5461000" y="4375150"/>
            <a:ext cx="1270000" cy="152400"/>
          </a:xfrm>
          <a:prstGeom prst="rect">
            <a:avLst/>
          </a:prstGeom>
          <a:solidFill>
            <a:srgbClr val="0B0E1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8" name="Rectangle 227"/>
          <p:cNvSpPr/>
          <p:nvPr/>
        </p:nvSpPr>
        <p:spPr>
          <a:xfrm>
            <a:off x="4191000" y="4819650"/>
            <a:ext cx="1270000" cy="609600"/>
          </a:xfrm>
          <a:prstGeom prst="rect">
            <a:avLst/>
          </a:prstGeom>
          <a:solidFill>
            <a:srgbClr val="1E232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9" name="Rectangle 228"/>
          <p:cNvSpPr/>
          <p:nvPr/>
        </p:nvSpPr>
        <p:spPr>
          <a:xfrm>
            <a:off x="4191000" y="4819650"/>
            <a:ext cx="25400" cy="609600"/>
          </a:xfrm>
          <a:prstGeom prst="rect">
            <a:avLst/>
          </a:prstGeom>
          <a:solidFill>
            <a:srgbClr val="0B0E1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0" name="Rectangle 229"/>
          <p:cNvSpPr/>
          <p:nvPr/>
        </p:nvSpPr>
        <p:spPr>
          <a:xfrm>
            <a:off x="6731000" y="4819650"/>
            <a:ext cx="1270000" cy="609600"/>
          </a:xfrm>
          <a:prstGeom prst="rect">
            <a:avLst/>
          </a:prstGeom>
          <a:solidFill>
            <a:srgbClr val="1E232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1" name="Rectangle 230"/>
          <p:cNvSpPr/>
          <p:nvPr/>
        </p:nvSpPr>
        <p:spPr>
          <a:xfrm>
            <a:off x="7975600" y="4819650"/>
            <a:ext cx="25400" cy="609600"/>
          </a:xfrm>
          <a:prstGeom prst="rect">
            <a:avLst/>
          </a:prstGeom>
          <a:solidFill>
            <a:srgbClr val="FCD53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2" name="Rectangle 231"/>
          <p:cNvSpPr/>
          <p:nvPr/>
        </p:nvSpPr>
        <p:spPr>
          <a:xfrm>
            <a:off x="5461000" y="5121275"/>
            <a:ext cx="38100" cy="6350"/>
          </a:xfrm>
          <a:prstGeom prst="rect">
            <a:avLst/>
          </a:prstGeom>
          <a:solidFill>
            <a:srgbClr val="848E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3" name="Rectangle 232"/>
          <p:cNvSpPr/>
          <p:nvPr/>
        </p:nvSpPr>
        <p:spPr>
          <a:xfrm>
            <a:off x="5537200" y="5121275"/>
            <a:ext cx="38100" cy="6350"/>
          </a:xfrm>
          <a:prstGeom prst="rect">
            <a:avLst/>
          </a:prstGeom>
          <a:solidFill>
            <a:srgbClr val="848E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4" name="Rectangle 233"/>
          <p:cNvSpPr/>
          <p:nvPr/>
        </p:nvSpPr>
        <p:spPr>
          <a:xfrm>
            <a:off x="5613400" y="5121275"/>
            <a:ext cx="38100" cy="6350"/>
          </a:xfrm>
          <a:prstGeom prst="rect">
            <a:avLst/>
          </a:prstGeom>
          <a:solidFill>
            <a:srgbClr val="848E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5" name="Rectangle 234"/>
          <p:cNvSpPr/>
          <p:nvPr/>
        </p:nvSpPr>
        <p:spPr>
          <a:xfrm>
            <a:off x="5689600" y="5121275"/>
            <a:ext cx="38100" cy="6350"/>
          </a:xfrm>
          <a:prstGeom prst="rect">
            <a:avLst/>
          </a:prstGeom>
          <a:solidFill>
            <a:srgbClr val="848E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6" name="Rectangle 235"/>
          <p:cNvSpPr/>
          <p:nvPr/>
        </p:nvSpPr>
        <p:spPr>
          <a:xfrm>
            <a:off x="5765800" y="5121275"/>
            <a:ext cx="38100" cy="6350"/>
          </a:xfrm>
          <a:prstGeom prst="rect">
            <a:avLst/>
          </a:prstGeom>
          <a:solidFill>
            <a:srgbClr val="848E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7" name="Rectangle 236"/>
          <p:cNvSpPr/>
          <p:nvPr/>
        </p:nvSpPr>
        <p:spPr>
          <a:xfrm>
            <a:off x="5842000" y="5121275"/>
            <a:ext cx="38100" cy="6350"/>
          </a:xfrm>
          <a:prstGeom prst="rect">
            <a:avLst/>
          </a:prstGeom>
          <a:solidFill>
            <a:srgbClr val="848E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8" name="Rectangle 237"/>
          <p:cNvSpPr/>
          <p:nvPr/>
        </p:nvSpPr>
        <p:spPr>
          <a:xfrm>
            <a:off x="5918200" y="5121275"/>
            <a:ext cx="38100" cy="6350"/>
          </a:xfrm>
          <a:prstGeom prst="rect">
            <a:avLst/>
          </a:prstGeom>
          <a:solidFill>
            <a:srgbClr val="848E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9" name="Rectangle 238"/>
          <p:cNvSpPr/>
          <p:nvPr/>
        </p:nvSpPr>
        <p:spPr>
          <a:xfrm>
            <a:off x="5994400" y="5121275"/>
            <a:ext cx="38100" cy="6350"/>
          </a:xfrm>
          <a:prstGeom prst="rect">
            <a:avLst/>
          </a:prstGeom>
          <a:solidFill>
            <a:srgbClr val="848E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0" name="Rectangle 239"/>
          <p:cNvSpPr/>
          <p:nvPr/>
        </p:nvSpPr>
        <p:spPr>
          <a:xfrm>
            <a:off x="6070600" y="5121275"/>
            <a:ext cx="38100" cy="6350"/>
          </a:xfrm>
          <a:prstGeom prst="rect">
            <a:avLst/>
          </a:prstGeom>
          <a:solidFill>
            <a:srgbClr val="848E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1" name="Rectangle 240"/>
          <p:cNvSpPr/>
          <p:nvPr/>
        </p:nvSpPr>
        <p:spPr>
          <a:xfrm>
            <a:off x="6146800" y="5121275"/>
            <a:ext cx="38100" cy="6350"/>
          </a:xfrm>
          <a:prstGeom prst="rect">
            <a:avLst/>
          </a:prstGeom>
          <a:solidFill>
            <a:srgbClr val="848E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2" name="Rectangle 241"/>
          <p:cNvSpPr/>
          <p:nvPr/>
        </p:nvSpPr>
        <p:spPr>
          <a:xfrm>
            <a:off x="6223000" y="5121275"/>
            <a:ext cx="38100" cy="6350"/>
          </a:xfrm>
          <a:prstGeom prst="rect">
            <a:avLst/>
          </a:prstGeom>
          <a:solidFill>
            <a:srgbClr val="848E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3" name="Rectangle 242"/>
          <p:cNvSpPr/>
          <p:nvPr/>
        </p:nvSpPr>
        <p:spPr>
          <a:xfrm>
            <a:off x="6299200" y="5121275"/>
            <a:ext cx="38100" cy="6350"/>
          </a:xfrm>
          <a:prstGeom prst="rect">
            <a:avLst/>
          </a:prstGeom>
          <a:solidFill>
            <a:srgbClr val="848E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4" name="Rectangle 243"/>
          <p:cNvSpPr/>
          <p:nvPr/>
        </p:nvSpPr>
        <p:spPr>
          <a:xfrm>
            <a:off x="6375400" y="5121275"/>
            <a:ext cx="38100" cy="6350"/>
          </a:xfrm>
          <a:prstGeom prst="rect">
            <a:avLst/>
          </a:prstGeom>
          <a:solidFill>
            <a:srgbClr val="848E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5" name="Rectangle 244"/>
          <p:cNvSpPr/>
          <p:nvPr/>
        </p:nvSpPr>
        <p:spPr>
          <a:xfrm>
            <a:off x="6451600" y="5121275"/>
            <a:ext cx="38100" cy="6350"/>
          </a:xfrm>
          <a:prstGeom prst="rect">
            <a:avLst/>
          </a:prstGeom>
          <a:solidFill>
            <a:srgbClr val="848E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6" name="Rectangle 245"/>
          <p:cNvSpPr/>
          <p:nvPr/>
        </p:nvSpPr>
        <p:spPr>
          <a:xfrm>
            <a:off x="6527800" y="5121275"/>
            <a:ext cx="38100" cy="6350"/>
          </a:xfrm>
          <a:prstGeom prst="rect">
            <a:avLst/>
          </a:prstGeom>
          <a:solidFill>
            <a:srgbClr val="848E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7" name="Rectangle 246"/>
          <p:cNvSpPr/>
          <p:nvPr/>
        </p:nvSpPr>
        <p:spPr>
          <a:xfrm>
            <a:off x="6604000" y="5121275"/>
            <a:ext cx="38100" cy="6350"/>
          </a:xfrm>
          <a:prstGeom prst="rect">
            <a:avLst/>
          </a:prstGeom>
          <a:solidFill>
            <a:srgbClr val="848E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8" name="Rectangle 247"/>
          <p:cNvSpPr/>
          <p:nvPr/>
        </p:nvSpPr>
        <p:spPr>
          <a:xfrm>
            <a:off x="6680200" y="5121275"/>
            <a:ext cx="38100" cy="6350"/>
          </a:xfrm>
          <a:prstGeom prst="rect">
            <a:avLst/>
          </a:prstGeom>
          <a:solidFill>
            <a:srgbClr val="848E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9" name="Rectangle 248"/>
          <p:cNvSpPr/>
          <p:nvPr/>
        </p:nvSpPr>
        <p:spPr>
          <a:xfrm>
            <a:off x="5461000" y="5048250"/>
            <a:ext cx="1270000" cy="152400"/>
          </a:xfrm>
          <a:prstGeom prst="rect">
            <a:avLst/>
          </a:prstGeom>
          <a:solidFill>
            <a:srgbClr val="0B0E1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0" name="Rectangle 249"/>
          <p:cNvSpPr/>
          <p:nvPr/>
        </p:nvSpPr>
        <p:spPr>
          <a:xfrm>
            <a:off x="4826000" y="5543550"/>
            <a:ext cx="2540000" cy="546100"/>
          </a:xfrm>
          <a:prstGeom prst="rect">
            <a:avLst/>
          </a:prstGeom>
          <a:solidFill>
            <a:srgbClr val="0B0E1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1" name="Rectangle 250"/>
          <p:cNvSpPr/>
          <p:nvPr/>
        </p:nvSpPr>
        <p:spPr>
          <a:xfrm>
            <a:off x="4826000" y="5543550"/>
            <a:ext cx="2540000" cy="25400"/>
          </a:xfrm>
          <a:prstGeom prst="rect">
            <a:avLst/>
          </a:prstGeom>
          <a:solidFill>
            <a:srgbClr val="FCD53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2" name="Pair 1 L Counter"/>
          <p:cNvSpPr>
            <a:spLocks noGrp="1"/>
          </p:cNvSpPr>
          <p:nvPr>
            <p:ph type="body" idx="20"/>
          </p:nvPr>
        </p:nvSpPr>
        <p:spPr>
          <a:xfrm>
            <a:off x="1130300" y="2901950"/>
            <a:ext cx="1041400" cy="1270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600" spc="84" cap="all">
                <a:solidFill>
                  <a:srgbClr val="FFFFFF"/>
                </a:solidFill>
                <a:latin typeface="BinancePlex"/>
              </a:rPr>
              <a:t>PHASE 01</a:t>
            </a:r>
          </a:p>
        </p:txBody>
      </p:sp>
      <p:sp>
        <p:nvSpPr>
          <p:cNvPr id="253" name="Pair 1 L Title"/>
          <p:cNvSpPr>
            <a:spLocks noGrp="1"/>
          </p:cNvSpPr>
          <p:nvPr>
            <p:ph type="body" idx="21"/>
          </p:nvPr>
        </p:nvSpPr>
        <p:spPr>
          <a:xfrm>
            <a:off x="1130300" y="3054350"/>
            <a:ext cx="1041400" cy="2921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4999"/>
              </a:lnSpc>
              <a:buNone/>
            </a:pPr>
            <a:r>
              <a:rPr lang="en-US" sz="750" spc="-8">
                <a:solidFill>
                  <a:srgbClr val="0B0E11"/>
                </a:solidFill>
                <a:latin typeface="BinanceNova Medium"/>
              </a:rPr>
              <a:t>Requirement gathering</a:t>
            </a:r>
          </a:p>
        </p:txBody>
      </p:sp>
      <p:sp>
        <p:nvSpPr>
          <p:cNvPr id="254" name="Pair 1 R Counter"/>
          <p:cNvSpPr>
            <a:spLocks noGrp="1"/>
          </p:cNvSpPr>
          <p:nvPr>
            <p:ph type="body" idx="22"/>
          </p:nvPr>
        </p:nvSpPr>
        <p:spPr>
          <a:xfrm>
            <a:off x="10020300" y="2901950"/>
            <a:ext cx="1041400" cy="127000"/>
          </a:xfrm>
        </p:spPr>
        <p:txBody>
          <a:bodyPr lIns="0" tIns="0" rIns="0" bIns="0" wrap="square" anchor="t"/>
          <a:lstStyle/>
          <a:p>
            <a:pPr marL="0" indent="0" algn="r">
              <a:buNone/>
            </a:pPr>
            <a:r>
              <a:rPr lang="en-US" sz="600" spc="84" cap="all">
                <a:solidFill>
                  <a:srgbClr val="F0B90B"/>
                </a:solidFill>
                <a:latin typeface="BinancePlex"/>
              </a:rPr>
              <a:t>TEST 01</a:t>
            </a:r>
          </a:p>
        </p:txBody>
      </p:sp>
      <p:sp>
        <p:nvSpPr>
          <p:cNvPr id="255" name="Pair 1 R Title"/>
          <p:cNvSpPr>
            <a:spLocks noGrp="1"/>
          </p:cNvSpPr>
          <p:nvPr>
            <p:ph type="body" idx="23"/>
          </p:nvPr>
        </p:nvSpPr>
        <p:spPr>
          <a:xfrm>
            <a:off x="10020300" y="3054350"/>
            <a:ext cx="1041400" cy="292100"/>
          </a:xfrm>
        </p:spPr>
        <p:txBody>
          <a:bodyPr lIns="0" tIns="0" rIns="0" bIns="0" wrap="square" anchor="t"/>
          <a:lstStyle/>
          <a:p>
            <a:pPr marL="0" indent="0" algn="r">
              <a:lnSpc>
                <a:spcPct val="114999"/>
              </a:lnSpc>
              <a:buNone/>
            </a:pPr>
            <a:r>
              <a:rPr lang="en-US" sz="750" spc="-8">
                <a:solidFill>
                  <a:srgbClr val="0B0E11"/>
                </a:solidFill>
                <a:latin typeface="BinanceNova Medium"/>
              </a:rPr>
              <a:t>Acceptance testing</a:t>
            </a:r>
          </a:p>
        </p:txBody>
      </p:sp>
      <p:sp>
        <p:nvSpPr>
          <p:cNvPr id="256" name="Pair 1 Connector"/>
          <p:cNvSpPr>
            <a:spLocks noGrp="1"/>
          </p:cNvSpPr>
          <p:nvPr>
            <p:ph type="body" idx="24"/>
          </p:nvPr>
        </p:nvSpPr>
        <p:spPr>
          <a:xfrm>
            <a:off x="5511800" y="3054350"/>
            <a:ext cx="1168400" cy="101600"/>
          </a:xfrm>
        </p:spPr>
        <p:txBody>
          <a:bodyPr lIns="0" tIns="0" rIns="0" bIns="0" wrap="square" anchor="t"/>
          <a:lstStyle/>
          <a:p>
            <a:pPr marL="0" indent="0" algn="ctr">
              <a:buNone/>
            </a:pPr>
            <a:r>
              <a:rPr lang="en-US" sz="550" spc="55" cap="all">
                <a:solidFill>
                  <a:srgbClr val="FFFFFF"/>
                </a:solidFill>
                <a:latin typeface="BinancePlex"/>
              </a:rPr>
              <a:t>ACCEPTANCE PLAN</a:t>
            </a:r>
          </a:p>
        </p:txBody>
      </p:sp>
      <p:sp>
        <p:nvSpPr>
          <p:cNvPr id="257" name="Pair 2 L Counter"/>
          <p:cNvSpPr>
            <a:spLocks noGrp="1"/>
          </p:cNvSpPr>
          <p:nvPr>
            <p:ph type="body" idx="25"/>
          </p:nvPr>
        </p:nvSpPr>
        <p:spPr>
          <a:xfrm>
            <a:off x="2400300" y="3575050"/>
            <a:ext cx="1041400" cy="1270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600" spc="84" cap="all">
                <a:solidFill>
                  <a:srgbClr val="FFFFFF"/>
                </a:solidFill>
                <a:latin typeface="BinancePlex"/>
              </a:rPr>
              <a:t>PHASE 02</a:t>
            </a:r>
          </a:p>
        </p:txBody>
      </p:sp>
      <p:sp>
        <p:nvSpPr>
          <p:cNvPr id="258" name="Pair 2 L Title"/>
          <p:cNvSpPr>
            <a:spLocks noGrp="1"/>
          </p:cNvSpPr>
          <p:nvPr>
            <p:ph type="body" idx="26"/>
          </p:nvPr>
        </p:nvSpPr>
        <p:spPr>
          <a:xfrm>
            <a:off x="2400300" y="3727450"/>
            <a:ext cx="1041400" cy="2921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4999"/>
              </a:lnSpc>
              <a:buNone/>
            </a:pPr>
            <a:r>
              <a:rPr lang="en-US" sz="750" spc="-8">
                <a:solidFill>
                  <a:srgbClr val="0B0E11"/>
                </a:solidFill>
                <a:latin typeface="BinanceNova Medium"/>
              </a:rPr>
              <a:t>System analysis</a:t>
            </a:r>
          </a:p>
        </p:txBody>
      </p:sp>
      <p:sp>
        <p:nvSpPr>
          <p:cNvPr id="259" name="Pair 2 R Counter"/>
          <p:cNvSpPr>
            <a:spLocks noGrp="1"/>
          </p:cNvSpPr>
          <p:nvPr>
            <p:ph type="body" idx="27"/>
          </p:nvPr>
        </p:nvSpPr>
        <p:spPr>
          <a:xfrm>
            <a:off x="8750300" y="3575050"/>
            <a:ext cx="1041400" cy="127000"/>
          </a:xfrm>
        </p:spPr>
        <p:txBody>
          <a:bodyPr lIns="0" tIns="0" rIns="0" bIns="0" wrap="square" anchor="t"/>
          <a:lstStyle/>
          <a:p>
            <a:pPr marL="0" indent="0" algn="r">
              <a:buNone/>
            </a:pPr>
            <a:r>
              <a:rPr lang="en-US" sz="600" spc="84" cap="all">
                <a:solidFill>
                  <a:srgbClr val="F0B90B"/>
                </a:solidFill>
                <a:latin typeface="BinancePlex"/>
              </a:rPr>
              <a:t>TEST 02</a:t>
            </a:r>
          </a:p>
        </p:txBody>
      </p:sp>
      <p:sp>
        <p:nvSpPr>
          <p:cNvPr id="260" name="Pair 2 R Title"/>
          <p:cNvSpPr>
            <a:spLocks noGrp="1"/>
          </p:cNvSpPr>
          <p:nvPr>
            <p:ph type="body" idx="28"/>
          </p:nvPr>
        </p:nvSpPr>
        <p:spPr>
          <a:xfrm>
            <a:off x="8750300" y="3727450"/>
            <a:ext cx="1041400" cy="292100"/>
          </a:xfrm>
        </p:spPr>
        <p:txBody>
          <a:bodyPr lIns="0" tIns="0" rIns="0" bIns="0" wrap="square" anchor="t"/>
          <a:lstStyle/>
          <a:p>
            <a:pPr marL="0" indent="0" algn="r">
              <a:lnSpc>
                <a:spcPct val="114999"/>
              </a:lnSpc>
              <a:buNone/>
            </a:pPr>
            <a:r>
              <a:rPr lang="en-US" sz="750" spc="-8">
                <a:solidFill>
                  <a:srgbClr val="0B0E11"/>
                </a:solidFill>
                <a:latin typeface="BinanceNova Medium"/>
              </a:rPr>
              <a:t>System testing</a:t>
            </a:r>
          </a:p>
        </p:txBody>
      </p:sp>
      <p:sp>
        <p:nvSpPr>
          <p:cNvPr id="261" name="Pair 2 Connector"/>
          <p:cNvSpPr>
            <a:spLocks noGrp="1"/>
          </p:cNvSpPr>
          <p:nvPr>
            <p:ph type="body" idx="29"/>
          </p:nvPr>
        </p:nvSpPr>
        <p:spPr>
          <a:xfrm>
            <a:off x="5511800" y="3727450"/>
            <a:ext cx="1168400" cy="101600"/>
          </a:xfrm>
        </p:spPr>
        <p:txBody>
          <a:bodyPr lIns="0" tIns="0" rIns="0" bIns="0" wrap="square" anchor="t"/>
          <a:lstStyle/>
          <a:p>
            <a:pPr marL="0" indent="0" algn="ctr">
              <a:buNone/>
            </a:pPr>
            <a:r>
              <a:rPr lang="en-US" sz="550" spc="55" cap="all">
                <a:solidFill>
                  <a:srgbClr val="FFFFFF"/>
                </a:solidFill>
                <a:latin typeface="BinancePlex"/>
              </a:rPr>
              <a:t>SYSTEM TEST PLAN</a:t>
            </a:r>
          </a:p>
        </p:txBody>
      </p:sp>
      <p:sp>
        <p:nvSpPr>
          <p:cNvPr id="262" name="Pair 3 L Counter"/>
          <p:cNvSpPr>
            <a:spLocks noGrp="1"/>
          </p:cNvSpPr>
          <p:nvPr>
            <p:ph type="body" idx="30"/>
          </p:nvPr>
        </p:nvSpPr>
        <p:spPr>
          <a:xfrm>
            <a:off x="3670300" y="4248150"/>
            <a:ext cx="1041400" cy="1270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600" spc="84" cap="all">
                <a:solidFill>
                  <a:srgbClr val="FFFFFF"/>
                </a:solidFill>
                <a:latin typeface="BinancePlex"/>
              </a:rPr>
              <a:t>PHASE 03</a:t>
            </a:r>
          </a:p>
        </p:txBody>
      </p:sp>
      <p:sp>
        <p:nvSpPr>
          <p:cNvPr id="263" name="Pair 3 L Title"/>
          <p:cNvSpPr>
            <a:spLocks noGrp="1"/>
          </p:cNvSpPr>
          <p:nvPr>
            <p:ph type="body" idx="31"/>
          </p:nvPr>
        </p:nvSpPr>
        <p:spPr>
          <a:xfrm>
            <a:off x="3670300" y="4400550"/>
            <a:ext cx="1041400" cy="2921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4999"/>
              </a:lnSpc>
              <a:buNone/>
            </a:pPr>
            <a:r>
              <a:rPr lang="en-US" sz="750" spc="-8">
                <a:solidFill>
                  <a:srgbClr val="0B0E11"/>
                </a:solidFill>
                <a:latin typeface="BinanceNova Medium"/>
              </a:rPr>
              <a:t>Software design</a:t>
            </a:r>
          </a:p>
        </p:txBody>
      </p:sp>
      <p:sp>
        <p:nvSpPr>
          <p:cNvPr id="264" name="Pair 3 R Counter"/>
          <p:cNvSpPr>
            <a:spLocks noGrp="1"/>
          </p:cNvSpPr>
          <p:nvPr>
            <p:ph type="body" idx="32"/>
          </p:nvPr>
        </p:nvSpPr>
        <p:spPr>
          <a:xfrm>
            <a:off x="7480300" y="4248150"/>
            <a:ext cx="1041400" cy="127000"/>
          </a:xfrm>
        </p:spPr>
        <p:txBody>
          <a:bodyPr lIns="0" tIns="0" rIns="0" bIns="0" wrap="square" anchor="t"/>
          <a:lstStyle/>
          <a:p>
            <a:pPr marL="0" indent="0" algn="r">
              <a:buNone/>
            </a:pPr>
            <a:r>
              <a:rPr lang="en-US" sz="600" spc="84" cap="all">
                <a:solidFill>
                  <a:srgbClr val="F0B90B"/>
                </a:solidFill>
                <a:latin typeface="BinancePlex"/>
              </a:rPr>
              <a:t>TEST 03</a:t>
            </a:r>
          </a:p>
        </p:txBody>
      </p:sp>
      <p:sp>
        <p:nvSpPr>
          <p:cNvPr id="265" name="Pair 3 R Title"/>
          <p:cNvSpPr>
            <a:spLocks noGrp="1"/>
          </p:cNvSpPr>
          <p:nvPr>
            <p:ph type="body" idx="33"/>
          </p:nvPr>
        </p:nvSpPr>
        <p:spPr>
          <a:xfrm>
            <a:off x="7480300" y="4400550"/>
            <a:ext cx="1041400" cy="292100"/>
          </a:xfrm>
        </p:spPr>
        <p:txBody>
          <a:bodyPr lIns="0" tIns="0" rIns="0" bIns="0" wrap="square" anchor="t"/>
          <a:lstStyle/>
          <a:p>
            <a:pPr marL="0" indent="0" algn="r">
              <a:lnSpc>
                <a:spcPct val="114999"/>
              </a:lnSpc>
              <a:buNone/>
            </a:pPr>
            <a:r>
              <a:rPr lang="en-US" sz="750" spc="-8">
                <a:solidFill>
                  <a:srgbClr val="0B0E11"/>
                </a:solidFill>
                <a:latin typeface="BinanceNova Medium"/>
              </a:rPr>
              <a:t>Integration testing</a:t>
            </a:r>
          </a:p>
        </p:txBody>
      </p:sp>
      <p:sp>
        <p:nvSpPr>
          <p:cNvPr id="266" name="Pair 3 Connector"/>
          <p:cNvSpPr>
            <a:spLocks noGrp="1"/>
          </p:cNvSpPr>
          <p:nvPr>
            <p:ph type="body" idx="34"/>
          </p:nvPr>
        </p:nvSpPr>
        <p:spPr>
          <a:xfrm>
            <a:off x="5511800" y="4400550"/>
            <a:ext cx="1168400" cy="101600"/>
          </a:xfrm>
        </p:spPr>
        <p:txBody>
          <a:bodyPr lIns="0" tIns="0" rIns="0" bIns="0" wrap="square" anchor="t"/>
          <a:lstStyle/>
          <a:p>
            <a:pPr marL="0" indent="0" algn="ctr">
              <a:buNone/>
            </a:pPr>
            <a:r>
              <a:rPr lang="en-US" sz="550" spc="55" cap="all">
                <a:solidFill>
                  <a:srgbClr val="FFFFFF"/>
                </a:solidFill>
                <a:latin typeface="BinancePlex"/>
              </a:rPr>
              <a:t>INTEGRATION</a:t>
            </a:r>
          </a:p>
        </p:txBody>
      </p:sp>
      <p:sp>
        <p:nvSpPr>
          <p:cNvPr id="267" name="Pair 4 L Counter"/>
          <p:cNvSpPr>
            <a:spLocks noGrp="1"/>
          </p:cNvSpPr>
          <p:nvPr>
            <p:ph type="body" idx="35"/>
          </p:nvPr>
        </p:nvSpPr>
        <p:spPr>
          <a:xfrm>
            <a:off x="4305300" y="4921250"/>
            <a:ext cx="1041400" cy="1270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600" spc="84" cap="all">
                <a:solidFill>
                  <a:srgbClr val="FFFFFF"/>
                </a:solidFill>
                <a:latin typeface="BinancePlex"/>
              </a:rPr>
              <a:t>PHASE 04</a:t>
            </a:r>
          </a:p>
        </p:txBody>
      </p:sp>
      <p:sp>
        <p:nvSpPr>
          <p:cNvPr id="268" name="Pair 4 L Title"/>
          <p:cNvSpPr>
            <a:spLocks noGrp="1"/>
          </p:cNvSpPr>
          <p:nvPr>
            <p:ph type="body" idx="36"/>
          </p:nvPr>
        </p:nvSpPr>
        <p:spPr>
          <a:xfrm>
            <a:off x="4305300" y="5073650"/>
            <a:ext cx="1041400" cy="2921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4999"/>
              </a:lnSpc>
              <a:buNone/>
            </a:pPr>
            <a:r>
              <a:rPr lang="en-US" sz="750" spc="-8">
                <a:solidFill>
                  <a:srgbClr val="0B0E11"/>
                </a:solidFill>
                <a:latin typeface="BinanceNova Medium"/>
              </a:rPr>
              <a:t>Module design</a:t>
            </a:r>
          </a:p>
        </p:txBody>
      </p:sp>
      <p:sp>
        <p:nvSpPr>
          <p:cNvPr id="269" name="Pair 4 R Counter"/>
          <p:cNvSpPr>
            <a:spLocks noGrp="1"/>
          </p:cNvSpPr>
          <p:nvPr>
            <p:ph type="body" idx="37"/>
          </p:nvPr>
        </p:nvSpPr>
        <p:spPr>
          <a:xfrm>
            <a:off x="6845300" y="4921250"/>
            <a:ext cx="1041400" cy="127000"/>
          </a:xfrm>
        </p:spPr>
        <p:txBody>
          <a:bodyPr lIns="0" tIns="0" rIns="0" bIns="0" wrap="square" anchor="t"/>
          <a:lstStyle/>
          <a:p>
            <a:pPr marL="0" indent="0" algn="r">
              <a:buNone/>
            </a:pPr>
            <a:r>
              <a:rPr lang="en-US" sz="600" spc="84" cap="all">
                <a:solidFill>
                  <a:srgbClr val="F0B90B"/>
                </a:solidFill>
                <a:latin typeface="BinancePlex"/>
              </a:rPr>
              <a:t>TEST 04</a:t>
            </a:r>
          </a:p>
        </p:txBody>
      </p:sp>
      <p:sp>
        <p:nvSpPr>
          <p:cNvPr id="270" name="Pair 4 R Title"/>
          <p:cNvSpPr>
            <a:spLocks noGrp="1"/>
          </p:cNvSpPr>
          <p:nvPr>
            <p:ph type="body" idx="38"/>
          </p:nvPr>
        </p:nvSpPr>
        <p:spPr>
          <a:xfrm>
            <a:off x="6845300" y="5073650"/>
            <a:ext cx="1041400" cy="292100"/>
          </a:xfrm>
        </p:spPr>
        <p:txBody>
          <a:bodyPr lIns="0" tIns="0" rIns="0" bIns="0" wrap="square" anchor="t"/>
          <a:lstStyle/>
          <a:p>
            <a:pPr marL="0" indent="0" algn="r">
              <a:lnSpc>
                <a:spcPct val="114999"/>
              </a:lnSpc>
              <a:buNone/>
            </a:pPr>
            <a:r>
              <a:rPr lang="en-US" sz="750" spc="-8">
                <a:solidFill>
                  <a:srgbClr val="0B0E11"/>
                </a:solidFill>
                <a:latin typeface="BinanceNova Medium"/>
              </a:rPr>
              <a:t>Unit testing</a:t>
            </a:r>
          </a:p>
        </p:txBody>
      </p:sp>
      <p:sp>
        <p:nvSpPr>
          <p:cNvPr id="271" name="Pair 4 Connector"/>
          <p:cNvSpPr>
            <a:spLocks noGrp="1"/>
          </p:cNvSpPr>
          <p:nvPr>
            <p:ph type="body" idx="39"/>
          </p:nvPr>
        </p:nvSpPr>
        <p:spPr>
          <a:xfrm>
            <a:off x="5511800" y="5073650"/>
            <a:ext cx="1168400" cy="101600"/>
          </a:xfrm>
        </p:spPr>
        <p:txBody>
          <a:bodyPr lIns="0" tIns="0" rIns="0" bIns="0" wrap="square" anchor="t"/>
          <a:lstStyle/>
          <a:p>
            <a:pPr marL="0" indent="0" algn="ctr">
              <a:buNone/>
            </a:pPr>
            <a:r>
              <a:rPr lang="en-US" sz="550" spc="55" cap="all">
                <a:solidFill>
                  <a:srgbClr val="FFFFFF"/>
                </a:solidFill>
                <a:latin typeface="BinancePlex"/>
              </a:rPr>
              <a:t>UNIT TESTS</a:t>
            </a:r>
          </a:p>
        </p:txBody>
      </p:sp>
      <p:sp>
        <p:nvSpPr>
          <p:cNvPr id="272" name="Pivot Counter"/>
          <p:cNvSpPr>
            <a:spLocks noGrp="1"/>
          </p:cNvSpPr>
          <p:nvPr>
            <p:ph type="body" idx="40"/>
          </p:nvPr>
        </p:nvSpPr>
        <p:spPr>
          <a:xfrm>
            <a:off x="4826000" y="5645150"/>
            <a:ext cx="2540000" cy="127000"/>
          </a:xfrm>
        </p:spPr>
        <p:txBody>
          <a:bodyPr lIns="0" tIns="0" rIns="0" bIns="0" wrap="square" anchor="t"/>
          <a:lstStyle/>
          <a:p>
            <a:pPr marL="0" indent="0" algn="ctr">
              <a:buNone/>
            </a:pPr>
            <a:r>
              <a:rPr lang="en-US" sz="600" spc="84" cap="all">
                <a:solidFill>
                  <a:srgbClr val="FCD535"/>
                </a:solidFill>
                <a:latin typeface="BinancePlex"/>
              </a:rPr>
              <a:t>PIVOT</a:t>
            </a:r>
          </a:p>
        </p:txBody>
      </p:sp>
      <p:sp>
        <p:nvSpPr>
          <p:cNvPr id="273" name="Pivot Title"/>
          <p:cNvSpPr>
            <a:spLocks noGrp="1"/>
          </p:cNvSpPr>
          <p:nvPr>
            <p:ph type="body" idx="41"/>
          </p:nvPr>
        </p:nvSpPr>
        <p:spPr>
          <a:xfrm>
            <a:off x="4826000" y="5797550"/>
            <a:ext cx="2540000" cy="254000"/>
          </a:xfrm>
        </p:spPr>
        <p:txBody>
          <a:bodyPr lIns="0" tIns="0" rIns="0" bIns="0" wrap="square" anchor="t"/>
          <a:lstStyle/>
          <a:p>
            <a:pPr marL="0" indent="0" algn="ctr">
              <a:buNone/>
            </a:pPr>
            <a:r>
              <a:rPr lang="en-US" sz="1100" spc="-13">
                <a:solidFill>
                  <a:srgbClr val="0B0E11"/>
                </a:solidFill>
                <a:latin typeface="BinanceNova Medium"/>
              </a:rPr>
              <a:t>Coding &amp; implementation</a:t>
            </a:r>
          </a:p>
        </p:txBody>
      </p:sp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Relationship Id="rId13" Type="http://schemas.openxmlformats.org/officeDocument/2006/relationships/slideLayout" Target="../slideLayouts/slideLayout12.xml"/><Relationship Id="rId14" Type="http://schemas.openxmlformats.org/officeDocument/2006/relationships/slideLayout" Target="../slideLayouts/slideLayout13.xml"/><Relationship Id="rId15" Type="http://schemas.openxmlformats.org/officeDocument/2006/relationships/slideLayout" Target="../slideLayouts/slideLayout14.xml"/><Relationship Id="rId16" Type="http://schemas.openxmlformats.org/officeDocument/2006/relationships/slideLayout" Target="../slideLayouts/slideLayout15.xml"/><Relationship Id="rId17" Type="http://schemas.openxmlformats.org/officeDocument/2006/relationships/slideLayout" Target="../slideLayouts/slideLayout16.xml"/><Relationship Id="rId18" Type="http://schemas.openxmlformats.org/officeDocument/2006/relationships/slideLayout" Target="../slideLayouts/slideLayout17.xml"/><Relationship Id="rId19" Type="http://schemas.openxmlformats.org/officeDocument/2006/relationships/slideLayout" Target="../slideLayouts/slideLayout18.xml"/><Relationship Id="rId20" Type="http://schemas.openxmlformats.org/officeDocument/2006/relationships/slideLayout" Target="../slideLayouts/slideLayout19.xml"/><Relationship Id="rId21" Type="http://schemas.openxmlformats.org/officeDocument/2006/relationships/slideLayout" Target="../slideLayouts/slideLayout20.xml"/><Relationship Id="rId22" Type="http://schemas.openxmlformats.org/officeDocument/2006/relationships/slideLayout" Target="../slideLayouts/slideLayout21.xml"/><Relationship Id="rId23" Type="http://schemas.openxmlformats.org/officeDocument/2006/relationships/slideLayout" Target="../slideLayouts/slideLayout22.xml"/><Relationship Id="rId24" Type="http://schemas.openxmlformats.org/officeDocument/2006/relationships/slideLayout" Target="../slideLayouts/slideLayout23.xml"/><Relationship Id="rId25" Type="http://schemas.openxmlformats.org/officeDocument/2006/relationships/slideLayout" Target="../slideLayouts/slideLayout24.xml"/><Relationship Id="rId26" Type="http://schemas.openxmlformats.org/officeDocument/2006/relationships/slideLayout" Target="../slideLayouts/slideLayout25.xml"/><Relationship Id="rId27" Type="http://schemas.openxmlformats.org/officeDocument/2006/relationships/slideLayout" Target="../slideLayouts/slideLayout26.xml"/><Relationship Id="rId28" Type="http://schemas.openxmlformats.org/officeDocument/2006/relationships/slideLayout" Target="../slideLayouts/slideLayout27.xml"/><Relationship Id="rId29" Type="http://schemas.openxmlformats.org/officeDocument/2006/relationships/slideLayout" Target="../slideLayouts/slideLayout28.xml"/><Relationship Id="rId30" Type="http://schemas.openxmlformats.org/officeDocument/2006/relationships/slideLayout" Target="../slideLayouts/slideLayout29.xml"/><Relationship Id="rId31" Type="http://schemas.openxmlformats.org/officeDocument/2006/relationships/slideLayout" Target="../slideLayouts/slideLayout30.xml"/><Relationship Id="rId32" Type="http://schemas.openxmlformats.org/officeDocument/2006/relationships/slideLayout" Target="../slideLayouts/slideLayout31.xml"/><Relationship Id="rId33" Type="http://schemas.openxmlformats.org/officeDocument/2006/relationships/slideLayout" Target="../slideLayouts/slideLayout32.xml"/><Relationship Id="rId34" Type="http://schemas.openxmlformats.org/officeDocument/2006/relationships/slideLayout" Target="../slideLayouts/slideLayout33.xml"/><Relationship Id="rId35" Type="http://schemas.openxmlformats.org/officeDocument/2006/relationships/slideLayout" Target="../slideLayouts/slideLayout34.xml"/><Relationship Id="rId36" Type="http://schemas.openxmlformats.org/officeDocument/2006/relationships/slideLayout" Target="../slideLayouts/slideLayout35.xml"/><Relationship Id="rId37" Type="http://schemas.openxmlformats.org/officeDocument/2006/relationships/slideLayout" Target="../slideLayouts/slideLayout36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3"/>
    <p:sldLayoutId id="2147483661" r:id="rId14"/>
    <p:sldLayoutId id="2147483662" r:id="rId15"/>
    <p:sldLayoutId id="2147483663" r:id="rId16"/>
    <p:sldLayoutId id="2147483664" r:id="rId17"/>
    <p:sldLayoutId id="2147483665" r:id="rId18"/>
    <p:sldLayoutId id="2147483666" r:id="rId19"/>
    <p:sldLayoutId id="2147483667" r:id="rId20"/>
    <p:sldLayoutId id="2147483668" r:id="rId21"/>
    <p:sldLayoutId id="2147483669" r:id="rId22"/>
    <p:sldLayoutId id="2147483670" r:id="rId23"/>
    <p:sldLayoutId id="2147483671" r:id="rId24"/>
    <p:sldLayoutId id="2147483672" r:id="rId25"/>
    <p:sldLayoutId id="2147483673" r:id="rId26"/>
    <p:sldLayoutId id="2147483674" r:id="rId27"/>
    <p:sldLayoutId id="2147483675" r:id="rId28"/>
    <p:sldLayoutId id="2147483676" r:id="rId29"/>
    <p:sldLayoutId id="2147483677" r:id="rId30"/>
    <p:sldLayoutId id="2147483678" r:id="rId31"/>
    <p:sldLayoutId id="2147483679" r:id="rId32"/>
    <p:sldLayoutId id="2147483680" r:id="rId33"/>
    <p:sldLayoutId id="2147483681" r:id="rId34"/>
    <p:sldLayoutId id="2147483682" r:id="rId35"/>
    <p:sldLayoutId id="2147483683" r:id="rId36"/>
    <p:sldLayoutId id="2147483684" r:id="rId37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4.xml"/></Relationships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0"/>
          </p:nvPr>
        </p:nvSpPr>
        <p:spPr/>
        <p:txBody>
          <a:bodyPr/>
          <a:lstStyle/>
          <a:p>
            <a:pPr marL="0" indent="0" algn="l">
              <a:buNone/>
            </a:pPr>
            <a:r>
              <a:rPr lang="en-US" sz="800" spc="80" cap="all">
                <a:solidFill>
                  <a:srgbClr val="FCD535"/>
                </a:solidFill>
                <a:latin typeface="BinanceNova"/>
              </a:rPr>
              <a:t>Layout · components</a:t>
            </a:r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3200" spc="-48">
                <a:solidFill>
                  <a:srgbClr val="FFFFFF"/>
                </a:solidFill>
                <a:latin typeface="BinanceNova"/>
              </a:rPr>
              <a:t>UI library preview.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Binance">
      <a:dk1>
        <a:sysClr val="windowText" lastClr="EAECEF"/>
      </a:dk1>
      <a:lt1>
        <a:sysClr val="window" lastClr="0B0E11"/>
      </a:lt1>
      <a:dk2>
        <a:srgbClr val="0B0E11"/>
      </a:dk2>
      <a:lt2>
        <a:srgbClr val="1E2329"/>
      </a:lt2>
      <a:accent1>
        <a:srgbClr val="FCD535"/>
      </a:accent1>
      <a:accent2>
        <a:srgbClr val="FCD535"/>
      </a:accent2>
      <a:accent3>
        <a:srgbClr val="FFFFFF"/>
      </a:accent3>
      <a:accent4>
        <a:srgbClr val="B7BDC6"/>
      </a:accent4>
      <a:accent5>
        <a:srgbClr val="848E9C"/>
      </a:accent5>
      <a:accent6>
        <a:srgbClr val="2B3139"/>
      </a:accent6>
      <a:hlink>
        <a:srgbClr val="F0B90B"/>
      </a:hlink>
      <a:folHlink>
        <a:srgbClr val="FCD535"/>
      </a:folHlink>
    </a:clrScheme>
    <a:fontScheme name="Binance">
      <a:majorFont>
        <a:latin typeface="BinanceNova" panose="020B0604020202020204"/>
        <a:ea typeface=""/>
        <a:cs typeface=""/>
      </a:majorFont>
      <a:minorFont>
        <a:latin typeface="BinanceNova" panose="020B0604020202020204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