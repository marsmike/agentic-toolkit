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einschliff · Title · Accent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SPOTIFY ·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ounded Rectangle 8"/>
          <p:cNvSpPr/>
          <p:nvPr/>
        </p:nvSpPr>
        <p:spPr>
          <a:xfrm>
            <a:off x="762000" y="101600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252525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913380" y="101600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64760" y="101600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252525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216140" y="101600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367520" y="101600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252525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62000" y="233045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913380" y="233045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252525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064760" y="233045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216140" y="233045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252525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367520" y="233045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Eyebrow"/>
          <p:cNvSpPr>
            <a:spLocks noGrp="1"/>
          </p:cNvSpPr>
          <p:nvPr>
            <p:ph type="body" idx="10"/>
          </p:nvPr>
        </p:nvSpPr>
        <p:spPr>
          <a:xfrm>
            <a:off x="762000" y="3937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NEW · 2026</a:t>
            </a:r>
          </a:p>
        </p:txBody>
      </p:sp>
      <p:sp>
        <p:nvSpPr>
          <p:cNvPr id="20" name="Title"/>
          <p:cNvSpPr>
            <a:spLocks noGrp="1"/>
          </p:cNvSpPr>
          <p:nvPr>
            <p:ph type="title"/>
          </p:nvPr>
        </p:nvSpPr>
        <p:spPr>
          <a:xfrm>
            <a:off x="762000" y="4318000"/>
            <a:ext cx="9525000" cy="152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Sound is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everything.</a:t>
            </a:r>
          </a:p>
        </p:txBody>
      </p:sp>
      <p:sp>
        <p:nvSpPr>
          <p:cNvPr id="21" name="Subtitle"/>
          <p:cNvSpPr>
            <a:spLocks noGrp="1"/>
          </p:cNvSpPr>
          <p:nvPr>
            <p:ph type="body" idx="11"/>
          </p:nvPr>
        </p:nvSpPr>
        <p:spPr>
          <a:xfrm>
            <a:off x="762000" y="5842000"/>
            <a:ext cx="69850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B3B3B3"/>
                </a:solidFill>
                <a:latin typeface="SpotifyMixUITitle"/>
              </a:rPr>
              <a:t>Open the app to listen, or scroll for the showcase.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2000" y="6191250"/>
            <a:ext cx="1016000" cy="3048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PLAY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einschliff · Title · Ink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NOW PLAYING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762000" y="1270000"/>
            <a:ext cx="4572000" cy="4572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1270000"/>
            <a:ext cx="4572000" cy="45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spc="70">
                <a:solidFill>
                  <a:srgbClr val="B3B3B3"/>
                </a:solidFill>
                <a:latin typeface="JetBrains Mono"/>
              </a:rPr>
              <a:t>ALBUM ART · 1:1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15000" y="1407160"/>
            <a:ext cx="184727" cy="1676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015182" y="1285240"/>
            <a:ext cx="184727" cy="28956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15364" y="1452880"/>
            <a:ext cx="184727" cy="12192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615545" y="1315720"/>
            <a:ext cx="184727" cy="25908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yebrow"/>
          <p:cNvSpPr>
            <a:spLocks noGrp="1"/>
          </p:cNvSpPr>
          <p:nvPr>
            <p:ph type="body" idx="10"/>
          </p:nvPr>
        </p:nvSpPr>
        <p:spPr>
          <a:xfrm>
            <a:off x="5715000" y="1841500"/>
            <a:ext cx="5715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ALBUM · 2026</a:t>
            </a:r>
          </a:p>
        </p:txBody>
      </p:sp>
      <p:sp>
        <p:nvSpPr>
          <p:cNvPr id="16" name="Title"/>
          <p:cNvSpPr>
            <a:spLocks noGrp="1"/>
          </p:cNvSpPr>
          <p:nvPr>
            <p:ph type="title"/>
          </p:nvPr>
        </p:nvSpPr>
        <p:spPr>
          <a:xfrm>
            <a:off x="5715000" y="2222500"/>
            <a:ext cx="5715000" cy="190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Made for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rhythm.</a:t>
            </a:r>
          </a:p>
        </p:txBody>
      </p:sp>
      <p:sp>
        <p:nvSpPr>
          <p:cNvPr id="17" name="Subtitle"/>
          <p:cNvSpPr>
            <a:spLocks noGrp="1"/>
          </p:cNvSpPr>
          <p:nvPr>
            <p:ph type="body" idx="11"/>
          </p:nvPr>
        </p:nvSpPr>
        <p:spPr>
          <a:xfrm>
            <a:off x="5715000" y="4318000"/>
            <a:ext cx="5715000" cy="76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B3B3B3"/>
                </a:solidFill>
                <a:latin typeface="SpotifyMixUITitle"/>
              </a:rPr>
              <a:t>A 12-track set arranged for late-night listening — sequenced, mastered, ready.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715000" y="5270500"/>
            <a:ext cx="1016000" cy="3556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PLAY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0" y="5270500"/>
            <a:ext cx="1143000" cy="355600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B3B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FOLLOW</a:t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Feinschliff · Title + Picture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04000" y="889000"/>
            <a:ext cx="4826000" cy="5080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04000" y="889000"/>
            <a:ext cx="4826000" cy="50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spc="70">
                <a:solidFill>
                  <a:srgbClr val="B3B3B3"/>
                </a:solidFill>
                <a:latin typeface="JetBrains Mono"/>
              </a:rPr>
              <a:t>HERO · 1:1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MADE FOR YOU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11" name="Rounded Rectangle 10"/>
          <p:cNvSpPr/>
          <p:nvPr/>
        </p:nvSpPr>
        <p:spPr>
          <a:xfrm>
            <a:off x="762000" y="1384300"/>
            <a:ext cx="194849" cy="1397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78630" y="1282700"/>
            <a:ext cx="194849" cy="2413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395260" y="1422400"/>
            <a:ext cx="194849" cy="1016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yebrow"/>
          <p:cNvSpPr>
            <a:spLocks noGrp="1"/>
          </p:cNvSpPr>
          <p:nvPr>
            <p:ph type="body" idx="10"/>
          </p:nvPr>
        </p:nvSpPr>
        <p:spPr>
          <a:xfrm>
            <a:off x="762000" y="17780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MADE FOR YOU · WEEKLY</a:t>
            </a:r>
          </a:p>
        </p:txBody>
      </p:sp>
      <p:sp>
        <p:nvSpPr>
          <p:cNvPr id="15" name="Title"/>
          <p:cNvSpPr>
            <a:spLocks noGrp="1"/>
          </p:cNvSpPr>
          <p:nvPr>
            <p:ph type="title"/>
          </p:nvPr>
        </p:nvSpPr>
        <p:spPr>
          <a:xfrm>
            <a:off x="762000" y="2159000"/>
            <a:ext cx="5207000" cy="190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Discover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Weekly.</a:t>
            </a:r>
          </a:p>
        </p:txBody>
      </p:sp>
      <p:sp>
        <p:nvSpPr>
          <p:cNvPr id="16" name="Body"/>
          <p:cNvSpPr>
            <a:spLocks noGrp="1"/>
          </p:cNvSpPr>
          <p:nvPr>
            <p:ph type="body" idx="11"/>
          </p:nvPr>
        </p:nvSpPr>
        <p:spPr>
          <a:xfrm>
            <a:off x="762000" y="4318000"/>
            <a:ext cx="5207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B3B3B3"/>
                </a:solidFill>
                <a:latin typeface="SpotifyMixUITitle"/>
              </a:rPr>
              <a:t>30 tracks tuned to your last week of listening — refreshed every Monday, all yours.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2000" y="5651500"/>
            <a:ext cx="1016000" cy="3556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PLAY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905000" y="5651500"/>
            <a:ext cx="1143000" cy="355600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B3B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FOLLOW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Feinschliff · Agenda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AGENDA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SpotifyMixUITitle"/>
              </a:rPr>
              <a:t>ONLY TITLE LAYOUT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1651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00">
                <a:solidFill>
                  <a:srgbClr val="FFFFFF"/>
                </a:solidFill>
                <a:latin typeface="SpotifyMixUITitle Light"/>
              </a:rPr>
              <a:t>What we'll cover.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2667000"/>
            <a:ext cx="5461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w 1 Num"/>
          <p:cNvSpPr>
            <a:spLocks noGrp="1"/>
          </p:cNvSpPr>
          <p:nvPr>
            <p:ph type="body" idx="20"/>
          </p:nvPr>
        </p:nvSpPr>
        <p:spPr>
          <a:xfrm>
            <a:off x="635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01 / 06</a:t>
            </a:r>
          </a:p>
        </p:txBody>
      </p:sp>
      <p:sp>
        <p:nvSpPr>
          <p:cNvPr id="14" name="Row 1 Title"/>
          <p:cNvSpPr>
            <a:spLocks noGrp="1"/>
          </p:cNvSpPr>
          <p:nvPr>
            <p:ph type="body" idx="21"/>
          </p:nvPr>
        </p:nvSpPr>
        <p:spPr>
          <a:xfrm>
            <a:off x="1397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Brand mark</a:t>
            </a:r>
          </a:p>
        </p:txBody>
      </p:sp>
      <p:sp>
        <p:nvSpPr>
          <p:cNvPr id="15" name="Row 1 Desc"/>
          <p:cNvSpPr>
            <a:spLocks noGrp="1"/>
          </p:cNvSpPr>
          <p:nvPr>
            <p:ph type="body" idx="22"/>
          </p:nvPr>
        </p:nvSpPr>
        <p:spPr>
          <a:xfrm>
            <a:off x="1397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Wordmark, contrast, clear space.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0" y="2667000"/>
            <a:ext cx="5461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w 2 Num"/>
          <p:cNvSpPr>
            <a:spLocks noGrp="1"/>
          </p:cNvSpPr>
          <p:nvPr>
            <p:ph type="body" idx="23"/>
          </p:nvPr>
        </p:nvSpPr>
        <p:spPr>
          <a:xfrm>
            <a:off x="6350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02 / 06</a:t>
            </a:r>
          </a:p>
        </p:txBody>
      </p:sp>
      <p:sp>
        <p:nvSpPr>
          <p:cNvPr id="18" name="Row 2 Title"/>
          <p:cNvSpPr>
            <a:spLocks noGrp="1"/>
          </p:cNvSpPr>
          <p:nvPr>
            <p:ph type="body" idx="24"/>
          </p:nvPr>
        </p:nvSpPr>
        <p:spPr>
          <a:xfrm>
            <a:off x="7112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Colour</a:t>
            </a:r>
          </a:p>
        </p:txBody>
      </p:sp>
      <p:sp>
        <p:nvSpPr>
          <p:cNvPr id="19" name="Row 2 Desc"/>
          <p:cNvSpPr>
            <a:spLocks noGrp="1"/>
          </p:cNvSpPr>
          <p:nvPr>
            <p:ph type="body" idx="25"/>
          </p:nvPr>
        </p:nvSpPr>
        <p:spPr>
          <a:xfrm>
            <a:off x="7112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One orange, seven neutrals.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" y="3378200"/>
            <a:ext cx="5461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w 3 Num"/>
          <p:cNvSpPr>
            <a:spLocks noGrp="1"/>
          </p:cNvSpPr>
          <p:nvPr>
            <p:ph type="body" idx="26"/>
          </p:nvPr>
        </p:nvSpPr>
        <p:spPr>
          <a:xfrm>
            <a:off x="635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03 / 06</a:t>
            </a:r>
          </a:p>
        </p:txBody>
      </p:sp>
      <p:sp>
        <p:nvSpPr>
          <p:cNvPr id="22" name="Row 3 Title"/>
          <p:cNvSpPr>
            <a:spLocks noGrp="1"/>
          </p:cNvSpPr>
          <p:nvPr>
            <p:ph type="body" idx="27"/>
          </p:nvPr>
        </p:nvSpPr>
        <p:spPr>
          <a:xfrm>
            <a:off x="1397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Type</a:t>
            </a:r>
          </a:p>
        </p:txBody>
      </p:sp>
      <p:sp>
        <p:nvSpPr>
          <p:cNvPr id="23" name="Row 3 Desc"/>
          <p:cNvSpPr>
            <a:spLocks noGrp="1"/>
          </p:cNvSpPr>
          <p:nvPr>
            <p:ph type="body" idx="28"/>
          </p:nvPr>
        </p:nvSpPr>
        <p:spPr>
          <a:xfrm>
            <a:off x="1397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Noto Sans, 28pt titles.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0000" y="3378200"/>
            <a:ext cx="5461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w 4 Num"/>
          <p:cNvSpPr>
            <a:spLocks noGrp="1"/>
          </p:cNvSpPr>
          <p:nvPr>
            <p:ph type="body" idx="29"/>
          </p:nvPr>
        </p:nvSpPr>
        <p:spPr>
          <a:xfrm>
            <a:off x="6350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04 / 06</a:t>
            </a:r>
          </a:p>
        </p:txBody>
      </p:sp>
      <p:sp>
        <p:nvSpPr>
          <p:cNvPr id="26" name="Row 4 Title"/>
          <p:cNvSpPr>
            <a:spLocks noGrp="1"/>
          </p:cNvSpPr>
          <p:nvPr>
            <p:ph type="body" idx="30"/>
          </p:nvPr>
        </p:nvSpPr>
        <p:spPr>
          <a:xfrm>
            <a:off x="7112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Layouts</a:t>
            </a:r>
          </a:p>
        </p:txBody>
      </p:sp>
      <p:sp>
        <p:nvSpPr>
          <p:cNvPr id="27" name="Row 4 Desc"/>
          <p:cNvSpPr>
            <a:spLocks noGrp="1"/>
          </p:cNvSpPr>
          <p:nvPr>
            <p:ph type="body" idx="31"/>
          </p:nvPr>
        </p:nvSpPr>
        <p:spPr>
          <a:xfrm>
            <a:off x="7112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Chapter, content, picture, data.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000" y="4089400"/>
            <a:ext cx="5461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w 5 Num"/>
          <p:cNvSpPr>
            <a:spLocks noGrp="1"/>
          </p:cNvSpPr>
          <p:nvPr>
            <p:ph type="body" idx="32"/>
          </p:nvPr>
        </p:nvSpPr>
        <p:spPr>
          <a:xfrm>
            <a:off x="635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05 / 06</a:t>
            </a:r>
          </a:p>
        </p:txBody>
      </p:sp>
      <p:sp>
        <p:nvSpPr>
          <p:cNvPr id="30" name="Row 5 Title"/>
          <p:cNvSpPr>
            <a:spLocks noGrp="1"/>
          </p:cNvSpPr>
          <p:nvPr>
            <p:ph type="body" idx="33"/>
          </p:nvPr>
        </p:nvSpPr>
        <p:spPr>
          <a:xfrm>
            <a:off x="1397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Components</a:t>
            </a:r>
          </a:p>
        </p:txBody>
      </p:sp>
      <p:sp>
        <p:nvSpPr>
          <p:cNvPr id="31" name="Row 5 Desc"/>
          <p:cNvSpPr>
            <a:spLocks noGrp="1"/>
          </p:cNvSpPr>
          <p:nvPr>
            <p:ph type="body" idx="34"/>
          </p:nvPr>
        </p:nvSpPr>
        <p:spPr>
          <a:xfrm>
            <a:off x="1397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Buttons, chips, KPIs, rules.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50000" y="4089400"/>
            <a:ext cx="5461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w 6 Num"/>
          <p:cNvSpPr>
            <a:spLocks noGrp="1"/>
          </p:cNvSpPr>
          <p:nvPr>
            <p:ph type="body" idx="35"/>
          </p:nvPr>
        </p:nvSpPr>
        <p:spPr>
          <a:xfrm>
            <a:off x="6350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06 / 06</a:t>
            </a:r>
          </a:p>
        </p:txBody>
      </p:sp>
      <p:sp>
        <p:nvSpPr>
          <p:cNvPr id="34" name="Row 6 Title"/>
          <p:cNvSpPr>
            <a:spLocks noGrp="1"/>
          </p:cNvSpPr>
          <p:nvPr>
            <p:ph type="body" idx="36"/>
          </p:nvPr>
        </p:nvSpPr>
        <p:spPr>
          <a:xfrm>
            <a:off x="7112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Voice</a:t>
            </a:r>
          </a:p>
        </p:txBody>
      </p:sp>
      <p:sp>
        <p:nvSpPr>
          <p:cNvPr id="35" name="Row 6 Desc"/>
          <p:cNvSpPr>
            <a:spLocks noGrp="1"/>
          </p:cNvSpPr>
          <p:nvPr>
            <p:ph type="body" idx="37"/>
          </p:nvPr>
        </p:nvSpPr>
        <p:spPr>
          <a:xfrm>
            <a:off x="7112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Quiet confidence.</a:t>
            </a: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Feinschliff · Chapter · Accent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CHAPTER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TextBox 8"/>
          <p:cNvSpPr txBox="1"/>
          <p:nvPr/>
        </p:nvSpPr>
        <p:spPr>
          <a:xfrm>
            <a:off x="6985000" y="1524000"/>
            <a:ext cx="4572000" cy="177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0" b="1">
                <a:solidFill>
                  <a:srgbClr val="282828"/>
                </a:solidFill>
                <a:latin typeface="SpotifyMixUITitle"/>
              </a:rPr>
              <a:t>01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2000" y="2954020"/>
            <a:ext cx="184727" cy="19558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62182" y="2811780"/>
            <a:ext cx="184727" cy="33782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362364" y="3007360"/>
            <a:ext cx="184727" cy="1422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662545" y="2847340"/>
            <a:ext cx="184727" cy="30226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yebrow"/>
          <p:cNvSpPr>
            <a:spLocks noGrp="1"/>
          </p:cNvSpPr>
          <p:nvPr>
            <p:ph type="body" idx="10"/>
          </p:nvPr>
        </p:nvSpPr>
        <p:spPr>
          <a:xfrm>
            <a:off x="762000" y="3429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CHAPTER 01 · DISCOVER</a:t>
            </a:r>
          </a:p>
        </p:txBody>
      </p:sp>
      <p:sp>
        <p:nvSpPr>
          <p:cNvPr id="15" name="Title"/>
          <p:cNvSpPr>
            <a:spLocks noGrp="1"/>
          </p:cNvSpPr>
          <p:nvPr>
            <p:ph type="title"/>
          </p:nvPr>
        </p:nvSpPr>
        <p:spPr>
          <a:xfrm>
            <a:off x="762000" y="3810000"/>
            <a:ext cx="82550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Discover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&amp; Listen.</a:t>
            </a:r>
          </a:p>
        </p:txBody>
      </p:sp>
      <p:sp>
        <p:nvSpPr>
          <p:cNvPr id="16" name="Subtitle"/>
          <p:cNvSpPr>
            <a:spLocks noGrp="1"/>
          </p:cNvSpPr>
          <p:nvPr>
            <p:ph type="body" idx="11"/>
          </p:nvPr>
        </p:nvSpPr>
        <p:spPr>
          <a:xfrm>
            <a:off x="762000" y="5715000"/>
            <a:ext cx="6985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B3B3B3"/>
                </a:solidFill>
                <a:latin typeface="SpotifyMixUITitle"/>
              </a:rPr>
              <a:t>The radio shelf, made-for-you mixes, and weekly refreshes.</a:t>
            </a: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Feinschliff · Chapter · Ink + Picture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889000"/>
            <a:ext cx="4572000" cy="5080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889000"/>
            <a:ext cx="4572000" cy="50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spc="70">
                <a:solidFill>
                  <a:srgbClr val="B3B3B3"/>
                </a:solidFill>
                <a:latin typeface="JetBrains Mono"/>
              </a:rPr>
              <a:t>HERO · 1:1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CHAPTER 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11" name="Rounded Rectangle 10"/>
          <p:cNvSpPr/>
          <p:nvPr/>
        </p:nvSpPr>
        <p:spPr>
          <a:xfrm>
            <a:off x="5715000" y="1684020"/>
            <a:ext cx="184727" cy="19558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015182" y="1541780"/>
            <a:ext cx="184727" cy="33782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15364" y="1737360"/>
            <a:ext cx="184727" cy="1422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615545" y="1577340"/>
            <a:ext cx="184727" cy="30226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15000" y="2032000"/>
            <a:ext cx="5080000" cy="177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0" b="1">
                <a:solidFill>
                  <a:srgbClr val="FFFFFF">
                    <a:alpha val="12000"/>
                  </a:srgbClr>
                </a:solidFill>
                <a:latin typeface="SpotifyMixUITitle"/>
              </a:rPr>
              <a:t>02</a:t>
            </a:r>
          </a:p>
        </p:txBody>
      </p:sp>
      <p:sp>
        <p:nvSpPr>
          <p:cNvPr id="16" name="Eyebrow"/>
          <p:cNvSpPr>
            <a:spLocks noGrp="1"/>
          </p:cNvSpPr>
          <p:nvPr>
            <p:ph type="body" idx="10"/>
          </p:nvPr>
        </p:nvSpPr>
        <p:spPr>
          <a:xfrm>
            <a:off x="5715000" y="3683000"/>
            <a:ext cx="5715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CHAPTER 02 · LIBRARY</a:t>
            </a:r>
          </a:p>
        </p:txBody>
      </p:sp>
      <p:sp>
        <p:nvSpPr>
          <p:cNvPr id="17" name="Title"/>
          <p:cNvSpPr>
            <a:spLocks noGrp="1"/>
          </p:cNvSpPr>
          <p:nvPr>
            <p:ph type="title"/>
          </p:nvPr>
        </p:nvSpPr>
        <p:spPr>
          <a:xfrm>
            <a:off x="5715000" y="4064000"/>
            <a:ext cx="5715000" cy="190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Your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Library.</a:t>
            </a:r>
          </a:p>
        </p:txBody>
      </p:sp>
      <p:sp>
        <p:nvSpPr>
          <p:cNvPr id="18" name="Subtitle"/>
          <p:cNvSpPr>
            <a:spLocks noGrp="1"/>
          </p:cNvSpPr>
          <p:nvPr>
            <p:ph type="body" idx="11"/>
          </p:nvPr>
        </p:nvSpPr>
        <p:spPr>
          <a:xfrm>
            <a:off x="5715000" y="6032500"/>
            <a:ext cx="57150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B3B3B3"/>
                </a:solidFill>
                <a:latin typeface="SpotifyMixUITitle"/>
              </a:rPr>
              <a:t>Playlists, albums, and podcasts you've saved — all in one place.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PI Grid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2026 · BY THE NUMBERS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AT A GLANCE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By the numbers.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2000" y="3429000"/>
            <a:ext cx="2540000" cy="2032000"/>
          </a:xfrm>
          <a:prstGeom prst="roundRect">
            <a:avLst>
              <a:gd name="adj" fmla="val 500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KPI 1 Value"/>
          <p:cNvSpPr>
            <a:spLocks noGrp="1"/>
          </p:cNvSpPr>
          <p:nvPr>
            <p:ph type="body" idx="30"/>
          </p:nvPr>
        </p:nvSpPr>
        <p:spPr>
          <a:xfrm>
            <a:off x="965200" y="3810000"/>
            <a:ext cx="1524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4400" b="1">
                <a:solidFill>
                  <a:srgbClr val="FFFFFF"/>
                </a:solidFill>
                <a:latin typeface="SpotifyMixUITitle"/>
              </a:rPr>
              <a:t>574</a:t>
            </a:r>
          </a:p>
        </p:txBody>
      </p:sp>
      <p:sp>
        <p:nvSpPr>
          <p:cNvPr id="14" name="KPI 1 Unit"/>
          <p:cNvSpPr>
            <a:spLocks noGrp="1"/>
          </p:cNvSpPr>
          <p:nvPr>
            <p:ph type="body" idx="31"/>
          </p:nvPr>
        </p:nvSpPr>
        <p:spPr>
          <a:xfrm>
            <a:off x="2489200" y="3810000"/>
            <a:ext cx="6096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 b="1">
                <a:solidFill>
                  <a:srgbClr val="B3B3B3"/>
                </a:solidFill>
                <a:latin typeface="SpotifyMixUITitle"/>
              </a:rPr>
              <a:t>M</a:t>
            </a:r>
          </a:p>
        </p:txBody>
      </p:sp>
      <p:sp>
        <p:nvSpPr>
          <p:cNvPr id="15" name="KPI 1 Key"/>
          <p:cNvSpPr>
            <a:spLocks noGrp="1"/>
          </p:cNvSpPr>
          <p:nvPr>
            <p:ph type="body" idx="20"/>
          </p:nvPr>
        </p:nvSpPr>
        <p:spPr>
          <a:xfrm>
            <a:off x="965200" y="4826000"/>
            <a:ext cx="2133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SpotifyMixUITitle"/>
              </a:rPr>
              <a:t>MONTHLY LISTENERS</a:t>
            </a:r>
          </a:p>
        </p:txBody>
      </p:sp>
      <p:sp>
        <p:nvSpPr>
          <p:cNvPr id="16" name="KPI 1 Delta"/>
          <p:cNvSpPr>
            <a:spLocks noGrp="1"/>
          </p:cNvSpPr>
          <p:nvPr>
            <p:ph type="body" idx="21"/>
          </p:nvPr>
        </p:nvSpPr>
        <p:spPr>
          <a:xfrm>
            <a:off x="965200" y="5080000"/>
            <a:ext cx="21336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40" cap="all">
                <a:solidFill>
                  <a:srgbClr val="1ED760"/>
                </a:solidFill>
                <a:latin typeface="SpotifyMixUITitle"/>
              </a:rPr>
              <a:t>+12% YOY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54400" y="3429000"/>
            <a:ext cx="2540000" cy="2032000"/>
          </a:xfrm>
          <a:prstGeom prst="roundRect">
            <a:avLst>
              <a:gd name="adj" fmla="val 500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KPI 2 Value"/>
          <p:cNvSpPr>
            <a:spLocks noGrp="1"/>
          </p:cNvSpPr>
          <p:nvPr>
            <p:ph type="body" idx="32"/>
          </p:nvPr>
        </p:nvSpPr>
        <p:spPr>
          <a:xfrm>
            <a:off x="3657600" y="3810000"/>
            <a:ext cx="1524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4400" b="1">
                <a:solidFill>
                  <a:srgbClr val="FFFFFF"/>
                </a:solidFill>
                <a:latin typeface="SpotifyMixUITitle"/>
              </a:rPr>
              <a:t>100</a:t>
            </a:r>
          </a:p>
        </p:txBody>
      </p:sp>
      <p:sp>
        <p:nvSpPr>
          <p:cNvPr id="19" name="KPI 2 Unit"/>
          <p:cNvSpPr>
            <a:spLocks noGrp="1"/>
          </p:cNvSpPr>
          <p:nvPr>
            <p:ph type="body" idx="33"/>
          </p:nvPr>
        </p:nvSpPr>
        <p:spPr>
          <a:xfrm>
            <a:off x="5181600" y="3810000"/>
            <a:ext cx="6096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 b="1">
                <a:solidFill>
                  <a:srgbClr val="B3B3B3"/>
                </a:solidFill>
                <a:latin typeface="SpotifyMixUITitle"/>
              </a:rPr>
              <a:t>M</a:t>
            </a:r>
          </a:p>
        </p:txBody>
      </p:sp>
      <p:sp>
        <p:nvSpPr>
          <p:cNvPr id="20" name="KPI 2 Key"/>
          <p:cNvSpPr>
            <a:spLocks noGrp="1"/>
          </p:cNvSpPr>
          <p:nvPr>
            <p:ph type="body" idx="22"/>
          </p:nvPr>
        </p:nvSpPr>
        <p:spPr>
          <a:xfrm>
            <a:off x="3657600" y="4826000"/>
            <a:ext cx="2133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SpotifyMixUITitle"/>
              </a:rPr>
              <a:t>PREMIUM SUBSCRIBERS</a:t>
            </a:r>
          </a:p>
        </p:txBody>
      </p:sp>
      <p:sp>
        <p:nvSpPr>
          <p:cNvPr id="21" name="KPI 2 Delta"/>
          <p:cNvSpPr>
            <a:spLocks noGrp="1"/>
          </p:cNvSpPr>
          <p:nvPr>
            <p:ph type="body" idx="23"/>
          </p:nvPr>
        </p:nvSpPr>
        <p:spPr>
          <a:xfrm>
            <a:off x="3657600" y="5080000"/>
            <a:ext cx="21336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40" cap="all">
                <a:solidFill>
                  <a:srgbClr val="1ED760"/>
                </a:solidFill>
                <a:latin typeface="SpotifyMixUITitle"/>
              </a:rPr>
              <a:t>+9% YOY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46800" y="3429000"/>
            <a:ext cx="2540000" cy="2032000"/>
          </a:xfrm>
          <a:prstGeom prst="roundRect">
            <a:avLst>
              <a:gd name="adj" fmla="val 500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KPI 3 Value"/>
          <p:cNvSpPr>
            <a:spLocks noGrp="1"/>
          </p:cNvSpPr>
          <p:nvPr>
            <p:ph type="body" idx="34"/>
          </p:nvPr>
        </p:nvSpPr>
        <p:spPr>
          <a:xfrm>
            <a:off x="6350000" y="3810000"/>
            <a:ext cx="1524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4400" b="1">
                <a:solidFill>
                  <a:srgbClr val="FFFFFF"/>
                </a:solidFill>
                <a:latin typeface="SpotifyMixUITitle"/>
              </a:rPr>
              <a:t>8.5</a:t>
            </a:r>
          </a:p>
        </p:txBody>
      </p:sp>
      <p:sp>
        <p:nvSpPr>
          <p:cNvPr id="24" name="KPI 3 Unit"/>
          <p:cNvSpPr>
            <a:spLocks noGrp="1"/>
          </p:cNvSpPr>
          <p:nvPr>
            <p:ph type="body" idx="35"/>
          </p:nvPr>
        </p:nvSpPr>
        <p:spPr>
          <a:xfrm>
            <a:off x="7874000" y="3810000"/>
            <a:ext cx="6096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 b="1">
                <a:solidFill>
                  <a:srgbClr val="B3B3B3"/>
                </a:solidFill>
                <a:latin typeface="SpotifyMixUITitle"/>
              </a:rPr>
              <a:t>B</a:t>
            </a:r>
          </a:p>
        </p:txBody>
      </p:sp>
      <p:sp>
        <p:nvSpPr>
          <p:cNvPr id="25" name="KPI 3 Key"/>
          <p:cNvSpPr>
            <a:spLocks noGrp="1"/>
          </p:cNvSpPr>
          <p:nvPr>
            <p:ph type="body" idx="24"/>
          </p:nvPr>
        </p:nvSpPr>
        <p:spPr>
          <a:xfrm>
            <a:off x="6350000" y="4826000"/>
            <a:ext cx="2133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SpotifyMixUITitle"/>
              </a:rPr>
              <a:t>TRACKS STREAMED</a:t>
            </a:r>
          </a:p>
        </p:txBody>
      </p:sp>
      <p:sp>
        <p:nvSpPr>
          <p:cNvPr id="26" name="KPI 3 Delta"/>
          <p:cNvSpPr>
            <a:spLocks noGrp="1"/>
          </p:cNvSpPr>
          <p:nvPr>
            <p:ph type="body" idx="25"/>
          </p:nvPr>
        </p:nvSpPr>
        <p:spPr>
          <a:xfrm>
            <a:off x="6350000" y="5080000"/>
            <a:ext cx="21336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40" cap="all">
                <a:solidFill>
                  <a:srgbClr val="1ED760"/>
                </a:solidFill>
                <a:latin typeface="SpotifyMixUITitle"/>
              </a:rPr>
              <a:t>DAILY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839200" y="3429000"/>
            <a:ext cx="2540000" cy="2032000"/>
          </a:xfrm>
          <a:prstGeom prst="roundRect">
            <a:avLst>
              <a:gd name="adj" fmla="val 500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KPI 4 Value"/>
          <p:cNvSpPr>
            <a:spLocks noGrp="1"/>
          </p:cNvSpPr>
          <p:nvPr>
            <p:ph type="body" idx="36"/>
          </p:nvPr>
        </p:nvSpPr>
        <p:spPr>
          <a:xfrm>
            <a:off x="9042400" y="3810000"/>
            <a:ext cx="1524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4400" b="1">
                <a:solidFill>
                  <a:srgbClr val="FFFFFF"/>
                </a:solidFill>
                <a:latin typeface="SpotifyMixUITitle"/>
              </a:rPr>
              <a:t>184</a:t>
            </a:r>
          </a:p>
        </p:txBody>
      </p:sp>
      <p:sp>
        <p:nvSpPr>
          <p:cNvPr id="29" name="KPI 4 Unit"/>
          <p:cNvSpPr>
            <a:spLocks noGrp="1"/>
          </p:cNvSpPr>
          <p:nvPr>
            <p:ph type="body" idx="37"/>
          </p:nvPr>
        </p:nvSpPr>
        <p:spPr>
          <a:xfrm>
            <a:off x="10566400" y="3810000"/>
            <a:ext cx="6096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30" name="KPI 4 Key"/>
          <p:cNvSpPr>
            <a:spLocks noGrp="1"/>
          </p:cNvSpPr>
          <p:nvPr>
            <p:ph type="body" idx="26"/>
          </p:nvPr>
        </p:nvSpPr>
        <p:spPr>
          <a:xfrm>
            <a:off x="9042400" y="4826000"/>
            <a:ext cx="2133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SpotifyMixUITitle"/>
              </a:rPr>
              <a:t>MARKETS</a:t>
            </a:r>
          </a:p>
        </p:txBody>
      </p:sp>
      <p:sp>
        <p:nvSpPr>
          <p:cNvPr id="31" name="KPI 4 Delta"/>
          <p:cNvSpPr>
            <a:spLocks noGrp="1"/>
          </p:cNvSpPr>
          <p:nvPr>
            <p:ph type="body" idx="27"/>
          </p:nvPr>
        </p:nvSpPr>
        <p:spPr>
          <a:xfrm>
            <a:off x="9042400" y="5080000"/>
            <a:ext cx="21336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40" cap="all">
                <a:solidFill>
                  <a:srgbClr val="1ED760"/>
                </a:solidFill>
                <a:latin typeface="SpotifyMixUITitle"/>
              </a:rPr>
              <a:t>GLOBAL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Feinschliff · 2-Column Cards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LAYOUT · 2 CONTENTS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TWO COLUMNS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Two halves, one frame.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ol20 Number"/>
          <p:cNvSpPr>
            <a:spLocks noGrp="1"/>
          </p:cNvSpPr>
          <p:nvPr>
            <p:ph type="body" idx="20"/>
          </p:nvPr>
        </p:nvSpPr>
        <p:spPr>
          <a:xfrm>
            <a:off x="8890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01 · CONSUMER</a:t>
            </a:r>
          </a:p>
        </p:txBody>
      </p:sp>
      <p:sp>
        <p:nvSpPr>
          <p:cNvPr id="14" name="Col20 Title"/>
          <p:cNvSpPr>
            <a:spLocks noGrp="1"/>
          </p:cNvSpPr>
          <p:nvPr>
            <p:ph type="body" idx="21"/>
          </p:nvPr>
        </p:nvSpPr>
        <p:spPr>
          <a:xfrm>
            <a:off x="8890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Products designed around daily use, not corner-case specs.</a:t>
            </a:r>
          </a:p>
        </p:txBody>
      </p:sp>
      <p:sp>
        <p:nvSpPr>
          <p:cNvPr id="15" name="Col20 Body"/>
          <p:cNvSpPr>
            <a:spLocks noGrp="1"/>
          </p:cNvSpPr>
          <p:nvPr>
            <p:ph type="body" idx="22"/>
          </p:nvPr>
        </p:nvSpPr>
        <p:spPr>
          <a:xfrm>
            <a:off x="8890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Ship features users actually touch — fewer modes, sharper defaults, faster onboarding.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ol23 Number"/>
          <p:cNvSpPr>
            <a:spLocks noGrp="1"/>
          </p:cNvSpPr>
          <p:nvPr>
            <p:ph type="body" idx="23"/>
          </p:nvPr>
        </p:nvSpPr>
        <p:spPr>
          <a:xfrm>
            <a:off x="65024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02 · PLATFORM</a:t>
            </a:r>
          </a:p>
        </p:txBody>
      </p:sp>
      <p:sp>
        <p:nvSpPr>
          <p:cNvPr id="18" name="Col23 Title"/>
          <p:cNvSpPr>
            <a:spLocks noGrp="1"/>
          </p:cNvSpPr>
          <p:nvPr>
            <p:ph type="body" idx="24"/>
          </p:nvPr>
        </p:nvSpPr>
        <p:spPr>
          <a:xfrm>
            <a:off x="65024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A shared software backbone across every product we build.</a:t>
            </a:r>
          </a:p>
        </p:txBody>
      </p:sp>
      <p:sp>
        <p:nvSpPr>
          <p:cNvPr id="19" name="Col23 Body"/>
          <p:cNvSpPr>
            <a:spLocks noGrp="1"/>
          </p:cNvSpPr>
          <p:nvPr>
            <p:ph type="body" idx="25"/>
          </p:nvPr>
        </p:nvSpPr>
        <p:spPr>
          <a:xfrm>
            <a:off x="65024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One OS means one update path, one data contract, and one place to measure real-world usage.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Feinschliff · 3-Column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LAYOUT · 3 CONTENTS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THREE PILLARS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Consumer, commercial, platform.</a:t>
            </a:r>
          </a:p>
        </p:txBody>
      </p:sp>
      <p:sp>
        <p:nvSpPr>
          <p:cNvPr id="12" name="Col20 Number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01</a:t>
            </a:r>
          </a:p>
        </p:txBody>
      </p:sp>
      <p:sp>
        <p:nvSpPr>
          <p:cNvPr id="13" name="Col20 Title"/>
          <p:cNvSpPr>
            <a:spLocks noGrp="1"/>
          </p:cNvSpPr>
          <p:nvPr>
            <p:ph type="body" idx="21"/>
          </p:nvPr>
        </p:nvSpPr>
        <p:spPr>
          <a:xfrm>
            <a:off x="6350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Consumer.</a:t>
            </a:r>
          </a:p>
        </p:txBody>
      </p:sp>
      <p:sp>
        <p:nvSpPr>
          <p:cNvPr id="14" name="Col20 Body"/>
          <p:cNvSpPr>
            <a:spLocks noGrp="1"/>
          </p:cNvSpPr>
          <p:nvPr>
            <p:ph type="body" idx="22"/>
          </p:nvPr>
        </p:nvSpPr>
        <p:spPr>
          <a:xfrm>
            <a:off x="6350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Brand A, Brand B, Brand C, Brand D — placeholder column copy.</a:t>
            </a:r>
          </a:p>
        </p:txBody>
      </p:sp>
      <p:sp>
        <p:nvSpPr>
          <p:cNvPr id="15" name="Col23 Number"/>
          <p:cNvSpPr>
            <a:spLocks noGrp="1"/>
          </p:cNvSpPr>
          <p:nvPr>
            <p:ph type="body" idx="23"/>
          </p:nvPr>
        </p:nvSpPr>
        <p:spPr>
          <a:xfrm>
            <a:off x="437515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02</a:t>
            </a:r>
          </a:p>
        </p:txBody>
      </p:sp>
      <p:sp>
        <p:nvSpPr>
          <p:cNvPr id="16" name="Col23 Title"/>
          <p:cNvSpPr>
            <a:spLocks noGrp="1"/>
          </p:cNvSpPr>
          <p:nvPr>
            <p:ph type="body" idx="24"/>
          </p:nvPr>
        </p:nvSpPr>
        <p:spPr>
          <a:xfrm>
            <a:off x="437515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Commercial.</a:t>
            </a:r>
          </a:p>
        </p:txBody>
      </p:sp>
      <p:sp>
        <p:nvSpPr>
          <p:cNvPr id="17" name="Col23 Body"/>
          <p:cNvSpPr>
            <a:spLocks noGrp="1"/>
          </p:cNvSpPr>
          <p:nvPr>
            <p:ph type="body" idx="25"/>
          </p:nvPr>
        </p:nvSpPr>
        <p:spPr>
          <a:xfrm>
            <a:off x="437515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Products engineered for the commercial sector — hotels, retail, services, multi-site.</a:t>
            </a:r>
          </a:p>
        </p:txBody>
      </p:sp>
      <p:sp>
        <p:nvSpPr>
          <p:cNvPr id="18" name="Col26 Number"/>
          <p:cNvSpPr>
            <a:spLocks noGrp="1"/>
          </p:cNvSpPr>
          <p:nvPr>
            <p:ph type="body" idx="26"/>
          </p:nvPr>
        </p:nvSpPr>
        <p:spPr>
          <a:xfrm>
            <a:off x="81153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03</a:t>
            </a:r>
          </a:p>
        </p:txBody>
      </p:sp>
      <p:sp>
        <p:nvSpPr>
          <p:cNvPr id="19" name="Col26 Title"/>
          <p:cNvSpPr>
            <a:spLocks noGrp="1"/>
          </p:cNvSpPr>
          <p:nvPr>
            <p:ph type="body" idx="27"/>
          </p:nvPr>
        </p:nvSpPr>
        <p:spPr>
          <a:xfrm>
            <a:off x="81153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Platform.</a:t>
            </a:r>
          </a:p>
        </p:txBody>
      </p:sp>
      <p:sp>
        <p:nvSpPr>
          <p:cNvPr id="20" name="Col26 Body"/>
          <p:cNvSpPr>
            <a:spLocks noGrp="1"/>
          </p:cNvSpPr>
          <p:nvPr>
            <p:ph type="body" idx="28"/>
          </p:nvPr>
        </p:nvSpPr>
        <p:spPr>
          <a:xfrm>
            <a:off x="81153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Platform — the software layer shared across all of it.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Feinschliff · 4-Column Cards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ROADMAP ·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PLAN, BUILD, PILOT, SCALE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The year, in four quarters.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175000"/>
            <a:ext cx="2654300" cy="2794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ol20 Number"/>
          <p:cNvSpPr>
            <a:spLocks noGrp="1"/>
          </p:cNvSpPr>
          <p:nvPr>
            <p:ph type="body" idx="20"/>
          </p:nvPr>
        </p:nvSpPr>
        <p:spPr>
          <a:xfrm>
            <a:off x="8382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Q1 · PLAN</a:t>
            </a:r>
          </a:p>
        </p:txBody>
      </p:sp>
      <p:sp>
        <p:nvSpPr>
          <p:cNvPr id="14" name="Col20 Title"/>
          <p:cNvSpPr>
            <a:spLocks noGrp="1"/>
          </p:cNvSpPr>
          <p:nvPr>
            <p:ph type="body" idx="21"/>
          </p:nvPr>
        </p:nvSpPr>
        <p:spPr>
          <a:xfrm>
            <a:off x="8382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Align the 2026 product roadmap across regions.</a:t>
            </a:r>
          </a:p>
        </p:txBody>
      </p:sp>
      <p:sp>
        <p:nvSpPr>
          <p:cNvPr id="15" name="Col20 Body"/>
          <p:cNvSpPr>
            <a:spLocks noGrp="1"/>
          </p:cNvSpPr>
          <p:nvPr>
            <p:ph type="body" idx="22"/>
          </p:nvPr>
        </p:nvSpPr>
        <p:spPr>
          <a:xfrm>
            <a:off x="8382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Finalise priorities, staff crews, lock budget.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90900" y="3175000"/>
            <a:ext cx="2654300" cy="2794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ol23 Number"/>
          <p:cNvSpPr>
            <a:spLocks noGrp="1"/>
          </p:cNvSpPr>
          <p:nvPr>
            <p:ph type="body" idx="23"/>
          </p:nvPr>
        </p:nvSpPr>
        <p:spPr>
          <a:xfrm>
            <a:off x="35941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Q2 · BUILD</a:t>
            </a:r>
          </a:p>
        </p:txBody>
      </p:sp>
      <p:sp>
        <p:nvSpPr>
          <p:cNvPr id="18" name="Col23 Title"/>
          <p:cNvSpPr>
            <a:spLocks noGrp="1"/>
          </p:cNvSpPr>
          <p:nvPr>
            <p:ph type="body" idx="24"/>
          </p:nvPr>
        </p:nvSpPr>
        <p:spPr>
          <a:xfrm>
            <a:off x="35941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Ship the platform foundations and first feature set.</a:t>
            </a:r>
          </a:p>
        </p:txBody>
      </p:sp>
      <p:sp>
        <p:nvSpPr>
          <p:cNvPr id="19" name="Col23 Body"/>
          <p:cNvSpPr>
            <a:spLocks noGrp="1"/>
          </p:cNvSpPr>
          <p:nvPr>
            <p:ph type="body" idx="25"/>
          </p:nvPr>
        </p:nvSpPr>
        <p:spPr>
          <a:xfrm>
            <a:off x="35941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New OS core, updated Platform SDK.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46800" y="3175000"/>
            <a:ext cx="2654300" cy="2794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ol26 Number"/>
          <p:cNvSpPr>
            <a:spLocks noGrp="1"/>
          </p:cNvSpPr>
          <p:nvPr>
            <p:ph type="body" idx="26"/>
          </p:nvPr>
        </p:nvSpPr>
        <p:spPr>
          <a:xfrm>
            <a:off x="63500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Q3 · PILOT</a:t>
            </a:r>
          </a:p>
        </p:txBody>
      </p:sp>
      <p:sp>
        <p:nvSpPr>
          <p:cNvPr id="22" name="Col26 Title"/>
          <p:cNvSpPr>
            <a:spLocks noGrp="1"/>
          </p:cNvSpPr>
          <p:nvPr>
            <p:ph type="body" idx="27"/>
          </p:nvPr>
        </p:nvSpPr>
        <p:spPr>
          <a:xfrm>
            <a:off x="63500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Field-test with 2,000 customers across three regions.</a:t>
            </a:r>
          </a:p>
        </p:txBody>
      </p:sp>
      <p:sp>
        <p:nvSpPr>
          <p:cNvPr id="23" name="Col26 Body"/>
          <p:cNvSpPr>
            <a:spLocks noGrp="1"/>
          </p:cNvSpPr>
          <p:nvPr>
            <p:ph type="body" idx="28"/>
          </p:nvPr>
        </p:nvSpPr>
        <p:spPr>
          <a:xfrm>
            <a:off x="63500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Instrument, measure, iterate weekly.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02700" y="3175000"/>
            <a:ext cx="2654300" cy="2794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Col29 Number"/>
          <p:cNvSpPr>
            <a:spLocks noGrp="1"/>
          </p:cNvSpPr>
          <p:nvPr>
            <p:ph type="body" idx="29"/>
          </p:nvPr>
        </p:nvSpPr>
        <p:spPr>
          <a:xfrm>
            <a:off x="91059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Q4 · SCALE</a:t>
            </a:r>
          </a:p>
        </p:txBody>
      </p:sp>
      <p:sp>
        <p:nvSpPr>
          <p:cNvPr id="26" name="Col29 Title"/>
          <p:cNvSpPr>
            <a:spLocks noGrp="1"/>
          </p:cNvSpPr>
          <p:nvPr>
            <p:ph type="body" idx="30"/>
          </p:nvPr>
        </p:nvSpPr>
        <p:spPr>
          <a:xfrm>
            <a:off x="91059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Roll out globally with phased regional launches.</a:t>
            </a:r>
          </a:p>
        </p:txBody>
      </p:sp>
      <p:sp>
        <p:nvSpPr>
          <p:cNvPr id="27" name="Col29 Body"/>
          <p:cNvSpPr>
            <a:spLocks noGrp="1"/>
          </p:cNvSpPr>
          <p:nvPr>
            <p:ph type="body" idx="31"/>
          </p:nvPr>
        </p:nvSpPr>
        <p:spPr>
          <a:xfrm>
            <a:off x="91059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EMEA, then NAM, then APAC.</a:t>
            </a:r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einschliff · Text + Picture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pattFill prst="wdDnDiag">
            <a:fgClr>
              <a:srgbClr val="4D4D4D"/>
            </a:fgClr>
            <a:bgClr>
              <a:srgbClr val="181818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spc="70">
                <a:solidFill>
                  <a:srgbClr val="FDFDFD"/>
                </a:solidFill>
                <a:latin typeface="JetBrains Mono"/>
              </a:rPr>
              <a:t>PRODUCT HERO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LAYOUT · TEXT + PICTURE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11" name="Rectangle 10"/>
          <p:cNvSpPr/>
          <p:nvPr/>
        </p:nvSpPr>
        <p:spPr>
          <a:xfrm>
            <a:off x="635000" y="1270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yebrow"/>
          <p:cNvSpPr>
            <a:spLocks noGrp="1"/>
          </p:cNvSpPr>
          <p:nvPr>
            <p:ph type="body" idx="10"/>
          </p:nvPr>
        </p:nvSpPr>
        <p:spPr>
          <a:xfrm>
            <a:off x="635000" y="1524000"/>
            <a:ext cx="4826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SpotifyMixUITitle"/>
              </a:rPr>
              <a:t>FLAGSHIP · 2026</a:t>
            </a:r>
          </a:p>
        </p:txBody>
      </p:sp>
      <p:sp>
        <p:nvSpPr>
          <p:cNvPr id="13" name="Title"/>
          <p:cNvSpPr>
            <a:spLocks noGrp="1"/>
          </p:cNvSpPr>
          <p:nvPr>
            <p:ph type="title"/>
          </p:nvPr>
        </p:nvSpPr>
        <p:spPr>
          <a:xfrm>
            <a:off x="635000" y="1778000"/>
            <a:ext cx="4826000" cy="2413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5600">
                <a:solidFill>
                  <a:srgbClr val="FFFFFF"/>
                </a:solidFill>
                <a:latin typeface="SpotifyMixUITitle Light"/>
              </a:rPr>
              <a:t>A flagship that</a:t>
            </a:r>
          </a:p>
          <a:p>
            <a:pPr marL="0" indent="0" algn="l">
              <a:buNone/>
            </a:pPr>
            <a:r>
              <a:rPr lang="en-US" sz="5600">
                <a:solidFill>
                  <a:srgbClr val="FFFFFF"/>
                </a:solidFill>
                <a:latin typeface="SpotifyMixUITitle Light"/>
              </a:rPr>
              <a:t>learns the</a:t>
            </a:r>
          </a:p>
          <a:p>
            <a:pPr marL="0" indent="0" algn="l">
              <a:buNone/>
            </a:pPr>
            <a:r>
              <a:rPr lang="en-US" sz="5600">
                <a:solidFill>
                  <a:srgbClr val="FFFFFF"/>
                </a:solidFill>
                <a:latin typeface="SpotifyMixUITitle Light"/>
              </a:rPr>
              <a:t>user.</a:t>
            </a:r>
          </a:p>
        </p:txBody>
      </p:sp>
      <p:sp>
        <p:nvSpPr>
          <p:cNvPr id="14" name="Body"/>
          <p:cNvSpPr>
            <a:spLocks noGrp="1"/>
          </p:cNvSpPr>
          <p:nvPr>
            <p:ph type="body" idx="11"/>
          </p:nvPr>
        </p:nvSpPr>
        <p:spPr>
          <a:xfrm>
            <a:off x="635000" y="4445000"/>
            <a:ext cx="4572000" cy="88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Adaptive heat zones that calibrate to each pan automatically and hold their target to within 2 °C, across the whole surface.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000" y="5524500"/>
            <a:ext cx="1651000" cy="5080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READ THE BRIEF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413000" y="5524500"/>
            <a:ext cx="1333500" cy="508000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B3B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SPEC SHEET</a:t>
            </a:r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ll-bleed Cover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4D4D4D"/>
            </a:fgClr>
            <a:bgClr>
              <a:srgbClr val="181818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spc="70">
                <a:solidFill>
                  <a:srgbClr val="FDFDFD"/>
                </a:solidFill>
                <a:latin typeface="JetBrains Mono"/>
              </a:rPr>
              <a:t>DROP COVER IMAGE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COVER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11" name="Rectangle 10"/>
          <p:cNvSpPr/>
          <p:nvPr/>
        </p:nvSpPr>
        <p:spPr>
          <a:xfrm>
            <a:off x="635000" y="4318000"/>
            <a:ext cx="5207000" cy="17780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89000" y="4521200"/>
            <a:ext cx="508000" cy="25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889000" y="4749800"/>
            <a:ext cx="469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LAYOUT · FULL-BLEED COVER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889000" y="5016500"/>
            <a:ext cx="4699000" cy="1016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3600" spc="-108">
                <a:solidFill>
                  <a:srgbClr val="FFFFFF"/>
                </a:solidFill>
                <a:latin typeface="SpotifyMixUITitle Light"/>
              </a:rPr>
              <a:t>An image does</a:t>
            </a:r>
          </a:p>
          <a:p>
            <a:pPr marL="0" indent="0" algn="l">
              <a:buNone/>
            </a:pPr>
            <a:r>
              <a:rPr lang="en-US" sz="3600" spc="-108">
                <a:solidFill>
                  <a:srgbClr val="FFFFFF"/>
                </a:solidFill>
                <a:latin typeface="SpotifyMixUITitle Light"/>
              </a:rPr>
              <a:t>the talking.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Bar Chart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DATA · Q3 RESULTS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SHARE OF REVENUE BY REGION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EMEA still leads; NAM closing the gap.</a:t>
            </a:r>
          </a:p>
        </p:txBody>
      </p:sp>
      <p:sp>
        <p:nvSpPr>
          <p:cNvPr id="12" name="Bar 1 Label"/>
          <p:cNvSpPr>
            <a:spLocks noGrp="1"/>
          </p:cNvSpPr>
          <p:nvPr>
            <p:ph type="body" idx="20"/>
          </p:nvPr>
        </p:nvSpPr>
        <p:spPr>
          <a:xfrm>
            <a:off x="635000" y="3429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EMEA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11400" y="3479800"/>
            <a:ext cx="8331200" cy="2032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311400" y="3479800"/>
            <a:ext cx="5162550" cy="20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Bar 1 Value"/>
          <p:cNvSpPr>
            <a:spLocks noGrp="1"/>
          </p:cNvSpPr>
          <p:nvPr>
            <p:ph type="body" idx="21"/>
          </p:nvPr>
        </p:nvSpPr>
        <p:spPr>
          <a:xfrm>
            <a:off x="10795000" y="3467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62%</a:t>
            </a:r>
          </a:p>
        </p:txBody>
      </p:sp>
      <p:sp>
        <p:nvSpPr>
          <p:cNvPr id="16" name="Bar 2 Label"/>
          <p:cNvSpPr>
            <a:spLocks noGrp="1"/>
          </p:cNvSpPr>
          <p:nvPr>
            <p:ph type="body" idx="22"/>
          </p:nvPr>
        </p:nvSpPr>
        <p:spPr>
          <a:xfrm>
            <a:off x="635000" y="3937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NAM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11400" y="3987800"/>
            <a:ext cx="8331200" cy="2032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311400" y="3987800"/>
            <a:ext cx="2000250" cy="2032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Bar 2 Value"/>
          <p:cNvSpPr>
            <a:spLocks noGrp="1"/>
          </p:cNvSpPr>
          <p:nvPr>
            <p:ph type="body" idx="23"/>
          </p:nvPr>
        </p:nvSpPr>
        <p:spPr>
          <a:xfrm>
            <a:off x="10795000" y="3975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24%</a:t>
            </a:r>
          </a:p>
        </p:txBody>
      </p:sp>
      <p:sp>
        <p:nvSpPr>
          <p:cNvPr id="20" name="Bar 3 Label"/>
          <p:cNvSpPr>
            <a:spLocks noGrp="1"/>
          </p:cNvSpPr>
          <p:nvPr>
            <p:ph type="body" idx="24"/>
          </p:nvPr>
        </p:nvSpPr>
        <p:spPr>
          <a:xfrm>
            <a:off x="635000" y="4445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APAC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311400" y="4495800"/>
            <a:ext cx="8331200" cy="2032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311400" y="4495800"/>
            <a:ext cx="914400" cy="20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Bar 3 Value"/>
          <p:cNvSpPr>
            <a:spLocks noGrp="1"/>
          </p:cNvSpPr>
          <p:nvPr>
            <p:ph type="body" idx="25"/>
          </p:nvPr>
        </p:nvSpPr>
        <p:spPr>
          <a:xfrm>
            <a:off x="10795000" y="4483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11%</a:t>
            </a:r>
          </a:p>
        </p:txBody>
      </p:sp>
      <p:sp>
        <p:nvSpPr>
          <p:cNvPr id="24" name="Bar 4 Label"/>
          <p:cNvSpPr>
            <a:spLocks noGrp="1"/>
          </p:cNvSpPr>
          <p:nvPr>
            <p:ph type="body" idx="26"/>
          </p:nvPr>
        </p:nvSpPr>
        <p:spPr>
          <a:xfrm>
            <a:off x="635000" y="4953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LATAM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311400" y="5003800"/>
            <a:ext cx="8331200" cy="2032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311400" y="5003800"/>
            <a:ext cx="247650" cy="20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Bar 4 Value"/>
          <p:cNvSpPr>
            <a:spLocks noGrp="1"/>
          </p:cNvSpPr>
          <p:nvPr>
            <p:ph type="body" idx="27"/>
          </p:nvPr>
        </p:nvSpPr>
        <p:spPr>
          <a:xfrm>
            <a:off x="10795000" y="4991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3%</a:t>
            </a:r>
          </a:p>
        </p:txBody>
      </p:sp>
      <p:sp>
        <p:nvSpPr>
          <p:cNvPr id="28" name="Figure caption"/>
          <p:cNvSpPr>
            <a:spLocks noGrp="1"/>
          </p:cNvSpPr>
          <p:nvPr>
            <p:ph type="body" idx="40"/>
          </p:nvPr>
        </p:nvSpPr>
        <p:spPr>
          <a:xfrm>
            <a:off x="635000" y="5842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DFDFD"/>
                </a:solidFill>
                <a:latin typeface="JetBrains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Components Showcase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UI KIT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UI LIBRARY PREVIEW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Flat, sharp, quiet components.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98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FFFFF"/>
                </a:solidFill>
                <a:latin typeface="JetBrains Mono"/>
              </a:rPr>
              <a:t>BUTTONS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9800" y="3860800"/>
            <a:ext cx="1270000" cy="4064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PRIMARY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336800" y="3860800"/>
            <a:ext cx="1270000" cy="406400"/>
          </a:xfrm>
          <a:prstGeom prst="roundRect">
            <a:avLst>
              <a:gd name="adj" fmla="val 50000"/>
            </a:avLst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DEFAULT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733800" y="3860800"/>
            <a:ext cx="1079500" cy="406400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B3B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GHOST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9800" y="4622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FFFFF"/>
                </a:solidFill>
                <a:latin typeface="JetBrains Mono"/>
              </a:rPr>
              <a:t>TAGS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9800" y="4940300"/>
            <a:ext cx="1111250" cy="228600"/>
          </a:xfrm>
          <a:prstGeom prst="roundRect">
            <a:avLst>
              <a:gd name="adj" fmla="val 50000"/>
            </a:avLst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/>
          <a:lstStyle/>
          <a:p>
            <a:pPr algn="ctr"/>
            <a:r>
              <a:rPr sz="600" b="1" spc="60">
                <a:solidFill>
                  <a:srgbClr val="121212"/>
                </a:solidFill>
                <a:latin typeface="SpotifyMixUITitle"/>
              </a:rPr>
              <a:t>PRODUCTION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146300" y="4940300"/>
            <a:ext cx="889000" cy="228600"/>
          </a:xfrm>
          <a:prstGeom prst="roundRect">
            <a:avLst>
              <a:gd name="adj" fmla="val 50000"/>
            </a:avLst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/>
          <a:lstStyle/>
          <a:p>
            <a:pPr algn="ctr"/>
            <a:r>
              <a:rPr sz="600" b="1" spc="60">
                <a:solidFill>
                  <a:srgbClr val="121212"/>
                </a:solidFill>
                <a:latin typeface="SpotifyMixUITitle"/>
              </a:rPr>
              <a:t>FEATURED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130550" y="4940300"/>
            <a:ext cx="571500" cy="228600"/>
          </a:xfrm>
          <a:prstGeom prst="roundRect">
            <a:avLst>
              <a:gd name="adj" fmla="val 50000"/>
            </a:avLst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/>
          <a:lstStyle/>
          <a:p>
            <a:pPr algn="ctr"/>
            <a:r>
              <a:rPr sz="600" b="1" spc="60">
                <a:solidFill>
                  <a:srgbClr val="121212"/>
                </a:solidFill>
                <a:latin typeface="SpotifyMixUITitle"/>
              </a:rPr>
              <a:t>BETA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797300" y="4940300"/>
            <a:ext cx="952500" cy="228600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B3B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/>
          <a:lstStyle/>
          <a:p>
            <a:pPr algn="ctr"/>
            <a:r>
              <a:rPr sz="600" b="1" spc="60">
                <a:solidFill>
                  <a:srgbClr val="B3B3B3"/>
                </a:solidFill>
                <a:latin typeface="SpotifyMixUITitle"/>
              </a:rPr>
              <a:t>ARCHIVED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532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FFFFF"/>
                </a:solidFill>
                <a:latin typeface="JetBrains Mono"/>
              </a:rPr>
              <a:t>RULES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53200" y="3987800"/>
            <a:ext cx="355600" cy="63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53200" y="407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DFDFD"/>
                </a:solidFill>
                <a:latin typeface="JetBrains Mono"/>
              </a:rPr>
              <a:t>SECTION · 56 × 1 · INK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53200" y="46228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53200" y="4711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DFDFD"/>
                </a:solidFill>
                <a:latin typeface="JetBrains Mono"/>
              </a:rPr>
              <a:t>EMPHASIS · 80 × 4 · ORANGE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53200" y="5257800"/>
            <a:ext cx="4699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53200" y="534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DFDFD"/>
                </a:solidFill>
                <a:latin typeface="JetBrains Mono"/>
              </a:rPr>
              <a:t>HAIRLINE · WIDTH × 1 · FOG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Quote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VOICE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ounded Rectangle 8"/>
          <p:cNvSpPr/>
          <p:nvPr/>
        </p:nvSpPr>
        <p:spPr>
          <a:xfrm>
            <a:off x="762000" y="2087880"/>
            <a:ext cx="205253" cy="22352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95535" y="1925320"/>
            <a:ext cx="205253" cy="38608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429071" y="2148840"/>
            <a:ext cx="205253" cy="16256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762606" y="1965960"/>
            <a:ext cx="205253" cy="3454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Quote"/>
          <p:cNvSpPr>
            <a:spLocks noGrp="1"/>
          </p:cNvSpPr>
          <p:nvPr>
            <p:ph type="title"/>
          </p:nvPr>
        </p:nvSpPr>
        <p:spPr>
          <a:xfrm>
            <a:off x="762000" y="2667000"/>
            <a:ext cx="10668000" cy="279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SpotifyMixUITitle"/>
              </a:rPr>
              <a:t>“Music happens between the notes — write copy the same way: concrete nouns, short sentences, room to breathe.”</a:t>
            </a:r>
          </a:p>
        </p:txBody>
      </p:sp>
      <p:sp>
        <p:nvSpPr>
          <p:cNvPr id="14" name="Attribution"/>
          <p:cNvSpPr>
            <a:spLocks noGrp="1"/>
          </p:cNvSpPr>
          <p:nvPr>
            <p:ph type="body" idx="10"/>
          </p:nvPr>
        </p:nvSpPr>
        <p:spPr>
          <a:xfrm>
            <a:off x="762000" y="5715000"/>
            <a:ext cx="10668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SPOTIFY DESIGN · BRAND VOICE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nd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ounded Rectangle 8"/>
          <p:cNvSpPr/>
          <p:nvPr/>
        </p:nvSpPr>
        <p:spPr>
          <a:xfrm>
            <a:off x="5461000" y="1960880"/>
            <a:ext cx="205253" cy="22352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794535" y="1798320"/>
            <a:ext cx="205253" cy="38608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128071" y="2021840"/>
            <a:ext cx="205253" cy="16256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61606" y="1838960"/>
            <a:ext cx="205253" cy="3454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itle"/>
          <p:cNvSpPr>
            <a:spLocks noGrp="1"/>
          </p:cNvSpPr>
          <p:nvPr>
            <p:ph type="title"/>
          </p:nvPr>
        </p:nvSpPr>
        <p:spPr>
          <a:xfrm>
            <a:off x="762000" y="2667000"/>
            <a:ext cx="10668000" cy="1270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0" b="1">
                <a:solidFill>
                  <a:srgbClr val="FFFFFF"/>
                </a:solidFill>
                <a:latin typeface="SpotifyMixUITitle"/>
              </a:rPr>
              <a:t>Thank you.</a:t>
            </a:r>
          </a:p>
        </p:txBody>
      </p:sp>
      <p:sp>
        <p:nvSpPr>
          <p:cNvPr id="14" name="Caption"/>
          <p:cNvSpPr>
            <a:spLocks noGrp="1"/>
          </p:cNvSpPr>
          <p:nvPr>
            <p:ph type="body" idx="10"/>
          </p:nvPr>
        </p:nvSpPr>
        <p:spPr>
          <a:xfrm>
            <a:off x="762000" y="4572000"/>
            <a:ext cx="106680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70" cap="all">
                <a:solidFill>
                  <a:srgbClr val="B3B3B3"/>
                </a:solidFill>
                <a:latin typeface="SpotifyMixUITitle"/>
              </a:rPr>
              <a:t>SPOTIFY · 2026 SHOWCASE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61000" y="5207000"/>
            <a:ext cx="1270000" cy="3556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OPEN SPOTIFY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raphical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GRAPHICAL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SHARE OF REVENUE BY REGION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EMEA still leads; NAM closing the gap.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930400" y="3219450"/>
            <a:ext cx="5435600" cy="3175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367665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930400" y="3727450"/>
            <a:ext cx="2101850" cy="3175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418465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930400" y="4235450"/>
            <a:ext cx="965200" cy="3175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469265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930400" y="4743450"/>
            <a:ext cx="260350" cy="3175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000" y="520065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Bar 1 Label"/>
          <p:cNvSpPr>
            <a:spLocks noGrp="1"/>
          </p:cNvSpPr>
          <p:nvPr>
            <p:ph type="body" idx="20"/>
          </p:nvPr>
        </p:nvSpPr>
        <p:spPr>
          <a:xfrm>
            <a:off x="635000" y="3289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EMEA</a:t>
            </a:r>
          </a:p>
        </p:txBody>
      </p:sp>
      <p:sp>
        <p:nvSpPr>
          <p:cNvPr id="21" name="Bar 1 Value"/>
          <p:cNvSpPr>
            <a:spLocks noGrp="1"/>
          </p:cNvSpPr>
          <p:nvPr>
            <p:ph type="body" idx="21"/>
          </p:nvPr>
        </p:nvSpPr>
        <p:spPr>
          <a:xfrm>
            <a:off x="10795000" y="3289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62%</a:t>
            </a:r>
          </a:p>
        </p:txBody>
      </p:sp>
      <p:sp>
        <p:nvSpPr>
          <p:cNvPr id="22" name="Bar 2 Label"/>
          <p:cNvSpPr>
            <a:spLocks noGrp="1"/>
          </p:cNvSpPr>
          <p:nvPr>
            <p:ph type="body" idx="24"/>
          </p:nvPr>
        </p:nvSpPr>
        <p:spPr>
          <a:xfrm>
            <a:off x="635000" y="3797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NAM</a:t>
            </a:r>
          </a:p>
        </p:txBody>
      </p:sp>
      <p:sp>
        <p:nvSpPr>
          <p:cNvPr id="23" name="Bar 2 Value"/>
          <p:cNvSpPr>
            <a:spLocks noGrp="1"/>
          </p:cNvSpPr>
          <p:nvPr>
            <p:ph type="body" idx="25"/>
          </p:nvPr>
        </p:nvSpPr>
        <p:spPr>
          <a:xfrm>
            <a:off x="10795000" y="3797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24%</a:t>
            </a:r>
          </a:p>
        </p:txBody>
      </p:sp>
      <p:sp>
        <p:nvSpPr>
          <p:cNvPr id="24" name="Bar 3 Label"/>
          <p:cNvSpPr>
            <a:spLocks noGrp="1"/>
          </p:cNvSpPr>
          <p:nvPr>
            <p:ph type="body" idx="28"/>
          </p:nvPr>
        </p:nvSpPr>
        <p:spPr>
          <a:xfrm>
            <a:off x="635000" y="4305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APAC</a:t>
            </a:r>
          </a:p>
        </p:txBody>
      </p:sp>
      <p:sp>
        <p:nvSpPr>
          <p:cNvPr id="25" name="Bar 3 Value"/>
          <p:cNvSpPr>
            <a:spLocks noGrp="1"/>
          </p:cNvSpPr>
          <p:nvPr>
            <p:ph type="body" idx="29"/>
          </p:nvPr>
        </p:nvSpPr>
        <p:spPr>
          <a:xfrm>
            <a:off x="10795000" y="4305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11%</a:t>
            </a:r>
          </a:p>
        </p:txBody>
      </p:sp>
      <p:sp>
        <p:nvSpPr>
          <p:cNvPr id="26" name="Bar 4 Label"/>
          <p:cNvSpPr>
            <a:spLocks noGrp="1"/>
          </p:cNvSpPr>
          <p:nvPr>
            <p:ph type="body" idx="32"/>
          </p:nvPr>
        </p:nvSpPr>
        <p:spPr>
          <a:xfrm>
            <a:off x="635000" y="4813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LATAM</a:t>
            </a:r>
          </a:p>
        </p:txBody>
      </p:sp>
      <p:sp>
        <p:nvSpPr>
          <p:cNvPr id="27" name="Bar 4 Value"/>
          <p:cNvSpPr>
            <a:spLocks noGrp="1"/>
          </p:cNvSpPr>
          <p:nvPr>
            <p:ph type="body" idx="33"/>
          </p:nvPr>
        </p:nvSpPr>
        <p:spPr>
          <a:xfrm>
            <a:off x="10795000" y="4813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3%</a:t>
            </a:r>
          </a:p>
        </p:txBody>
      </p:sp>
      <p:sp>
        <p:nvSpPr>
          <p:cNvPr id="28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DFDFD"/>
                </a:solidFill>
                <a:latin typeface="JetBrains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Action Title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MCK · ACTION TITLE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Kicker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ACTION-TITLE LAYOUT</a:t>
            </a:r>
          </a:p>
        </p:txBody>
      </p:sp>
      <p:sp>
        <p:nvSpPr>
          <p:cNvPr id="10" name="Action Title"/>
          <p:cNvSpPr>
            <a:spLocks noGrp="1"/>
          </p:cNvSpPr>
          <p:nvPr>
            <p:ph type="title"/>
          </p:nvPr>
        </p:nvSpPr>
        <p:spPr>
          <a:xfrm>
            <a:off x="635000" y="1714500"/>
            <a:ext cx="109220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b="1">
                <a:solidFill>
                  <a:srgbClr val="FFFFFF"/>
                </a:solidFill>
                <a:latin typeface="SpotifyMixUITitle"/>
              </a:rPr>
              <a:t>Adopting the new platform will lift per-account active time by ~18% within two release cycles.</a:t>
            </a:r>
          </a:p>
        </p:txBody>
      </p:sp>
      <p:sp>
        <p:nvSpPr>
          <p:cNvPr id="11" name="Supporting Body"/>
          <p:cNvSpPr>
            <a:spLocks noGrp="1"/>
          </p:cNvSpPr>
          <p:nvPr>
            <p:ph type="body" idx="11"/>
          </p:nvPr>
        </p:nvSpPr>
        <p:spPr>
          <a:xfrm>
            <a:off x="635000" y="3810000"/>
            <a:ext cx="5207000" cy="215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In the regional pilot, accounts on the updated platform opened the app 2.3× more often and ran guided sessions 41% more per week.</a:t>
            </a:r>
          </a:p>
        </p:txBody>
      </p:sp>
      <p:sp>
        <p:nvSpPr>
          <p:cNvPr id="12" name="KPI 1 Value"/>
          <p:cNvSpPr>
            <a:spLocks noGrp="1"/>
          </p:cNvSpPr>
          <p:nvPr>
            <p:ph type="body" idx="20"/>
          </p:nvPr>
        </p:nvSpPr>
        <p:spPr>
          <a:xfrm>
            <a:off x="63500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4400">
                <a:solidFill>
                  <a:srgbClr val="FFFFFF"/>
                </a:solidFill>
                <a:latin typeface="SpotifyMixUITitle Light"/>
              </a:rPr>
              <a:t>+18</a:t>
            </a:r>
          </a:p>
        </p:txBody>
      </p:sp>
      <p:sp>
        <p:nvSpPr>
          <p:cNvPr id="13" name="KPI 1 Unit"/>
          <p:cNvSpPr>
            <a:spLocks noGrp="1"/>
          </p:cNvSpPr>
          <p:nvPr>
            <p:ph type="body" idx="21"/>
          </p:nvPr>
        </p:nvSpPr>
        <p:spPr>
          <a:xfrm>
            <a:off x="81915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>
                <a:solidFill>
                  <a:srgbClr val="FDFDFD"/>
                </a:solidFill>
                <a:latin typeface="SpotifyMixUITitle"/>
              </a:rPr>
              <a:t>%</a:t>
            </a:r>
          </a:p>
        </p:txBody>
      </p:sp>
      <p:sp>
        <p:nvSpPr>
          <p:cNvPr id="14" name="KPI 1 Key"/>
          <p:cNvSpPr>
            <a:spLocks noGrp="1"/>
          </p:cNvSpPr>
          <p:nvPr>
            <p:ph type="body" idx="22"/>
          </p:nvPr>
        </p:nvSpPr>
        <p:spPr>
          <a:xfrm>
            <a:off x="63500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ACTIVE TIME / WEEK</a:t>
            </a:r>
          </a:p>
        </p:txBody>
      </p:sp>
      <p:sp>
        <p:nvSpPr>
          <p:cNvPr id="15" name="KPI 1 Delta"/>
          <p:cNvSpPr>
            <a:spLocks noGrp="1"/>
          </p:cNvSpPr>
          <p:nvPr>
            <p:ph type="body" idx="23"/>
          </p:nvPr>
        </p:nvSpPr>
        <p:spPr>
          <a:xfrm>
            <a:off x="63500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>
                <a:solidFill>
                  <a:srgbClr val="1DB954"/>
                </a:solidFill>
                <a:latin typeface="SpotifyMixUITitle"/>
              </a:rPr>
              <a:t>vs. prior platform</a:t>
            </a:r>
          </a:p>
        </p:txBody>
      </p:sp>
      <p:sp>
        <p:nvSpPr>
          <p:cNvPr id="16" name="KPI 2 Value"/>
          <p:cNvSpPr>
            <a:spLocks noGrp="1"/>
          </p:cNvSpPr>
          <p:nvPr>
            <p:ph type="body" idx="24"/>
          </p:nvPr>
        </p:nvSpPr>
        <p:spPr>
          <a:xfrm>
            <a:off x="90805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4400">
                <a:solidFill>
                  <a:srgbClr val="FFFFFF"/>
                </a:solidFill>
                <a:latin typeface="SpotifyMixUITitle Light"/>
              </a:rPr>
              <a:t>2.3</a:t>
            </a:r>
          </a:p>
        </p:txBody>
      </p:sp>
      <p:sp>
        <p:nvSpPr>
          <p:cNvPr id="17" name="KPI 2 Unit"/>
          <p:cNvSpPr>
            <a:spLocks noGrp="1"/>
          </p:cNvSpPr>
          <p:nvPr>
            <p:ph type="body" idx="25"/>
          </p:nvPr>
        </p:nvSpPr>
        <p:spPr>
          <a:xfrm>
            <a:off x="109220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>
                <a:solidFill>
                  <a:srgbClr val="FDFDFD"/>
                </a:solidFill>
                <a:latin typeface="SpotifyMixUITitle"/>
              </a:rPr>
              <a:t>×</a:t>
            </a:r>
          </a:p>
        </p:txBody>
      </p:sp>
      <p:sp>
        <p:nvSpPr>
          <p:cNvPr id="18" name="KPI 2 Key"/>
          <p:cNvSpPr>
            <a:spLocks noGrp="1"/>
          </p:cNvSpPr>
          <p:nvPr>
            <p:ph type="body" idx="26"/>
          </p:nvPr>
        </p:nvSpPr>
        <p:spPr>
          <a:xfrm>
            <a:off x="90805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APP OPEN RATE</a:t>
            </a:r>
          </a:p>
        </p:txBody>
      </p:sp>
      <p:sp>
        <p:nvSpPr>
          <p:cNvPr id="19" name="KPI 2 Delta"/>
          <p:cNvSpPr>
            <a:spLocks noGrp="1"/>
          </p:cNvSpPr>
          <p:nvPr>
            <p:ph type="body" idx="27"/>
          </p:nvPr>
        </p:nvSpPr>
        <p:spPr>
          <a:xfrm>
            <a:off x="90805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>
                <a:solidFill>
                  <a:srgbClr val="1DB954"/>
                </a:solidFill>
                <a:latin typeface="SpotifyMixUITitle"/>
              </a:rPr>
              <a:t>trailing 30 days</a:t>
            </a:r>
          </a:p>
        </p:txBody>
      </p:sp>
      <p:sp>
        <p:nvSpPr>
          <p:cNvPr id="20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SOURCE · PLATFORM TELEMETRY, JUN–DEC 2025 · N = 142K ACCOUNTS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Horizontal Bullets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HORIZONTAL BULLETS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CONTEXT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Three forces pull the 2026 roadmap: regulation, margin, and shared software.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03700" y="2895600"/>
            <a:ext cx="6350" cy="39624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969250" y="2895600"/>
            <a:ext cx="6350" cy="39624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ol1 Counter"/>
          <p:cNvSpPr>
            <a:spLocks noGrp="1"/>
          </p:cNvSpPr>
          <p:nvPr>
            <p:ph type="body" idx="20"/>
          </p:nvPr>
        </p:nvSpPr>
        <p:spPr>
          <a:xfrm>
            <a:off x="6350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01 · REGULATION</a:t>
            </a:r>
          </a:p>
        </p:txBody>
      </p:sp>
      <p:sp>
        <p:nvSpPr>
          <p:cNvPr id="15" name="Col1 Heading"/>
          <p:cNvSpPr>
            <a:spLocks noGrp="1"/>
          </p:cNvSpPr>
          <p:nvPr>
            <p:ph type="body" idx="21"/>
          </p:nvPr>
        </p:nvSpPr>
        <p:spPr>
          <a:xfrm>
            <a:off x="6350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SpotifyMixUITitle"/>
              </a:rPr>
              <a:t>Energy and repair rules are tightening across EMEA.</a:t>
            </a:r>
          </a:p>
        </p:txBody>
      </p:sp>
      <p:sp>
        <p:nvSpPr>
          <p:cNvPr id="16" name="Col1 Bullets"/>
          <p:cNvSpPr>
            <a:spLocks noGrp="1"/>
          </p:cNvSpPr>
          <p:nvPr>
            <p:ph type="body" idx="22"/>
          </p:nvPr>
        </p:nvSpPr>
        <p:spPr>
          <a:xfrm>
            <a:off x="6350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EU Ecodesign 2027 raises minimum efficiency one full class.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Right-to-repair mandates in DE, FR, NL by end of 2026.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Refrigerant phase-down accelerates for commercial lines.</a:t>
            </a:r>
          </a:p>
        </p:txBody>
      </p:sp>
      <p:sp>
        <p:nvSpPr>
          <p:cNvPr id="17" name="Col2 Counter"/>
          <p:cNvSpPr>
            <a:spLocks noGrp="1"/>
          </p:cNvSpPr>
          <p:nvPr>
            <p:ph type="body" idx="24"/>
          </p:nvPr>
        </p:nvSpPr>
        <p:spPr>
          <a:xfrm>
            <a:off x="440055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02 · MARGIN</a:t>
            </a:r>
          </a:p>
        </p:txBody>
      </p:sp>
      <p:sp>
        <p:nvSpPr>
          <p:cNvPr id="18" name="Col2 Heading"/>
          <p:cNvSpPr>
            <a:spLocks noGrp="1"/>
          </p:cNvSpPr>
          <p:nvPr>
            <p:ph type="body" idx="25"/>
          </p:nvPr>
        </p:nvSpPr>
        <p:spPr>
          <a:xfrm>
            <a:off x="440055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SpotifyMixUITitle"/>
              </a:rPr>
              <a:t>Component cost is stable but service cost is climbing.</a:t>
            </a:r>
          </a:p>
        </p:txBody>
      </p:sp>
      <p:sp>
        <p:nvSpPr>
          <p:cNvPr id="19" name="Col2 Bullets"/>
          <p:cNvSpPr>
            <a:spLocks noGrp="1"/>
          </p:cNvSpPr>
          <p:nvPr>
            <p:ph type="body" idx="26"/>
          </p:nvPr>
        </p:nvSpPr>
        <p:spPr>
          <a:xfrm>
            <a:off x="440055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Field-service visits up 7% YoY on premium products.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Warranty reserve exceeds plan in 3 of 5 product lines.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Remote-diagnosis deflection saves an average 38 EUR / visit.</a:t>
            </a:r>
          </a:p>
        </p:txBody>
      </p:sp>
      <p:sp>
        <p:nvSpPr>
          <p:cNvPr id="20" name="Col3 Counter"/>
          <p:cNvSpPr>
            <a:spLocks noGrp="1"/>
          </p:cNvSpPr>
          <p:nvPr>
            <p:ph type="body" idx="28"/>
          </p:nvPr>
        </p:nvSpPr>
        <p:spPr>
          <a:xfrm>
            <a:off x="81661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03 · PLATFORM</a:t>
            </a:r>
          </a:p>
        </p:txBody>
      </p:sp>
      <p:sp>
        <p:nvSpPr>
          <p:cNvPr id="21" name="Col3 Heading"/>
          <p:cNvSpPr>
            <a:spLocks noGrp="1"/>
          </p:cNvSpPr>
          <p:nvPr>
            <p:ph type="body" idx="29"/>
          </p:nvPr>
        </p:nvSpPr>
        <p:spPr>
          <a:xfrm>
            <a:off x="81661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SpotifyMixUITitle"/>
              </a:rPr>
              <a:t>The platform is becoming the product, not an add-on.</a:t>
            </a:r>
          </a:p>
        </p:txBody>
      </p:sp>
      <p:sp>
        <p:nvSpPr>
          <p:cNvPr id="22" name="Col3 Bullets"/>
          <p:cNvSpPr>
            <a:spLocks noGrp="1"/>
          </p:cNvSpPr>
          <p:nvPr>
            <p:ph type="body" idx="30"/>
          </p:nvPr>
        </p:nvSpPr>
        <p:spPr>
          <a:xfrm>
            <a:off x="81661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New SKUs must ship with the platform from day one.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One update path cuts firmware maintenance headcount 22%.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Shared telemetry unlocks usage-driven feature priority.</a:t>
            </a:r>
          </a:p>
        </p:txBody>
      </p:sp>
      <p:sp>
        <p:nvSpPr>
          <p:cNvPr id="23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SOURCE · STRATEGY REVIEW, Q4 2025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rtical Bullets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VERTICAL BULLETS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PLAN OF RECORD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Five moves define the first half: consolidate, instrument, retire, pilot, publish.</a:t>
            </a:r>
          </a:p>
        </p:txBody>
      </p:sp>
      <p:sp>
        <p:nvSpPr>
          <p:cNvPr id="12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Each move is owned by a single VP and reviewed at the monthly operating meeting — progress is measured against a metric, not an output.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29845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w 1 Counter"/>
          <p:cNvSpPr>
            <a:spLocks noGrp="1"/>
          </p:cNvSpPr>
          <p:nvPr>
            <p:ph type="body" idx="20"/>
          </p:nvPr>
        </p:nvSpPr>
        <p:spPr>
          <a:xfrm>
            <a:off x="635000" y="3162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01 / 06</a:t>
            </a:r>
          </a:p>
        </p:txBody>
      </p:sp>
      <p:sp>
        <p:nvSpPr>
          <p:cNvPr id="15" name="Row 1 Heading"/>
          <p:cNvSpPr>
            <a:spLocks noGrp="1"/>
          </p:cNvSpPr>
          <p:nvPr>
            <p:ph type="body" idx="21"/>
          </p:nvPr>
        </p:nvSpPr>
        <p:spPr>
          <a:xfrm>
            <a:off x="1676400" y="3124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Consolidate the firmware stack.</a:t>
            </a:r>
          </a:p>
        </p:txBody>
      </p:sp>
      <p:sp>
        <p:nvSpPr>
          <p:cNvPr id="16" name="Row 1 Body"/>
          <p:cNvSpPr>
            <a:spLocks noGrp="1"/>
          </p:cNvSpPr>
          <p:nvPr>
            <p:ph type="body" idx="22"/>
          </p:nvPr>
        </p:nvSpPr>
        <p:spPr>
          <a:xfrm>
            <a:off x="4495800" y="3149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Move the remaining three product lines onto the unified OS core by end of Q2.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" y="352425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w 2 Counter"/>
          <p:cNvSpPr>
            <a:spLocks noGrp="1"/>
          </p:cNvSpPr>
          <p:nvPr>
            <p:ph type="body" idx="23"/>
          </p:nvPr>
        </p:nvSpPr>
        <p:spPr>
          <a:xfrm>
            <a:off x="635000" y="3702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02 / 06</a:t>
            </a:r>
          </a:p>
        </p:txBody>
      </p:sp>
      <p:sp>
        <p:nvSpPr>
          <p:cNvPr id="19" name="Row 2 Heading"/>
          <p:cNvSpPr>
            <a:spLocks noGrp="1"/>
          </p:cNvSpPr>
          <p:nvPr>
            <p:ph type="body" idx="24"/>
          </p:nvPr>
        </p:nvSpPr>
        <p:spPr>
          <a:xfrm>
            <a:off x="1676400" y="3663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Instrument every SKU.</a:t>
            </a:r>
          </a:p>
        </p:txBody>
      </p:sp>
      <p:sp>
        <p:nvSpPr>
          <p:cNvPr id="20" name="Row 2 Body"/>
          <p:cNvSpPr>
            <a:spLocks noGrp="1"/>
          </p:cNvSpPr>
          <p:nvPr>
            <p:ph type="body" idx="25"/>
          </p:nvPr>
        </p:nvSpPr>
        <p:spPr>
          <a:xfrm>
            <a:off x="4495800" y="3689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Every production unit leaving the factory reports health and usage by default.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000" y="40640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w 3 Counter"/>
          <p:cNvSpPr>
            <a:spLocks noGrp="1"/>
          </p:cNvSpPr>
          <p:nvPr>
            <p:ph type="body" idx="26"/>
          </p:nvPr>
        </p:nvSpPr>
        <p:spPr>
          <a:xfrm>
            <a:off x="635000" y="42418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03 / 06</a:t>
            </a:r>
          </a:p>
        </p:txBody>
      </p:sp>
      <p:sp>
        <p:nvSpPr>
          <p:cNvPr id="23" name="Row 3 Heading"/>
          <p:cNvSpPr>
            <a:spLocks noGrp="1"/>
          </p:cNvSpPr>
          <p:nvPr>
            <p:ph type="body" idx="27"/>
          </p:nvPr>
        </p:nvSpPr>
        <p:spPr>
          <a:xfrm>
            <a:off x="1676400" y="42037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Retire the legacy app.</a:t>
            </a:r>
          </a:p>
        </p:txBody>
      </p:sp>
      <p:sp>
        <p:nvSpPr>
          <p:cNvPr id="24" name="Row 3 Body"/>
          <p:cNvSpPr>
            <a:spLocks noGrp="1"/>
          </p:cNvSpPr>
          <p:nvPr>
            <p:ph type="body" idx="28"/>
          </p:nvPr>
        </p:nvSpPr>
        <p:spPr>
          <a:xfrm>
            <a:off x="4495800" y="42291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Archive the legacy companion app once the new platform reaches 70% coverage.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5000" y="460375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w 4 Counter"/>
          <p:cNvSpPr>
            <a:spLocks noGrp="1"/>
          </p:cNvSpPr>
          <p:nvPr>
            <p:ph type="body" idx="29"/>
          </p:nvPr>
        </p:nvSpPr>
        <p:spPr>
          <a:xfrm>
            <a:off x="635000" y="47815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04 / 06</a:t>
            </a:r>
          </a:p>
        </p:txBody>
      </p:sp>
      <p:sp>
        <p:nvSpPr>
          <p:cNvPr id="27" name="Row 4 Heading"/>
          <p:cNvSpPr>
            <a:spLocks noGrp="1"/>
          </p:cNvSpPr>
          <p:nvPr>
            <p:ph type="body" idx="30"/>
          </p:nvPr>
        </p:nvSpPr>
        <p:spPr>
          <a:xfrm>
            <a:off x="1676400" y="47434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Pilot guided sessions.</a:t>
            </a:r>
          </a:p>
        </p:txBody>
      </p:sp>
      <p:sp>
        <p:nvSpPr>
          <p:cNvPr id="28" name="Row 4 Body"/>
          <p:cNvSpPr>
            <a:spLocks noGrp="1"/>
          </p:cNvSpPr>
          <p:nvPr>
            <p:ph type="body" idx="31"/>
          </p:nvPr>
        </p:nvSpPr>
        <p:spPr>
          <a:xfrm>
            <a:off x="4495800" y="47688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Run a two-thousand-customer test of the adaptive programme across three regions.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5000" y="51435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w 5 Counter"/>
          <p:cNvSpPr>
            <a:spLocks noGrp="1"/>
          </p:cNvSpPr>
          <p:nvPr>
            <p:ph type="body" idx="32"/>
          </p:nvPr>
        </p:nvSpPr>
        <p:spPr>
          <a:xfrm>
            <a:off x="635000" y="5321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05 / 06</a:t>
            </a:r>
          </a:p>
        </p:txBody>
      </p:sp>
      <p:sp>
        <p:nvSpPr>
          <p:cNvPr id="31" name="Row 5 Heading"/>
          <p:cNvSpPr>
            <a:spLocks noGrp="1"/>
          </p:cNvSpPr>
          <p:nvPr>
            <p:ph type="body" idx="33"/>
          </p:nvPr>
        </p:nvSpPr>
        <p:spPr>
          <a:xfrm>
            <a:off x="1676400" y="5283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Publish the API.</a:t>
            </a:r>
          </a:p>
        </p:txBody>
      </p:sp>
      <p:sp>
        <p:nvSpPr>
          <p:cNvPr id="32" name="Row 5 Body"/>
          <p:cNvSpPr>
            <a:spLocks noGrp="1"/>
          </p:cNvSpPr>
          <p:nvPr>
            <p:ph type="body" idx="34"/>
          </p:nvPr>
        </p:nvSpPr>
        <p:spPr>
          <a:xfrm>
            <a:off x="4495800" y="5308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Open the developer preview to partners at the end of H1.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5000" y="568325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w 6 Counter"/>
          <p:cNvSpPr>
            <a:spLocks noGrp="1"/>
          </p:cNvSpPr>
          <p:nvPr>
            <p:ph type="body" idx="35"/>
          </p:nvPr>
        </p:nvSpPr>
        <p:spPr>
          <a:xfrm>
            <a:off x="635000" y="5861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06 / 06</a:t>
            </a:r>
          </a:p>
        </p:txBody>
      </p:sp>
      <p:sp>
        <p:nvSpPr>
          <p:cNvPr id="35" name="Row 6 Heading"/>
          <p:cNvSpPr>
            <a:spLocks noGrp="1"/>
          </p:cNvSpPr>
          <p:nvPr>
            <p:ph type="body" idx="36"/>
          </p:nvPr>
        </p:nvSpPr>
        <p:spPr>
          <a:xfrm>
            <a:off x="1676400" y="5822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Review monthly.</a:t>
            </a:r>
          </a:p>
        </p:txBody>
      </p:sp>
      <p:sp>
        <p:nvSpPr>
          <p:cNvPr id="36" name="Row 6 Body"/>
          <p:cNvSpPr>
            <a:spLocks noGrp="1"/>
          </p:cNvSpPr>
          <p:nvPr>
            <p:ph type="body" idx="37"/>
          </p:nvPr>
        </p:nvSpPr>
        <p:spPr>
          <a:xfrm>
            <a:off x="4495800" y="5848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Each move is owned by one VP and reviewed at the monthly operating meeting.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5000" y="62230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Supporting Note"/>
          <p:cNvSpPr>
            <a:spLocks noGrp="1"/>
          </p:cNvSpPr>
          <p:nvPr>
            <p:ph type="body" idx="12"/>
          </p:nvPr>
        </p:nvSpPr>
        <p:spPr>
          <a:xfrm>
            <a:off x="635000" y="64135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WORK THAT DOES NOT SUPPORT ONE OF THESE MOVES IS EXPLICITLY DESCOPED, NOT PAUSED.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2×2 Matrix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2×2 MATRIX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PRIORITISATION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Invest in the top-right quadrant first: high impact, low lift.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778000" y="2984500"/>
            <a:ext cx="4318000" cy="17145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86475" y="2984500"/>
            <a:ext cx="19050" cy="34290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778000" y="4689475"/>
            <a:ext cx="8636000" cy="190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765300" y="2984500"/>
            <a:ext cx="12700" cy="34417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765300" y="6413500"/>
            <a:ext cx="8648700" cy="127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Isosceles Triangle 16"/>
          <p:cNvSpPr/>
          <p:nvPr/>
        </p:nvSpPr>
        <p:spPr>
          <a:xfrm>
            <a:off x="1701800" y="2857500"/>
            <a:ext cx="127000" cy="127000"/>
          </a:xfrm>
          <a:prstGeom prst="triangle">
            <a:avLst/>
          </a:prstGeom>
          <a:solidFill>
            <a:srgbClr val="FDFD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ight Triangle 17"/>
          <p:cNvSpPr/>
          <p:nvPr/>
        </p:nvSpPr>
        <p:spPr>
          <a:xfrm rot="16200000">
            <a:off x="10414000" y="6356350"/>
            <a:ext cx="127000" cy="127000"/>
          </a:xfrm>
          <a:prstGeom prst="rtTriangle">
            <a:avLst/>
          </a:prstGeom>
          <a:solidFill>
            <a:srgbClr val="FDFD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778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98">
                <a:solidFill>
                  <a:srgbClr val="FDFDFD"/>
                </a:solidFill>
                <a:latin typeface="JetBrains Mono"/>
              </a:rPr>
              <a:t>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06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FDFDFD"/>
                </a:solidFill>
                <a:latin typeface="JetBrains Mono"/>
              </a:rPr>
              <a:t>HIGH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55700" y="6273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FDFDFD"/>
                </a:solidFill>
                <a:latin typeface="JetBrains Mono"/>
              </a:rPr>
              <a:t>LOW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55700" y="29845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FDFDFD"/>
                </a:solidFill>
                <a:latin typeface="JetBrains Mono"/>
              </a:rPr>
              <a:t>HIGH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55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FFFFF"/>
                </a:solidFill>
                <a:latin typeface="JetBrains Mono"/>
              </a:rPr>
              <a:t>Q1 · HIGH IMPACT · LOW LIFT</a:t>
            </a:r>
          </a:p>
        </p:txBody>
      </p:sp>
      <p:sp>
        <p:nvSpPr>
          <p:cNvPr id="24" name="Cell1 Label"/>
          <p:cNvSpPr>
            <a:spLocks noGrp="1"/>
          </p:cNvSpPr>
          <p:nvPr>
            <p:ph type="body" idx="20"/>
          </p:nvPr>
        </p:nvSpPr>
        <p:spPr>
          <a:xfrm>
            <a:off x="1955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SpotifyMixUITitle Medium"/>
              </a:rPr>
              <a:t>Guided sessions on the flagship line.</a:t>
            </a:r>
          </a:p>
        </p:txBody>
      </p:sp>
      <p:sp>
        <p:nvSpPr>
          <p:cNvPr id="25" name="Cell1 Body"/>
          <p:cNvSpPr>
            <a:spLocks noGrp="1"/>
          </p:cNvSpPr>
          <p:nvPr>
            <p:ph type="body" idx="21"/>
          </p:nvPr>
        </p:nvSpPr>
        <p:spPr>
          <a:xfrm>
            <a:off x="1955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000000"/>
                </a:solidFill>
                <a:latin typeface="SpotifyMixUITitle"/>
              </a:rPr>
              <a:t>Ships on existing hardware; telemetry already collected; known user need.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73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DFDFD"/>
                </a:solidFill>
                <a:latin typeface="JetBrains Mono"/>
              </a:rPr>
              <a:t>Q2 · HIGH IMPACT · HIGH LIFT</a:t>
            </a:r>
          </a:p>
        </p:txBody>
      </p:sp>
      <p:sp>
        <p:nvSpPr>
          <p:cNvPr id="27" name="Cell2 Label"/>
          <p:cNvSpPr>
            <a:spLocks noGrp="1"/>
          </p:cNvSpPr>
          <p:nvPr>
            <p:ph type="body" idx="24"/>
          </p:nvPr>
        </p:nvSpPr>
        <p:spPr>
          <a:xfrm>
            <a:off x="6273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SpotifyMixUITitle Medium"/>
              </a:rPr>
              <a:t>Full remote diagnosis across every product line.</a:t>
            </a:r>
          </a:p>
        </p:txBody>
      </p:sp>
      <p:sp>
        <p:nvSpPr>
          <p:cNvPr id="28" name="Cell2 Body"/>
          <p:cNvSpPr>
            <a:spLocks noGrp="1"/>
          </p:cNvSpPr>
          <p:nvPr>
            <p:ph type="body" idx="25"/>
          </p:nvPr>
        </p:nvSpPr>
        <p:spPr>
          <a:xfrm>
            <a:off x="6273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DFDFD"/>
                </a:solidFill>
                <a:latin typeface="SpotifyMixUITitle"/>
              </a:rPr>
              <a:t>Large prize; requires firmware convergence and a new field-service workflow.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55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DFDFD"/>
                </a:solidFill>
                <a:latin typeface="JetBrains Mono"/>
              </a:rPr>
              <a:t>Q3 · LOW IMPACT · LOW LIFT</a:t>
            </a:r>
          </a:p>
        </p:txBody>
      </p:sp>
      <p:sp>
        <p:nvSpPr>
          <p:cNvPr id="30" name="Cell3 Label"/>
          <p:cNvSpPr>
            <a:spLocks noGrp="1"/>
          </p:cNvSpPr>
          <p:nvPr>
            <p:ph type="body" idx="28"/>
          </p:nvPr>
        </p:nvSpPr>
        <p:spPr>
          <a:xfrm>
            <a:off x="1955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SpotifyMixUITitle Medium"/>
              </a:rPr>
              <a:t>Cosmetic refresh of onboarding.</a:t>
            </a:r>
          </a:p>
        </p:txBody>
      </p:sp>
      <p:sp>
        <p:nvSpPr>
          <p:cNvPr id="31" name="Cell3 Body"/>
          <p:cNvSpPr>
            <a:spLocks noGrp="1"/>
          </p:cNvSpPr>
          <p:nvPr>
            <p:ph type="body" idx="29"/>
          </p:nvPr>
        </p:nvSpPr>
        <p:spPr>
          <a:xfrm>
            <a:off x="1955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DFDFD"/>
                </a:solidFill>
                <a:latin typeface="SpotifyMixUITitle"/>
              </a:rPr>
              <a:t>Cheap to do; metrics rarely move meaningfully.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73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DFDFD"/>
                </a:solidFill>
                <a:latin typeface="JetBrains Mono"/>
              </a:rPr>
              <a:t>Q4 · LOW IMPACT · HIGH LIFT</a:t>
            </a:r>
          </a:p>
        </p:txBody>
      </p:sp>
      <p:sp>
        <p:nvSpPr>
          <p:cNvPr id="33" name="Cell4 Label"/>
          <p:cNvSpPr>
            <a:spLocks noGrp="1"/>
          </p:cNvSpPr>
          <p:nvPr>
            <p:ph type="body" idx="32"/>
          </p:nvPr>
        </p:nvSpPr>
        <p:spPr>
          <a:xfrm>
            <a:off x="6273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SpotifyMixUITitle Medium"/>
              </a:rPr>
              <a:t>Voice control expansion.</a:t>
            </a:r>
          </a:p>
        </p:txBody>
      </p:sp>
      <p:sp>
        <p:nvSpPr>
          <p:cNvPr id="34" name="Cell4 Body"/>
          <p:cNvSpPr>
            <a:spLocks noGrp="1"/>
          </p:cNvSpPr>
          <p:nvPr>
            <p:ph type="body" idx="33"/>
          </p:nvPr>
        </p:nvSpPr>
        <p:spPr>
          <a:xfrm>
            <a:off x="6273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DFDFD"/>
                </a:solidFill>
                <a:latin typeface="SpotifyMixUITitle"/>
              </a:rPr>
              <a:t>Significant engineering and QA cost; adoption has plateaued.</a:t>
            </a:r>
          </a:p>
        </p:txBody>
      </p:sp>
      <p:sp>
        <p:nvSpPr>
          <p:cNvPr id="35" name="X Axis Title"/>
          <p:cNvSpPr>
            <a:spLocks noGrp="1"/>
          </p:cNvSpPr>
          <p:nvPr>
            <p:ph type="body" idx="41"/>
          </p:nvPr>
        </p:nvSpPr>
        <p:spPr>
          <a:xfrm>
            <a:off x="1778000" y="6769100"/>
            <a:ext cx="8636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112" cap="all">
                <a:solidFill>
                  <a:srgbClr val="FDFDFD"/>
                </a:solidFill>
                <a:latin typeface="JetBrains Mono"/>
              </a:rPr>
              <a:t>EFFORT TO SHIP</a:t>
            </a:r>
          </a:p>
        </p:txBody>
      </p:sp>
      <p:sp>
        <p:nvSpPr>
          <p:cNvPr id="36" name="Y Axis Title"/>
          <p:cNvSpPr>
            <a:spLocks noGrp="1"/>
          </p:cNvSpPr>
          <p:nvPr>
            <p:ph type="body" idx="42"/>
          </p:nvPr>
        </p:nvSpPr>
        <p:spPr>
          <a:xfrm>
            <a:off x="762000" y="2984500"/>
            <a:ext cx="508000" cy="3429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DFDFD"/>
                </a:solidFill>
                <a:latin typeface="JetBrains Mono"/>
              </a:rPr>
              <a:t>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DFDFD"/>
                </a:solidFill>
                <a:latin typeface="JetBrains Mono"/>
              </a:rPr>
              <a:t>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DFDFD"/>
                </a:solidFill>
                <a:latin typeface="JetBrains Mono"/>
              </a:rPr>
              <a:t>P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DFDFD"/>
                </a:solidFill>
                <a:latin typeface="JetBrains Mono"/>
              </a:rPr>
              <a:t>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DFDFD"/>
                </a:solidFill>
                <a:latin typeface="JetBrains Mono"/>
              </a:rPr>
              <a:t>C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DFDFD"/>
                </a:solidFill>
                <a:latin typeface="JetBrains Mono"/>
              </a:rPr>
              <a:t>T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Waterfall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WATERFALL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REVENUE BRIDGE · EUR BN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Revenue grows 5.1% YoY; platform and services offset a mild decline in legacy lines.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526626"/>
            <a:ext cx="1429657" cy="2315374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051957" y="3526626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115457" y="3526626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178957" y="3526626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217057" y="3422952"/>
            <a:ext cx="1429657" cy="103673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34014" y="3422952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97514" y="3422952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761014" y="3422952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799114" y="3353837"/>
            <a:ext cx="1429657" cy="69116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216071" y="3353837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279571" y="3353837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343071" y="3353837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381171" y="3302000"/>
            <a:ext cx="1429657" cy="51837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798129" y="3302000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861629" y="3302000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925129" y="3302000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963229" y="3302000"/>
            <a:ext cx="1429657" cy="51837"/>
          </a:xfrm>
          <a:prstGeom prst="rect">
            <a:avLst/>
          </a:prstGeom>
          <a:solidFill>
            <a:srgbClr val="B3B3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380186" y="3353837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443686" y="3353837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507186" y="3353837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545286" y="3353837"/>
            <a:ext cx="1429657" cy="34558"/>
          </a:xfrm>
          <a:prstGeom prst="rect">
            <a:avLst/>
          </a:prstGeom>
          <a:solidFill>
            <a:srgbClr val="B3B3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962243" y="3388395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025743" y="3388395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089243" y="3388395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0127343" y="3405673"/>
            <a:ext cx="1429657" cy="2436327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35000" y="5842000"/>
            <a:ext cx="10922000" cy="63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Bar 1 Value"/>
          <p:cNvSpPr>
            <a:spLocks noGrp="1"/>
          </p:cNvSpPr>
          <p:nvPr>
            <p:ph type="body" idx="20"/>
          </p:nvPr>
        </p:nvSpPr>
        <p:spPr>
          <a:xfrm>
            <a:off x="584200" y="32702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FFFFFF"/>
                </a:solidFill>
                <a:latin typeface="JetBrains Mono"/>
              </a:rPr>
              <a:t>13.4</a:t>
            </a:r>
          </a:p>
        </p:txBody>
      </p:sp>
      <p:sp>
        <p:nvSpPr>
          <p:cNvPr id="39" name="Bar 1 Label"/>
          <p:cNvSpPr>
            <a:spLocks noGrp="1"/>
          </p:cNvSpPr>
          <p:nvPr>
            <p:ph type="body" idx="21"/>
          </p:nvPr>
        </p:nvSpPr>
        <p:spPr>
          <a:xfrm>
            <a:off x="5588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DFDFD"/>
                </a:solidFill>
                <a:latin typeface="JetBrains Mono"/>
              </a:rPr>
              <a:t>FY24 BASE</a:t>
            </a:r>
          </a:p>
        </p:txBody>
      </p:sp>
      <p:sp>
        <p:nvSpPr>
          <p:cNvPr id="40" name="Bar 2 Value"/>
          <p:cNvSpPr>
            <a:spLocks noGrp="1"/>
          </p:cNvSpPr>
          <p:nvPr>
            <p:ph type="body" idx="24"/>
          </p:nvPr>
        </p:nvSpPr>
        <p:spPr>
          <a:xfrm>
            <a:off x="2165350" y="31686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+0.6</a:t>
            </a:r>
          </a:p>
        </p:txBody>
      </p:sp>
      <p:sp>
        <p:nvSpPr>
          <p:cNvPr id="41" name="Bar 2 Label"/>
          <p:cNvSpPr>
            <a:spLocks noGrp="1"/>
          </p:cNvSpPr>
          <p:nvPr>
            <p:ph type="body" idx="25"/>
          </p:nvPr>
        </p:nvSpPr>
        <p:spPr>
          <a:xfrm>
            <a:off x="21399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DFDFD"/>
                </a:solidFill>
                <a:latin typeface="JetBrains Mono"/>
              </a:rPr>
              <a:t>CONSUMER</a:t>
            </a:r>
          </a:p>
        </p:txBody>
      </p:sp>
      <p:sp>
        <p:nvSpPr>
          <p:cNvPr id="42" name="Bar 3 Value"/>
          <p:cNvSpPr>
            <a:spLocks noGrp="1"/>
          </p:cNvSpPr>
          <p:nvPr>
            <p:ph type="body" idx="28"/>
          </p:nvPr>
        </p:nvSpPr>
        <p:spPr>
          <a:xfrm>
            <a:off x="374650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+0.4</a:t>
            </a:r>
          </a:p>
        </p:txBody>
      </p:sp>
      <p:sp>
        <p:nvSpPr>
          <p:cNvPr id="43" name="Bar 3 Label"/>
          <p:cNvSpPr>
            <a:spLocks noGrp="1"/>
          </p:cNvSpPr>
          <p:nvPr>
            <p:ph type="body" idx="29"/>
          </p:nvPr>
        </p:nvSpPr>
        <p:spPr>
          <a:xfrm>
            <a:off x="37211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DFDFD"/>
                </a:solidFill>
                <a:latin typeface="JetBrains Mono"/>
              </a:rPr>
              <a:t>PLATFORM</a:t>
            </a:r>
          </a:p>
        </p:txBody>
      </p:sp>
      <p:sp>
        <p:nvSpPr>
          <p:cNvPr id="44" name="Bar 4 Value"/>
          <p:cNvSpPr>
            <a:spLocks noGrp="1"/>
          </p:cNvSpPr>
          <p:nvPr>
            <p:ph type="body" idx="32"/>
          </p:nvPr>
        </p:nvSpPr>
        <p:spPr>
          <a:xfrm>
            <a:off x="532765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+0.3</a:t>
            </a:r>
          </a:p>
        </p:txBody>
      </p:sp>
      <p:sp>
        <p:nvSpPr>
          <p:cNvPr id="45" name="Bar 4 Label"/>
          <p:cNvSpPr>
            <a:spLocks noGrp="1"/>
          </p:cNvSpPr>
          <p:nvPr>
            <p:ph type="body" idx="33"/>
          </p:nvPr>
        </p:nvSpPr>
        <p:spPr>
          <a:xfrm>
            <a:off x="53022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DFDFD"/>
                </a:solidFill>
                <a:latin typeface="JetBrains Mono"/>
              </a:rPr>
              <a:t>SERVICES</a:t>
            </a:r>
          </a:p>
        </p:txBody>
      </p:sp>
      <p:sp>
        <p:nvSpPr>
          <p:cNvPr id="46" name="Bar 5 Value"/>
          <p:cNvSpPr>
            <a:spLocks noGrp="1"/>
          </p:cNvSpPr>
          <p:nvPr>
            <p:ph type="body" idx="36"/>
          </p:nvPr>
        </p:nvSpPr>
        <p:spPr>
          <a:xfrm>
            <a:off x="690880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−0.3</a:t>
            </a:r>
          </a:p>
        </p:txBody>
      </p:sp>
      <p:sp>
        <p:nvSpPr>
          <p:cNvPr id="47" name="Bar 5 Label"/>
          <p:cNvSpPr>
            <a:spLocks noGrp="1"/>
          </p:cNvSpPr>
          <p:nvPr>
            <p:ph type="body" idx="37"/>
          </p:nvPr>
        </p:nvSpPr>
        <p:spPr>
          <a:xfrm>
            <a:off x="68834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DFDFD"/>
                </a:solidFill>
                <a:latin typeface="JetBrains Mono"/>
              </a:rPr>
              <a:t>LEGACY</a:t>
            </a:r>
          </a:p>
        </p:txBody>
      </p:sp>
      <p:sp>
        <p:nvSpPr>
          <p:cNvPr id="48" name="Bar 6 Value"/>
          <p:cNvSpPr>
            <a:spLocks noGrp="1"/>
          </p:cNvSpPr>
          <p:nvPr>
            <p:ph type="body" idx="40"/>
          </p:nvPr>
        </p:nvSpPr>
        <p:spPr>
          <a:xfrm>
            <a:off x="848995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−0.2</a:t>
            </a:r>
          </a:p>
        </p:txBody>
      </p:sp>
      <p:sp>
        <p:nvSpPr>
          <p:cNvPr id="49" name="Bar 6 Label"/>
          <p:cNvSpPr>
            <a:spLocks noGrp="1"/>
          </p:cNvSpPr>
          <p:nvPr>
            <p:ph type="body" idx="41"/>
          </p:nvPr>
        </p:nvSpPr>
        <p:spPr>
          <a:xfrm>
            <a:off x="84645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DFDFD"/>
                </a:solidFill>
                <a:latin typeface="JetBrains Mono"/>
              </a:rPr>
              <a:t>FX</a:t>
            </a:r>
          </a:p>
        </p:txBody>
      </p:sp>
      <p:sp>
        <p:nvSpPr>
          <p:cNvPr id="50" name="Bar 7 Value"/>
          <p:cNvSpPr>
            <a:spLocks noGrp="1"/>
          </p:cNvSpPr>
          <p:nvPr>
            <p:ph type="body" idx="44"/>
          </p:nvPr>
        </p:nvSpPr>
        <p:spPr>
          <a:xfrm>
            <a:off x="10071100" y="31496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FFFFFF"/>
                </a:solidFill>
                <a:latin typeface="JetBrains Mono"/>
              </a:rPr>
              <a:t>14.1</a:t>
            </a:r>
          </a:p>
        </p:txBody>
      </p:sp>
      <p:sp>
        <p:nvSpPr>
          <p:cNvPr id="51" name="Bar 7 Label"/>
          <p:cNvSpPr>
            <a:spLocks noGrp="1"/>
          </p:cNvSpPr>
          <p:nvPr>
            <p:ph type="body" idx="45"/>
          </p:nvPr>
        </p:nvSpPr>
        <p:spPr>
          <a:xfrm>
            <a:off x="100457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DFDFD"/>
                </a:solidFill>
                <a:latin typeface="JetBrains Mono"/>
              </a:rPr>
              <a:t>FY25 TOTAL</a:t>
            </a:r>
          </a:p>
        </p:txBody>
      </p:sp>
      <p:sp>
        <p:nvSpPr>
          <p:cNvPr id="52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DFDFD"/>
                </a:solidFill>
                <a:latin typeface="JetBrains Mono"/>
              </a:rPr>
              <a:t>SOURCE · SAMPLE DATA, FY25 PRELIMINARY · EUR BN · VARIANCES ROUNDED TO 0.1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rocess Flow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PROCESS 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DELIVERY SEQUENCE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Five stages · pilot highlights the current phase.</a:t>
            </a:r>
          </a:p>
        </p:txBody>
      </p:sp>
      <p:sp>
        <p:nvSpPr>
          <p:cNvPr id="12" name="Pentagon 11"/>
          <p:cNvSpPr/>
          <p:nvPr/>
        </p:nvSpPr>
        <p:spPr>
          <a:xfrm>
            <a:off x="635000" y="3429000"/>
            <a:ext cx="2326640" cy="2413000"/>
          </a:xfrm>
          <a:prstGeom prst="homePlate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hevron 12"/>
          <p:cNvSpPr/>
          <p:nvPr/>
        </p:nvSpPr>
        <p:spPr>
          <a:xfrm>
            <a:off x="2783840" y="3429000"/>
            <a:ext cx="2326640" cy="2413000"/>
          </a:xfrm>
          <a:prstGeom prst="chevron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hevron 13"/>
          <p:cNvSpPr/>
          <p:nvPr/>
        </p:nvSpPr>
        <p:spPr>
          <a:xfrm>
            <a:off x="4932680" y="3429000"/>
            <a:ext cx="2326640" cy="2413000"/>
          </a:xfrm>
          <a:prstGeom prst="chevron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hevron 14"/>
          <p:cNvSpPr/>
          <p:nvPr/>
        </p:nvSpPr>
        <p:spPr>
          <a:xfrm>
            <a:off x="7081520" y="3429000"/>
            <a:ext cx="2326640" cy="2413000"/>
          </a:xfrm>
          <a:prstGeom prst="chevron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hevron 15"/>
          <p:cNvSpPr/>
          <p:nvPr/>
        </p:nvSpPr>
        <p:spPr>
          <a:xfrm>
            <a:off x="9230360" y="3429000"/>
            <a:ext cx="2326640" cy="2413000"/>
          </a:xfrm>
          <a:prstGeom prst="chevron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tage 1 Counter"/>
          <p:cNvSpPr>
            <a:spLocks noGrp="1"/>
          </p:cNvSpPr>
          <p:nvPr>
            <p:ph type="body" idx="20"/>
          </p:nvPr>
        </p:nvSpPr>
        <p:spPr>
          <a:xfrm>
            <a:off x="838200" y="3683000"/>
            <a:ext cx="1841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DB954"/>
                </a:solidFill>
                <a:latin typeface="JetBrains Mono"/>
              </a:rPr>
              <a:t>01</a:t>
            </a:r>
          </a:p>
        </p:txBody>
      </p:sp>
      <p:sp>
        <p:nvSpPr>
          <p:cNvPr id="18" name="Stage 1 Heading"/>
          <p:cNvSpPr>
            <a:spLocks noGrp="1"/>
          </p:cNvSpPr>
          <p:nvPr>
            <p:ph type="body" idx="21"/>
          </p:nvPr>
        </p:nvSpPr>
        <p:spPr>
          <a:xfrm>
            <a:off x="838200" y="4013200"/>
            <a:ext cx="18415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00000"/>
                </a:solidFill>
                <a:latin typeface="SpotifyMixUITitle Medium"/>
              </a:rPr>
              <a:t>Frame</a:t>
            </a:r>
          </a:p>
        </p:txBody>
      </p:sp>
      <p:sp>
        <p:nvSpPr>
          <p:cNvPr id="19" name="Stage 1 Body"/>
          <p:cNvSpPr>
            <a:spLocks noGrp="1"/>
          </p:cNvSpPr>
          <p:nvPr>
            <p:ph type="body" idx="22"/>
          </p:nvPr>
        </p:nvSpPr>
        <p:spPr>
          <a:xfrm>
            <a:off x="838200" y="4508500"/>
            <a:ext cx="18415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Clarify the problem and the one outcome that matters.</a:t>
            </a:r>
          </a:p>
        </p:txBody>
      </p:sp>
      <p:sp>
        <p:nvSpPr>
          <p:cNvPr id="20" name="Stage 2 Counter"/>
          <p:cNvSpPr>
            <a:spLocks noGrp="1"/>
          </p:cNvSpPr>
          <p:nvPr>
            <p:ph type="body" idx="24"/>
          </p:nvPr>
        </p:nvSpPr>
        <p:spPr>
          <a:xfrm>
            <a:off x="316230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DB954"/>
                </a:solidFill>
                <a:latin typeface="JetBrains Mono"/>
              </a:rPr>
              <a:t>02</a:t>
            </a:r>
          </a:p>
        </p:txBody>
      </p:sp>
      <p:sp>
        <p:nvSpPr>
          <p:cNvPr id="21" name="Stage 2 Heading"/>
          <p:cNvSpPr>
            <a:spLocks noGrp="1"/>
          </p:cNvSpPr>
          <p:nvPr>
            <p:ph type="body" idx="25"/>
          </p:nvPr>
        </p:nvSpPr>
        <p:spPr>
          <a:xfrm>
            <a:off x="316230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00000"/>
                </a:solidFill>
                <a:latin typeface="SpotifyMixUITitle Medium"/>
              </a:rPr>
              <a:t>Prototype</a:t>
            </a:r>
          </a:p>
        </p:txBody>
      </p:sp>
      <p:sp>
        <p:nvSpPr>
          <p:cNvPr id="22" name="Stage 2 Body"/>
          <p:cNvSpPr>
            <a:spLocks noGrp="1"/>
          </p:cNvSpPr>
          <p:nvPr>
            <p:ph type="body" idx="26"/>
          </p:nvPr>
        </p:nvSpPr>
        <p:spPr>
          <a:xfrm>
            <a:off x="316230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Build the thin vertical slice end-to-end.</a:t>
            </a:r>
          </a:p>
        </p:txBody>
      </p:sp>
      <p:sp>
        <p:nvSpPr>
          <p:cNvPr id="23" name="Stage 3 Counter"/>
          <p:cNvSpPr>
            <a:spLocks noGrp="1"/>
          </p:cNvSpPr>
          <p:nvPr>
            <p:ph type="body" idx="28"/>
          </p:nvPr>
        </p:nvSpPr>
        <p:spPr>
          <a:xfrm>
            <a:off x="5499100" y="3683000"/>
            <a:ext cx="1473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03</a:t>
            </a:r>
          </a:p>
        </p:txBody>
      </p:sp>
      <p:sp>
        <p:nvSpPr>
          <p:cNvPr id="24" name="Stage 3 Heading"/>
          <p:cNvSpPr>
            <a:spLocks noGrp="1"/>
          </p:cNvSpPr>
          <p:nvPr>
            <p:ph type="body" idx="29"/>
          </p:nvPr>
        </p:nvSpPr>
        <p:spPr>
          <a:xfrm>
            <a:off x="5499100" y="4013200"/>
            <a:ext cx="14732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Pilot</a:t>
            </a:r>
          </a:p>
        </p:txBody>
      </p:sp>
      <p:sp>
        <p:nvSpPr>
          <p:cNvPr id="25" name="Stage 3 Body"/>
          <p:cNvSpPr>
            <a:spLocks noGrp="1"/>
          </p:cNvSpPr>
          <p:nvPr>
            <p:ph type="body" idx="30"/>
          </p:nvPr>
        </p:nvSpPr>
        <p:spPr>
          <a:xfrm>
            <a:off x="5499100" y="4508500"/>
            <a:ext cx="14732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000000"/>
                </a:solidFill>
                <a:latin typeface="SpotifyMixUITitle"/>
              </a:rPr>
              <a:t>Run it with real users on real data.</a:t>
            </a:r>
          </a:p>
        </p:txBody>
      </p:sp>
      <p:sp>
        <p:nvSpPr>
          <p:cNvPr id="26" name="Stage 4 Counter"/>
          <p:cNvSpPr>
            <a:spLocks noGrp="1"/>
          </p:cNvSpPr>
          <p:nvPr>
            <p:ph type="body" idx="32"/>
          </p:nvPr>
        </p:nvSpPr>
        <p:spPr>
          <a:xfrm>
            <a:off x="74612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DB954"/>
                </a:solidFill>
                <a:latin typeface="JetBrains Mono"/>
              </a:rPr>
              <a:t>04</a:t>
            </a:r>
          </a:p>
        </p:txBody>
      </p:sp>
      <p:sp>
        <p:nvSpPr>
          <p:cNvPr id="27" name="Stage 4 Heading"/>
          <p:cNvSpPr>
            <a:spLocks noGrp="1"/>
          </p:cNvSpPr>
          <p:nvPr>
            <p:ph type="body" idx="33"/>
          </p:nvPr>
        </p:nvSpPr>
        <p:spPr>
          <a:xfrm>
            <a:off x="74612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00000"/>
                </a:solidFill>
                <a:latin typeface="SpotifyMixUITitle Medium"/>
              </a:rPr>
              <a:t>Harden</a:t>
            </a:r>
          </a:p>
        </p:txBody>
      </p:sp>
      <p:sp>
        <p:nvSpPr>
          <p:cNvPr id="28" name="Stage 4 Body"/>
          <p:cNvSpPr>
            <a:spLocks noGrp="1"/>
          </p:cNvSpPr>
          <p:nvPr>
            <p:ph type="body" idx="34"/>
          </p:nvPr>
        </p:nvSpPr>
        <p:spPr>
          <a:xfrm>
            <a:off x="74612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Fix what the pilot surfaces; add observability.</a:t>
            </a:r>
          </a:p>
        </p:txBody>
      </p:sp>
      <p:sp>
        <p:nvSpPr>
          <p:cNvPr id="29" name="Stage 5 Counter"/>
          <p:cNvSpPr>
            <a:spLocks noGrp="1"/>
          </p:cNvSpPr>
          <p:nvPr>
            <p:ph type="body" idx="36"/>
          </p:nvPr>
        </p:nvSpPr>
        <p:spPr>
          <a:xfrm>
            <a:off x="96075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DB954"/>
                </a:solidFill>
                <a:latin typeface="JetBrains Mono"/>
              </a:rPr>
              <a:t>05</a:t>
            </a:r>
          </a:p>
        </p:txBody>
      </p:sp>
      <p:sp>
        <p:nvSpPr>
          <p:cNvPr id="30" name="Stage 5 Heading"/>
          <p:cNvSpPr>
            <a:spLocks noGrp="1"/>
          </p:cNvSpPr>
          <p:nvPr>
            <p:ph type="body" idx="37"/>
          </p:nvPr>
        </p:nvSpPr>
        <p:spPr>
          <a:xfrm>
            <a:off x="96075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00000"/>
                </a:solidFill>
                <a:latin typeface="SpotifyMixUITitle Medium"/>
              </a:rPr>
              <a:t>Scale</a:t>
            </a:r>
          </a:p>
        </p:txBody>
      </p:sp>
      <p:sp>
        <p:nvSpPr>
          <p:cNvPr id="31" name="Stage 5 Body"/>
          <p:cNvSpPr>
            <a:spLocks noGrp="1"/>
          </p:cNvSpPr>
          <p:nvPr>
            <p:ph type="body" idx="38"/>
          </p:nvPr>
        </p:nvSpPr>
        <p:spPr>
          <a:xfrm>
            <a:off x="96075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Roll out to remaining regions and SKUs.</a:t>
            </a:r>
          </a:p>
        </p:txBody>
      </p:sp>
      <p:sp>
        <p:nvSpPr>
          <p:cNvPr id="32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SOURCE · DELIVERY PLAN · WK 1–18 · PILOT CURRENTLY IN FLIGHT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tacked Bar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DATA · REVENUE MIX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MIX · FY21–FY25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Platform revenue is the fastest-growing share; legacy hardware is flat in absolute terms.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5715000"/>
            <a:ext cx="83820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4699000"/>
            <a:ext cx="952500" cy="101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0400" y="513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6.8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4191000"/>
            <a:ext cx="952500" cy="50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400" y="4375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3.2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" y="3937000"/>
            <a:ext cx="952500" cy="2540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0400" y="3994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1.6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" y="3873500"/>
            <a:ext cx="952500" cy="635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489200" y="4711700"/>
            <a:ext cx="952500" cy="1003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14600" y="5143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6.7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489200" y="4152900"/>
            <a:ext cx="952500" cy="5588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5146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3.5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489200" y="3886200"/>
            <a:ext cx="952500" cy="2667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514600" y="39497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1.7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489200" y="3784600"/>
            <a:ext cx="952500" cy="1016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43400" y="4724400"/>
            <a:ext cx="952500" cy="990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68800" y="51498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6.6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43400" y="4140200"/>
            <a:ext cx="952500" cy="5842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688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3.7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43400" y="3848100"/>
            <a:ext cx="952500" cy="2921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68800" y="39243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1.8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343400" y="3695700"/>
            <a:ext cx="952500" cy="152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197600" y="4737100"/>
            <a:ext cx="952500" cy="977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23000" y="51562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6.5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97600" y="4114800"/>
            <a:ext cx="952500" cy="6223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23000" y="43561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3.9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97600" y="3810000"/>
            <a:ext cx="952500" cy="3048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23000" y="38925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1.9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97600" y="3568700"/>
            <a:ext cx="952500" cy="2413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23000" y="3619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1.1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051800" y="4762500"/>
            <a:ext cx="952500" cy="952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077200" y="51689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6.4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051800" y="4102100"/>
            <a:ext cx="952500" cy="660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772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4.2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051800" y="3771900"/>
            <a:ext cx="952500" cy="3302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077200" y="386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2.1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051800" y="3441700"/>
            <a:ext cx="952500" cy="3302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077200" y="35369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1.4</a:t>
            </a:r>
          </a:p>
        </p:txBody>
      </p:sp>
      <p:sp>
        <p:nvSpPr>
          <p:cNvPr id="50" name="Bar 1 Total"/>
          <p:cNvSpPr>
            <a:spLocks noGrp="1"/>
          </p:cNvSpPr>
          <p:nvPr>
            <p:ph type="body" idx="30"/>
          </p:nvPr>
        </p:nvSpPr>
        <p:spPr>
          <a:xfrm>
            <a:off x="6350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11.9</a:t>
            </a:r>
          </a:p>
        </p:txBody>
      </p:sp>
      <p:sp>
        <p:nvSpPr>
          <p:cNvPr id="51" name="Bar 1 Label"/>
          <p:cNvSpPr>
            <a:spLocks noGrp="1"/>
          </p:cNvSpPr>
          <p:nvPr>
            <p:ph type="body" idx="20"/>
          </p:nvPr>
        </p:nvSpPr>
        <p:spPr>
          <a:xfrm>
            <a:off x="6350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DFDFD"/>
                </a:solidFill>
                <a:latin typeface="JetBrains Mono"/>
              </a:rPr>
              <a:t>FY21</a:t>
            </a:r>
          </a:p>
        </p:txBody>
      </p:sp>
      <p:sp>
        <p:nvSpPr>
          <p:cNvPr id="52" name="Bar 2 Total"/>
          <p:cNvSpPr>
            <a:spLocks noGrp="1"/>
          </p:cNvSpPr>
          <p:nvPr>
            <p:ph type="body" idx="31"/>
          </p:nvPr>
        </p:nvSpPr>
        <p:spPr>
          <a:xfrm>
            <a:off x="24892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12.4</a:t>
            </a:r>
          </a:p>
        </p:txBody>
      </p:sp>
      <p:sp>
        <p:nvSpPr>
          <p:cNvPr id="53" name="Bar 2 Label"/>
          <p:cNvSpPr>
            <a:spLocks noGrp="1"/>
          </p:cNvSpPr>
          <p:nvPr>
            <p:ph type="body" idx="21"/>
          </p:nvPr>
        </p:nvSpPr>
        <p:spPr>
          <a:xfrm>
            <a:off x="24892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DFDFD"/>
                </a:solidFill>
                <a:latin typeface="JetBrains Mono"/>
              </a:rPr>
              <a:t>FY22</a:t>
            </a:r>
          </a:p>
        </p:txBody>
      </p:sp>
      <p:sp>
        <p:nvSpPr>
          <p:cNvPr id="54" name="Bar 3 Total"/>
          <p:cNvSpPr>
            <a:spLocks noGrp="1"/>
          </p:cNvSpPr>
          <p:nvPr>
            <p:ph type="body" idx="32"/>
          </p:nvPr>
        </p:nvSpPr>
        <p:spPr>
          <a:xfrm>
            <a:off x="43434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12.9</a:t>
            </a:r>
          </a:p>
        </p:txBody>
      </p:sp>
      <p:sp>
        <p:nvSpPr>
          <p:cNvPr id="55" name="Bar 3 Label"/>
          <p:cNvSpPr>
            <a:spLocks noGrp="1"/>
          </p:cNvSpPr>
          <p:nvPr>
            <p:ph type="body" idx="22"/>
          </p:nvPr>
        </p:nvSpPr>
        <p:spPr>
          <a:xfrm>
            <a:off x="43434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DFDFD"/>
                </a:solidFill>
                <a:latin typeface="JetBrains Mono"/>
              </a:rPr>
              <a:t>FY23</a:t>
            </a:r>
          </a:p>
        </p:txBody>
      </p:sp>
      <p:sp>
        <p:nvSpPr>
          <p:cNvPr id="56" name="Bar 4 Total"/>
          <p:cNvSpPr>
            <a:spLocks noGrp="1"/>
          </p:cNvSpPr>
          <p:nvPr>
            <p:ph type="body" idx="33"/>
          </p:nvPr>
        </p:nvSpPr>
        <p:spPr>
          <a:xfrm>
            <a:off x="61976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13.4</a:t>
            </a:r>
          </a:p>
        </p:txBody>
      </p:sp>
      <p:sp>
        <p:nvSpPr>
          <p:cNvPr id="57" name="Bar 4 Label"/>
          <p:cNvSpPr>
            <a:spLocks noGrp="1"/>
          </p:cNvSpPr>
          <p:nvPr>
            <p:ph type="body" idx="23"/>
          </p:nvPr>
        </p:nvSpPr>
        <p:spPr>
          <a:xfrm>
            <a:off x="61976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DFDFD"/>
                </a:solidFill>
                <a:latin typeface="JetBrains Mono"/>
              </a:rPr>
              <a:t>FY24</a:t>
            </a:r>
          </a:p>
        </p:txBody>
      </p:sp>
      <p:sp>
        <p:nvSpPr>
          <p:cNvPr id="58" name="Bar 5 Total"/>
          <p:cNvSpPr>
            <a:spLocks noGrp="1"/>
          </p:cNvSpPr>
          <p:nvPr>
            <p:ph type="body" idx="34"/>
          </p:nvPr>
        </p:nvSpPr>
        <p:spPr>
          <a:xfrm>
            <a:off x="80518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14.1</a:t>
            </a:r>
          </a:p>
        </p:txBody>
      </p:sp>
      <p:sp>
        <p:nvSpPr>
          <p:cNvPr id="59" name="Bar 5 Label"/>
          <p:cNvSpPr>
            <a:spLocks noGrp="1"/>
          </p:cNvSpPr>
          <p:nvPr>
            <p:ph type="body" idx="24"/>
          </p:nvPr>
        </p:nvSpPr>
        <p:spPr>
          <a:xfrm>
            <a:off x="80518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DFDFD"/>
                </a:solidFill>
                <a:latin typeface="JetBrains Mono"/>
              </a:rPr>
              <a:t>FY25</a:t>
            </a:r>
          </a:p>
        </p:txBody>
      </p:sp>
      <p:sp>
        <p:nvSpPr>
          <p:cNvPr id="60" name="Legend Title"/>
          <p:cNvSpPr>
            <a:spLocks noGrp="1"/>
          </p:cNvSpPr>
          <p:nvPr>
            <p:ph type="body" idx="39"/>
          </p:nvPr>
        </p:nvSpPr>
        <p:spPr>
          <a:xfrm>
            <a:off x="9525000" y="3238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98" cap="all">
                <a:solidFill>
                  <a:srgbClr val="FFFFFF"/>
                </a:solidFill>
                <a:latin typeface="JetBrains Mono"/>
              </a:rPr>
              <a:t>SEGMENT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525000" y="34798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Legend 1 Name"/>
          <p:cNvSpPr>
            <a:spLocks noGrp="1"/>
          </p:cNvSpPr>
          <p:nvPr>
            <p:ph type="body" idx="40"/>
          </p:nvPr>
        </p:nvSpPr>
        <p:spPr>
          <a:xfrm>
            <a:off x="9728200" y="34544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Legacy hardware</a:t>
            </a:r>
          </a:p>
        </p:txBody>
      </p:sp>
      <p:sp>
        <p:nvSpPr>
          <p:cNvPr id="63" name="Legend 1 Change"/>
          <p:cNvSpPr>
            <a:spLocks noGrp="1"/>
          </p:cNvSpPr>
          <p:nvPr>
            <p:ph type="body" idx="41"/>
          </p:nvPr>
        </p:nvSpPr>
        <p:spPr>
          <a:xfrm>
            <a:off x="9728200" y="36068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FDFDFD"/>
                </a:solidFill>
                <a:latin typeface="JetBrains Mono"/>
              </a:rPr>
              <a:t>−6% · 5y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525000" y="3835400"/>
            <a:ext cx="114300" cy="1143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Legend 2 Name"/>
          <p:cNvSpPr>
            <a:spLocks noGrp="1"/>
          </p:cNvSpPr>
          <p:nvPr>
            <p:ph type="body" idx="42"/>
          </p:nvPr>
        </p:nvSpPr>
        <p:spPr>
          <a:xfrm>
            <a:off x="9728200" y="38100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Consumer products</a:t>
            </a:r>
          </a:p>
        </p:txBody>
      </p:sp>
      <p:sp>
        <p:nvSpPr>
          <p:cNvPr id="66" name="Legend 2 Change"/>
          <p:cNvSpPr>
            <a:spLocks noGrp="1"/>
          </p:cNvSpPr>
          <p:nvPr>
            <p:ph type="body" idx="43"/>
          </p:nvPr>
        </p:nvSpPr>
        <p:spPr>
          <a:xfrm>
            <a:off x="9728200" y="39624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FDFDFD"/>
                </a:solidFill>
                <a:latin typeface="JetBrains Mono"/>
              </a:rPr>
              <a:t>+31% · 5y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525000" y="4191000"/>
            <a:ext cx="114300" cy="1143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Legend 3 Name"/>
          <p:cNvSpPr>
            <a:spLocks noGrp="1"/>
          </p:cNvSpPr>
          <p:nvPr>
            <p:ph type="body" idx="44"/>
          </p:nvPr>
        </p:nvSpPr>
        <p:spPr>
          <a:xfrm>
            <a:off x="9728200" y="41656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Commercial</a:t>
            </a:r>
          </a:p>
        </p:txBody>
      </p:sp>
      <p:sp>
        <p:nvSpPr>
          <p:cNvPr id="69" name="Legend 3 Change"/>
          <p:cNvSpPr>
            <a:spLocks noGrp="1"/>
          </p:cNvSpPr>
          <p:nvPr>
            <p:ph type="body" idx="45"/>
          </p:nvPr>
        </p:nvSpPr>
        <p:spPr>
          <a:xfrm>
            <a:off x="9728200" y="43180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FDFDFD"/>
                </a:solidFill>
                <a:latin typeface="JetBrains Mono"/>
              </a:rPr>
              <a:t>+31% · 5y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525000" y="4546600"/>
            <a:ext cx="114300" cy="1143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Legend 4 Name"/>
          <p:cNvSpPr>
            <a:spLocks noGrp="1"/>
          </p:cNvSpPr>
          <p:nvPr>
            <p:ph type="body" idx="46"/>
          </p:nvPr>
        </p:nvSpPr>
        <p:spPr>
          <a:xfrm>
            <a:off x="9728200" y="45212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Platform &amp; services</a:t>
            </a:r>
          </a:p>
        </p:txBody>
      </p:sp>
      <p:sp>
        <p:nvSpPr>
          <p:cNvPr id="72" name="Legend 4 Change"/>
          <p:cNvSpPr>
            <a:spLocks noGrp="1"/>
          </p:cNvSpPr>
          <p:nvPr>
            <p:ph type="body" idx="47"/>
          </p:nvPr>
        </p:nvSpPr>
        <p:spPr>
          <a:xfrm>
            <a:off x="9728200" y="46736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FDFDFD"/>
                </a:solidFill>
                <a:latin typeface="JetBrains Mono"/>
              </a:rPr>
              <a:t>+367% · 5y</a:t>
            </a:r>
          </a:p>
        </p:txBody>
      </p:sp>
      <p:sp>
        <p:nvSpPr>
          <p:cNvPr id="73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838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DFDFD"/>
                </a:solidFill>
                <a:latin typeface="JetBrains Mono"/>
              </a:rPr>
              <a:t>SOURCE · SAMPLE DATA · EUR BN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able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FY25 PRELIMINARY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Across five product lines, only the two flagship lines beat both revenue and margin plan.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263900"/>
            <a:ext cx="10922000" cy="12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3811905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4350385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4888865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5427345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5965825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Header 1"/>
          <p:cNvSpPr>
            <a:spLocks noGrp="1"/>
          </p:cNvSpPr>
          <p:nvPr>
            <p:ph type="body" idx="20"/>
          </p:nvPr>
        </p:nvSpPr>
        <p:spPr>
          <a:xfrm>
            <a:off x="787400" y="3035300"/>
            <a:ext cx="1981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PRODUCT LINE</a:t>
            </a:r>
          </a:p>
        </p:txBody>
      </p:sp>
      <p:sp>
        <p:nvSpPr>
          <p:cNvPr id="19" name="Header 2"/>
          <p:cNvSpPr>
            <a:spLocks noGrp="1"/>
          </p:cNvSpPr>
          <p:nvPr>
            <p:ph type="body" idx="21"/>
          </p:nvPr>
        </p:nvSpPr>
        <p:spPr>
          <a:xfrm>
            <a:off x="3073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REVENUE · €M</a:t>
            </a:r>
          </a:p>
        </p:txBody>
      </p:sp>
      <p:sp>
        <p:nvSpPr>
          <p:cNvPr id="20" name="Header 3"/>
          <p:cNvSpPr>
            <a:spLocks noGrp="1"/>
          </p:cNvSpPr>
          <p:nvPr>
            <p:ph type="body" idx="22"/>
          </p:nvPr>
        </p:nvSpPr>
        <p:spPr>
          <a:xfrm>
            <a:off x="5232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VS. PLAN</a:t>
            </a:r>
          </a:p>
        </p:txBody>
      </p:sp>
      <p:sp>
        <p:nvSpPr>
          <p:cNvPr id="21" name="Header 4"/>
          <p:cNvSpPr>
            <a:spLocks noGrp="1"/>
          </p:cNvSpPr>
          <p:nvPr>
            <p:ph type="body" idx="23"/>
          </p:nvPr>
        </p:nvSpPr>
        <p:spPr>
          <a:xfrm>
            <a:off x="7391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MARGIN</a:t>
            </a:r>
          </a:p>
        </p:txBody>
      </p:sp>
      <p:sp>
        <p:nvSpPr>
          <p:cNvPr id="22" name="Header 5"/>
          <p:cNvSpPr>
            <a:spLocks noGrp="1"/>
          </p:cNvSpPr>
          <p:nvPr>
            <p:ph type="body" idx="24"/>
          </p:nvPr>
        </p:nvSpPr>
        <p:spPr>
          <a:xfrm>
            <a:off x="9550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VS. PLAN</a:t>
            </a:r>
          </a:p>
        </p:txBody>
      </p:sp>
      <p:sp>
        <p:nvSpPr>
          <p:cNvPr id="23" name="Row 1 Label"/>
          <p:cNvSpPr>
            <a:spLocks noGrp="1"/>
          </p:cNvSpPr>
          <p:nvPr>
            <p:ph type="body" idx="30"/>
          </p:nvPr>
        </p:nvSpPr>
        <p:spPr>
          <a:xfrm>
            <a:off x="787400" y="339090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000000"/>
                </a:solidFill>
                <a:latin typeface="SpotifyMixUITitle Medium"/>
              </a:rPr>
              <a:t>Flagship A</a:t>
            </a:r>
          </a:p>
        </p:txBody>
      </p:sp>
      <p:sp>
        <p:nvSpPr>
          <p:cNvPr id="24" name="Row 2 Label"/>
          <p:cNvSpPr>
            <a:spLocks noGrp="1"/>
          </p:cNvSpPr>
          <p:nvPr>
            <p:ph type="body" idx="31"/>
          </p:nvPr>
        </p:nvSpPr>
        <p:spPr>
          <a:xfrm>
            <a:off x="787400" y="392938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000000"/>
                </a:solidFill>
                <a:latin typeface="SpotifyMixUITitle Medium"/>
              </a:rPr>
              <a:t>Pro line</a:t>
            </a:r>
          </a:p>
        </p:txBody>
      </p:sp>
      <p:sp>
        <p:nvSpPr>
          <p:cNvPr id="25" name="Row 3 Label"/>
          <p:cNvSpPr>
            <a:spLocks noGrp="1"/>
          </p:cNvSpPr>
          <p:nvPr>
            <p:ph type="body" idx="32"/>
          </p:nvPr>
        </p:nvSpPr>
        <p:spPr>
          <a:xfrm>
            <a:off x="787400" y="446786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000000"/>
                </a:solidFill>
                <a:latin typeface="SpotifyMixUITitle Medium"/>
              </a:rPr>
              <a:t>Standard line</a:t>
            </a:r>
          </a:p>
        </p:txBody>
      </p:sp>
      <p:sp>
        <p:nvSpPr>
          <p:cNvPr id="26" name="Row 4 Label"/>
          <p:cNvSpPr>
            <a:spLocks noGrp="1"/>
          </p:cNvSpPr>
          <p:nvPr>
            <p:ph type="body" idx="33"/>
          </p:nvPr>
        </p:nvSpPr>
        <p:spPr>
          <a:xfrm>
            <a:off x="787400" y="500634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000000"/>
                </a:solidFill>
                <a:latin typeface="SpotifyMixUITitle Medium"/>
              </a:rPr>
              <a:t>Compact line</a:t>
            </a:r>
          </a:p>
        </p:txBody>
      </p:sp>
      <p:sp>
        <p:nvSpPr>
          <p:cNvPr id="27" name="Row 5 Label"/>
          <p:cNvSpPr>
            <a:spLocks noGrp="1"/>
          </p:cNvSpPr>
          <p:nvPr>
            <p:ph type="body" idx="34"/>
          </p:nvPr>
        </p:nvSpPr>
        <p:spPr>
          <a:xfrm>
            <a:off x="787400" y="554482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000000"/>
                </a:solidFill>
                <a:latin typeface="SpotifyMixUITitle Medium"/>
              </a:rPr>
              <a:t>Accessories</a:t>
            </a:r>
          </a:p>
        </p:txBody>
      </p:sp>
      <p:sp>
        <p:nvSpPr>
          <p:cNvPr id="28" name="Cell r1c1"/>
          <p:cNvSpPr>
            <a:spLocks noGrp="1"/>
          </p:cNvSpPr>
          <p:nvPr>
            <p:ph type="body" idx="40"/>
          </p:nvPr>
        </p:nvSpPr>
        <p:spPr>
          <a:xfrm>
            <a:off x="3073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3,240</a:t>
            </a:r>
          </a:p>
        </p:txBody>
      </p:sp>
      <p:sp>
        <p:nvSpPr>
          <p:cNvPr id="29" name="Cell r1c2"/>
          <p:cNvSpPr>
            <a:spLocks noGrp="1"/>
          </p:cNvSpPr>
          <p:nvPr>
            <p:ph type="body" idx="41"/>
          </p:nvPr>
        </p:nvSpPr>
        <p:spPr>
          <a:xfrm>
            <a:off x="5232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+3.8%</a:t>
            </a:r>
          </a:p>
        </p:txBody>
      </p:sp>
      <p:sp>
        <p:nvSpPr>
          <p:cNvPr id="30" name="Cell r1c3"/>
          <p:cNvSpPr>
            <a:spLocks noGrp="1"/>
          </p:cNvSpPr>
          <p:nvPr>
            <p:ph type="body" idx="42"/>
          </p:nvPr>
        </p:nvSpPr>
        <p:spPr>
          <a:xfrm>
            <a:off x="7391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14.2%</a:t>
            </a:r>
          </a:p>
        </p:txBody>
      </p:sp>
      <p:sp>
        <p:nvSpPr>
          <p:cNvPr id="31" name="Cell r1c4"/>
          <p:cNvSpPr>
            <a:spLocks noGrp="1"/>
          </p:cNvSpPr>
          <p:nvPr>
            <p:ph type="body" idx="43"/>
          </p:nvPr>
        </p:nvSpPr>
        <p:spPr>
          <a:xfrm>
            <a:off x="9550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+0.6 pt</a:t>
            </a:r>
          </a:p>
        </p:txBody>
      </p:sp>
      <p:sp>
        <p:nvSpPr>
          <p:cNvPr id="32" name="Cell r2c1"/>
          <p:cNvSpPr>
            <a:spLocks noGrp="1"/>
          </p:cNvSpPr>
          <p:nvPr>
            <p:ph type="body" idx="44"/>
          </p:nvPr>
        </p:nvSpPr>
        <p:spPr>
          <a:xfrm>
            <a:off x="3073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2,910</a:t>
            </a:r>
          </a:p>
        </p:txBody>
      </p:sp>
      <p:sp>
        <p:nvSpPr>
          <p:cNvPr id="33" name="Cell r2c2"/>
          <p:cNvSpPr>
            <a:spLocks noGrp="1"/>
          </p:cNvSpPr>
          <p:nvPr>
            <p:ph type="body" idx="45"/>
          </p:nvPr>
        </p:nvSpPr>
        <p:spPr>
          <a:xfrm>
            <a:off x="5232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+2.2%</a:t>
            </a:r>
          </a:p>
        </p:txBody>
      </p:sp>
      <p:sp>
        <p:nvSpPr>
          <p:cNvPr id="34" name="Cell r2c3"/>
          <p:cNvSpPr>
            <a:spLocks noGrp="1"/>
          </p:cNvSpPr>
          <p:nvPr>
            <p:ph type="body" idx="46"/>
          </p:nvPr>
        </p:nvSpPr>
        <p:spPr>
          <a:xfrm>
            <a:off x="7391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13.5%</a:t>
            </a:r>
          </a:p>
        </p:txBody>
      </p:sp>
      <p:sp>
        <p:nvSpPr>
          <p:cNvPr id="35" name="Cell r2c4"/>
          <p:cNvSpPr>
            <a:spLocks noGrp="1"/>
          </p:cNvSpPr>
          <p:nvPr>
            <p:ph type="body" idx="47"/>
          </p:nvPr>
        </p:nvSpPr>
        <p:spPr>
          <a:xfrm>
            <a:off x="9550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+0.4 pt</a:t>
            </a:r>
          </a:p>
        </p:txBody>
      </p:sp>
      <p:sp>
        <p:nvSpPr>
          <p:cNvPr id="36" name="Cell r3c1"/>
          <p:cNvSpPr>
            <a:spLocks noGrp="1"/>
          </p:cNvSpPr>
          <p:nvPr>
            <p:ph type="body" idx="48"/>
          </p:nvPr>
        </p:nvSpPr>
        <p:spPr>
          <a:xfrm>
            <a:off x="3073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3,480</a:t>
            </a:r>
          </a:p>
        </p:txBody>
      </p:sp>
      <p:sp>
        <p:nvSpPr>
          <p:cNvPr id="37" name="Cell r3c2"/>
          <p:cNvSpPr>
            <a:spLocks noGrp="1"/>
          </p:cNvSpPr>
          <p:nvPr>
            <p:ph type="body" idx="49"/>
          </p:nvPr>
        </p:nvSpPr>
        <p:spPr>
          <a:xfrm>
            <a:off x="5232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+0.3%</a:t>
            </a:r>
          </a:p>
        </p:txBody>
      </p:sp>
      <p:sp>
        <p:nvSpPr>
          <p:cNvPr id="38" name="Cell r3c3"/>
          <p:cNvSpPr>
            <a:spLocks noGrp="1"/>
          </p:cNvSpPr>
          <p:nvPr>
            <p:ph type="body" idx="50"/>
          </p:nvPr>
        </p:nvSpPr>
        <p:spPr>
          <a:xfrm>
            <a:off x="7391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11.1%</a:t>
            </a:r>
          </a:p>
        </p:txBody>
      </p:sp>
      <p:sp>
        <p:nvSpPr>
          <p:cNvPr id="39" name="Cell r3c4"/>
          <p:cNvSpPr>
            <a:spLocks noGrp="1"/>
          </p:cNvSpPr>
          <p:nvPr>
            <p:ph type="body" idx="51"/>
          </p:nvPr>
        </p:nvSpPr>
        <p:spPr>
          <a:xfrm>
            <a:off x="9550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−0.2 pt</a:t>
            </a:r>
          </a:p>
        </p:txBody>
      </p:sp>
      <p:sp>
        <p:nvSpPr>
          <p:cNvPr id="40" name="Cell r4c1"/>
          <p:cNvSpPr>
            <a:spLocks noGrp="1"/>
          </p:cNvSpPr>
          <p:nvPr>
            <p:ph type="body" idx="52"/>
          </p:nvPr>
        </p:nvSpPr>
        <p:spPr>
          <a:xfrm>
            <a:off x="3073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2,610</a:t>
            </a:r>
          </a:p>
        </p:txBody>
      </p:sp>
      <p:sp>
        <p:nvSpPr>
          <p:cNvPr id="41" name="Cell r4c2"/>
          <p:cNvSpPr>
            <a:spLocks noGrp="1"/>
          </p:cNvSpPr>
          <p:nvPr>
            <p:ph type="body" idx="53"/>
          </p:nvPr>
        </p:nvSpPr>
        <p:spPr>
          <a:xfrm>
            <a:off x="5232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−0.9%</a:t>
            </a:r>
          </a:p>
        </p:txBody>
      </p:sp>
      <p:sp>
        <p:nvSpPr>
          <p:cNvPr id="42" name="Cell r4c3"/>
          <p:cNvSpPr>
            <a:spLocks noGrp="1"/>
          </p:cNvSpPr>
          <p:nvPr>
            <p:ph type="body" idx="54"/>
          </p:nvPr>
        </p:nvSpPr>
        <p:spPr>
          <a:xfrm>
            <a:off x="7391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10.4%</a:t>
            </a:r>
          </a:p>
        </p:txBody>
      </p:sp>
      <p:sp>
        <p:nvSpPr>
          <p:cNvPr id="43" name="Cell r4c4"/>
          <p:cNvSpPr>
            <a:spLocks noGrp="1"/>
          </p:cNvSpPr>
          <p:nvPr>
            <p:ph type="body" idx="55"/>
          </p:nvPr>
        </p:nvSpPr>
        <p:spPr>
          <a:xfrm>
            <a:off x="9550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−0.3 pt</a:t>
            </a:r>
          </a:p>
        </p:txBody>
      </p:sp>
      <p:sp>
        <p:nvSpPr>
          <p:cNvPr id="44" name="Cell r5c1"/>
          <p:cNvSpPr>
            <a:spLocks noGrp="1"/>
          </p:cNvSpPr>
          <p:nvPr>
            <p:ph type="body" idx="56"/>
          </p:nvPr>
        </p:nvSpPr>
        <p:spPr>
          <a:xfrm>
            <a:off x="3073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1,860</a:t>
            </a:r>
          </a:p>
        </p:txBody>
      </p:sp>
      <p:sp>
        <p:nvSpPr>
          <p:cNvPr id="45" name="Cell r5c2"/>
          <p:cNvSpPr>
            <a:spLocks noGrp="1"/>
          </p:cNvSpPr>
          <p:nvPr>
            <p:ph type="body" idx="57"/>
          </p:nvPr>
        </p:nvSpPr>
        <p:spPr>
          <a:xfrm>
            <a:off x="5232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−1.4%</a:t>
            </a:r>
          </a:p>
        </p:txBody>
      </p:sp>
      <p:sp>
        <p:nvSpPr>
          <p:cNvPr id="46" name="Cell r5c3"/>
          <p:cNvSpPr>
            <a:spLocks noGrp="1"/>
          </p:cNvSpPr>
          <p:nvPr>
            <p:ph type="body" idx="58"/>
          </p:nvPr>
        </p:nvSpPr>
        <p:spPr>
          <a:xfrm>
            <a:off x="7391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9.2%</a:t>
            </a:r>
          </a:p>
        </p:txBody>
      </p:sp>
      <p:sp>
        <p:nvSpPr>
          <p:cNvPr id="47" name="Cell r5c4"/>
          <p:cNvSpPr>
            <a:spLocks noGrp="1"/>
          </p:cNvSpPr>
          <p:nvPr>
            <p:ph type="body" idx="59"/>
          </p:nvPr>
        </p:nvSpPr>
        <p:spPr>
          <a:xfrm>
            <a:off x="9550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−0.7 pt</a:t>
            </a:r>
          </a:p>
        </p:txBody>
      </p:sp>
      <p:sp>
        <p:nvSpPr>
          <p:cNvPr id="48" name="Source"/>
          <p:cNvSpPr>
            <a:spLocks noGrp="1"/>
          </p:cNvSpPr>
          <p:nvPr>
            <p:ph type="body" idx="60"/>
          </p:nvPr>
        </p:nvSpPr>
        <p:spPr>
          <a:xfrm>
            <a:off x="635000" y="6223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DFDFD"/>
                </a:solidFill>
                <a:latin typeface="JetBrains Mono"/>
              </a:rPr>
              <a:t>SOURCE · SAMPLE DATA, FY25 PRELIMINARY · EUR M · PLAN SET OCT 2024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yramid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PYRAMID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CUSTOMER VALUE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Three tiers of value: a solid product, an honest relationship, a measured experience.</a:t>
            </a:r>
          </a:p>
        </p:txBody>
      </p:sp>
      <p:sp>
        <p:nvSpPr>
          <p:cNvPr id="12" name="Isosceles Triangle 11"/>
          <p:cNvSpPr/>
          <p:nvPr/>
        </p:nvSpPr>
        <p:spPr>
          <a:xfrm>
            <a:off x="2497667" y="3048000"/>
            <a:ext cx="1608667" cy="1083733"/>
          </a:xfrm>
          <a:prstGeom prst="triangle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1693333" y="4157133"/>
            <a:ext cx="3217334" cy="1083734"/>
          </a:xfrm>
          <a:custGeom>
            <a:avLst/>
            <a:gdLst/>
            <a:ahLst/>
            <a:cxnLst/>
            <a:rect l="l" t="t" r="r" b="b"/>
            <a:pathLst>
              <a:path w="3217334" h="1083734">
                <a:moveTo>
                  <a:pt x="804334" y="0"/>
                </a:moveTo>
                <a:lnTo>
                  <a:pt x="2413000" y="0"/>
                </a:lnTo>
                <a:lnTo>
                  <a:pt x="3217334" y="1083734"/>
                </a:lnTo>
                <a:lnTo>
                  <a:pt x="0" y="1083734"/>
                </a:lnTo>
                <a:close/>
              </a:path>
            </a:pathLst>
          </a:cu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889000" y="5266267"/>
            <a:ext cx="4826000" cy="1083733"/>
          </a:xfrm>
          <a:custGeom>
            <a:avLst/>
            <a:gdLst/>
            <a:ahLst/>
            <a:cxnLst/>
            <a:rect l="l" t="t" r="r" b="b"/>
            <a:pathLst>
              <a:path w="4826000" h="1083733">
                <a:moveTo>
                  <a:pt x="804333" y="0"/>
                </a:moveTo>
                <a:lnTo>
                  <a:pt x="4021667" y="0"/>
                </a:lnTo>
                <a:lnTo>
                  <a:pt x="4826000" y="1083733"/>
                </a:lnTo>
                <a:lnTo>
                  <a:pt x="0" y="108373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ier 1 Label"/>
          <p:cNvSpPr>
            <a:spLocks noGrp="1"/>
          </p:cNvSpPr>
          <p:nvPr>
            <p:ph type="body" idx="20"/>
          </p:nvPr>
        </p:nvSpPr>
        <p:spPr>
          <a:xfrm>
            <a:off x="4206875" y="3448050"/>
            <a:ext cx="21590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00000"/>
                </a:solidFill>
                <a:latin typeface="SpotifyMixUITitle Medium"/>
              </a:rPr>
              <a:t>A measured experience.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0" y="3048000"/>
            <a:ext cx="5207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ier 1 Counter"/>
          <p:cNvSpPr>
            <a:spLocks noGrp="1"/>
          </p:cNvSpPr>
          <p:nvPr>
            <p:ph type="body" idx="22"/>
          </p:nvPr>
        </p:nvSpPr>
        <p:spPr>
          <a:xfrm>
            <a:off x="6350000" y="31496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TIER 03 · MEANING</a:t>
            </a:r>
          </a:p>
        </p:txBody>
      </p:sp>
      <p:sp>
        <p:nvSpPr>
          <p:cNvPr id="18" name="Tier 1 Body"/>
          <p:cNvSpPr>
            <a:spLocks noGrp="1"/>
          </p:cNvSpPr>
          <p:nvPr>
            <p:ph type="body" idx="21"/>
          </p:nvPr>
        </p:nvSpPr>
        <p:spPr>
          <a:xfrm>
            <a:off x="6350000" y="33528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Time given back; one less thing to think about.</a:t>
            </a:r>
          </a:p>
        </p:txBody>
      </p:sp>
      <p:sp>
        <p:nvSpPr>
          <p:cNvPr id="19" name="Tier 2 Label"/>
          <p:cNvSpPr>
            <a:spLocks noGrp="1"/>
          </p:cNvSpPr>
          <p:nvPr>
            <p:ph type="body" idx="24"/>
          </p:nvPr>
        </p:nvSpPr>
        <p:spPr>
          <a:xfrm>
            <a:off x="1797050" y="4552950"/>
            <a:ext cx="30099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An honest relationship.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0" y="4152900"/>
            <a:ext cx="5207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ier 2 Counter"/>
          <p:cNvSpPr>
            <a:spLocks noGrp="1"/>
          </p:cNvSpPr>
          <p:nvPr>
            <p:ph type="body" idx="26"/>
          </p:nvPr>
        </p:nvSpPr>
        <p:spPr>
          <a:xfrm>
            <a:off x="6350000" y="42545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TIER 02 · TRUST</a:t>
            </a:r>
          </a:p>
        </p:txBody>
      </p:sp>
      <p:sp>
        <p:nvSpPr>
          <p:cNvPr id="22" name="Tier 2 Body"/>
          <p:cNvSpPr>
            <a:spLocks noGrp="1"/>
          </p:cNvSpPr>
          <p:nvPr>
            <p:ph type="body" idx="25"/>
          </p:nvPr>
        </p:nvSpPr>
        <p:spPr>
          <a:xfrm>
            <a:off x="6350000" y="44577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The product tells you the truth about itself — status, usage, when to act.</a:t>
            </a:r>
          </a:p>
        </p:txBody>
      </p:sp>
      <p:sp>
        <p:nvSpPr>
          <p:cNvPr id="23" name="Tier 3 Label"/>
          <p:cNvSpPr>
            <a:spLocks noGrp="1"/>
          </p:cNvSpPr>
          <p:nvPr>
            <p:ph type="body" idx="28"/>
          </p:nvPr>
        </p:nvSpPr>
        <p:spPr>
          <a:xfrm>
            <a:off x="990600" y="5664200"/>
            <a:ext cx="46228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A solid product.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0000" y="5264150"/>
            <a:ext cx="5207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ier 3 Counter"/>
          <p:cNvSpPr>
            <a:spLocks noGrp="1"/>
          </p:cNvSpPr>
          <p:nvPr>
            <p:ph type="body" idx="30"/>
          </p:nvPr>
        </p:nvSpPr>
        <p:spPr>
          <a:xfrm>
            <a:off x="6350000" y="536575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TIER 01 · FOUNDATION</a:t>
            </a:r>
          </a:p>
        </p:txBody>
      </p:sp>
      <p:sp>
        <p:nvSpPr>
          <p:cNvPr id="26" name="Tier 3 Body"/>
          <p:cNvSpPr>
            <a:spLocks noGrp="1"/>
          </p:cNvSpPr>
          <p:nvPr>
            <p:ph type="body" idx="29"/>
          </p:nvPr>
        </p:nvSpPr>
        <p:spPr>
          <a:xfrm>
            <a:off x="6350000" y="556895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Things that work, for years, in any context — solid, reliable, supportable.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ey Takeaways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KEY TAKEAWAYS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Kicker"/>
          <p:cNvSpPr>
            <a:spLocks noGrp="1"/>
          </p:cNvSpPr>
          <p:nvPr>
            <p:ph type="body" idx="10"/>
          </p:nvPr>
        </p:nvSpPr>
        <p:spPr>
          <a:xfrm>
            <a:off x="635000" y="14224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KEY TAKEAWAYS</a:t>
            </a:r>
          </a:p>
        </p:txBody>
      </p:sp>
      <p:sp>
        <p:nvSpPr>
          <p:cNvPr id="11" name="Action Title"/>
          <p:cNvSpPr>
            <a:spLocks noGrp="1"/>
          </p:cNvSpPr>
          <p:nvPr>
            <p:ph type="title"/>
          </p:nvPr>
        </p:nvSpPr>
        <p:spPr>
          <a:xfrm>
            <a:off x="635000" y="17272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Three things to remember: platform first, measure the experience, write plainly.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175000"/>
            <a:ext cx="304800" cy="1905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ard 1 Counter"/>
          <p:cNvSpPr>
            <a:spLocks noGrp="1"/>
          </p:cNvSpPr>
          <p:nvPr>
            <p:ph type="body" idx="20"/>
          </p:nvPr>
        </p:nvSpPr>
        <p:spPr>
          <a:xfrm>
            <a:off x="6350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01</a:t>
            </a:r>
          </a:p>
        </p:txBody>
      </p:sp>
      <p:sp>
        <p:nvSpPr>
          <p:cNvPr id="14" name="Card 1 Heading"/>
          <p:cNvSpPr>
            <a:spLocks noGrp="1"/>
          </p:cNvSpPr>
          <p:nvPr>
            <p:ph type="body" idx="21"/>
          </p:nvPr>
        </p:nvSpPr>
        <p:spPr>
          <a:xfrm>
            <a:off x="6350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SpotifyMixUITitle"/>
              </a:rPr>
              <a:t>Platform first.</a:t>
            </a:r>
          </a:p>
        </p:txBody>
      </p:sp>
      <p:sp>
        <p:nvSpPr>
          <p:cNvPr id="15" name="Card 1 Body"/>
          <p:cNvSpPr>
            <a:spLocks noGrp="1"/>
          </p:cNvSpPr>
          <p:nvPr>
            <p:ph type="body" idx="22"/>
          </p:nvPr>
        </p:nvSpPr>
        <p:spPr>
          <a:xfrm>
            <a:off x="6350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7C7C7C"/>
                </a:solidFill>
                <a:latin typeface="SpotifyMixUITitle"/>
              </a:rPr>
              <a:t>Every new SKU ships on the unified OS core from the first production run. No line-specific forks after Q2.</a:t>
            </a:r>
          </a:p>
        </p:txBody>
      </p:sp>
      <p:sp>
        <p:nvSpPr>
          <p:cNvPr id="16" name="Card 1 Owner"/>
          <p:cNvSpPr>
            <a:spLocks noGrp="1"/>
          </p:cNvSpPr>
          <p:nvPr>
            <p:ph type="body" idx="23"/>
          </p:nvPr>
        </p:nvSpPr>
        <p:spPr>
          <a:xfrm>
            <a:off x="6350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3B3B3"/>
                </a:solidFill>
                <a:latin typeface="SpotifyMixUITitle"/>
              </a:rPr>
              <a:t>OWNER · PLATFORM VP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03600" y="3175000"/>
            <a:ext cx="304800" cy="1905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ard 2 Counter"/>
          <p:cNvSpPr>
            <a:spLocks noGrp="1"/>
          </p:cNvSpPr>
          <p:nvPr>
            <p:ph type="body" idx="24"/>
          </p:nvPr>
        </p:nvSpPr>
        <p:spPr>
          <a:xfrm>
            <a:off x="34036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02</a:t>
            </a:r>
          </a:p>
        </p:txBody>
      </p:sp>
      <p:sp>
        <p:nvSpPr>
          <p:cNvPr id="19" name="Card 2 Heading"/>
          <p:cNvSpPr>
            <a:spLocks noGrp="1"/>
          </p:cNvSpPr>
          <p:nvPr>
            <p:ph type="body" idx="25"/>
          </p:nvPr>
        </p:nvSpPr>
        <p:spPr>
          <a:xfrm>
            <a:off x="34036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SpotifyMixUITitle"/>
              </a:rPr>
              <a:t>Measure the experience.</a:t>
            </a:r>
          </a:p>
        </p:txBody>
      </p:sp>
      <p:sp>
        <p:nvSpPr>
          <p:cNvPr id="20" name="Card 2 Body"/>
          <p:cNvSpPr>
            <a:spLocks noGrp="1"/>
          </p:cNvSpPr>
          <p:nvPr>
            <p:ph type="body" idx="26"/>
          </p:nvPr>
        </p:nvSpPr>
        <p:spPr>
          <a:xfrm>
            <a:off x="34036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7C7C7C"/>
                </a:solidFill>
                <a:latin typeface="SpotifyMixUITitle"/>
              </a:rPr>
              <a:t>Telemetry is the product, not an add-on. Every feature must ship with the metric that proves it worked.</a:t>
            </a:r>
          </a:p>
        </p:txBody>
      </p:sp>
      <p:sp>
        <p:nvSpPr>
          <p:cNvPr id="21" name="Card 2 Owner"/>
          <p:cNvSpPr>
            <a:spLocks noGrp="1"/>
          </p:cNvSpPr>
          <p:nvPr>
            <p:ph type="body" idx="27"/>
          </p:nvPr>
        </p:nvSpPr>
        <p:spPr>
          <a:xfrm>
            <a:off x="34036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3B3B3"/>
                </a:solidFill>
                <a:latin typeface="SpotifyMixUITitle"/>
              </a:rPr>
              <a:t>OWNER · DATA LEAD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72200" y="3175000"/>
            <a:ext cx="304800" cy="1905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ard 3 Counter"/>
          <p:cNvSpPr>
            <a:spLocks noGrp="1"/>
          </p:cNvSpPr>
          <p:nvPr>
            <p:ph type="body" idx="28"/>
          </p:nvPr>
        </p:nvSpPr>
        <p:spPr>
          <a:xfrm>
            <a:off x="61722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03</a:t>
            </a:r>
          </a:p>
        </p:txBody>
      </p:sp>
      <p:sp>
        <p:nvSpPr>
          <p:cNvPr id="24" name="Card 3 Heading"/>
          <p:cNvSpPr>
            <a:spLocks noGrp="1"/>
          </p:cNvSpPr>
          <p:nvPr>
            <p:ph type="body" idx="29"/>
          </p:nvPr>
        </p:nvSpPr>
        <p:spPr>
          <a:xfrm>
            <a:off x="61722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SpotifyMixUITitle"/>
              </a:rPr>
              <a:t>Write plainly.</a:t>
            </a:r>
          </a:p>
        </p:txBody>
      </p:sp>
      <p:sp>
        <p:nvSpPr>
          <p:cNvPr id="25" name="Card 3 Body"/>
          <p:cNvSpPr>
            <a:spLocks noGrp="1"/>
          </p:cNvSpPr>
          <p:nvPr>
            <p:ph type="body" idx="30"/>
          </p:nvPr>
        </p:nvSpPr>
        <p:spPr>
          <a:xfrm>
            <a:off x="61722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7C7C7C"/>
                </a:solidFill>
                <a:latin typeface="SpotifyMixUITitle"/>
              </a:rPr>
              <a:t>Release notes, app copy, service sheets — all authored in the Feinschliff voice. Short sentences. Concrete nouns.</a:t>
            </a:r>
          </a:p>
        </p:txBody>
      </p:sp>
      <p:sp>
        <p:nvSpPr>
          <p:cNvPr id="26" name="Card 3 Owner"/>
          <p:cNvSpPr>
            <a:spLocks noGrp="1"/>
          </p:cNvSpPr>
          <p:nvPr>
            <p:ph type="body" idx="31"/>
          </p:nvPr>
        </p:nvSpPr>
        <p:spPr>
          <a:xfrm>
            <a:off x="61722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3B3B3"/>
                </a:solidFill>
                <a:latin typeface="SpotifyMixUITitle"/>
              </a:rPr>
              <a:t>OWNER · CONTENT LEAD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940800" y="3175000"/>
            <a:ext cx="304800" cy="1905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ard 4 Counter"/>
          <p:cNvSpPr>
            <a:spLocks noGrp="1"/>
          </p:cNvSpPr>
          <p:nvPr>
            <p:ph type="body" idx="32"/>
          </p:nvPr>
        </p:nvSpPr>
        <p:spPr>
          <a:xfrm>
            <a:off x="89408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04</a:t>
            </a:r>
          </a:p>
        </p:txBody>
      </p:sp>
      <p:sp>
        <p:nvSpPr>
          <p:cNvPr id="29" name="Card 4 Heading"/>
          <p:cNvSpPr>
            <a:spLocks noGrp="1"/>
          </p:cNvSpPr>
          <p:nvPr>
            <p:ph type="body" idx="33"/>
          </p:nvPr>
        </p:nvSpPr>
        <p:spPr>
          <a:xfrm>
            <a:off x="89408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SpotifyMixUITitle"/>
              </a:rPr>
              <a:t>Ship weekly.</a:t>
            </a:r>
          </a:p>
        </p:txBody>
      </p:sp>
      <p:sp>
        <p:nvSpPr>
          <p:cNvPr id="30" name="Card 4 Body"/>
          <p:cNvSpPr>
            <a:spLocks noGrp="1"/>
          </p:cNvSpPr>
          <p:nvPr>
            <p:ph type="body" idx="34"/>
          </p:nvPr>
        </p:nvSpPr>
        <p:spPr>
          <a:xfrm>
            <a:off x="89408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7C7C7C"/>
                </a:solidFill>
                <a:latin typeface="SpotifyMixUITitle"/>
              </a:rPr>
              <a:t>Every squad cuts a release every week; anything that can't be weekly is a platform bug to be retired.</a:t>
            </a:r>
          </a:p>
        </p:txBody>
      </p:sp>
      <p:sp>
        <p:nvSpPr>
          <p:cNvPr id="31" name="Card 4 Owner"/>
          <p:cNvSpPr>
            <a:spLocks noGrp="1"/>
          </p:cNvSpPr>
          <p:nvPr>
            <p:ph type="body" idx="35"/>
          </p:nvPr>
        </p:nvSpPr>
        <p:spPr>
          <a:xfrm>
            <a:off x="89408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3B3B3"/>
                </a:solidFill>
                <a:latin typeface="SpotifyMixUITitle"/>
              </a:rPr>
              <a:t>OWNER · ENG DIRECTOR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xecutive Summary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EXECUTIVE 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EXECUTIVE SUMMARY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Four insights, three next steps — the 2026 plan on one page.</a:t>
            </a:r>
          </a:p>
        </p:txBody>
      </p:sp>
      <p:sp>
        <p:nvSpPr>
          <p:cNvPr id="12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Platform economics turned in FY25 — active use per account grew while cloud cost fell. Convert that signal into the 2026 commitments below.</a:t>
            </a:r>
          </a:p>
        </p:txBody>
      </p:sp>
      <p:sp>
        <p:nvSpPr>
          <p:cNvPr id="13" name="Col1 Label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INSIGHTS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" y="3378200"/>
            <a:ext cx="5207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3543300"/>
            <a:ext cx="50800" cy="50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ol1 Item1 Heading"/>
          <p:cNvSpPr>
            <a:spLocks noGrp="1"/>
          </p:cNvSpPr>
          <p:nvPr>
            <p:ph type="body" idx="21"/>
          </p:nvPr>
        </p:nvSpPr>
        <p:spPr>
          <a:xfrm>
            <a:off x="787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Platform share is compounding.</a:t>
            </a:r>
          </a:p>
        </p:txBody>
      </p:sp>
      <p:sp>
        <p:nvSpPr>
          <p:cNvPr id="17" name="Col1 Item1 Body"/>
          <p:cNvSpPr>
            <a:spLocks noGrp="1"/>
          </p:cNvSpPr>
          <p:nvPr>
            <p:ph type="body" idx="22"/>
          </p:nvPr>
        </p:nvSpPr>
        <p:spPr>
          <a:xfrm>
            <a:off x="787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Platform and services are the fastest-growing revenue line; legacy hardware is flat in absolute terms.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4051300"/>
            <a:ext cx="50800" cy="50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ol1 Item2 Heading"/>
          <p:cNvSpPr>
            <a:spLocks noGrp="1"/>
          </p:cNvSpPr>
          <p:nvPr>
            <p:ph type="body" idx="23"/>
          </p:nvPr>
        </p:nvSpPr>
        <p:spPr>
          <a:xfrm>
            <a:off x="787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First-run pairing is the biggest leak.</a:t>
            </a:r>
          </a:p>
        </p:txBody>
      </p:sp>
      <p:sp>
        <p:nvSpPr>
          <p:cNvPr id="20" name="Col1 Item2 Body"/>
          <p:cNvSpPr>
            <a:spLocks noGrp="1"/>
          </p:cNvSpPr>
          <p:nvPr>
            <p:ph type="body" idx="24"/>
          </p:nvPr>
        </p:nvSpPr>
        <p:spPr>
          <a:xfrm>
            <a:off x="787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One in three buyers never pairs the product — fixable in firmware and the quickest lift to 90-day activation.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000" y="4559300"/>
            <a:ext cx="50800" cy="50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ol1 Item3 Heading"/>
          <p:cNvSpPr>
            <a:spLocks noGrp="1"/>
          </p:cNvSpPr>
          <p:nvPr>
            <p:ph type="body" idx="25"/>
          </p:nvPr>
        </p:nvSpPr>
        <p:spPr>
          <a:xfrm>
            <a:off x="787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Telemetry is now default-on.</a:t>
            </a:r>
          </a:p>
        </p:txBody>
      </p:sp>
      <p:sp>
        <p:nvSpPr>
          <p:cNvPr id="23" name="Col1 Item3 Body"/>
          <p:cNvSpPr>
            <a:spLocks noGrp="1"/>
          </p:cNvSpPr>
          <p:nvPr>
            <p:ph type="body" idx="26"/>
          </p:nvPr>
        </p:nvSpPr>
        <p:spPr>
          <a:xfrm>
            <a:off x="787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Every production unit reports usage and health from day one; the data contract is locked and versioned.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000" y="5067300"/>
            <a:ext cx="50800" cy="50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Col1 Item4 Heading"/>
          <p:cNvSpPr>
            <a:spLocks noGrp="1"/>
          </p:cNvSpPr>
          <p:nvPr>
            <p:ph type="body" idx="27"/>
          </p:nvPr>
        </p:nvSpPr>
        <p:spPr>
          <a:xfrm>
            <a:off x="787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Hybrid platform beats build-vs-buy.</a:t>
            </a:r>
          </a:p>
        </p:txBody>
      </p:sp>
      <p:sp>
        <p:nvSpPr>
          <p:cNvPr id="26" name="Col1 Item4 Body"/>
          <p:cNvSpPr>
            <a:spLocks noGrp="1"/>
          </p:cNvSpPr>
          <p:nvPr>
            <p:ph type="body" idx="28"/>
          </p:nvPr>
        </p:nvSpPr>
        <p:spPr>
          <a:xfrm>
            <a:off x="787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Core in-house, cloud and ML partner-operated — wins on speed and control without the full build-out.</a:t>
            </a:r>
          </a:p>
        </p:txBody>
      </p:sp>
      <p:sp>
        <p:nvSpPr>
          <p:cNvPr id="27" name="Col2 Label"/>
          <p:cNvSpPr>
            <a:spLocks noGrp="1"/>
          </p:cNvSpPr>
          <p:nvPr>
            <p:ph type="body" idx="30"/>
          </p:nvPr>
        </p:nvSpPr>
        <p:spPr>
          <a:xfrm>
            <a:off x="6350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NEXT STEPS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0000" y="3378200"/>
            <a:ext cx="5207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50000" y="3543300"/>
            <a:ext cx="50800" cy="50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Col2 Item1 Heading"/>
          <p:cNvSpPr>
            <a:spLocks noGrp="1"/>
          </p:cNvSpPr>
          <p:nvPr>
            <p:ph type="body" idx="31"/>
          </p:nvPr>
        </p:nvSpPr>
        <p:spPr>
          <a:xfrm>
            <a:off x="6502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Consolidate firmware across SKUs.</a:t>
            </a:r>
          </a:p>
        </p:txBody>
      </p:sp>
      <p:sp>
        <p:nvSpPr>
          <p:cNvPr id="31" name="Col2 Item1 Body"/>
          <p:cNvSpPr>
            <a:spLocks noGrp="1"/>
          </p:cNvSpPr>
          <p:nvPr>
            <p:ph type="body" idx="32"/>
          </p:nvPr>
        </p:nvSpPr>
        <p:spPr>
          <a:xfrm>
            <a:off x="6502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Retire the last two forks; every line onto the shared OS core by end of Q2.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50000" y="4051300"/>
            <a:ext cx="50800" cy="50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Col2 Item2 Heading"/>
          <p:cNvSpPr>
            <a:spLocks noGrp="1"/>
          </p:cNvSpPr>
          <p:nvPr>
            <p:ph type="body" idx="33"/>
          </p:nvPr>
        </p:nvSpPr>
        <p:spPr>
          <a:xfrm>
            <a:off x="6502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Ship the pairing-flow fix.</a:t>
            </a:r>
          </a:p>
        </p:txBody>
      </p:sp>
      <p:sp>
        <p:nvSpPr>
          <p:cNvPr id="34" name="Col2 Item2 Body"/>
          <p:cNvSpPr>
            <a:spLocks noGrp="1"/>
          </p:cNvSpPr>
          <p:nvPr>
            <p:ph type="body" idx="34"/>
          </p:nvPr>
        </p:nvSpPr>
        <p:spPr>
          <a:xfrm>
            <a:off x="6502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Firmware patch for mixed-SSID routers lands in the Q1 release, with instrumentation on first-try success.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50000" y="4559300"/>
            <a:ext cx="50800" cy="50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Col2 Item3 Heading"/>
          <p:cNvSpPr>
            <a:spLocks noGrp="1"/>
          </p:cNvSpPr>
          <p:nvPr>
            <p:ph type="body" idx="35"/>
          </p:nvPr>
        </p:nvSpPr>
        <p:spPr>
          <a:xfrm>
            <a:off x="6502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Open the developer API preview.</a:t>
            </a:r>
          </a:p>
        </p:txBody>
      </p:sp>
      <p:sp>
        <p:nvSpPr>
          <p:cNvPr id="37" name="Col2 Item3 Body"/>
          <p:cNvSpPr>
            <a:spLocks noGrp="1"/>
          </p:cNvSpPr>
          <p:nvPr>
            <p:ph type="body" idx="36"/>
          </p:nvPr>
        </p:nvSpPr>
        <p:spPr>
          <a:xfrm>
            <a:off x="6502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Partner preview end of H1, GA at year-end — 30 design partners already signed.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50000" y="5067300"/>
            <a:ext cx="50800" cy="50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Col2 Item4 Heading"/>
          <p:cNvSpPr>
            <a:spLocks noGrp="1"/>
          </p:cNvSpPr>
          <p:nvPr>
            <p:ph type="body" idx="37"/>
          </p:nvPr>
        </p:nvSpPr>
        <p:spPr>
          <a:xfrm>
            <a:off x="6502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Lock the hybrid platform deal.</a:t>
            </a:r>
          </a:p>
        </p:txBody>
      </p:sp>
      <p:sp>
        <p:nvSpPr>
          <p:cNvPr id="40" name="Col2 Item4 Body"/>
          <p:cNvSpPr>
            <a:spLocks noGrp="1"/>
          </p:cNvSpPr>
          <p:nvPr>
            <p:ph type="body" idx="38"/>
          </p:nvPr>
        </p:nvSpPr>
        <p:spPr>
          <a:xfrm>
            <a:off x="6502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Finalise cloud and ML vendor terms; platform group staffed and chartered for a Q2 kick-off.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5000" y="57785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35000" y="62865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KPI 1 Value"/>
          <p:cNvSpPr>
            <a:spLocks noGrp="1"/>
          </p:cNvSpPr>
          <p:nvPr>
            <p:ph type="body" idx="50"/>
          </p:nvPr>
        </p:nvSpPr>
        <p:spPr>
          <a:xfrm>
            <a:off x="7874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>
                <a:solidFill>
                  <a:srgbClr val="FFFFFF"/>
                </a:solidFill>
                <a:latin typeface="SpotifyMixUITitle Light"/>
              </a:rPr>
              <a:t>+43</a:t>
            </a:r>
          </a:p>
        </p:txBody>
      </p:sp>
      <p:sp>
        <p:nvSpPr>
          <p:cNvPr id="44" name="KPI 1 Unit"/>
          <p:cNvSpPr>
            <a:spLocks noGrp="1"/>
          </p:cNvSpPr>
          <p:nvPr>
            <p:ph type="body" idx="51"/>
          </p:nvPr>
        </p:nvSpPr>
        <p:spPr>
          <a:xfrm>
            <a:off x="18034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DFDFD"/>
                </a:solidFill>
                <a:latin typeface="SpotifyMixUITitle"/>
              </a:rPr>
              <a:t>%</a:t>
            </a:r>
          </a:p>
        </p:txBody>
      </p:sp>
      <p:sp>
        <p:nvSpPr>
          <p:cNvPr id="45" name="KPI 1 Key"/>
          <p:cNvSpPr>
            <a:spLocks noGrp="1"/>
          </p:cNvSpPr>
          <p:nvPr>
            <p:ph type="body" idx="52"/>
          </p:nvPr>
        </p:nvSpPr>
        <p:spPr>
          <a:xfrm>
            <a:off x="22860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ACTIVE TIME · 5Y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273550" y="5829300"/>
            <a:ext cx="6350" cy="4064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KPI 2 Value"/>
          <p:cNvSpPr>
            <a:spLocks noGrp="1"/>
          </p:cNvSpPr>
          <p:nvPr>
            <p:ph type="body" idx="53"/>
          </p:nvPr>
        </p:nvSpPr>
        <p:spPr>
          <a:xfrm>
            <a:off x="442595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>
                <a:solidFill>
                  <a:srgbClr val="FFFFFF"/>
                </a:solidFill>
                <a:latin typeface="SpotifyMixUITitle Light"/>
              </a:rPr>
              <a:t>14</a:t>
            </a:r>
          </a:p>
        </p:txBody>
      </p:sp>
      <p:sp>
        <p:nvSpPr>
          <p:cNvPr id="48" name="KPI 2 Unit"/>
          <p:cNvSpPr>
            <a:spLocks noGrp="1"/>
          </p:cNvSpPr>
          <p:nvPr>
            <p:ph type="body" idx="54"/>
          </p:nvPr>
        </p:nvSpPr>
        <p:spPr>
          <a:xfrm>
            <a:off x="544195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DFDFD"/>
                </a:solidFill>
                <a:latin typeface="SpotifyMixUITitle"/>
              </a:rPr>
              <a:t> bn</a:t>
            </a:r>
          </a:p>
        </p:txBody>
      </p:sp>
      <p:sp>
        <p:nvSpPr>
          <p:cNvPr id="49" name="KPI 2 Key"/>
          <p:cNvSpPr>
            <a:spLocks noGrp="1"/>
          </p:cNvSpPr>
          <p:nvPr>
            <p:ph type="body" idx="55"/>
          </p:nvPr>
        </p:nvSpPr>
        <p:spPr>
          <a:xfrm>
            <a:off x="592455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REVENUE · EUR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912100" y="5829300"/>
            <a:ext cx="6350" cy="4064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KPI 3 Value"/>
          <p:cNvSpPr>
            <a:spLocks noGrp="1"/>
          </p:cNvSpPr>
          <p:nvPr>
            <p:ph type="body" idx="56"/>
          </p:nvPr>
        </p:nvSpPr>
        <p:spPr>
          <a:xfrm>
            <a:off x="80645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>
                <a:solidFill>
                  <a:srgbClr val="FFFFFF"/>
                </a:solidFill>
                <a:latin typeface="SpotifyMixUITitle Light"/>
              </a:rPr>
              <a:t>95</a:t>
            </a:r>
          </a:p>
        </p:txBody>
      </p:sp>
      <p:sp>
        <p:nvSpPr>
          <p:cNvPr id="52" name="KPI 3 Unit"/>
          <p:cNvSpPr>
            <a:spLocks noGrp="1"/>
          </p:cNvSpPr>
          <p:nvPr>
            <p:ph type="body" idx="57"/>
          </p:nvPr>
        </p:nvSpPr>
        <p:spPr>
          <a:xfrm>
            <a:off x="90805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DFDFD"/>
                </a:solidFill>
                <a:latin typeface="SpotifyMixUITitle"/>
              </a:rPr>
              <a:t>%</a:t>
            </a:r>
          </a:p>
        </p:txBody>
      </p:sp>
      <p:sp>
        <p:nvSpPr>
          <p:cNvPr id="53" name="KPI 3 Key"/>
          <p:cNvSpPr>
            <a:spLocks noGrp="1"/>
          </p:cNvSpPr>
          <p:nvPr>
            <p:ph type="body" idx="58"/>
          </p:nvPr>
        </p:nvSpPr>
        <p:spPr>
          <a:xfrm>
            <a:off x="95631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TELEMETRY OPT-IN</a:t>
            </a:r>
          </a:p>
        </p:txBody>
      </p:sp>
      <p:sp>
        <p:nvSpPr>
          <p:cNvPr id="54" name="Source"/>
          <p:cNvSpPr>
            <a:spLocks noGrp="1"/>
          </p:cNvSpPr>
          <p:nvPr>
            <p:ph type="body" idx="60"/>
          </p:nvPr>
        </p:nvSpPr>
        <p:spPr>
          <a:xfrm>
            <a:off x="635000" y="6477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SOURCE · SAMPLE DATA, FY25 PRELIMINARY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Line Chart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LINE CHART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PER-ACCOUNT METRICS, FY21–FY25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Per-account active time grew 43% while cloud cost per account declined — platform economics are turning.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000" y="58356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DFDFD"/>
                </a:solidFill>
                <a:latin typeface="JetBrains Mono"/>
              </a:rPr>
              <a:t>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90600" y="5194300"/>
            <a:ext cx="77978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000" y="512762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DFDFD"/>
                </a:solidFill>
                <a:latin typeface="JetBrains Mono"/>
              </a:rPr>
              <a:t>50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90600" y="4486275"/>
            <a:ext cx="77978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000" y="441960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DFDFD"/>
                </a:solidFill>
                <a:latin typeface="JetBrains Mono"/>
              </a:rPr>
              <a:t>100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90600" y="3778250"/>
            <a:ext cx="77978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000" y="371157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DFDFD"/>
                </a:solidFill>
                <a:latin typeface="JetBrains Mono"/>
              </a:rPr>
              <a:t>150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90600" y="3070225"/>
            <a:ext cx="77978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000" y="30035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DFDFD"/>
                </a:solidFill>
                <a:latin typeface="JetBrains Mono"/>
              </a:rPr>
              <a:t>200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90600" y="5899150"/>
            <a:ext cx="7797800" cy="127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Freeform 21"/>
          <p:cNvSpPr/>
          <p:nvPr/>
        </p:nvSpPr>
        <p:spPr>
          <a:xfrm>
            <a:off x="990600" y="3299968"/>
            <a:ext cx="7797800" cy="792988"/>
          </a:xfrm>
          <a:custGeom>
            <a:avLst/>
            <a:gdLst/>
            <a:ahLst/>
            <a:cxnLst/>
            <a:rect l="l" t="t" r="r" b="b"/>
            <a:pathLst>
              <a:path w="7797800" h="792988">
                <a:moveTo>
                  <a:pt x="0" y="792988"/>
                </a:moveTo>
                <a:lnTo>
                  <a:pt x="1949450" y="651383"/>
                </a:lnTo>
                <a:lnTo>
                  <a:pt x="3898900" y="311531"/>
                </a:lnTo>
                <a:lnTo>
                  <a:pt x="5848350" y="127444"/>
                </a:lnTo>
                <a:lnTo>
                  <a:pt x="7797800" y="0"/>
                </a:lnTo>
              </a:path>
            </a:pathLst>
          </a:custGeom>
          <a:noFill/>
          <a:ln w="19050">
            <a:solidFill>
              <a:srgbClr val="1ED7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58850" y="4061206"/>
            <a:ext cx="63500" cy="63500"/>
          </a:xfrm>
          <a:prstGeom prst="ellipse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908300" y="3919601"/>
            <a:ext cx="63500" cy="63500"/>
          </a:xfrm>
          <a:prstGeom prst="ellipse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857750" y="3579749"/>
            <a:ext cx="63500" cy="63500"/>
          </a:xfrm>
          <a:prstGeom prst="ellipse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807200" y="3395662"/>
            <a:ext cx="63500" cy="63500"/>
          </a:xfrm>
          <a:prstGeom prst="ellipse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756650" y="3268218"/>
            <a:ext cx="63500" cy="63500"/>
          </a:xfrm>
          <a:prstGeom prst="ellipse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990600" y="3356610"/>
            <a:ext cx="7797800" cy="1557655"/>
          </a:xfrm>
          <a:custGeom>
            <a:avLst/>
            <a:gdLst/>
            <a:ahLst/>
            <a:cxnLst/>
            <a:rect l="l" t="t" r="r" b="b"/>
            <a:pathLst>
              <a:path w="7797800" h="1557655">
                <a:moveTo>
                  <a:pt x="0" y="0"/>
                </a:moveTo>
                <a:lnTo>
                  <a:pt x="1949450" y="169926"/>
                </a:lnTo>
                <a:lnTo>
                  <a:pt x="3898900" y="566420"/>
                </a:lnTo>
                <a:lnTo>
                  <a:pt x="5848350" y="1062038"/>
                </a:lnTo>
                <a:lnTo>
                  <a:pt x="7797800" y="1557655"/>
                </a:lnTo>
              </a:path>
            </a:pathLst>
          </a:cu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58850" y="3324860"/>
            <a:ext cx="63500" cy="6350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908300" y="3494786"/>
            <a:ext cx="63500" cy="6350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857750" y="3891280"/>
            <a:ext cx="63500" cy="6350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807200" y="4386898"/>
            <a:ext cx="63500" cy="6350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756650" y="4882515"/>
            <a:ext cx="63500" cy="6350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X label 1"/>
          <p:cNvSpPr>
            <a:spLocks noGrp="1"/>
          </p:cNvSpPr>
          <p:nvPr>
            <p:ph type="body" idx="20"/>
          </p:nvPr>
        </p:nvSpPr>
        <p:spPr>
          <a:xfrm>
            <a:off x="6731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DFDFD"/>
                </a:solidFill>
                <a:latin typeface="JetBrains Mono"/>
              </a:rPr>
              <a:t>FY21</a:t>
            </a:r>
          </a:p>
        </p:txBody>
      </p:sp>
      <p:sp>
        <p:nvSpPr>
          <p:cNvPr id="35" name="X label 2"/>
          <p:cNvSpPr>
            <a:spLocks noGrp="1"/>
          </p:cNvSpPr>
          <p:nvPr>
            <p:ph type="body" idx="21"/>
          </p:nvPr>
        </p:nvSpPr>
        <p:spPr>
          <a:xfrm>
            <a:off x="26225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DFDFD"/>
                </a:solidFill>
                <a:latin typeface="JetBrains Mono"/>
              </a:rPr>
              <a:t>FY22</a:t>
            </a:r>
          </a:p>
        </p:txBody>
      </p:sp>
      <p:sp>
        <p:nvSpPr>
          <p:cNvPr id="36" name="X label 3"/>
          <p:cNvSpPr>
            <a:spLocks noGrp="1"/>
          </p:cNvSpPr>
          <p:nvPr>
            <p:ph type="body" idx="22"/>
          </p:nvPr>
        </p:nvSpPr>
        <p:spPr>
          <a:xfrm>
            <a:off x="45720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DFDFD"/>
                </a:solidFill>
                <a:latin typeface="JetBrains Mono"/>
              </a:rPr>
              <a:t>FY23</a:t>
            </a:r>
          </a:p>
        </p:txBody>
      </p:sp>
      <p:sp>
        <p:nvSpPr>
          <p:cNvPr id="37" name="X label 4"/>
          <p:cNvSpPr>
            <a:spLocks noGrp="1"/>
          </p:cNvSpPr>
          <p:nvPr>
            <p:ph type="body" idx="23"/>
          </p:nvPr>
        </p:nvSpPr>
        <p:spPr>
          <a:xfrm>
            <a:off x="65214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DFDFD"/>
                </a:solidFill>
                <a:latin typeface="JetBrains Mono"/>
              </a:rPr>
              <a:t>FY24</a:t>
            </a:r>
          </a:p>
        </p:txBody>
      </p:sp>
      <p:sp>
        <p:nvSpPr>
          <p:cNvPr id="38" name="X label 5"/>
          <p:cNvSpPr>
            <a:spLocks noGrp="1"/>
          </p:cNvSpPr>
          <p:nvPr>
            <p:ph type="body" idx="24"/>
          </p:nvPr>
        </p:nvSpPr>
        <p:spPr>
          <a:xfrm>
            <a:off x="84709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DFDFD"/>
                </a:solidFill>
                <a:latin typeface="JetBrains Mono"/>
              </a:rPr>
              <a:t>FY25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44000" y="3244850"/>
            <a:ext cx="114300" cy="381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Series 1 Name"/>
          <p:cNvSpPr>
            <a:spLocks noGrp="1"/>
          </p:cNvSpPr>
          <p:nvPr>
            <p:ph type="body" idx="30"/>
          </p:nvPr>
        </p:nvSpPr>
        <p:spPr>
          <a:xfrm>
            <a:off x="9372600" y="3175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SpotifyMixUITitle Medium"/>
              </a:rPr>
              <a:t>Active time per account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44000" y="3498850"/>
            <a:ext cx="114300" cy="381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Series 2 Name"/>
          <p:cNvSpPr>
            <a:spLocks noGrp="1"/>
          </p:cNvSpPr>
          <p:nvPr>
            <p:ph type="body" idx="31"/>
          </p:nvPr>
        </p:nvSpPr>
        <p:spPr>
          <a:xfrm>
            <a:off x="9372600" y="3429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SpotifyMixUITitle Medium"/>
              </a:rPr>
              <a:t>Cloud cost per account</a:t>
            </a:r>
          </a:p>
        </p:txBody>
      </p:sp>
      <p:sp>
        <p:nvSpPr>
          <p:cNvPr id="43" name="Source / caption"/>
          <p:cNvSpPr>
            <a:spLocks noGrp="1"/>
          </p:cNvSpPr>
          <p:nvPr>
            <p:ph type="body" idx="40"/>
          </p:nvPr>
        </p:nvSpPr>
        <p:spPr>
          <a:xfrm>
            <a:off x="635000" y="631825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DFDFD"/>
                </a:solidFill>
                <a:latin typeface="JetBrains Mono"/>
              </a:rPr>
              <a:t>SOURCE · FEINSCHLIFF ANALYTICS, N = 2.4M ACCOUNTS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corecard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SCORECARD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PORTFOLIO HEALTH · FY25 Q3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Four of five workstreams are on track; developer API slips into Q4 and data-platform integration is off the critical path.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270250"/>
            <a:ext cx="109220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90825" y="2921000"/>
            <a:ext cx="6350" cy="31750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981575" y="2921000"/>
            <a:ext cx="6350" cy="31750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72325" y="2921000"/>
            <a:ext cx="6350" cy="31750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363075" y="2921000"/>
            <a:ext cx="6350" cy="31750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3978275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4683125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000" y="5387975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9210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1117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3025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4932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921000" y="4095750"/>
            <a:ext cx="114300" cy="114300"/>
          </a:xfrm>
          <a:prstGeom prst="ellipse">
            <a:avLst/>
          </a:prstGeom>
          <a:solidFill>
            <a:srgbClr val="509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111750" y="4095750"/>
            <a:ext cx="114300" cy="114300"/>
          </a:xfrm>
          <a:prstGeom prst="ellipse">
            <a:avLst/>
          </a:prstGeom>
          <a:solidFill>
            <a:srgbClr val="509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30250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49325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92100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111750" y="4800600"/>
            <a:ext cx="114300" cy="114300"/>
          </a:xfrm>
          <a:prstGeom prst="ellipse">
            <a:avLst/>
          </a:prstGeom>
          <a:solidFill>
            <a:srgbClr val="509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302500" y="4800600"/>
            <a:ext cx="114300" cy="114300"/>
          </a:xfrm>
          <a:prstGeom prst="ellipse">
            <a:avLst/>
          </a:prstGeom>
          <a:solidFill>
            <a:srgbClr val="509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49325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921000" y="5505450"/>
            <a:ext cx="114300" cy="114300"/>
          </a:xfrm>
          <a:prstGeom prst="ellipse">
            <a:avLst/>
          </a:prstGeom>
          <a:solidFill>
            <a:srgbClr val="509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1117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30250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4932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Column 1 Header"/>
          <p:cNvSpPr>
            <a:spLocks noGrp="1"/>
          </p:cNvSpPr>
          <p:nvPr>
            <p:ph type="body" idx="20"/>
          </p:nvPr>
        </p:nvSpPr>
        <p:spPr>
          <a:xfrm>
            <a:off x="29210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Q1 FY25</a:t>
            </a:r>
          </a:p>
        </p:txBody>
      </p:sp>
      <p:sp>
        <p:nvSpPr>
          <p:cNvPr id="37" name="Column 2 Header"/>
          <p:cNvSpPr>
            <a:spLocks noGrp="1"/>
          </p:cNvSpPr>
          <p:nvPr>
            <p:ph type="body" idx="21"/>
          </p:nvPr>
        </p:nvSpPr>
        <p:spPr>
          <a:xfrm>
            <a:off x="51117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Q2 FY25</a:t>
            </a:r>
          </a:p>
        </p:txBody>
      </p:sp>
      <p:sp>
        <p:nvSpPr>
          <p:cNvPr id="38" name="Column 3 Header"/>
          <p:cNvSpPr>
            <a:spLocks noGrp="1"/>
          </p:cNvSpPr>
          <p:nvPr>
            <p:ph type="body" idx="22"/>
          </p:nvPr>
        </p:nvSpPr>
        <p:spPr>
          <a:xfrm>
            <a:off x="73025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Q3 FY25</a:t>
            </a:r>
          </a:p>
        </p:txBody>
      </p:sp>
      <p:sp>
        <p:nvSpPr>
          <p:cNvPr id="39" name="Column 4 Header"/>
          <p:cNvSpPr>
            <a:spLocks noGrp="1"/>
          </p:cNvSpPr>
          <p:nvPr>
            <p:ph type="body" idx="23"/>
          </p:nvPr>
        </p:nvSpPr>
        <p:spPr>
          <a:xfrm>
            <a:off x="94932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Q4 FY25</a:t>
            </a:r>
          </a:p>
        </p:txBody>
      </p:sp>
      <p:sp>
        <p:nvSpPr>
          <p:cNvPr id="40" name="Row 1 Label"/>
          <p:cNvSpPr>
            <a:spLocks noGrp="1"/>
          </p:cNvSpPr>
          <p:nvPr>
            <p:ph type="body" idx="30"/>
          </p:nvPr>
        </p:nvSpPr>
        <p:spPr>
          <a:xfrm>
            <a:off x="762000" y="35020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SpotifyMixUITitle Medium"/>
              </a:rPr>
              <a:t>Firmware consolidation</a:t>
            </a:r>
          </a:p>
        </p:txBody>
      </p:sp>
      <p:sp>
        <p:nvSpPr>
          <p:cNvPr id="41" name="Row 2 Label"/>
          <p:cNvSpPr>
            <a:spLocks noGrp="1"/>
          </p:cNvSpPr>
          <p:nvPr>
            <p:ph type="body" idx="31"/>
          </p:nvPr>
        </p:nvSpPr>
        <p:spPr>
          <a:xfrm>
            <a:off x="762000" y="42068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SpotifyMixUITitle Medium"/>
              </a:rPr>
              <a:t>Default-on telemetry</a:t>
            </a:r>
          </a:p>
        </p:txBody>
      </p:sp>
      <p:sp>
        <p:nvSpPr>
          <p:cNvPr id="42" name="Row 3 Label"/>
          <p:cNvSpPr>
            <a:spLocks noGrp="1"/>
          </p:cNvSpPr>
          <p:nvPr>
            <p:ph type="body" idx="32"/>
          </p:nvPr>
        </p:nvSpPr>
        <p:spPr>
          <a:xfrm>
            <a:off x="762000" y="49117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SpotifyMixUITitle Medium"/>
              </a:rPr>
              <a:t>Developer API</a:t>
            </a:r>
          </a:p>
        </p:txBody>
      </p:sp>
      <p:sp>
        <p:nvSpPr>
          <p:cNvPr id="43" name="Row 4 Label"/>
          <p:cNvSpPr>
            <a:spLocks noGrp="1"/>
          </p:cNvSpPr>
          <p:nvPr>
            <p:ph type="body" idx="33"/>
          </p:nvPr>
        </p:nvSpPr>
        <p:spPr>
          <a:xfrm>
            <a:off x="762000" y="56165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SpotifyMixUITitle Medium"/>
              </a:rPr>
              <a:t>Data-platform integration</a:t>
            </a:r>
          </a:p>
        </p:txBody>
      </p:sp>
      <p:sp>
        <p:nvSpPr>
          <p:cNvPr id="44" name="Cell r1c1"/>
          <p:cNvSpPr>
            <a:spLocks noGrp="1"/>
          </p:cNvSpPr>
          <p:nvPr>
            <p:ph type="body" idx="40"/>
          </p:nvPr>
        </p:nvSpPr>
        <p:spPr>
          <a:xfrm>
            <a:off x="31115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Cutover · 62%</a:t>
            </a:r>
          </a:p>
        </p:txBody>
      </p:sp>
      <p:sp>
        <p:nvSpPr>
          <p:cNvPr id="45" name="Cell r1c2"/>
          <p:cNvSpPr>
            <a:spLocks noGrp="1"/>
          </p:cNvSpPr>
          <p:nvPr>
            <p:ph type="body" idx="41"/>
          </p:nvPr>
        </p:nvSpPr>
        <p:spPr>
          <a:xfrm>
            <a:off x="53022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Cutover · 100%</a:t>
            </a:r>
          </a:p>
        </p:txBody>
      </p:sp>
      <p:sp>
        <p:nvSpPr>
          <p:cNvPr id="46" name="Cell r1c3"/>
          <p:cNvSpPr>
            <a:spLocks noGrp="1"/>
          </p:cNvSpPr>
          <p:nvPr>
            <p:ph type="body" idx="42"/>
          </p:nvPr>
        </p:nvSpPr>
        <p:spPr>
          <a:xfrm>
            <a:off x="74930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Shipped</a:t>
            </a:r>
          </a:p>
        </p:txBody>
      </p:sp>
      <p:sp>
        <p:nvSpPr>
          <p:cNvPr id="47" name="Cell r1c4"/>
          <p:cNvSpPr>
            <a:spLocks noGrp="1"/>
          </p:cNvSpPr>
          <p:nvPr>
            <p:ph type="body" idx="43"/>
          </p:nvPr>
        </p:nvSpPr>
        <p:spPr>
          <a:xfrm>
            <a:off x="96837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Stable</a:t>
            </a:r>
          </a:p>
        </p:txBody>
      </p:sp>
      <p:sp>
        <p:nvSpPr>
          <p:cNvPr id="48" name="Cell r2c1"/>
          <p:cNvSpPr>
            <a:spLocks noGrp="1"/>
          </p:cNvSpPr>
          <p:nvPr>
            <p:ph type="body" idx="45"/>
          </p:nvPr>
        </p:nvSpPr>
        <p:spPr>
          <a:xfrm>
            <a:off x="31115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Pilot factories</a:t>
            </a:r>
          </a:p>
        </p:txBody>
      </p:sp>
      <p:sp>
        <p:nvSpPr>
          <p:cNvPr id="49" name="Cell r2c2"/>
          <p:cNvSpPr>
            <a:spLocks noGrp="1"/>
          </p:cNvSpPr>
          <p:nvPr>
            <p:ph type="body" idx="46"/>
          </p:nvPr>
        </p:nvSpPr>
        <p:spPr>
          <a:xfrm>
            <a:off x="53022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Rollout 40%</a:t>
            </a:r>
          </a:p>
        </p:txBody>
      </p:sp>
      <p:sp>
        <p:nvSpPr>
          <p:cNvPr id="50" name="Cell r2c3"/>
          <p:cNvSpPr>
            <a:spLocks noGrp="1"/>
          </p:cNvSpPr>
          <p:nvPr>
            <p:ph type="body" idx="47"/>
          </p:nvPr>
        </p:nvSpPr>
        <p:spPr>
          <a:xfrm>
            <a:off x="74930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Rollout 85%</a:t>
            </a:r>
          </a:p>
        </p:txBody>
      </p:sp>
      <p:sp>
        <p:nvSpPr>
          <p:cNvPr id="51" name="Cell r2c4"/>
          <p:cNvSpPr>
            <a:spLocks noGrp="1"/>
          </p:cNvSpPr>
          <p:nvPr>
            <p:ph type="body" idx="48"/>
          </p:nvPr>
        </p:nvSpPr>
        <p:spPr>
          <a:xfrm>
            <a:off x="96837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Default-on</a:t>
            </a:r>
          </a:p>
        </p:txBody>
      </p:sp>
      <p:sp>
        <p:nvSpPr>
          <p:cNvPr id="52" name="Cell r3c1"/>
          <p:cNvSpPr>
            <a:spLocks noGrp="1"/>
          </p:cNvSpPr>
          <p:nvPr>
            <p:ph type="body" idx="50"/>
          </p:nvPr>
        </p:nvSpPr>
        <p:spPr>
          <a:xfrm>
            <a:off x="31115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Design only</a:t>
            </a:r>
          </a:p>
        </p:txBody>
      </p:sp>
      <p:sp>
        <p:nvSpPr>
          <p:cNvPr id="53" name="Cell r3c2"/>
          <p:cNvSpPr>
            <a:spLocks noGrp="1"/>
          </p:cNvSpPr>
          <p:nvPr>
            <p:ph type="body" idx="51"/>
          </p:nvPr>
        </p:nvSpPr>
        <p:spPr>
          <a:xfrm>
            <a:off x="53022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Preview private</a:t>
            </a:r>
          </a:p>
        </p:txBody>
      </p:sp>
      <p:sp>
        <p:nvSpPr>
          <p:cNvPr id="54" name="Cell r3c3"/>
          <p:cNvSpPr>
            <a:spLocks noGrp="1"/>
          </p:cNvSpPr>
          <p:nvPr>
            <p:ph type="body" idx="52"/>
          </p:nvPr>
        </p:nvSpPr>
        <p:spPr>
          <a:xfrm>
            <a:off x="74930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Preview public</a:t>
            </a:r>
          </a:p>
        </p:txBody>
      </p:sp>
      <p:sp>
        <p:nvSpPr>
          <p:cNvPr id="55" name="Cell r3c4"/>
          <p:cNvSpPr>
            <a:spLocks noGrp="1"/>
          </p:cNvSpPr>
          <p:nvPr>
            <p:ph type="body" idx="53"/>
          </p:nvPr>
        </p:nvSpPr>
        <p:spPr>
          <a:xfrm>
            <a:off x="96837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GA → Q4 slip</a:t>
            </a:r>
          </a:p>
        </p:txBody>
      </p:sp>
      <p:sp>
        <p:nvSpPr>
          <p:cNvPr id="56" name="Cell r4c1"/>
          <p:cNvSpPr>
            <a:spLocks noGrp="1"/>
          </p:cNvSpPr>
          <p:nvPr>
            <p:ph type="body" idx="55"/>
          </p:nvPr>
        </p:nvSpPr>
        <p:spPr>
          <a:xfrm>
            <a:off x="31115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Scope locked</a:t>
            </a:r>
          </a:p>
        </p:txBody>
      </p:sp>
      <p:sp>
        <p:nvSpPr>
          <p:cNvPr id="57" name="Cell r4c2"/>
          <p:cNvSpPr>
            <a:spLocks noGrp="1"/>
          </p:cNvSpPr>
          <p:nvPr>
            <p:ph type="body" idx="56"/>
          </p:nvPr>
        </p:nvSpPr>
        <p:spPr>
          <a:xfrm>
            <a:off x="53022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Vendor delay</a:t>
            </a:r>
          </a:p>
        </p:txBody>
      </p:sp>
      <p:sp>
        <p:nvSpPr>
          <p:cNvPr id="58" name="Cell r4c3"/>
          <p:cNvSpPr>
            <a:spLocks noGrp="1"/>
          </p:cNvSpPr>
          <p:nvPr>
            <p:ph type="body" idx="57"/>
          </p:nvPr>
        </p:nvSpPr>
        <p:spPr>
          <a:xfrm>
            <a:off x="74930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Off plan</a:t>
            </a:r>
          </a:p>
        </p:txBody>
      </p:sp>
      <p:sp>
        <p:nvSpPr>
          <p:cNvPr id="59" name="Cell r4c4"/>
          <p:cNvSpPr>
            <a:spLocks noGrp="1"/>
          </p:cNvSpPr>
          <p:nvPr>
            <p:ph type="body" idx="58"/>
          </p:nvPr>
        </p:nvSpPr>
        <p:spPr>
          <a:xfrm>
            <a:off x="96837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Re-baseline</a:t>
            </a:r>
          </a:p>
        </p:txBody>
      </p:sp>
      <p:sp>
        <p:nvSpPr>
          <p:cNvPr id="60" name="Oval 59"/>
          <p:cNvSpPr/>
          <p:nvPr/>
        </p:nvSpPr>
        <p:spPr>
          <a:xfrm>
            <a:off x="8496300" y="6235700"/>
            <a:ext cx="88900" cy="889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6487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DFDFD"/>
                </a:solidFill>
                <a:latin typeface="JetBrains Mono"/>
              </a:rPr>
              <a:t>ON TRACK</a:t>
            </a:r>
          </a:p>
        </p:txBody>
      </p:sp>
      <p:sp>
        <p:nvSpPr>
          <p:cNvPr id="62" name="Oval 61"/>
          <p:cNvSpPr/>
          <p:nvPr/>
        </p:nvSpPr>
        <p:spPr>
          <a:xfrm>
            <a:off x="9601200" y="6235700"/>
            <a:ext cx="88900" cy="88900"/>
          </a:xfrm>
          <a:prstGeom prst="ellipse">
            <a:avLst/>
          </a:prstGeom>
          <a:solidFill>
            <a:srgbClr val="509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7536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DFDFD"/>
                </a:solidFill>
                <a:latin typeface="JetBrains Mono"/>
              </a:rPr>
              <a:t>AT RISK</a:t>
            </a:r>
          </a:p>
        </p:txBody>
      </p:sp>
      <p:sp>
        <p:nvSpPr>
          <p:cNvPr id="64" name="Oval 63"/>
          <p:cNvSpPr/>
          <p:nvPr/>
        </p:nvSpPr>
        <p:spPr>
          <a:xfrm>
            <a:off x="10706100" y="6235700"/>
            <a:ext cx="88900" cy="889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08585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DFDFD"/>
                </a:solidFill>
                <a:latin typeface="JetBrains Mono"/>
              </a:rPr>
              <a:t>OFF TRACK</a:t>
            </a:r>
          </a:p>
        </p:txBody>
      </p:sp>
      <p:sp>
        <p:nvSpPr>
          <p:cNvPr id="66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DFDFD"/>
                </a:solidFill>
                <a:latin typeface="JetBrains Mono"/>
              </a:rPr>
              <a:t>SOURCE · PROGRAMME BOARD · FY25 Q3 STATUS REVIEW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antt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GANTT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WORKSTREAMS — FY25 DELIVERY PLAN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Firmware consolidation lands in Q2; the developer API goes GA in Q4, dependent on telemetry rollout.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94250" y="2921000"/>
            <a:ext cx="6350" cy="3048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048500" y="2921000"/>
            <a:ext cx="6350" cy="3048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302750" y="2921000"/>
            <a:ext cx="6350" cy="3048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3225800"/>
            <a:ext cx="10922000" cy="63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794250" y="3225800"/>
            <a:ext cx="6350" cy="20320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048500" y="3225800"/>
            <a:ext cx="6350" cy="20320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302750" y="3225800"/>
            <a:ext cx="6350" cy="20320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578100" y="3390900"/>
            <a:ext cx="4432300" cy="177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Diamond 19"/>
          <p:cNvSpPr/>
          <p:nvPr/>
        </p:nvSpPr>
        <p:spPr>
          <a:xfrm>
            <a:off x="6765925" y="3422650"/>
            <a:ext cx="114300" cy="114300"/>
          </a:xfrm>
          <a:prstGeom prst="diamond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5000" y="37338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578100" y="3898900"/>
            <a:ext cx="6686550" cy="1778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Diamond 22"/>
          <p:cNvSpPr/>
          <p:nvPr/>
        </p:nvSpPr>
        <p:spPr>
          <a:xfrm>
            <a:off x="8794750" y="3930650"/>
            <a:ext cx="114300" cy="114300"/>
          </a:xfrm>
          <a:prstGeom prst="diamond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5000" y="42418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8323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9085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9847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0609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1371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2133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2895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3657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4419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5181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5943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6705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7467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8229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8991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9753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0515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1277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2039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2801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3563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4325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5087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5849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6611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7373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8135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8897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9659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086600" y="4406900"/>
            <a:ext cx="4432300" cy="177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35000" y="47498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8323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9085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9847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0609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1371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2133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2895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3657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4419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5181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5943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6705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7467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8229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58991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59753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0515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1277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2039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2801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3563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4325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5087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5849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6611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7373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8135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68897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69659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086600" y="4914900"/>
            <a:ext cx="2178050" cy="1778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9340850" y="4914900"/>
            <a:ext cx="2178050" cy="177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Diamond 86"/>
          <p:cNvSpPr/>
          <p:nvPr/>
        </p:nvSpPr>
        <p:spPr>
          <a:xfrm>
            <a:off x="11274425" y="4946650"/>
            <a:ext cx="114300" cy="114300"/>
          </a:xfrm>
          <a:prstGeom prst="diamond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635000" y="5257800"/>
            <a:ext cx="10922000" cy="63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Period 1"/>
          <p:cNvSpPr>
            <a:spLocks noGrp="1"/>
          </p:cNvSpPr>
          <p:nvPr>
            <p:ph type="body" idx="20"/>
          </p:nvPr>
        </p:nvSpPr>
        <p:spPr>
          <a:xfrm>
            <a:off x="26035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Q1 · PLAN</a:t>
            </a:r>
          </a:p>
        </p:txBody>
      </p:sp>
      <p:sp>
        <p:nvSpPr>
          <p:cNvPr id="90" name="Period 2"/>
          <p:cNvSpPr>
            <a:spLocks noGrp="1"/>
          </p:cNvSpPr>
          <p:nvPr>
            <p:ph type="body" idx="21"/>
          </p:nvPr>
        </p:nvSpPr>
        <p:spPr>
          <a:xfrm>
            <a:off x="48577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Q2 · BUILD</a:t>
            </a:r>
          </a:p>
        </p:txBody>
      </p:sp>
      <p:sp>
        <p:nvSpPr>
          <p:cNvPr id="91" name="Period 3"/>
          <p:cNvSpPr>
            <a:spLocks noGrp="1"/>
          </p:cNvSpPr>
          <p:nvPr>
            <p:ph type="body" idx="22"/>
          </p:nvPr>
        </p:nvSpPr>
        <p:spPr>
          <a:xfrm>
            <a:off x="71120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Q3 · PILOT</a:t>
            </a:r>
          </a:p>
        </p:txBody>
      </p:sp>
      <p:sp>
        <p:nvSpPr>
          <p:cNvPr id="92" name="Period 4"/>
          <p:cNvSpPr>
            <a:spLocks noGrp="1"/>
          </p:cNvSpPr>
          <p:nvPr>
            <p:ph type="body" idx="23"/>
          </p:nvPr>
        </p:nvSpPr>
        <p:spPr>
          <a:xfrm>
            <a:off x="93662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Q4 · SCALE</a:t>
            </a:r>
          </a:p>
        </p:txBody>
      </p:sp>
      <p:sp>
        <p:nvSpPr>
          <p:cNvPr id="93" name="Lane 1 Label"/>
          <p:cNvSpPr>
            <a:spLocks noGrp="1"/>
          </p:cNvSpPr>
          <p:nvPr>
            <p:ph type="body" idx="30"/>
          </p:nvPr>
        </p:nvSpPr>
        <p:spPr>
          <a:xfrm>
            <a:off x="698500" y="3289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FIRMWARE CONSOLIDATION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OWNER · PLATFORM</a:t>
            </a:r>
          </a:p>
        </p:txBody>
      </p:sp>
      <p:sp>
        <p:nvSpPr>
          <p:cNvPr id="94" name="Lane 2 Label"/>
          <p:cNvSpPr>
            <a:spLocks noGrp="1"/>
          </p:cNvSpPr>
          <p:nvPr>
            <p:ph type="body" idx="31"/>
          </p:nvPr>
        </p:nvSpPr>
        <p:spPr>
          <a:xfrm>
            <a:off x="698500" y="3797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DEFAULT-ON TELEMETRY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OWNER · DATA</a:t>
            </a:r>
          </a:p>
        </p:txBody>
      </p:sp>
      <p:sp>
        <p:nvSpPr>
          <p:cNvPr id="95" name="Lane 3 Label"/>
          <p:cNvSpPr>
            <a:spLocks noGrp="1"/>
          </p:cNvSpPr>
          <p:nvPr>
            <p:ph type="body" idx="32"/>
          </p:nvPr>
        </p:nvSpPr>
        <p:spPr>
          <a:xfrm>
            <a:off x="698500" y="4305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REGIONAL PILOT · 2,000 CUSTOMERS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OWNER · CONSUMER</a:t>
            </a:r>
          </a:p>
        </p:txBody>
      </p:sp>
      <p:sp>
        <p:nvSpPr>
          <p:cNvPr id="96" name="Lane 4 Label"/>
          <p:cNvSpPr>
            <a:spLocks noGrp="1"/>
          </p:cNvSpPr>
          <p:nvPr>
            <p:ph type="body" idx="33"/>
          </p:nvPr>
        </p:nvSpPr>
        <p:spPr>
          <a:xfrm>
            <a:off x="698500" y="4813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DEVELOPER API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OWNER · PLATFORM</a:t>
            </a:r>
          </a:p>
        </p:txBody>
      </p:sp>
      <p:sp>
        <p:nvSpPr>
          <p:cNvPr id="97" name="Lane 1 Bar 1 Label"/>
          <p:cNvSpPr>
            <a:spLocks noGrp="1"/>
          </p:cNvSpPr>
          <p:nvPr>
            <p:ph type="body" idx="40"/>
          </p:nvPr>
        </p:nvSpPr>
        <p:spPr>
          <a:xfrm>
            <a:off x="2628900" y="3390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JetBrains Mono"/>
              </a:rPr>
              <a:t>CUTOVER · ALL SKUS</a:t>
            </a:r>
          </a:p>
        </p:txBody>
      </p:sp>
      <p:sp>
        <p:nvSpPr>
          <p:cNvPr id="98" name="Lane 2 Bar 1 Label"/>
          <p:cNvSpPr>
            <a:spLocks noGrp="1"/>
          </p:cNvSpPr>
          <p:nvPr>
            <p:ph type="body" idx="43"/>
          </p:nvPr>
        </p:nvSpPr>
        <p:spPr>
          <a:xfrm>
            <a:off x="2628900" y="3898900"/>
            <a:ext cx="65849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JetBrains Mono"/>
              </a:rPr>
              <a:t>FACTORY ROLLOUT</a:t>
            </a:r>
          </a:p>
        </p:txBody>
      </p:sp>
      <p:sp>
        <p:nvSpPr>
          <p:cNvPr id="99" name="Lane 3 Bar 2 Label"/>
          <p:cNvSpPr>
            <a:spLocks noGrp="1"/>
          </p:cNvSpPr>
          <p:nvPr>
            <p:ph type="body" idx="47"/>
          </p:nvPr>
        </p:nvSpPr>
        <p:spPr>
          <a:xfrm>
            <a:off x="7137400" y="4406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JetBrains Mono"/>
              </a:rPr>
              <a:t>INSTRUMENTED STUDY</a:t>
            </a:r>
          </a:p>
        </p:txBody>
      </p:sp>
      <p:sp>
        <p:nvSpPr>
          <p:cNvPr id="100" name="Lane 4 Bar 2 Label"/>
          <p:cNvSpPr>
            <a:spLocks noGrp="1"/>
          </p:cNvSpPr>
          <p:nvPr>
            <p:ph type="body" idx="50"/>
          </p:nvPr>
        </p:nvSpPr>
        <p:spPr>
          <a:xfrm>
            <a:off x="713740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JetBrains Mono"/>
              </a:rPr>
              <a:t>PREVIEW</a:t>
            </a:r>
          </a:p>
        </p:txBody>
      </p:sp>
      <p:sp>
        <p:nvSpPr>
          <p:cNvPr id="101" name="Lane 4 Bar 3 Label"/>
          <p:cNvSpPr>
            <a:spLocks noGrp="1"/>
          </p:cNvSpPr>
          <p:nvPr>
            <p:ph type="body" idx="51"/>
          </p:nvPr>
        </p:nvSpPr>
        <p:spPr>
          <a:xfrm>
            <a:off x="939165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JetBrains Mono"/>
              </a:rPr>
              <a:t>GA</a:t>
            </a:r>
          </a:p>
        </p:txBody>
      </p:sp>
      <p:sp>
        <p:nvSpPr>
          <p:cNvPr id="102" name="Source / caption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DFDFD"/>
                </a:solidFill>
                <a:latin typeface="JetBrains Mono"/>
              </a:rPr>
              <a:t>COMMITTED · CRITICAL PATH · DEPENDENCY WINDOW · MILESTONE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nnel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FUNNEL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APP ACTIVATION FUNNEL · Q4 FY25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One in three buyers never pairs their product — first-run setup is the largest and most fixable drop-off.</a:t>
            </a:r>
          </a:p>
        </p:txBody>
      </p:sp>
      <p:sp>
        <p:nvSpPr>
          <p:cNvPr id="12" name="Freeform 11"/>
          <p:cNvSpPr/>
          <p:nvPr/>
        </p:nvSpPr>
        <p:spPr>
          <a:xfrm>
            <a:off x="635000" y="3048000"/>
            <a:ext cx="3048000" cy="774700"/>
          </a:xfrm>
          <a:custGeom>
            <a:avLst/>
            <a:gdLst/>
            <a:ahLst/>
            <a:cxnLst/>
            <a:rect l="l" t="t" r="r" b="b"/>
            <a:pathLst>
              <a:path w="3048000" h="774700">
                <a:moveTo>
                  <a:pt x="0" y="0"/>
                </a:moveTo>
                <a:lnTo>
                  <a:pt x="3048000" y="0"/>
                </a:lnTo>
                <a:lnTo>
                  <a:pt x="27781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904875" y="3848100"/>
            <a:ext cx="2508250" cy="774700"/>
          </a:xfrm>
          <a:custGeom>
            <a:avLst/>
            <a:gdLst/>
            <a:ahLst/>
            <a:cxnLst/>
            <a:rect l="l" t="t" r="r" b="b"/>
            <a:pathLst>
              <a:path w="2508250" h="774700">
                <a:moveTo>
                  <a:pt x="0" y="0"/>
                </a:moveTo>
                <a:lnTo>
                  <a:pt x="2508250" y="0"/>
                </a:lnTo>
                <a:lnTo>
                  <a:pt x="22383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1174750" y="4648200"/>
            <a:ext cx="1968500" cy="774700"/>
          </a:xfrm>
          <a:custGeom>
            <a:avLst/>
            <a:gdLst/>
            <a:ahLst/>
            <a:cxnLst/>
            <a:rect l="l" t="t" r="r" b="b"/>
            <a:pathLst>
              <a:path w="1968500" h="774700">
                <a:moveTo>
                  <a:pt x="0" y="0"/>
                </a:moveTo>
                <a:lnTo>
                  <a:pt x="1968500" y="0"/>
                </a:lnTo>
                <a:lnTo>
                  <a:pt x="16986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1444625" y="5448300"/>
            <a:ext cx="1428750" cy="774700"/>
          </a:xfrm>
          <a:custGeom>
            <a:avLst/>
            <a:gdLst/>
            <a:ahLst/>
            <a:cxnLst/>
            <a:rect l="l" t="t" r="r" b="b"/>
            <a:pathLst>
              <a:path w="1428750" h="774700">
                <a:moveTo>
                  <a:pt x="0" y="0"/>
                </a:moveTo>
                <a:lnTo>
                  <a:pt x="1428750" y="0"/>
                </a:lnTo>
                <a:lnTo>
                  <a:pt x="11588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937000" y="3048000"/>
            <a:ext cx="3048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tage 1 Name"/>
          <p:cNvSpPr>
            <a:spLocks noGrp="1"/>
          </p:cNvSpPr>
          <p:nvPr>
            <p:ph type="body" idx="20"/>
          </p:nvPr>
        </p:nvSpPr>
        <p:spPr>
          <a:xfrm>
            <a:off x="3937000" y="31242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00000"/>
                </a:solidFill>
                <a:latin typeface="SpotifyMixUITitle Medium"/>
              </a:rPr>
              <a:t>Product sold</a:t>
            </a:r>
          </a:p>
        </p:txBody>
      </p:sp>
      <p:sp>
        <p:nvSpPr>
          <p:cNvPr id="18" name="Stage 1 Detail"/>
          <p:cNvSpPr>
            <a:spLocks noGrp="1"/>
          </p:cNvSpPr>
          <p:nvPr>
            <p:ph type="body" idx="21"/>
          </p:nvPr>
        </p:nvSpPr>
        <p:spPr>
          <a:xfrm>
            <a:off x="3937000" y="3365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DFDFD"/>
                </a:solidFill>
                <a:latin typeface="SpotifyMixUITitle"/>
              </a:rPr>
              <a:t>Shipment, any SKU</a:t>
            </a:r>
          </a:p>
        </p:txBody>
      </p:sp>
      <p:sp>
        <p:nvSpPr>
          <p:cNvPr id="19" name="Stage 1 Volume"/>
          <p:cNvSpPr>
            <a:spLocks noGrp="1"/>
          </p:cNvSpPr>
          <p:nvPr>
            <p:ph type="body" idx="22"/>
          </p:nvPr>
        </p:nvSpPr>
        <p:spPr>
          <a:xfrm>
            <a:off x="6096000" y="31242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00000"/>
                </a:solidFill>
                <a:latin typeface="SpotifyMixUITitle Light"/>
              </a:rPr>
              <a:t>2.4 M</a:t>
            </a:r>
          </a:p>
        </p:txBody>
      </p:sp>
      <p:sp>
        <p:nvSpPr>
          <p:cNvPr id="20" name="Stage 1 Rate"/>
          <p:cNvSpPr>
            <a:spLocks noGrp="1"/>
          </p:cNvSpPr>
          <p:nvPr>
            <p:ph type="body" idx="23"/>
          </p:nvPr>
        </p:nvSpPr>
        <p:spPr>
          <a:xfrm>
            <a:off x="6096000" y="34290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DFDFD"/>
                </a:solidFill>
                <a:latin typeface="JetBrains Mono"/>
              </a:rPr>
              <a:t>100%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937000" y="3848100"/>
            <a:ext cx="3048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Stage 2 Name"/>
          <p:cNvSpPr>
            <a:spLocks noGrp="1"/>
          </p:cNvSpPr>
          <p:nvPr>
            <p:ph type="body" idx="24"/>
          </p:nvPr>
        </p:nvSpPr>
        <p:spPr>
          <a:xfrm>
            <a:off x="3937000" y="39243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00000"/>
                </a:solidFill>
                <a:latin typeface="SpotifyMixUITitle Medium"/>
              </a:rPr>
              <a:t>App installed</a:t>
            </a:r>
          </a:p>
        </p:txBody>
      </p:sp>
      <p:sp>
        <p:nvSpPr>
          <p:cNvPr id="23" name="Stage 2 Detail"/>
          <p:cNvSpPr>
            <a:spLocks noGrp="1"/>
          </p:cNvSpPr>
          <p:nvPr>
            <p:ph type="body" idx="25"/>
          </p:nvPr>
        </p:nvSpPr>
        <p:spPr>
          <a:xfrm>
            <a:off x="3937000" y="41656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DFDFD"/>
                </a:solidFill>
                <a:latin typeface="SpotifyMixUITitle"/>
              </a:rPr>
              <a:t>Within 30 days of purchase</a:t>
            </a:r>
          </a:p>
        </p:txBody>
      </p:sp>
      <p:sp>
        <p:nvSpPr>
          <p:cNvPr id="24" name="Stage 2 Volume"/>
          <p:cNvSpPr>
            <a:spLocks noGrp="1"/>
          </p:cNvSpPr>
          <p:nvPr>
            <p:ph type="body" idx="26"/>
          </p:nvPr>
        </p:nvSpPr>
        <p:spPr>
          <a:xfrm>
            <a:off x="6096000" y="39243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00000"/>
                </a:solidFill>
                <a:latin typeface="SpotifyMixUITitle Light"/>
              </a:rPr>
              <a:t>2.0 M</a:t>
            </a:r>
          </a:p>
        </p:txBody>
      </p:sp>
      <p:sp>
        <p:nvSpPr>
          <p:cNvPr id="25" name="Stage 2 Rate"/>
          <p:cNvSpPr>
            <a:spLocks noGrp="1"/>
          </p:cNvSpPr>
          <p:nvPr>
            <p:ph type="body" idx="27"/>
          </p:nvPr>
        </p:nvSpPr>
        <p:spPr>
          <a:xfrm>
            <a:off x="6096000" y="42291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DFDFD"/>
                </a:solidFill>
                <a:latin typeface="JetBrains Mono"/>
              </a:rPr>
              <a:t>84%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937000" y="4648200"/>
            <a:ext cx="3048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Stage 3 Name"/>
          <p:cNvSpPr>
            <a:spLocks noGrp="1"/>
          </p:cNvSpPr>
          <p:nvPr>
            <p:ph type="body" idx="28"/>
          </p:nvPr>
        </p:nvSpPr>
        <p:spPr>
          <a:xfrm>
            <a:off x="3937000" y="47244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00000"/>
                </a:solidFill>
                <a:latin typeface="SpotifyMixUITitle Medium"/>
              </a:rPr>
              <a:t>Product paired</a:t>
            </a:r>
          </a:p>
        </p:txBody>
      </p:sp>
      <p:sp>
        <p:nvSpPr>
          <p:cNvPr id="28" name="Stage 3 Detail"/>
          <p:cNvSpPr>
            <a:spLocks noGrp="1"/>
          </p:cNvSpPr>
          <p:nvPr>
            <p:ph type="body" idx="29"/>
          </p:nvPr>
        </p:nvSpPr>
        <p:spPr>
          <a:xfrm>
            <a:off x="3937000" y="49657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DFDFD"/>
                </a:solidFill>
                <a:latin typeface="SpotifyMixUITitle"/>
              </a:rPr>
              <a:t>First-run setup completed</a:t>
            </a:r>
          </a:p>
        </p:txBody>
      </p:sp>
      <p:sp>
        <p:nvSpPr>
          <p:cNvPr id="29" name="Stage 3 Volume"/>
          <p:cNvSpPr>
            <a:spLocks noGrp="1"/>
          </p:cNvSpPr>
          <p:nvPr>
            <p:ph type="body" idx="30"/>
          </p:nvPr>
        </p:nvSpPr>
        <p:spPr>
          <a:xfrm>
            <a:off x="6096000" y="47244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00000"/>
                </a:solidFill>
                <a:latin typeface="SpotifyMixUITitle Light"/>
              </a:rPr>
              <a:t>1.5 M</a:t>
            </a:r>
          </a:p>
        </p:txBody>
      </p:sp>
      <p:sp>
        <p:nvSpPr>
          <p:cNvPr id="30" name="Stage 3 Rate"/>
          <p:cNvSpPr>
            <a:spLocks noGrp="1"/>
          </p:cNvSpPr>
          <p:nvPr>
            <p:ph type="body" idx="31"/>
          </p:nvPr>
        </p:nvSpPr>
        <p:spPr>
          <a:xfrm>
            <a:off x="6096000" y="50292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DFDFD"/>
                </a:solidFill>
                <a:latin typeface="JetBrains Mono"/>
              </a:rPr>
              <a:t>62%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937000" y="5448300"/>
            <a:ext cx="3048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Stage 4 Name"/>
          <p:cNvSpPr>
            <a:spLocks noGrp="1"/>
          </p:cNvSpPr>
          <p:nvPr>
            <p:ph type="body" idx="32"/>
          </p:nvPr>
        </p:nvSpPr>
        <p:spPr>
          <a:xfrm>
            <a:off x="3937000" y="55245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00000"/>
                </a:solidFill>
                <a:latin typeface="SpotifyMixUITitle Medium"/>
              </a:rPr>
              <a:t>Active at 90 days</a:t>
            </a:r>
          </a:p>
        </p:txBody>
      </p:sp>
      <p:sp>
        <p:nvSpPr>
          <p:cNvPr id="33" name="Stage 4 Detail"/>
          <p:cNvSpPr>
            <a:spLocks noGrp="1"/>
          </p:cNvSpPr>
          <p:nvPr>
            <p:ph type="body" idx="33"/>
          </p:nvPr>
        </p:nvSpPr>
        <p:spPr>
          <a:xfrm>
            <a:off x="3937000" y="57658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DFDFD"/>
                </a:solidFill>
                <a:latin typeface="SpotifyMixUITitle"/>
              </a:rPr>
              <a:t>≥4 cycles in last month</a:t>
            </a:r>
          </a:p>
        </p:txBody>
      </p:sp>
      <p:sp>
        <p:nvSpPr>
          <p:cNvPr id="34" name="Stage 4 Volume"/>
          <p:cNvSpPr>
            <a:spLocks noGrp="1"/>
          </p:cNvSpPr>
          <p:nvPr>
            <p:ph type="body" idx="34"/>
          </p:nvPr>
        </p:nvSpPr>
        <p:spPr>
          <a:xfrm>
            <a:off x="6096000" y="55245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00000"/>
                </a:solidFill>
                <a:latin typeface="SpotifyMixUITitle Light"/>
              </a:rPr>
              <a:t>870 K</a:t>
            </a:r>
          </a:p>
        </p:txBody>
      </p:sp>
      <p:sp>
        <p:nvSpPr>
          <p:cNvPr id="35" name="Stage 4 Rate"/>
          <p:cNvSpPr>
            <a:spLocks noGrp="1"/>
          </p:cNvSpPr>
          <p:nvPr>
            <p:ph type="body" idx="35"/>
          </p:nvPr>
        </p:nvSpPr>
        <p:spPr>
          <a:xfrm>
            <a:off x="6096000" y="58293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DFDFD"/>
                </a:solidFill>
                <a:latin typeface="JetBrains Mono"/>
              </a:rPr>
              <a:t>36%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493000" y="3048000"/>
            <a:ext cx="4064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Dropoff 1 Pct"/>
          <p:cNvSpPr>
            <a:spLocks noGrp="1"/>
          </p:cNvSpPr>
          <p:nvPr>
            <p:ph type="body" idx="50"/>
          </p:nvPr>
        </p:nvSpPr>
        <p:spPr>
          <a:xfrm>
            <a:off x="7493000" y="31496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1ED760"/>
                </a:solidFill>
                <a:latin typeface="SpotifyMixUITitle Light"/>
              </a:rPr>
              <a:t>−22 pt</a:t>
            </a:r>
          </a:p>
        </p:txBody>
      </p:sp>
      <p:sp>
        <p:nvSpPr>
          <p:cNvPr id="38" name="Dropoff 1 Label"/>
          <p:cNvSpPr>
            <a:spLocks noGrp="1"/>
          </p:cNvSpPr>
          <p:nvPr>
            <p:ph type="body" idx="51"/>
          </p:nvPr>
        </p:nvSpPr>
        <p:spPr>
          <a:xfrm>
            <a:off x="7493000" y="35306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TRIAL → ACTIVATE</a:t>
            </a:r>
          </a:p>
        </p:txBody>
      </p:sp>
      <p:sp>
        <p:nvSpPr>
          <p:cNvPr id="39" name="Dropoff 1 Body"/>
          <p:cNvSpPr>
            <a:spLocks noGrp="1"/>
          </p:cNvSpPr>
          <p:nvPr>
            <p:ph type="body" idx="52"/>
          </p:nvPr>
        </p:nvSpPr>
        <p:spPr>
          <a:xfrm>
            <a:off x="7493000" y="37338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Activation fails on mixed-SSID routers and Wi-Fi 6 backward compatibility. Fix is scoped for Q1.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493000" y="4140200"/>
            <a:ext cx="4064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Dropoff 2 Pct"/>
          <p:cNvSpPr>
            <a:spLocks noGrp="1"/>
          </p:cNvSpPr>
          <p:nvPr>
            <p:ph type="body" idx="54"/>
          </p:nvPr>
        </p:nvSpPr>
        <p:spPr>
          <a:xfrm>
            <a:off x="7493000" y="42418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1ED760"/>
                </a:solidFill>
                <a:latin typeface="SpotifyMixUITitle Light"/>
              </a:rPr>
              <a:t>−14 pt</a:t>
            </a:r>
          </a:p>
        </p:txBody>
      </p:sp>
      <p:sp>
        <p:nvSpPr>
          <p:cNvPr id="42" name="Dropoff 2 Label"/>
          <p:cNvSpPr>
            <a:spLocks noGrp="1"/>
          </p:cNvSpPr>
          <p:nvPr>
            <p:ph type="body" idx="55"/>
          </p:nvPr>
        </p:nvSpPr>
        <p:spPr>
          <a:xfrm>
            <a:off x="7493000" y="46228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FEATURE → 90D ACTIVE</a:t>
            </a:r>
          </a:p>
        </p:txBody>
      </p:sp>
      <p:sp>
        <p:nvSpPr>
          <p:cNvPr id="43" name="Dropoff 2 Body"/>
          <p:cNvSpPr>
            <a:spLocks noGrp="1"/>
          </p:cNvSpPr>
          <p:nvPr>
            <p:ph type="body" idx="56"/>
          </p:nvPr>
        </p:nvSpPr>
        <p:spPr>
          <a:xfrm>
            <a:off x="7493000" y="48260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Users try one session then default to the panel. Cadence nudges in-app are live in Q2.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493000" y="5232400"/>
            <a:ext cx="4064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Dropoff 3 Pct"/>
          <p:cNvSpPr>
            <a:spLocks noGrp="1"/>
          </p:cNvSpPr>
          <p:nvPr>
            <p:ph type="body" idx="58"/>
          </p:nvPr>
        </p:nvSpPr>
        <p:spPr>
          <a:xfrm>
            <a:off x="7493000" y="53340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6" name="Dropoff 3 Label"/>
          <p:cNvSpPr>
            <a:spLocks noGrp="1"/>
          </p:cNvSpPr>
          <p:nvPr>
            <p:ph type="body" idx="59"/>
          </p:nvPr>
        </p:nvSpPr>
        <p:spPr>
          <a:xfrm>
            <a:off x="7493000" y="57150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7" name="Dropoff 3 Body"/>
          <p:cNvSpPr>
            <a:spLocks noGrp="1"/>
          </p:cNvSpPr>
          <p:nvPr>
            <p:ph type="body" idx="60"/>
          </p:nvPr>
        </p:nvSpPr>
        <p:spPr>
          <a:xfrm>
            <a:off x="7493000" y="59182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nn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VENN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WHERE THE THREE BUSINESSES MEET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The connected platform is the intersection — only the integrated brand has the product, the platform, and the service relationship.</a:t>
            </a:r>
          </a:p>
        </p:txBody>
      </p:sp>
      <p:sp>
        <p:nvSpPr>
          <p:cNvPr id="12" name="Oval 11"/>
          <p:cNvSpPr/>
          <p:nvPr/>
        </p:nvSpPr>
        <p:spPr>
          <a:xfrm>
            <a:off x="1587500" y="3238500"/>
            <a:ext cx="2159000" cy="2159000"/>
          </a:xfrm>
          <a:prstGeom prst="ellipse">
            <a:avLst/>
          </a:prstGeom>
          <a:solidFill>
            <a:srgbClr val="1ED760">
              <a:alpha val="50000"/>
            </a:srgbClr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111500" y="3238500"/>
            <a:ext cx="2159000" cy="2159000"/>
          </a:xfrm>
          <a:prstGeom prst="ellipse">
            <a:avLst/>
          </a:prstGeom>
          <a:solidFill>
            <a:srgbClr val="000000">
              <a:alpha val="50000"/>
            </a:srgbClr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349500" y="4381500"/>
            <a:ext cx="2159000" cy="2159000"/>
          </a:xfrm>
          <a:prstGeom prst="ellipse">
            <a:avLst/>
          </a:prstGeom>
          <a:solidFill>
            <a:srgbClr val="FDFDFD">
              <a:alpha val="50000"/>
            </a:srgbClr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098800" y="4400550"/>
            <a:ext cx="660400" cy="660400"/>
          </a:xfrm>
          <a:prstGeom prst="ellipse">
            <a:avLst/>
          </a:prstGeom>
          <a:solidFill>
            <a:srgbClr val="181818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et A Name"/>
          <p:cNvSpPr>
            <a:spLocks noGrp="1"/>
          </p:cNvSpPr>
          <p:nvPr>
            <p:ph type="body" idx="20"/>
          </p:nvPr>
        </p:nvSpPr>
        <p:spPr>
          <a:xfrm>
            <a:off x="1016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CONSUMER</a:t>
            </a:r>
          </a:p>
        </p:txBody>
      </p:sp>
      <p:sp>
        <p:nvSpPr>
          <p:cNvPr id="17" name="Set A Subtitle"/>
          <p:cNvSpPr>
            <a:spLocks noGrp="1"/>
          </p:cNvSpPr>
          <p:nvPr>
            <p:ph type="body" idx="21"/>
          </p:nvPr>
        </p:nvSpPr>
        <p:spPr>
          <a:xfrm>
            <a:off x="1016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FDFDFD"/>
                </a:solidFill>
                <a:latin typeface="JetBrains Mono"/>
              </a:rPr>
              <a:t>Product + brand</a:t>
            </a:r>
          </a:p>
        </p:txBody>
      </p:sp>
      <p:sp>
        <p:nvSpPr>
          <p:cNvPr id="18" name="Set B Name"/>
          <p:cNvSpPr>
            <a:spLocks noGrp="1"/>
          </p:cNvSpPr>
          <p:nvPr>
            <p:ph type="body" idx="24"/>
          </p:nvPr>
        </p:nvSpPr>
        <p:spPr>
          <a:xfrm>
            <a:off x="4318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PLATFORM</a:t>
            </a:r>
          </a:p>
        </p:txBody>
      </p:sp>
      <p:sp>
        <p:nvSpPr>
          <p:cNvPr id="19" name="Set B Subtitle"/>
          <p:cNvSpPr>
            <a:spLocks noGrp="1"/>
          </p:cNvSpPr>
          <p:nvPr>
            <p:ph type="body" idx="25"/>
          </p:nvPr>
        </p:nvSpPr>
        <p:spPr>
          <a:xfrm>
            <a:off x="4318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FDFDFD"/>
                </a:solidFill>
                <a:latin typeface="JetBrains Mono"/>
              </a:rPr>
              <a:t>Firmware + API</a:t>
            </a:r>
          </a:p>
        </p:txBody>
      </p:sp>
      <p:sp>
        <p:nvSpPr>
          <p:cNvPr id="20" name="Set C Name"/>
          <p:cNvSpPr>
            <a:spLocks noGrp="1"/>
          </p:cNvSpPr>
          <p:nvPr>
            <p:ph type="body" idx="28"/>
          </p:nvPr>
        </p:nvSpPr>
        <p:spPr>
          <a:xfrm>
            <a:off x="2667000" y="603885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SERVICES</a:t>
            </a:r>
          </a:p>
        </p:txBody>
      </p:sp>
      <p:sp>
        <p:nvSpPr>
          <p:cNvPr id="21" name="Set C Subtitle"/>
          <p:cNvSpPr>
            <a:spLocks noGrp="1"/>
          </p:cNvSpPr>
          <p:nvPr>
            <p:ph type="body" idx="29"/>
          </p:nvPr>
        </p:nvSpPr>
        <p:spPr>
          <a:xfrm>
            <a:off x="2667000" y="622935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FDFDFD"/>
                </a:solidFill>
                <a:latin typeface="JetBrains Mono"/>
              </a:rPr>
              <a:t>Install · repair</a:t>
            </a:r>
          </a:p>
        </p:txBody>
      </p:sp>
      <p:sp>
        <p:nvSpPr>
          <p:cNvPr id="22" name="Intersection AB"/>
          <p:cNvSpPr>
            <a:spLocks noGrp="1"/>
          </p:cNvSpPr>
          <p:nvPr>
            <p:ph type="body" idx="30"/>
          </p:nvPr>
        </p:nvSpPr>
        <p:spPr>
          <a:xfrm>
            <a:off x="2667000" y="415925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00000"/>
                </a:solidFill>
                <a:latin typeface="SpotifyMixUITitle Medium"/>
              </a:rPr>
              <a:t>Smart product</a:t>
            </a:r>
          </a:p>
        </p:txBody>
      </p:sp>
      <p:sp>
        <p:nvSpPr>
          <p:cNvPr id="23" name="Intersection AC"/>
          <p:cNvSpPr>
            <a:spLocks noGrp="1"/>
          </p:cNvSpPr>
          <p:nvPr>
            <p:ph type="body" idx="31"/>
          </p:nvPr>
        </p:nvSpPr>
        <p:spPr>
          <a:xfrm>
            <a:off x="1905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00000"/>
                </a:solidFill>
                <a:latin typeface="SpotifyMixUITitle Medium"/>
              </a:rPr>
              <a:t>In-home install</a:t>
            </a:r>
          </a:p>
        </p:txBody>
      </p:sp>
      <p:sp>
        <p:nvSpPr>
          <p:cNvPr id="24" name="Intersection BC"/>
          <p:cNvSpPr>
            <a:spLocks noGrp="1"/>
          </p:cNvSpPr>
          <p:nvPr>
            <p:ph type="body" idx="32"/>
          </p:nvPr>
        </p:nvSpPr>
        <p:spPr>
          <a:xfrm>
            <a:off x="3429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00000"/>
                </a:solidFill>
                <a:latin typeface="SpotifyMixUITitle Medium"/>
              </a:rPr>
              <a:t>Remote diagnostics</a:t>
            </a:r>
          </a:p>
        </p:txBody>
      </p:sp>
      <p:sp>
        <p:nvSpPr>
          <p:cNvPr id="25" name="Center Intersection"/>
          <p:cNvSpPr>
            <a:spLocks noGrp="1"/>
          </p:cNvSpPr>
          <p:nvPr>
            <p:ph type="body" idx="33"/>
          </p:nvPr>
        </p:nvSpPr>
        <p:spPr>
          <a:xfrm>
            <a:off x="2921000" y="4578350"/>
            <a:ext cx="1016000" cy="3048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00" b="1" spc="-4">
                <a:solidFill>
                  <a:srgbClr val="000000"/>
                </a:solidFill>
                <a:latin typeface="SpotifyMixUITitle"/>
              </a:rPr>
              <a:t>Connected platform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0" y="2921000"/>
            <a:ext cx="4699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Item 1 Counter"/>
          <p:cNvSpPr>
            <a:spLocks noGrp="1"/>
          </p:cNvSpPr>
          <p:nvPr>
            <p:ph type="body" idx="40"/>
          </p:nvPr>
        </p:nvSpPr>
        <p:spPr>
          <a:xfrm>
            <a:off x="6858000" y="29972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01 · CONSUMER × PLATFORM</a:t>
            </a:r>
          </a:p>
        </p:txBody>
      </p:sp>
      <p:sp>
        <p:nvSpPr>
          <p:cNvPr id="28" name="Item 1 Heading"/>
          <p:cNvSpPr>
            <a:spLocks noGrp="1"/>
          </p:cNvSpPr>
          <p:nvPr>
            <p:ph type="body" idx="41"/>
          </p:nvPr>
        </p:nvSpPr>
        <p:spPr>
          <a:xfrm>
            <a:off x="6858000" y="31750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00000"/>
                </a:solidFill>
                <a:latin typeface="SpotifyMixUITitle Medium"/>
              </a:rPr>
              <a:t>Smart product</a:t>
            </a:r>
          </a:p>
        </p:txBody>
      </p:sp>
      <p:sp>
        <p:nvSpPr>
          <p:cNvPr id="29" name="Item 1 Body"/>
          <p:cNvSpPr>
            <a:spLocks noGrp="1"/>
          </p:cNvSpPr>
          <p:nvPr>
            <p:ph type="body" idx="42"/>
          </p:nvPr>
        </p:nvSpPr>
        <p:spPr>
          <a:xfrm>
            <a:off x="6858000" y="34290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DFDFD"/>
                </a:solidFill>
                <a:latin typeface="SpotifyMixUITitle"/>
              </a:rPr>
              <a:t>Firmware turns the object into an addressable node — the basis for every service we layer on top.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858000" y="3803650"/>
            <a:ext cx="4699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Item 2 Counter"/>
          <p:cNvSpPr>
            <a:spLocks noGrp="1"/>
          </p:cNvSpPr>
          <p:nvPr>
            <p:ph type="body" idx="44"/>
          </p:nvPr>
        </p:nvSpPr>
        <p:spPr>
          <a:xfrm>
            <a:off x="6858000" y="38798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02 · PLATFORM × SERVICES</a:t>
            </a:r>
          </a:p>
        </p:txBody>
      </p:sp>
      <p:sp>
        <p:nvSpPr>
          <p:cNvPr id="32" name="Item 2 Heading"/>
          <p:cNvSpPr>
            <a:spLocks noGrp="1"/>
          </p:cNvSpPr>
          <p:nvPr>
            <p:ph type="body" idx="45"/>
          </p:nvPr>
        </p:nvSpPr>
        <p:spPr>
          <a:xfrm>
            <a:off x="6858000" y="40576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00000"/>
                </a:solidFill>
                <a:latin typeface="SpotifyMixUITitle Medium"/>
              </a:rPr>
              <a:t>Remote diagnostics</a:t>
            </a:r>
          </a:p>
        </p:txBody>
      </p:sp>
      <p:sp>
        <p:nvSpPr>
          <p:cNvPr id="33" name="Item 2 Body"/>
          <p:cNvSpPr>
            <a:spLocks noGrp="1"/>
          </p:cNvSpPr>
          <p:nvPr>
            <p:ph type="body" idx="46"/>
          </p:nvPr>
        </p:nvSpPr>
        <p:spPr>
          <a:xfrm>
            <a:off x="6858000" y="43116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DFDFD"/>
                </a:solidFill>
                <a:latin typeface="SpotifyMixUITitle"/>
              </a:rPr>
              <a:t>Telemetry lets service pre-triage a call; first-time-fix rate rises, truck rolls fall.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58000" y="4686300"/>
            <a:ext cx="4699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Item 3 Counter"/>
          <p:cNvSpPr>
            <a:spLocks noGrp="1"/>
          </p:cNvSpPr>
          <p:nvPr>
            <p:ph type="body" idx="48"/>
          </p:nvPr>
        </p:nvSpPr>
        <p:spPr>
          <a:xfrm>
            <a:off x="6858000" y="47625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03 · CONSUMER × SERVICES</a:t>
            </a:r>
          </a:p>
        </p:txBody>
      </p:sp>
      <p:sp>
        <p:nvSpPr>
          <p:cNvPr id="36" name="Item 3 Heading"/>
          <p:cNvSpPr>
            <a:spLocks noGrp="1"/>
          </p:cNvSpPr>
          <p:nvPr>
            <p:ph type="body" idx="49"/>
          </p:nvPr>
        </p:nvSpPr>
        <p:spPr>
          <a:xfrm>
            <a:off x="6858000" y="49403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00000"/>
                </a:solidFill>
                <a:latin typeface="SpotifyMixUITitle Medium"/>
              </a:rPr>
              <a:t>In-home install</a:t>
            </a:r>
          </a:p>
        </p:txBody>
      </p:sp>
      <p:sp>
        <p:nvSpPr>
          <p:cNvPr id="37" name="Item 3 Body"/>
          <p:cNvSpPr>
            <a:spLocks noGrp="1"/>
          </p:cNvSpPr>
          <p:nvPr>
            <p:ph type="body" idx="50"/>
          </p:nvPr>
        </p:nvSpPr>
        <p:spPr>
          <a:xfrm>
            <a:off x="6858000" y="51943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DFDFD"/>
                </a:solidFill>
                <a:latin typeface="SpotifyMixUITitle"/>
              </a:rPr>
              <a:t>Existing service relationship carries trust; we extend it into the subscription tier.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858000" y="5568950"/>
            <a:ext cx="4699000" cy="127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Item 4 Counter"/>
          <p:cNvSpPr>
            <a:spLocks noGrp="1"/>
          </p:cNvSpPr>
          <p:nvPr>
            <p:ph type="body" idx="52"/>
          </p:nvPr>
        </p:nvSpPr>
        <p:spPr>
          <a:xfrm>
            <a:off x="6858000" y="56451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CENTER</a:t>
            </a:r>
          </a:p>
        </p:txBody>
      </p:sp>
      <p:sp>
        <p:nvSpPr>
          <p:cNvPr id="40" name="Item 4 Heading"/>
          <p:cNvSpPr>
            <a:spLocks noGrp="1"/>
          </p:cNvSpPr>
          <p:nvPr>
            <p:ph type="body" idx="53"/>
          </p:nvPr>
        </p:nvSpPr>
        <p:spPr>
          <a:xfrm>
            <a:off x="6858000" y="58229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00000"/>
                </a:solidFill>
                <a:latin typeface="SpotifyMixUITitle Medium"/>
              </a:rPr>
              <a:t>Connected platform</a:t>
            </a:r>
          </a:p>
        </p:txBody>
      </p:sp>
      <p:sp>
        <p:nvSpPr>
          <p:cNvPr id="41" name="Item 4 Body"/>
          <p:cNvSpPr>
            <a:spLocks noGrp="1"/>
          </p:cNvSpPr>
          <p:nvPr>
            <p:ph type="body" idx="54"/>
          </p:nvPr>
        </p:nvSpPr>
        <p:spPr>
          <a:xfrm>
            <a:off x="6858000" y="60769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DFDFD"/>
                </a:solidFill>
                <a:latin typeface="SpotifyMixUITitle"/>
              </a:rPr>
              <a:t>Only Feinschliff sits in all three sets at scale — the moat no single-category competitor can cross.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Diagram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35000" y="1587500"/>
            <a:ext cx="10922000" cy="4318000"/>
          </a:xfrm>
          <a:prstGeom prst="rect">
            <a:avLst/>
          </a:prstGeom>
          <a:solidFill>
            <a:srgbClr val="4D4D4D"/>
          </a:solidFill>
          <a:ln w="6350">
            <a:solidFill>
              <a:srgbClr val="7C7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71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DFDFD"/>
                </a:solidFill>
                <a:latin typeface="JetBrains Mono"/>
              </a:rPr>
              <a:t>DIAGRAM · FILL VIA /DECK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LAYOUT · DIAGRAM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11" name="Rectangle 10"/>
          <p:cNvSpPr/>
          <p:nvPr/>
        </p:nvSpPr>
        <p:spPr>
          <a:xfrm>
            <a:off x="635000" y="762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yebrow"/>
          <p:cNvSpPr>
            <a:spLocks noGrp="1"/>
          </p:cNvSpPr>
          <p:nvPr>
            <p:ph type="body" idx="10"/>
          </p:nvPr>
        </p:nvSpPr>
        <p:spPr>
          <a:xfrm>
            <a:off x="635000" y="1016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LAYOUT · DIAGRAM</a:t>
            </a:r>
          </a:p>
        </p:txBody>
      </p:sp>
      <p:sp>
        <p:nvSpPr>
          <p:cNvPr id="13" name="Title"/>
          <p:cNvSpPr>
            <a:spLocks noGrp="1"/>
          </p:cNvSpPr>
          <p:nvPr>
            <p:ph type="title"/>
          </p:nvPr>
        </p:nvSpPr>
        <p:spPr>
          <a:xfrm>
            <a:off x="635000" y="1238250"/>
            <a:ext cx="10922000" cy="317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spc="-72">
                <a:solidFill>
                  <a:srgbClr val="FFFFFF"/>
                </a:solidFill>
                <a:latin typeface="SpotifyMixUITitle Light"/>
              </a:rPr>
              <a:t>Architectural overview goes here.</a:t>
            </a:r>
          </a:p>
        </p:txBody>
      </p:sp>
      <p:sp>
        <p:nvSpPr>
          <p:cNvPr id="14" name="Caption"/>
          <p:cNvSpPr>
            <a:spLocks noGrp="1"/>
          </p:cNvSpPr>
          <p:nvPr>
            <p:ph type="body" idx="11"/>
          </p:nvPr>
        </p:nvSpPr>
        <p:spPr>
          <a:xfrm>
            <a:off x="635000" y="6064250"/>
            <a:ext cx="10922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Caption · source, figure number, etc.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ech Radar · Full Bleed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4D4D4D"/>
            </a:fgClr>
            <a:bgClr>
              <a:srgbClr val="181818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spc="70">
                <a:solidFill>
                  <a:srgbClr val="FDFDFD"/>
                </a:solidFill>
                <a:latin typeface="JetBrains Mono"/>
              </a:rPr>
              <a:t>DROP TECH-RADAR PNG (RADAR-ENGINE RENDER)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-Model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V-MODEL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Kicker"/>
          <p:cNvSpPr>
            <a:spLocks noGrp="1"/>
          </p:cNvSpPr>
          <p:nvPr>
            <p:ph type="body" idx="11"/>
          </p:nvPr>
        </p:nvSpPr>
        <p:spPr>
          <a:xfrm>
            <a:off x="635000" y="1143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VERIFICATION · VALIDATION</a:t>
            </a:r>
          </a:p>
        </p:txBody>
      </p:sp>
      <p:sp>
        <p:nvSpPr>
          <p:cNvPr id="10" name="Action 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2600" b="1">
                <a:solidFill>
                  <a:srgbClr val="FFFFFF"/>
                </a:solidFill>
                <a:latin typeface="SpotifyMixUITitle"/>
              </a:rPr>
              <a:t>Every design step on the left has a matching test on the right — the V-model pairs them.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16000" y="28003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16000" y="2800350"/>
            <a:ext cx="25400" cy="6096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906000" y="28003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150600" y="2800350"/>
            <a:ext cx="25400" cy="6096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286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362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438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514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590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667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819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895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971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048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124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276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352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429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505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581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657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733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810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886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962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038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114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191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267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343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419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495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572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648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724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800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876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953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029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105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181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257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334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410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486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562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638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715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791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867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943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019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096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172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248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324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400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477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553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629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705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781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858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934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7010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086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162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239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315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391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467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543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620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696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772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848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7924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8001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8077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8153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229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305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382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458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534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610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686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763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839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8915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8991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9067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9144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9220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9296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9372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448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525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601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9677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9753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9829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5461000" y="30289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2286000" y="34734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2286000" y="3473450"/>
            <a:ext cx="25400" cy="6096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8636000" y="34734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9880600" y="3473450"/>
            <a:ext cx="25400" cy="6096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3556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3632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3708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3784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3860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3937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4013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4089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4165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4241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4318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4394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4470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4546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4622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4699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4775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4851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4927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5003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5080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5156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5232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5308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5384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5461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5537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5613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5689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5765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5842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5918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5994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6070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6146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6223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6299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6375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6451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6527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6604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6680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6756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6832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6908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6985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7061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7137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7213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7289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7366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7442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7518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7594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7670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7747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7823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7899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7975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8051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8128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8204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8280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8356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8432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8509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8585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5461000" y="37020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3556000" y="41465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3556000" y="4146550"/>
            <a:ext cx="25400" cy="6096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7366000" y="41465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8610600" y="4146550"/>
            <a:ext cx="25400" cy="6096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48260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49022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49784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50546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51308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52070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52832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53594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54356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55118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55880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56642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57404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58166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58928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59690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60452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61214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61976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62738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63500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64262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65024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65786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66548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67310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68072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68834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69596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70358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71120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71882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72644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7340600" y="4448175"/>
            <a:ext cx="254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5461000" y="43751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4191000" y="48196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4191000" y="4819650"/>
            <a:ext cx="25400" cy="6096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6731000" y="48196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7975600" y="4819650"/>
            <a:ext cx="25400" cy="6096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54610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55372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56134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56896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57658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58420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59182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59944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60706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61468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62230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62992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63754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64516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65278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66040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66802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5461000" y="50482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Rectangle 248"/>
          <p:cNvSpPr/>
          <p:nvPr/>
        </p:nvSpPr>
        <p:spPr>
          <a:xfrm>
            <a:off x="4826000" y="5543550"/>
            <a:ext cx="2540000" cy="5461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Rectangle 249"/>
          <p:cNvSpPr/>
          <p:nvPr/>
        </p:nvSpPr>
        <p:spPr>
          <a:xfrm>
            <a:off x="4826000" y="5543550"/>
            <a:ext cx="2540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Pair 1 L Counter"/>
          <p:cNvSpPr>
            <a:spLocks noGrp="1"/>
          </p:cNvSpPr>
          <p:nvPr>
            <p:ph type="body" idx="20"/>
          </p:nvPr>
        </p:nvSpPr>
        <p:spPr>
          <a:xfrm>
            <a:off x="113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FDFDFD"/>
                </a:solidFill>
                <a:latin typeface="SpotifyMixUITitle"/>
              </a:rPr>
              <a:t>PHASE 01</a:t>
            </a:r>
          </a:p>
        </p:txBody>
      </p:sp>
      <p:sp>
        <p:nvSpPr>
          <p:cNvPr id="252" name="Pair 1 L Title"/>
          <p:cNvSpPr>
            <a:spLocks noGrp="1"/>
          </p:cNvSpPr>
          <p:nvPr>
            <p:ph type="body" idx="21"/>
          </p:nvPr>
        </p:nvSpPr>
        <p:spPr>
          <a:xfrm>
            <a:off x="113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Requirement gathering</a:t>
            </a:r>
          </a:p>
        </p:txBody>
      </p:sp>
      <p:sp>
        <p:nvSpPr>
          <p:cNvPr id="253" name="Pair 1 R Counter"/>
          <p:cNvSpPr>
            <a:spLocks noGrp="1"/>
          </p:cNvSpPr>
          <p:nvPr>
            <p:ph type="body" idx="22"/>
          </p:nvPr>
        </p:nvSpPr>
        <p:spPr>
          <a:xfrm>
            <a:off x="1002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60" cap="all">
                <a:solidFill>
                  <a:srgbClr val="1DB954"/>
                </a:solidFill>
                <a:latin typeface="SpotifyMixUITitle"/>
              </a:rPr>
              <a:t>TEST 01</a:t>
            </a:r>
          </a:p>
        </p:txBody>
      </p:sp>
      <p:sp>
        <p:nvSpPr>
          <p:cNvPr id="254" name="Pair 1 R Title"/>
          <p:cNvSpPr>
            <a:spLocks noGrp="1"/>
          </p:cNvSpPr>
          <p:nvPr>
            <p:ph type="body" idx="23"/>
          </p:nvPr>
        </p:nvSpPr>
        <p:spPr>
          <a:xfrm>
            <a:off x="1002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Acceptance testing</a:t>
            </a:r>
          </a:p>
        </p:txBody>
      </p:sp>
      <p:sp>
        <p:nvSpPr>
          <p:cNvPr id="255" name="Pair 1 Connector"/>
          <p:cNvSpPr>
            <a:spLocks noGrp="1"/>
          </p:cNvSpPr>
          <p:nvPr>
            <p:ph type="body" idx="24"/>
          </p:nvPr>
        </p:nvSpPr>
        <p:spPr>
          <a:xfrm>
            <a:off x="5511800" y="30543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DFDFD"/>
                </a:solidFill>
                <a:latin typeface="SpotifyMixUITitle"/>
              </a:rPr>
              <a:t>ACCEPTANCE PLAN</a:t>
            </a:r>
          </a:p>
        </p:txBody>
      </p:sp>
      <p:sp>
        <p:nvSpPr>
          <p:cNvPr id="256" name="Pair 2 L Counter"/>
          <p:cNvSpPr>
            <a:spLocks noGrp="1"/>
          </p:cNvSpPr>
          <p:nvPr>
            <p:ph type="body" idx="25"/>
          </p:nvPr>
        </p:nvSpPr>
        <p:spPr>
          <a:xfrm>
            <a:off x="240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FDFDFD"/>
                </a:solidFill>
                <a:latin typeface="SpotifyMixUITitle"/>
              </a:rPr>
              <a:t>PHASE 02</a:t>
            </a:r>
          </a:p>
        </p:txBody>
      </p:sp>
      <p:sp>
        <p:nvSpPr>
          <p:cNvPr id="257" name="Pair 2 L Title"/>
          <p:cNvSpPr>
            <a:spLocks noGrp="1"/>
          </p:cNvSpPr>
          <p:nvPr>
            <p:ph type="body" idx="26"/>
          </p:nvPr>
        </p:nvSpPr>
        <p:spPr>
          <a:xfrm>
            <a:off x="240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System analysis</a:t>
            </a:r>
          </a:p>
        </p:txBody>
      </p:sp>
      <p:sp>
        <p:nvSpPr>
          <p:cNvPr id="258" name="Pair 2 R Counter"/>
          <p:cNvSpPr>
            <a:spLocks noGrp="1"/>
          </p:cNvSpPr>
          <p:nvPr>
            <p:ph type="body" idx="27"/>
          </p:nvPr>
        </p:nvSpPr>
        <p:spPr>
          <a:xfrm>
            <a:off x="875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60" cap="all">
                <a:solidFill>
                  <a:srgbClr val="1DB954"/>
                </a:solidFill>
                <a:latin typeface="SpotifyMixUITitle"/>
              </a:rPr>
              <a:t>TEST 02</a:t>
            </a:r>
          </a:p>
        </p:txBody>
      </p:sp>
      <p:sp>
        <p:nvSpPr>
          <p:cNvPr id="259" name="Pair 2 R Title"/>
          <p:cNvSpPr>
            <a:spLocks noGrp="1"/>
          </p:cNvSpPr>
          <p:nvPr>
            <p:ph type="body" idx="28"/>
          </p:nvPr>
        </p:nvSpPr>
        <p:spPr>
          <a:xfrm>
            <a:off x="875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System testing</a:t>
            </a:r>
          </a:p>
        </p:txBody>
      </p:sp>
      <p:sp>
        <p:nvSpPr>
          <p:cNvPr id="260" name="Pair 2 Connector"/>
          <p:cNvSpPr>
            <a:spLocks noGrp="1"/>
          </p:cNvSpPr>
          <p:nvPr>
            <p:ph type="body" idx="29"/>
          </p:nvPr>
        </p:nvSpPr>
        <p:spPr>
          <a:xfrm>
            <a:off x="5511800" y="37274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DFDFD"/>
                </a:solidFill>
                <a:latin typeface="SpotifyMixUITitle"/>
              </a:rPr>
              <a:t>SYSTEM TEST PLAN</a:t>
            </a:r>
          </a:p>
        </p:txBody>
      </p:sp>
      <p:sp>
        <p:nvSpPr>
          <p:cNvPr id="261" name="Pair 3 L Counter"/>
          <p:cNvSpPr>
            <a:spLocks noGrp="1"/>
          </p:cNvSpPr>
          <p:nvPr>
            <p:ph type="body" idx="30"/>
          </p:nvPr>
        </p:nvSpPr>
        <p:spPr>
          <a:xfrm>
            <a:off x="367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FDFDFD"/>
                </a:solidFill>
                <a:latin typeface="SpotifyMixUITitle"/>
              </a:rPr>
              <a:t>PHASE 03</a:t>
            </a:r>
          </a:p>
        </p:txBody>
      </p:sp>
      <p:sp>
        <p:nvSpPr>
          <p:cNvPr id="262" name="Pair 3 L Title"/>
          <p:cNvSpPr>
            <a:spLocks noGrp="1"/>
          </p:cNvSpPr>
          <p:nvPr>
            <p:ph type="body" idx="31"/>
          </p:nvPr>
        </p:nvSpPr>
        <p:spPr>
          <a:xfrm>
            <a:off x="367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Software design</a:t>
            </a:r>
          </a:p>
        </p:txBody>
      </p:sp>
      <p:sp>
        <p:nvSpPr>
          <p:cNvPr id="263" name="Pair 3 R Counter"/>
          <p:cNvSpPr>
            <a:spLocks noGrp="1"/>
          </p:cNvSpPr>
          <p:nvPr>
            <p:ph type="body" idx="32"/>
          </p:nvPr>
        </p:nvSpPr>
        <p:spPr>
          <a:xfrm>
            <a:off x="748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60" cap="all">
                <a:solidFill>
                  <a:srgbClr val="1DB954"/>
                </a:solidFill>
                <a:latin typeface="SpotifyMixUITitle"/>
              </a:rPr>
              <a:t>TEST 03</a:t>
            </a:r>
          </a:p>
        </p:txBody>
      </p:sp>
      <p:sp>
        <p:nvSpPr>
          <p:cNvPr id="264" name="Pair 3 R Title"/>
          <p:cNvSpPr>
            <a:spLocks noGrp="1"/>
          </p:cNvSpPr>
          <p:nvPr>
            <p:ph type="body" idx="33"/>
          </p:nvPr>
        </p:nvSpPr>
        <p:spPr>
          <a:xfrm>
            <a:off x="748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Integration testing</a:t>
            </a:r>
          </a:p>
        </p:txBody>
      </p:sp>
      <p:sp>
        <p:nvSpPr>
          <p:cNvPr id="265" name="Pair 3 Connector"/>
          <p:cNvSpPr>
            <a:spLocks noGrp="1"/>
          </p:cNvSpPr>
          <p:nvPr>
            <p:ph type="body" idx="34"/>
          </p:nvPr>
        </p:nvSpPr>
        <p:spPr>
          <a:xfrm>
            <a:off x="5511800" y="44005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DFDFD"/>
                </a:solidFill>
                <a:latin typeface="SpotifyMixUITitle"/>
              </a:rPr>
              <a:t>INTEGRATION</a:t>
            </a:r>
          </a:p>
        </p:txBody>
      </p:sp>
      <p:sp>
        <p:nvSpPr>
          <p:cNvPr id="266" name="Pair 4 L Counter"/>
          <p:cNvSpPr>
            <a:spLocks noGrp="1"/>
          </p:cNvSpPr>
          <p:nvPr>
            <p:ph type="body" idx="35"/>
          </p:nvPr>
        </p:nvSpPr>
        <p:spPr>
          <a:xfrm>
            <a:off x="430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FDFDFD"/>
                </a:solidFill>
                <a:latin typeface="SpotifyMixUITitle"/>
              </a:rPr>
              <a:t>PHASE 04</a:t>
            </a:r>
          </a:p>
        </p:txBody>
      </p:sp>
      <p:sp>
        <p:nvSpPr>
          <p:cNvPr id="267" name="Pair 4 L Title"/>
          <p:cNvSpPr>
            <a:spLocks noGrp="1"/>
          </p:cNvSpPr>
          <p:nvPr>
            <p:ph type="body" idx="36"/>
          </p:nvPr>
        </p:nvSpPr>
        <p:spPr>
          <a:xfrm>
            <a:off x="430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Module design</a:t>
            </a:r>
          </a:p>
        </p:txBody>
      </p:sp>
      <p:sp>
        <p:nvSpPr>
          <p:cNvPr id="268" name="Pair 4 R Counter"/>
          <p:cNvSpPr>
            <a:spLocks noGrp="1"/>
          </p:cNvSpPr>
          <p:nvPr>
            <p:ph type="body" idx="37"/>
          </p:nvPr>
        </p:nvSpPr>
        <p:spPr>
          <a:xfrm>
            <a:off x="684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60" cap="all">
                <a:solidFill>
                  <a:srgbClr val="1DB954"/>
                </a:solidFill>
                <a:latin typeface="SpotifyMixUITitle"/>
              </a:rPr>
              <a:t>TEST 04</a:t>
            </a:r>
          </a:p>
        </p:txBody>
      </p:sp>
      <p:sp>
        <p:nvSpPr>
          <p:cNvPr id="269" name="Pair 4 R Title"/>
          <p:cNvSpPr>
            <a:spLocks noGrp="1"/>
          </p:cNvSpPr>
          <p:nvPr>
            <p:ph type="body" idx="38"/>
          </p:nvPr>
        </p:nvSpPr>
        <p:spPr>
          <a:xfrm>
            <a:off x="684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Unit testing</a:t>
            </a:r>
          </a:p>
        </p:txBody>
      </p:sp>
      <p:sp>
        <p:nvSpPr>
          <p:cNvPr id="270" name="Pair 4 Connector"/>
          <p:cNvSpPr>
            <a:spLocks noGrp="1"/>
          </p:cNvSpPr>
          <p:nvPr>
            <p:ph type="body" idx="39"/>
          </p:nvPr>
        </p:nvSpPr>
        <p:spPr>
          <a:xfrm>
            <a:off x="5511800" y="50736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DFDFD"/>
                </a:solidFill>
                <a:latin typeface="SpotifyMixUITitle"/>
              </a:rPr>
              <a:t>UNIT TESTS</a:t>
            </a:r>
          </a:p>
        </p:txBody>
      </p:sp>
      <p:sp>
        <p:nvSpPr>
          <p:cNvPr id="271" name="Pivot Counter"/>
          <p:cNvSpPr>
            <a:spLocks noGrp="1"/>
          </p:cNvSpPr>
          <p:nvPr>
            <p:ph type="body" idx="40"/>
          </p:nvPr>
        </p:nvSpPr>
        <p:spPr>
          <a:xfrm>
            <a:off x="4826000" y="5645150"/>
            <a:ext cx="2540000" cy="127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PIVOT</a:t>
            </a:r>
          </a:p>
        </p:txBody>
      </p:sp>
      <p:sp>
        <p:nvSpPr>
          <p:cNvPr id="272" name="Pivot Title"/>
          <p:cNvSpPr>
            <a:spLocks noGrp="1"/>
          </p:cNvSpPr>
          <p:nvPr>
            <p:ph type="body" idx="41"/>
          </p:nvPr>
        </p:nvSpPr>
        <p:spPr>
          <a:xfrm>
            <a:off x="4826000" y="5797550"/>
            <a:ext cx="2540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SpotifyMixUITitle"/>
              </a:rPr>
              <a:t>Coding &amp; implementation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1.xml"/><Relationship Id="rId33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33.xml"/><Relationship Id="rId35" Type="http://schemas.openxmlformats.org/officeDocument/2006/relationships/slideLayout" Target="../slideLayouts/slideLayout34.xml"/><Relationship Id="rId36" Type="http://schemas.openxmlformats.org/officeDocument/2006/relationships/slideLayout" Target="../slideLayouts/slideLayout35.xml"/><Relationship Id="rId37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Layout · line chart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Headline takeaway from the trend over time.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DFDFD"/>
                </a:solidFill>
                <a:latin typeface="JetBrains Mono"/>
              </a:rPr>
              <a:t>P1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DFDFD"/>
                </a:solidFill>
                <a:latin typeface="JetBrains Mono"/>
              </a:rPr>
              <a:t>P2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DFDFD"/>
                </a:solidFill>
                <a:latin typeface="JetBrains Mono"/>
              </a:rPr>
              <a:t>P3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DFDFD"/>
                </a:solidFill>
                <a:latin typeface="JetBrains Mono"/>
              </a:rPr>
              <a:t>P4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DFDFD"/>
                </a:solidFill>
                <a:latin typeface="JetBrains Mono"/>
              </a:rPr>
              <a:t>P5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SpotifyMixUITitle Medium"/>
              </a:rPr>
              <a:t>Series A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SpotifyMixUITitle Medium"/>
              </a:rPr>
              <a:t>Series B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4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DFDFD"/>
                </a:solidFill>
                <a:latin typeface="JetBrains Mono"/>
              </a:rPr>
              <a:t>Source · placeholder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Spotify">
      <a:dk1>
        <a:sysClr val="windowText" lastClr="FFFFFF"/>
      </a:dk1>
      <a:lt1>
        <a:sysClr val="window" lastClr="121212"/>
      </a:lt1>
      <a:dk2>
        <a:srgbClr val="000000"/>
      </a:dk2>
      <a:lt2>
        <a:srgbClr val="181818"/>
      </a:lt2>
      <a:accent1>
        <a:srgbClr val="1ED760"/>
      </a:accent1>
      <a:accent2>
        <a:srgbClr val="509BF5"/>
      </a:accent2>
      <a:accent3>
        <a:srgbClr val="FDFDFD"/>
      </a:accent3>
      <a:accent4>
        <a:srgbClr val="B3B3B3"/>
      </a:accent4>
      <a:accent5>
        <a:srgbClr val="7C7C7C"/>
      </a:accent5>
      <a:accent6>
        <a:srgbClr val="4D4D4D"/>
      </a:accent6>
      <a:hlink>
        <a:srgbClr val="1DB954"/>
      </a:hlink>
      <a:folHlink>
        <a:srgbClr val="1ED760"/>
      </a:folHlink>
    </a:clrScheme>
    <a:fontScheme name="Spotify">
      <a:majorFont>
        <a:latin typeface="SpotifyMixUITitle" panose="020B0604020202020204"/>
        <a:ea typeface=""/>
        <a:cs typeface=""/>
      </a:majorFont>
      <a:minorFont>
        <a:latin typeface="SpotifyMixUITitle" panose="020B0604020202020204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