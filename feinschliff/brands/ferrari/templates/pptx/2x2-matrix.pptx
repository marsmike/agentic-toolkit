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FERRARI ·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0" y="4114800"/>
            <a:ext cx="12192000" cy="27432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47244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THE NEXT GENERATION · 2026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5003800"/>
            <a:ext cx="10795000" cy="1270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Made in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Maranello.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FERRARI ·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3429000"/>
            <a:ext cx="508000" cy="127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3556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A SHOWCASE · 2026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3937000"/>
            <a:ext cx="952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Ferrari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Showcase Deck.</a:t>
            </a:r>
          </a:p>
        </p:txBody>
      </p:sp>
      <p:sp>
        <p:nvSpPr>
          <p:cNvPr id="11" name="Subtitle"/>
          <p:cNvSpPr>
            <a:spLocks noGrp="1"/>
          </p:cNvSpPr>
          <p:nvPr>
            <p:ph type="body" idx="11"/>
          </p:nvPr>
        </p:nvSpPr>
        <p:spPr>
          <a:xfrm>
            <a:off x="609600" y="54610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969696"/>
                </a:solidFill>
                <a:latin typeface="FerrariSans Medium"/>
              </a:rPr>
              <a:t>A showcase of the Ferrari design system.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600" y="6032500"/>
            <a:ext cx="1270000" cy="355600"/>
          </a:xfrm>
          <a:prstGeom prst="rect">
            <a:avLst/>
          </a:prstGeom>
          <a:solidFill>
            <a:srgbClr val="DA291C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DISCOVER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303030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PRODUCT SHOT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TITLE + PICTURE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28575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35000" y="31369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LAYOUT 03 · TITLE + PICTURE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3454400"/>
            <a:ext cx="5207000" cy="1651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200" spc="-216">
                <a:solidFill>
                  <a:srgbClr val="FFFFFF"/>
                </a:solidFill>
                <a:latin typeface="FerrariSans Medium"/>
              </a:rPr>
              <a:t>Pair a title</a:t>
            </a:r>
          </a:p>
          <a:p>
            <a:pPr marL="0" indent="0" algn="l">
              <a:buNone/>
            </a:pPr>
            <a:r>
              <a:rPr lang="en-US" sz="7200" spc="-216">
                <a:solidFill>
                  <a:srgbClr val="FFFFFF"/>
                </a:solidFill>
                <a:latin typeface="FerrariSans Medium"/>
              </a:rPr>
              <a:t>with a product.</a:t>
            </a:r>
          </a:p>
        </p:txBody>
      </p:sp>
      <p:sp>
        <p:nvSpPr>
          <p:cNvPr id="13" name="Body"/>
          <p:cNvSpPr>
            <a:spLocks noGrp="1"/>
          </p:cNvSpPr>
          <p:nvPr>
            <p:ph type="body" idx="11"/>
          </p:nvPr>
        </p:nvSpPr>
        <p:spPr>
          <a:xfrm>
            <a:off x="635000" y="5207000"/>
            <a:ext cx="4953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Full-bleed image on the right half, title stacked on the left. The logo and page meta sit on top, unchanged.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ONLY TITLE LAYOUT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spc="-56">
                <a:solidFill>
                  <a:srgbClr val="FFFFFF"/>
                </a:solidFill>
                <a:latin typeface="FerrariSans Medium"/>
              </a:rPr>
              <a:t>What we'll cover.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01 / 06</a:t>
            </a:r>
          </a:p>
        </p:txBody>
      </p:sp>
      <p:sp>
        <p:nvSpPr>
          <p:cNvPr id="13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Brand mark</a:t>
            </a:r>
          </a:p>
        </p:txBody>
      </p:sp>
      <p:sp>
        <p:nvSpPr>
          <p:cNvPr id="14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Wordmark, contrast, clear space.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02 / 06</a:t>
            </a:r>
          </a:p>
        </p:txBody>
      </p:sp>
      <p:sp>
        <p:nvSpPr>
          <p:cNvPr id="17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Colour</a:t>
            </a:r>
          </a:p>
        </p:txBody>
      </p:sp>
      <p:sp>
        <p:nvSpPr>
          <p:cNvPr id="18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One orange, seven neutrals.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03 / 06</a:t>
            </a:r>
          </a:p>
        </p:txBody>
      </p:sp>
      <p:sp>
        <p:nvSpPr>
          <p:cNvPr id="21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Type</a:t>
            </a:r>
          </a:p>
        </p:txBody>
      </p:sp>
      <p:sp>
        <p:nvSpPr>
          <p:cNvPr id="22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Noto Sans, 28pt titles.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04 / 06</a:t>
            </a:r>
          </a:p>
        </p:txBody>
      </p:sp>
      <p:sp>
        <p:nvSpPr>
          <p:cNvPr id="25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Layouts</a:t>
            </a:r>
          </a:p>
        </p:txBody>
      </p:sp>
      <p:sp>
        <p:nvSpPr>
          <p:cNvPr id="26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Chapter, content, picture, data.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05 / 06</a:t>
            </a:r>
          </a:p>
        </p:txBody>
      </p:sp>
      <p:sp>
        <p:nvSpPr>
          <p:cNvPr id="29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Components</a:t>
            </a:r>
          </a:p>
        </p:txBody>
      </p:sp>
      <p:sp>
        <p:nvSpPr>
          <p:cNvPr id="30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Buttons, chips, KPIs, rules.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06 / 06</a:t>
            </a:r>
          </a:p>
        </p:txBody>
      </p:sp>
      <p:sp>
        <p:nvSpPr>
          <p:cNvPr id="33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Voice</a:t>
            </a:r>
          </a:p>
        </p:txBody>
      </p:sp>
      <p:sp>
        <p:nvSpPr>
          <p:cNvPr id="34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CHAPTER 01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TextBox 7"/>
          <p:cNvSpPr txBox="1"/>
          <p:nvPr/>
        </p:nvSpPr>
        <p:spPr>
          <a:xfrm>
            <a:off x="6985000" y="1524000"/>
            <a:ext cx="45720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spc="-240" b="0">
                <a:solidFill>
                  <a:srgbClr val="2A2A2A"/>
                </a:solidFill>
                <a:latin typeface="FerrariSans Medium"/>
              </a:rPr>
              <a:t>01</a:t>
            </a:r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2794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969696"/>
                </a:solidFill>
                <a:latin typeface="FerrariSans"/>
              </a:rPr>
              <a:t>CHAPTER 01 · MODELS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600" y="3136900"/>
            <a:ext cx="3556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09600" y="3429000"/>
            <a:ext cx="825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Models &amp;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New Releases.</a:t>
            </a:r>
          </a:p>
        </p:txBody>
      </p:sp>
      <p:sp>
        <p:nvSpPr>
          <p:cNvPr id="12" name="Subtitle"/>
          <p:cNvSpPr>
            <a:spLocks noGrp="1"/>
          </p:cNvSpPr>
          <p:nvPr>
            <p:ph type="body" idx="11"/>
          </p:nvPr>
        </p:nvSpPr>
        <p:spPr>
          <a:xfrm>
            <a:off x="609600" y="52070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969696"/>
                </a:solidFill>
                <a:latin typeface="FerrariSans Medium"/>
              </a:rPr>
              <a:t>The full lineup at a glance — V8, V12, hybrid, GT.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spc="80">
                <a:solidFill>
                  <a:srgbClr val="969696"/>
                </a:solidFill>
                <a:latin typeface="FerrariSans"/>
              </a:rPr>
              <a:t>EDITORIAL IMAGE · 21:9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CHAPTER 02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09600" y="2768600"/>
            <a:ext cx="508000" cy="127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09600" y="28956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CHAPTER 02 · DESIGN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09600" y="3302000"/>
            <a:ext cx="5207000" cy="228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Colour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&amp; Type.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SPECIFICATIONS ·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AT A GLANCE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Performance figures.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" y="34290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600" y="54610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KPI 1 Value"/>
          <p:cNvSpPr>
            <a:spLocks noGrp="1"/>
          </p:cNvSpPr>
          <p:nvPr>
            <p:ph type="body" idx="30"/>
          </p:nvPr>
        </p:nvSpPr>
        <p:spPr>
          <a:xfrm>
            <a:off x="762000" y="3746500"/>
            <a:ext cx="17780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6000" b="1" spc="-120">
                <a:solidFill>
                  <a:srgbClr val="FFFFFF"/>
                </a:solidFill>
                <a:latin typeface="FerrariSans"/>
              </a:rPr>
              <a:t>296</a:t>
            </a:r>
          </a:p>
        </p:txBody>
      </p:sp>
      <p:sp>
        <p:nvSpPr>
          <p:cNvPr id="14" name="KPI 1 Unit"/>
          <p:cNvSpPr>
            <a:spLocks noGrp="1"/>
          </p:cNvSpPr>
          <p:nvPr>
            <p:ph type="body" idx="31"/>
          </p:nvPr>
        </p:nvSpPr>
        <p:spPr>
          <a:xfrm>
            <a:off x="2540000" y="3746500"/>
            <a:ext cx="5588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 b="1">
                <a:solidFill>
                  <a:srgbClr val="969696"/>
                </a:solidFill>
                <a:latin typeface="FerrariSans"/>
              </a:rPr>
              <a:t> km/h</a:t>
            </a:r>
          </a:p>
        </p:txBody>
      </p:sp>
      <p:sp>
        <p:nvSpPr>
          <p:cNvPr id="15" name="KPI 1 Key"/>
          <p:cNvSpPr>
            <a:spLocks noGrp="1"/>
          </p:cNvSpPr>
          <p:nvPr>
            <p:ph type="body" idx="20"/>
          </p:nvPr>
        </p:nvSpPr>
        <p:spPr>
          <a:xfrm>
            <a:off x="762000" y="4889500"/>
            <a:ext cx="24384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TOP SPEED</a:t>
            </a:r>
          </a:p>
        </p:txBody>
      </p:sp>
      <p:sp>
        <p:nvSpPr>
          <p:cNvPr id="16" name="KPI 1 Delta"/>
          <p:cNvSpPr>
            <a:spLocks noGrp="1"/>
          </p:cNvSpPr>
          <p:nvPr>
            <p:ph type="body" idx="21"/>
          </p:nvPr>
        </p:nvSpPr>
        <p:spPr>
          <a:xfrm>
            <a:off x="762000" y="5130800"/>
            <a:ext cx="24384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969696"/>
                </a:solidFill>
                <a:latin typeface="FerrariSans"/>
              </a:rPr>
              <a:t>458 Italia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52800" y="3632200"/>
            <a:ext cx="6350" cy="16256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KPI 2 Value"/>
          <p:cNvSpPr>
            <a:spLocks noGrp="1"/>
          </p:cNvSpPr>
          <p:nvPr>
            <p:ph type="body" idx="32"/>
          </p:nvPr>
        </p:nvSpPr>
        <p:spPr>
          <a:xfrm>
            <a:off x="3505200" y="3746500"/>
            <a:ext cx="17780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6000" b="1" spc="-120">
                <a:solidFill>
                  <a:srgbClr val="FFFFFF"/>
                </a:solidFill>
                <a:latin typeface="FerrariSans"/>
              </a:rPr>
              <a:t>2.9</a:t>
            </a:r>
          </a:p>
        </p:txBody>
      </p:sp>
      <p:sp>
        <p:nvSpPr>
          <p:cNvPr id="19" name="KPI 2 Unit"/>
          <p:cNvSpPr>
            <a:spLocks noGrp="1"/>
          </p:cNvSpPr>
          <p:nvPr>
            <p:ph type="body" idx="33"/>
          </p:nvPr>
        </p:nvSpPr>
        <p:spPr>
          <a:xfrm>
            <a:off x="5283200" y="3746500"/>
            <a:ext cx="5588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 b="1">
                <a:solidFill>
                  <a:srgbClr val="969696"/>
                </a:solidFill>
                <a:latin typeface="FerrariSans"/>
              </a:rPr>
              <a:t> s</a:t>
            </a:r>
          </a:p>
        </p:txBody>
      </p:sp>
      <p:sp>
        <p:nvSpPr>
          <p:cNvPr id="20" name="KPI 2 Key"/>
          <p:cNvSpPr>
            <a:spLocks noGrp="1"/>
          </p:cNvSpPr>
          <p:nvPr>
            <p:ph type="body" idx="22"/>
          </p:nvPr>
        </p:nvSpPr>
        <p:spPr>
          <a:xfrm>
            <a:off x="3505200" y="4889500"/>
            <a:ext cx="24384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0–100 KM/H</a:t>
            </a:r>
          </a:p>
        </p:txBody>
      </p:sp>
      <p:sp>
        <p:nvSpPr>
          <p:cNvPr id="21" name="KPI 2 Delta"/>
          <p:cNvSpPr>
            <a:spLocks noGrp="1"/>
          </p:cNvSpPr>
          <p:nvPr>
            <p:ph type="body" idx="23"/>
          </p:nvPr>
        </p:nvSpPr>
        <p:spPr>
          <a:xfrm>
            <a:off x="3505200" y="5130800"/>
            <a:ext cx="24384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969696"/>
                </a:solidFill>
                <a:latin typeface="FerrariSans"/>
              </a:rPr>
              <a:t>Best in class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96000" y="3632200"/>
            <a:ext cx="6350" cy="16256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KPI 3 Value"/>
          <p:cNvSpPr>
            <a:spLocks noGrp="1"/>
          </p:cNvSpPr>
          <p:nvPr>
            <p:ph type="body" idx="34"/>
          </p:nvPr>
        </p:nvSpPr>
        <p:spPr>
          <a:xfrm>
            <a:off x="6248400" y="3746500"/>
            <a:ext cx="17780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6000" b="1" spc="-120">
                <a:solidFill>
                  <a:srgbClr val="FFFFFF"/>
                </a:solidFill>
                <a:latin typeface="FerrariSans"/>
              </a:rPr>
              <a:t>670</a:t>
            </a:r>
          </a:p>
        </p:txBody>
      </p:sp>
      <p:sp>
        <p:nvSpPr>
          <p:cNvPr id="24" name="KPI 3 Unit"/>
          <p:cNvSpPr>
            <a:spLocks noGrp="1"/>
          </p:cNvSpPr>
          <p:nvPr>
            <p:ph type="body" idx="35"/>
          </p:nvPr>
        </p:nvSpPr>
        <p:spPr>
          <a:xfrm>
            <a:off x="8026400" y="3746500"/>
            <a:ext cx="5588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 b="1">
                <a:solidFill>
                  <a:srgbClr val="969696"/>
                </a:solidFill>
                <a:latin typeface="FerrariSans"/>
              </a:rPr>
              <a:t> hp</a:t>
            </a:r>
          </a:p>
        </p:txBody>
      </p:sp>
      <p:sp>
        <p:nvSpPr>
          <p:cNvPr id="25" name="KPI 3 Key"/>
          <p:cNvSpPr>
            <a:spLocks noGrp="1"/>
          </p:cNvSpPr>
          <p:nvPr>
            <p:ph type="body" idx="24"/>
          </p:nvPr>
        </p:nvSpPr>
        <p:spPr>
          <a:xfrm>
            <a:off x="6248400" y="4889500"/>
            <a:ext cx="24384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V8 PEAK OUTPUT</a:t>
            </a:r>
          </a:p>
        </p:txBody>
      </p:sp>
      <p:sp>
        <p:nvSpPr>
          <p:cNvPr id="26" name="KPI 3 Delta"/>
          <p:cNvSpPr>
            <a:spLocks noGrp="1"/>
          </p:cNvSpPr>
          <p:nvPr>
            <p:ph type="body" idx="25"/>
          </p:nvPr>
        </p:nvSpPr>
        <p:spPr>
          <a:xfrm>
            <a:off x="6248400" y="5130800"/>
            <a:ext cx="24384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969696"/>
                </a:solidFill>
                <a:latin typeface="FerrariSans"/>
              </a:rPr>
              <a:t>+9% YoY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39200" y="3632200"/>
            <a:ext cx="6350" cy="16256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KPI 4 Value"/>
          <p:cNvSpPr>
            <a:spLocks noGrp="1"/>
          </p:cNvSpPr>
          <p:nvPr>
            <p:ph type="body" idx="36"/>
          </p:nvPr>
        </p:nvSpPr>
        <p:spPr>
          <a:xfrm>
            <a:off x="8991600" y="3746500"/>
            <a:ext cx="17780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6000" b="1" spc="-120">
                <a:solidFill>
                  <a:srgbClr val="DA291C"/>
                </a:solidFill>
                <a:latin typeface="FerrariSans"/>
              </a:rPr>
              <a:t>1</a:t>
            </a:r>
          </a:p>
        </p:txBody>
      </p:sp>
      <p:sp>
        <p:nvSpPr>
          <p:cNvPr id="29" name="KPI 4 Unit"/>
          <p:cNvSpPr>
            <a:spLocks noGrp="1"/>
          </p:cNvSpPr>
          <p:nvPr>
            <p:ph type="body" idx="37"/>
          </p:nvPr>
        </p:nvSpPr>
        <p:spPr>
          <a:xfrm>
            <a:off x="10769600" y="3746500"/>
            <a:ext cx="5588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 b="1">
                <a:solidFill>
                  <a:srgbClr val="DA291C"/>
                </a:solidFill>
                <a:latin typeface="FerrariSans"/>
              </a:rPr>
              <a:t>st</a:t>
            </a:r>
          </a:p>
        </p:txBody>
      </p:sp>
      <p:sp>
        <p:nvSpPr>
          <p:cNvPr id="30" name="KPI 4 Key"/>
          <p:cNvSpPr>
            <a:spLocks noGrp="1"/>
          </p:cNvSpPr>
          <p:nvPr>
            <p:ph type="body" idx="26"/>
          </p:nvPr>
        </p:nvSpPr>
        <p:spPr>
          <a:xfrm>
            <a:off x="8991600" y="4889500"/>
            <a:ext cx="24384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CONSTRUCTORS '23</a:t>
            </a:r>
          </a:p>
        </p:txBody>
      </p:sp>
      <p:sp>
        <p:nvSpPr>
          <p:cNvPr id="31" name="KPI 4 Delta"/>
          <p:cNvSpPr>
            <a:spLocks noGrp="1"/>
          </p:cNvSpPr>
          <p:nvPr>
            <p:ph type="body" idx="27"/>
          </p:nvPr>
        </p:nvSpPr>
        <p:spPr>
          <a:xfrm>
            <a:off x="8991600" y="5130800"/>
            <a:ext cx="24384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DA291C"/>
                </a:solidFill>
                <a:latin typeface="FerrariSans"/>
              </a:rPr>
              <a:t>F1 ANNIVERSARY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LAYOUT · 2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TWO COLUMNS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Two halves, one frame.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01 · CONSUMER</a:t>
            </a:r>
          </a:p>
        </p:txBody>
      </p:sp>
      <p:sp>
        <p:nvSpPr>
          <p:cNvPr id="13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32">
                <a:solidFill>
                  <a:srgbClr val="FFFFFF"/>
                </a:solidFill>
                <a:latin typeface="FerrariSans Medium"/>
              </a:rPr>
              <a:t>Products designed around daily use, not corner-case specs.</a:t>
            </a:r>
          </a:p>
        </p:txBody>
      </p:sp>
      <p:sp>
        <p:nvSpPr>
          <p:cNvPr id="14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Ship features users actually touch — fewer modes, sharper defaults, faster onboarding.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02 · PLATFORM</a:t>
            </a:r>
          </a:p>
        </p:txBody>
      </p:sp>
      <p:sp>
        <p:nvSpPr>
          <p:cNvPr id="17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32">
                <a:solidFill>
                  <a:srgbClr val="FFFFFF"/>
                </a:solidFill>
                <a:latin typeface="FerrariSans Medium"/>
              </a:rPr>
              <a:t>A shared software backbone across every product we build.</a:t>
            </a:r>
          </a:p>
        </p:txBody>
      </p:sp>
      <p:sp>
        <p:nvSpPr>
          <p:cNvPr id="18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LAYOUT · 3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THREE PILLARS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Consumer, commercial, platform.</a:t>
            </a:r>
          </a:p>
        </p:txBody>
      </p:sp>
      <p:sp>
        <p:nvSpPr>
          <p:cNvPr id="11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01</a:t>
            </a:r>
          </a:p>
        </p:txBody>
      </p:sp>
      <p:sp>
        <p:nvSpPr>
          <p:cNvPr id="12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32">
                <a:solidFill>
                  <a:srgbClr val="FFFFFF"/>
                </a:solidFill>
                <a:latin typeface="FerrariSans Medium"/>
              </a:rPr>
              <a:t>Consumer.</a:t>
            </a:r>
          </a:p>
        </p:txBody>
      </p:sp>
      <p:sp>
        <p:nvSpPr>
          <p:cNvPr id="13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Brand A, Brand B, Brand C, Brand D — placeholder column copy.</a:t>
            </a:r>
          </a:p>
        </p:txBody>
      </p:sp>
      <p:sp>
        <p:nvSpPr>
          <p:cNvPr id="14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02</a:t>
            </a:r>
          </a:p>
        </p:txBody>
      </p:sp>
      <p:sp>
        <p:nvSpPr>
          <p:cNvPr id="15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32">
                <a:solidFill>
                  <a:srgbClr val="FFFFFF"/>
                </a:solidFill>
                <a:latin typeface="FerrariSans Medium"/>
              </a:rPr>
              <a:t>Commercial.</a:t>
            </a:r>
          </a:p>
        </p:txBody>
      </p:sp>
      <p:sp>
        <p:nvSpPr>
          <p:cNvPr id="16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Products engineered for the commercial sector — hotels, retail, services, multi-site.</a:t>
            </a:r>
          </a:p>
        </p:txBody>
      </p:sp>
      <p:sp>
        <p:nvSpPr>
          <p:cNvPr id="17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03</a:t>
            </a:r>
          </a:p>
        </p:txBody>
      </p:sp>
      <p:sp>
        <p:nvSpPr>
          <p:cNvPr id="18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32">
                <a:solidFill>
                  <a:srgbClr val="FFFFFF"/>
                </a:solidFill>
                <a:latin typeface="FerrariSans Medium"/>
              </a:rPr>
              <a:t>Platform.</a:t>
            </a:r>
          </a:p>
        </p:txBody>
      </p:sp>
      <p:sp>
        <p:nvSpPr>
          <p:cNvPr id="19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ROADMAP ·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PLAN, BUILD, PILOT, SCALE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The year, in four quarters.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Q1 · PLAN</a:t>
            </a:r>
          </a:p>
        </p:txBody>
      </p:sp>
      <p:sp>
        <p:nvSpPr>
          <p:cNvPr id="13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28">
                <a:solidFill>
                  <a:srgbClr val="FFFFFF"/>
                </a:solidFill>
                <a:latin typeface="FerrariSans Medium"/>
              </a:rPr>
              <a:t>Align the 2026 product roadmap across regions.</a:t>
            </a:r>
          </a:p>
        </p:txBody>
      </p:sp>
      <p:sp>
        <p:nvSpPr>
          <p:cNvPr id="14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Finalise priorities, staff crews, lock budget.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Q2 · BUILD</a:t>
            </a:r>
          </a:p>
        </p:txBody>
      </p:sp>
      <p:sp>
        <p:nvSpPr>
          <p:cNvPr id="17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28">
                <a:solidFill>
                  <a:srgbClr val="FFFFFF"/>
                </a:solidFill>
                <a:latin typeface="FerrariSans Medium"/>
              </a:rPr>
              <a:t>Ship the platform foundations and first feature set.</a:t>
            </a:r>
          </a:p>
        </p:txBody>
      </p:sp>
      <p:sp>
        <p:nvSpPr>
          <p:cNvPr id="18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New OS core, updated Platform SDK.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Q3 · PILOT</a:t>
            </a:r>
          </a:p>
        </p:txBody>
      </p:sp>
      <p:sp>
        <p:nvSpPr>
          <p:cNvPr id="21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28">
                <a:solidFill>
                  <a:srgbClr val="FFFFFF"/>
                </a:solidFill>
                <a:latin typeface="FerrariSans Medium"/>
              </a:rPr>
              <a:t>Field-test with 2,000 customers across three regions.</a:t>
            </a:r>
          </a:p>
        </p:txBody>
      </p:sp>
      <p:sp>
        <p:nvSpPr>
          <p:cNvPr id="22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Instrument, measure, iterate weekly.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Q4 · SCALE</a:t>
            </a:r>
          </a:p>
        </p:txBody>
      </p:sp>
      <p:sp>
        <p:nvSpPr>
          <p:cNvPr id="25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28">
                <a:solidFill>
                  <a:srgbClr val="FFFFFF"/>
                </a:solidFill>
                <a:latin typeface="FerrariSans Medium"/>
              </a:rPr>
              <a:t>Roll out globally with phased regional launches.</a:t>
            </a:r>
          </a:p>
        </p:txBody>
      </p:sp>
      <p:sp>
        <p:nvSpPr>
          <p:cNvPr id="26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303030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PRODUCT HERO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LAYOUT · TEXT + PICTURE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FLAGSHIP · 2026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2413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200" spc="-216">
                <a:solidFill>
                  <a:srgbClr val="FFFFFF"/>
                </a:solidFill>
                <a:latin typeface="FerrariSans Medium"/>
              </a:rPr>
              <a:t>A flagship that</a:t>
            </a:r>
          </a:p>
          <a:p>
            <a:pPr marL="0" indent="0" algn="l">
              <a:buNone/>
            </a:pPr>
            <a:r>
              <a:rPr lang="en-US" sz="7200" spc="-216">
                <a:solidFill>
                  <a:srgbClr val="FFFFFF"/>
                </a:solidFill>
                <a:latin typeface="FerrariSans Medium"/>
              </a:rPr>
              <a:t>learns the</a:t>
            </a:r>
          </a:p>
          <a:p>
            <a:pPr marL="0" indent="0" algn="l">
              <a:buNone/>
            </a:pPr>
            <a:r>
              <a:rPr lang="en-US" sz="7200" spc="-216">
                <a:solidFill>
                  <a:srgbClr val="FFFFFF"/>
                </a:solidFill>
                <a:latin typeface="FerrariSans Medium"/>
              </a:rPr>
              <a:t>user.</a:t>
            </a:r>
          </a:p>
        </p:txBody>
      </p:sp>
      <p:sp>
        <p:nvSpPr>
          <p:cNvPr id="13" name="Body"/>
          <p:cNvSpPr>
            <a:spLocks noGrp="1"/>
          </p:cNvSpPr>
          <p:nvPr>
            <p:ph type="body" idx="11"/>
          </p:nvPr>
        </p:nvSpPr>
        <p:spPr>
          <a:xfrm>
            <a:off x="635000" y="4445000"/>
            <a:ext cx="4572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" y="5524500"/>
            <a:ext cx="1651000" cy="508000"/>
          </a:xfrm>
          <a:prstGeom prst="rect">
            <a:avLst/>
          </a:prstGeom>
          <a:solidFill>
            <a:srgbClr val="DA291C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READ THE BRIEF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13000" y="5524500"/>
            <a:ext cx="1333500" cy="508000"/>
          </a:xfrm>
          <a:prstGeom prst="rect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303030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DROP COVER IMAGE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COVER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4318000"/>
            <a:ext cx="5207000" cy="17780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89000" y="45212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yebrow"/>
          <p:cNvSpPr>
            <a:spLocks noGrp="1"/>
          </p:cNvSpPr>
          <p:nvPr>
            <p:ph type="body" idx="10"/>
          </p:nvPr>
        </p:nvSpPr>
        <p:spPr>
          <a:xfrm>
            <a:off x="889000" y="4749800"/>
            <a:ext cx="469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LAYOUT · FULL-BLEED COVER</a:t>
            </a:r>
          </a:p>
        </p:txBody>
      </p:sp>
      <p:sp>
        <p:nvSpPr>
          <p:cNvPr id="13" name="Title"/>
          <p:cNvSpPr>
            <a:spLocks noGrp="1"/>
          </p:cNvSpPr>
          <p:nvPr>
            <p:ph type="title"/>
          </p:nvPr>
        </p:nvSpPr>
        <p:spPr>
          <a:xfrm>
            <a:off x="889000" y="5016500"/>
            <a:ext cx="4699000" cy="101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3600" spc="-108">
                <a:solidFill>
                  <a:srgbClr val="FFFFFF"/>
                </a:solidFill>
                <a:latin typeface="FerrariSans Medium"/>
              </a:rPr>
              <a:t>An image does</a:t>
            </a:r>
          </a:p>
          <a:p>
            <a:pPr marL="0" indent="0" algn="l">
              <a:buNone/>
            </a:pPr>
            <a:r>
              <a:rPr lang="en-US" sz="3600" spc="-108">
                <a:solidFill>
                  <a:srgbClr val="FFFFFF"/>
                </a:solidFill>
                <a:latin typeface="FerrariSans Medium"/>
              </a:rPr>
              <a:t>the talking.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DATA · Q3 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SHARE OF REVENUE BY REGION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EMEA still leads; NAM closing the gap.</a:t>
            </a:r>
          </a:p>
        </p:txBody>
      </p:sp>
      <p:sp>
        <p:nvSpPr>
          <p:cNvPr id="11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EMEA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62%</a:t>
            </a:r>
          </a:p>
        </p:txBody>
      </p:sp>
      <p:sp>
        <p:nvSpPr>
          <p:cNvPr id="15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NAM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24%</a:t>
            </a:r>
          </a:p>
        </p:txBody>
      </p:sp>
      <p:sp>
        <p:nvSpPr>
          <p:cNvPr id="19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APAC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11%</a:t>
            </a:r>
          </a:p>
        </p:txBody>
      </p:sp>
      <p:sp>
        <p:nvSpPr>
          <p:cNvPr id="23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LATAM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3%</a:t>
            </a:r>
          </a:p>
        </p:txBody>
      </p:sp>
      <p:sp>
        <p:nvSpPr>
          <p:cNvPr id="27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UI KIT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UI LIBRARY PREVIEW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Flat, sharp, quiet components.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98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BUTTONS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9800" y="3860800"/>
            <a:ext cx="1270000" cy="406400"/>
          </a:xfrm>
          <a:prstGeom prst="rect">
            <a:avLst/>
          </a:prstGeom>
          <a:solidFill>
            <a:srgbClr val="DA291C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PRIMARY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36800" y="3860800"/>
            <a:ext cx="1270000" cy="406400"/>
          </a:xfrm>
          <a:prstGeom prst="rect">
            <a:avLst/>
          </a:prstGeom>
          <a:solidFill>
            <a:srgbClr val="303030"/>
          </a:solidFill>
          <a:ln w="9525">
            <a:solidFill>
              <a:srgbClr val="303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DEFAULT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33800" y="3860800"/>
            <a:ext cx="1079500" cy="406400"/>
          </a:xfrm>
          <a:prstGeom prst="rect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GHOST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9800" y="4622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TAGS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9800" y="4940300"/>
            <a:ext cx="1111250" cy="190500"/>
          </a:xfrm>
          <a:prstGeom prst="roundRect">
            <a:avLst>
              <a:gd name="adj" fmla="val 50000"/>
            </a:avLst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/>
          <a:lstStyle/>
          <a:p>
            <a:pPr algn="ctr"/>
            <a:r>
              <a:rPr sz="650" b="0" spc="65">
                <a:solidFill>
                  <a:srgbClr val="FFFFFF"/>
                </a:solidFill>
                <a:latin typeface="FerrariSans"/>
              </a:rPr>
              <a:t>PRODUCTION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146300" y="4940300"/>
            <a:ext cx="889000" cy="190500"/>
          </a:xfrm>
          <a:prstGeom prst="roundRect">
            <a:avLst>
              <a:gd name="adj" fmla="val 50000"/>
            </a:avLst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/>
          <a:lstStyle/>
          <a:p>
            <a:pPr algn="ctr"/>
            <a:r>
              <a:rPr sz="650" b="0" spc="65">
                <a:solidFill>
                  <a:srgbClr val="FFFFFF"/>
                </a:solidFill>
                <a:latin typeface="FerrariSans"/>
              </a:rPr>
              <a:t>FEATURED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130550" y="4940300"/>
            <a:ext cx="571500" cy="190500"/>
          </a:xfrm>
          <a:prstGeom prst="roundRect">
            <a:avLst>
              <a:gd name="adj" fmla="val 50000"/>
            </a:avLst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/>
          <a:lstStyle/>
          <a:p>
            <a:pPr algn="ctr"/>
            <a:r>
              <a:rPr sz="650" b="0" spc="65">
                <a:solidFill>
                  <a:srgbClr val="181818"/>
                </a:solidFill>
                <a:latin typeface="FerrariSans"/>
              </a:rPr>
              <a:t>BETA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797300" y="4940300"/>
            <a:ext cx="952500" cy="1905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/>
          <a:lstStyle/>
          <a:p>
            <a:pPr algn="ctr"/>
            <a:r>
              <a:rPr sz="650" b="0" spc="65">
                <a:solidFill>
                  <a:srgbClr val="FFFFFF"/>
                </a:solidFill>
                <a:latin typeface="FerrariSans"/>
              </a:rPr>
              <a:t>ARCHIVED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532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RULES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53200" y="3987800"/>
            <a:ext cx="3556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53200" y="407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SECTION · 56 × 1 · INK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53200" y="46228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3200" y="4711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EMPHASIS · 80 × 4 · ORANGE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53200" y="5257800"/>
            <a:ext cx="4699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53200" y="534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HAIRLINE · WIDTH × 1 · FOG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VOICE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2413000"/>
            <a:ext cx="508000" cy="127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Quote"/>
          <p:cNvSpPr>
            <a:spLocks noGrp="1"/>
          </p:cNvSpPr>
          <p:nvPr>
            <p:ph type="title"/>
          </p:nvPr>
        </p:nvSpPr>
        <p:spPr>
          <a:xfrm>
            <a:off x="609600" y="2667000"/>
            <a:ext cx="952500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“The cinematic photograph carries the depth — the type stays editorial, never bombastic.”</a:t>
            </a:r>
          </a:p>
        </p:txBody>
      </p:sp>
      <p:sp>
        <p:nvSpPr>
          <p:cNvPr id="10" name="Attribution"/>
          <p:cNvSpPr>
            <a:spLocks noGrp="1"/>
          </p:cNvSpPr>
          <p:nvPr>
            <p:ph type="body" idx="10"/>
          </p:nvPr>
        </p:nvSpPr>
        <p:spPr>
          <a:xfrm>
            <a:off x="609600" y="5715000"/>
            <a:ext cx="109728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FERRARI · DESIGN VOICE · 2026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5715000" y="2413000"/>
            <a:ext cx="762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09600" y="2667000"/>
            <a:ext cx="10972800" cy="152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0" spc="-200">
                <a:solidFill>
                  <a:srgbClr val="FFFFFF"/>
                </a:solidFill>
                <a:latin typeface="FerrariSans Medium"/>
              </a:rPr>
              <a:t>Grazie.</a:t>
            </a:r>
          </a:p>
        </p:txBody>
      </p:sp>
      <p:sp>
        <p:nvSpPr>
          <p:cNvPr id="10" name="Caption"/>
          <p:cNvSpPr>
            <a:spLocks noGrp="1"/>
          </p:cNvSpPr>
          <p:nvPr>
            <p:ph type="body" idx="10"/>
          </p:nvPr>
        </p:nvSpPr>
        <p:spPr>
          <a:xfrm>
            <a:off x="609600" y="4445000"/>
            <a:ext cx="109728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FERRARI · 2026 SHOWCASE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61000" y="4953000"/>
            <a:ext cx="1270000" cy="355600"/>
          </a:xfrm>
          <a:prstGeom prst="rect">
            <a:avLst/>
          </a:prstGeom>
          <a:solidFill>
            <a:srgbClr val="DA291C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DISCOVER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GRAPHICAL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SHARE OF REVENUE BY REGION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EMEA still leads; NAM closing the gap.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EMEA</a:t>
            </a:r>
          </a:p>
        </p:txBody>
      </p:sp>
      <p:sp>
        <p:nvSpPr>
          <p:cNvPr id="20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62%</a:t>
            </a:r>
          </a:p>
        </p:txBody>
      </p:sp>
      <p:sp>
        <p:nvSpPr>
          <p:cNvPr id="21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NAM</a:t>
            </a:r>
          </a:p>
        </p:txBody>
      </p:sp>
      <p:sp>
        <p:nvSpPr>
          <p:cNvPr id="22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24%</a:t>
            </a:r>
          </a:p>
        </p:txBody>
      </p:sp>
      <p:sp>
        <p:nvSpPr>
          <p:cNvPr id="23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APAC</a:t>
            </a:r>
          </a:p>
        </p:txBody>
      </p:sp>
      <p:sp>
        <p:nvSpPr>
          <p:cNvPr id="24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11%</a:t>
            </a:r>
          </a:p>
        </p:txBody>
      </p:sp>
      <p:sp>
        <p:nvSpPr>
          <p:cNvPr id="25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LATAM</a:t>
            </a:r>
          </a:p>
        </p:txBody>
      </p:sp>
      <p:sp>
        <p:nvSpPr>
          <p:cNvPr id="26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3%</a:t>
            </a:r>
          </a:p>
        </p:txBody>
      </p:sp>
      <p:sp>
        <p:nvSpPr>
          <p:cNvPr id="27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MCK · ACTION TITLE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ACTION-TITLE LAYOUT</a:t>
            </a:r>
          </a:p>
        </p:txBody>
      </p:sp>
      <p:sp>
        <p:nvSpPr>
          <p:cNvPr id="9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Adopting the new platform will lift per-account active time by ~18% within two release cycles.</a:t>
            </a:r>
          </a:p>
        </p:txBody>
      </p:sp>
      <p:sp>
        <p:nvSpPr>
          <p:cNvPr id="10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1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FFFFFF"/>
                </a:solidFill>
                <a:latin typeface="FerrariSans Medium"/>
              </a:rPr>
              <a:t>+18</a:t>
            </a:r>
          </a:p>
        </p:txBody>
      </p:sp>
      <p:sp>
        <p:nvSpPr>
          <p:cNvPr id="12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>
                <a:solidFill>
                  <a:srgbClr val="FFFFFF"/>
                </a:solidFill>
                <a:latin typeface="FerrariSans"/>
              </a:rPr>
              <a:t>%</a:t>
            </a:r>
          </a:p>
        </p:txBody>
      </p:sp>
      <p:sp>
        <p:nvSpPr>
          <p:cNvPr id="13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ACTIVE TIME / WEEK</a:t>
            </a:r>
          </a:p>
        </p:txBody>
      </p:sp>
      <p:sp>
        <p:nvSpPr>
          <p:cNvPr id="14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>
                <a:solidFill>
                  <a:srgbClr val="B01E0A"/>
                </a:solidFill>
                <a:latin typeface="FerrariSans"/>
              </a:rPr>
              <a:t>vs. prior platform</a:t>
            </a:r>
          </a:p>
        </p:txBody>
      </p:sp>
      <p:sp>
        <p:nvSpPr>
          <p:cNvPr id="15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FFFFFF"/>
                </a:solidFill>
                <a:latin typeface="FerrariSans Medium"/>
              </a:rPr>
              <a:t>2.3</a:t>
            </a:r>
          </a:p>
        </p:txBody>
      </p:sp>
      <p:sp>
        <p:nvSpPr>
          <p:cNvPr id="16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>
                <a:solidFill>
                  <a:srgbClr val="FFFFFF"/>
                </a:solidFill>
                <a:latin typeface="FerrariSans"/>
              </a:rPr>
              <a:t>×</a:t>
            </a:r>
          </a:p>
        </p:txBody>
      </p:sp>
      <p:sp>
        <p:nvSpPr>
          <p:cNvPr id="17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APP OPEN RATE</a:t>
            </a:r>
          </a:p>
        </p:txBody>
      </p:sp>
      <p:sp>
        <p:nvSpPr>
          <p:cNvPr id="18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>
                <a:solidFill>
                  <a:srgbClr val="B01E0A"/>
                </a:solidFill>
                <a:latin typeface="FerrariSans"/>
              </a:rPr>
              <a:t>trailing 30 days</a:t>
            </a:r>
          </a:p>
        </p:txBody>
      </p:sp>
      <p:sp>
        <p:nvSpPr>
          <p:cNvPr id="19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HORIZONTAL BULLETS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CONTEXT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Three forces pull the 2026 roadmap: regulation, margin, and shared software.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01 · REGULATION</a:t>
            </a:r>
          </a:p>
        </p:txBody>
      </p:sp>
      <p:sp>
        <p:nvSpPr>
          <p:cNvPr id="14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Energy and repair rules are tightening across EMEA.</a:t>
            </a:r>
          </a:p>
        </p:txBody>
      </p:sp>
      <p:sp>
        <p:nvSpPr>
          <p:cNvPr id="15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Refrigerant phase-down accelerates for commercial lines.</a:t>
            </a:r>
          </a:p>
        </p:txBody>
      </p:sp>
      <p:sp>
        <p:nvSpPr>
          <p:cNvPr id="16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02 · MARGIN</a:t>
            </a:r>
          </a:p>
        </p:txBody>
      </p:sp>
      <p:sp>
        <p:nvSpPr>
          <p:cNvPr id="17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Component cost is stable but service cost is climbing.</a:t>
            </a:r>
          </a:p>
        </p:txBody>
      </p:sp>
      <p:sp>
        <p:nvSpPr>
          <p:cNvPr id="18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Remote-diagnosis deflection saves an average 38 EUR / visit.</a:t>
            </a:r>
          </a:p>
        </p:txBody>
      </p:sp>
      <p:sp>
        <p:nvSpPr>
          <p:cNvPr id="19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03 · PLATFORM</a:t>
            </a:r>
          </a:p>
        </p:txBody>
      </p:sp>
      <p:sp>
        <p:nvSpPr>
          <p:cNvPr id="20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The platform is becoming the product, not an add-on.</a:t>
            </a:r>
          </a:p>
        </p:txBody>
      </p:sp>
      <p:sp>
        <p:nvSpPr>
          <p:cNvPr id="21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Shared telemetry unlocks usage-driven feature priority.</a:t>
            </a:r>
          </a:p>
        </p:txBody>
      </p:sp>
      <p:sp>
        <p:nvSpPr>
          <p:cNvPr id="22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VERTICAL BULLETS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889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143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PLAN OF RECORD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1397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Five moves define the first half: consolidate, instrument, retire, pilot, publish.</a:t>
            </a:r>
          </a:p>
        </p:txBody>
      </p:sp>
      <p:sp>
        <p:nvSpPr>
          <p:cNvPr id="11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01 / 06</a:t>
            </a:r>
          </a:p>
        </p:txBody>
      </p:sp>
      <p:sp>
        <p:nvSpPr>
          <p:cNvPr id="14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Consolidate the firmware stack.</a:t>
            </a:r>
          </a:p>
        </p:txBody>
      </p:sp>
      <p:sp>
        <p:nvSpPr>
          <p:cNvPr id="15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Move the remaining three product lines onto the unified OS core by end of Q2.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02 / 06</a:t>
            </a:r>
          </a:p>
        </p:txBody>
      </p:sp>
      <p:sp>
        <p:nvSpPr>
          <p:cNvPr id="18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Instrument every SKU.</a:t>
            </a:r>
          </a:p>
        </p:txBody>
      </p:sp>
      <p:sp>
        <p:nvSpPr>
          <p:cNvPr id="19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Every production unit leaving the factory reports health and usage by default.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03 / 06</a:t>
            </a:r>
          </a:p>
        </p:txBody>
      </p:sp>
      <p:sp>
        <p:nvSpPr>
          <p:cNvPr id="22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Retire the legacy app.</a:t>
            </a:r>
          </a:p>
        </p:txBody>
      </p:sp>
      <p:sp>
        <p:nvSpPr>
          <p:cNvPr id="23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Archive the legacy companion app once the new platform reaches 70% coverage.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04 / 06</a:t>
            </a:r>
          </a:p>
        </p:txBody>
      </p:sp>
      <p:sp>
        <p:nvSpPr>
          <p:cNvPr id="26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Pilot guided sessions.</a:t>
            </a:r>
          </a:p>
        </p:txBody>
      </p:sp>
      <p:sp>
        <p:nvSpPr>
          <p:cNvPr id="27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Run a two-thousand-customer test of the adaptive programme across three regions.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05 / 06</a:t>
            </a:r>
          </a:p>
        </p:txBody>
      </p:sp>
      <p:sp>
        <p:nvSpPr>
          <p:cNvPr id="30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Publish the API.</a:t>
            </a:r>
          </a:p>
        </p:txBody>
      </p:sp>
      <p:sp>
        <p:nvSpPr>
          <p:cNvPr id="31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Open the developer preview to partners at the end of H1.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06 / 06</a:t>
            </a:r>
          </a:p>
        </p:txBody>
      </p:sp>
      <p:sp>
        <p:nvSpPr>
          <p:cNvPr id="34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Review monthly.</a:t>
            </a:r>
          </a:p>
        </p:txBody>
      </p:sp>
      <p:sp>
        <p:nvSpPr>
          <p:cNvPr id="35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Each move is owned by one VP and reviewed at the monthly operating meeting.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2×2 MATRIX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PRIORITISATION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Invest in the top-right quadrant first: high impact, low lift.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Isosceles Triangle 15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ight Triangle 16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98">
                <a:solidFill>
                  <a:srgbClr val="FFFFFF"/>
                </a:solidFill>
                <a:latin typeface="FerrariSans"/>
              </a:rPr>
              <a:t>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98">
                <a:solidFill>
                  <a:srgbClr val="FFFFFF"/>
                </a:solidFill>
                <a:latin typeface="FerrariSans"/>
              </a:rPr>
              <a:t>HIGH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98">
                <a:solidFill>
                  <a:srgbClr val="FFFFFF"/>
                </a:solidFill>
                <a:latin typeface="FerrariSans"/>
              </a:rPr>
              <a:t>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98">
                <a:solidFill>
                  <a:srgbClr val="FFFFFF"/>
                </a:solidFill>
                <a:latin typeface="FerrariSans"/>
              </a:rPr>
              <a:t>HIGH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Q1 · HIGH IMPACT · LOW LIFT</a:t>
            </a:r>
          </a:p>
        </p:txBody>
      </p:sp>
      <p:sp>
        <p:nvSpPr>
          <p:cNvPr id="23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Guided sessions on the flagship line.</a:t>
            </a:r>
          </a:p>
        </p:txBody>
      </p:sp>
      <p:sp>
        <p:nvSpPr>
          <p:cNvPr id="24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Ships on existing hardware; telemetry already collected; known user need.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Q2 · HIGH IMPACT · HIGH LIFT</a:t>
            </a:r>
          </a:p>
        </p:txBody>
      </p:sp>
      <p:sp>
        <p:nvSpPr>
          <p:cNvPr id="26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Full remote diagnosis across every product line.</a:t>
            </a:r>
          </a:p>
        </p:txBody>
      </p:sp>
      <p:sp>
        <p:nvSpPr>
          <p:cNvPr id="27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Large prize; requires firmware convergence and a new field-service workflow.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Q3 · LOW IMPACT · LOW LIFT</a:t>
            </a:r>
          </a:p>
        </p:txBody>
      </p:sp>
      <p:sp>
        <p:nvSpPr>
          <p:cNvPr id="29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Cosmetic refresh of onboarding.</a:t>
            </a:r>
          </a:p>
        </p:txBody>
      </p:sp>
      <p:sp>
        <p:nvSpPr>
          <p:cNvPr id="30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Cheap to do; metrics rarely move meaningfully.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Q4 · LOW IMPACT · HIGH LIFT</a:t>
            </a:r>
          </a:p>
        </p:txBody>
      </p:sp>
      <p:sp>
        <p:nvSpPr>
          <p:cNvPr id="32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Voice control expansion.</a:t>
            </a:r>
          </a:p>
        </p:txBody>
      </p:sp>
      <p:sp>
        <p:nvSpPr>
          <p:cNvPr id="33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Significant engineering and QA cost; adoption has plateaued.</a:t>
            </a:r>
          </a:p>
        </p:txBody>
      </p:sp>
      <p:sp>
        <p:nvSpPr>
          <p:cNvPr id="34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EFFORT TO SHIP</a:t>
            </a:r>
          </a:p>
        </p:txBody>
      </p:sp>
      <p:sp>
        <p:nvSpPr>
          <p:cNvPr id="35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WATERFALL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REVENUE BRIDGE · EUR BN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Revenue grows 5.1% YoY; platform and services offset a mild decline in legacy lines.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969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969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FerrariSans"/>
              </a:rPr>
              <a:t>13.4</a:t>
            </a:r>
          </a:p>
        </p:txBody>
      </p:sp>
      <p:sp>
        <p:nvSpPr>
          <p:cNvPr id="38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FY24 BASE</a:t>
            </a:r>
          </a:p>
        </p:txBody>
      </p:sp>
      <p:sp>
        <p:nvSpPr>
          <p:cNvPr id="39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+0.6</a:t>
            </a:r>
          </a:p>
        </p:txBody>
      </p:sp>
      <p:sp>
        <p:nvSpPr>
          <p:cNvPr id="40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CONSUMER</a:t>
            </a:r>
          </a:p>
        </p:txBody>
      </p:sp>
      <p:sp>
        <p:nvSpPr>
          <p:cNvPr id="41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+0.4</a:t>
            </a:r>
          </a:p>
        </p:txBody>
      </p:sp>
      <p:sp>
        <p:nvSpPr>
          <p:cNvPr id="42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PLATFORM</a:t>
            </a:r>
          </a:p>
        </p:txBody>
      </p:sp>
      <p:sp>
        <p:nvSpPr>
          <p:cNvPr id="43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+0.3</a:t>
            </a:r>
          </a:p>
        </p:txBody>
      </p:sp>
      <p:sp>
        <p:nvSpPr>
          <p:cNvPr id="44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SERVICES</a:t>
            </a:r>
          </a:p>
        </p:txBody>
      </p:sp>
      <p:sp>
        <p:nvSpPr>
          <p:cNvPr id="45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−0.3</a:t>
            </a:r>
          </a:p>
        </p:txBody>
      </p:sp>
      <p:sp>
        <p:nvSpPr>
          <p:cNvPr id="46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LEGACY</a:t>
            </a:r>
          </a:p>
        </p:txBody>
      </p:sp>
      <p:sp>
        <p:nvSpPr>
          <p:cNvPr id="47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−0.2</a:t>
            </a:r>
          </a:p>
        </p:txBody>
      </p:sp>
      <p:sp>
        <p:nvSpPr>
          <p:cNvPr id="48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FX</a:t>
            </a:r>
          </a:p>
        </p:txBody>
      </p:sp>
      <p:sp>
        <p:nvSpPr>
          <p:cNvPr id="49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FerrariSans"/>
              </a:rPr>
              <a:t>14.1</a:t>
            </a:r>
          </a:p>
        </p:txBody>
      </p:sp>
      <p:sp>
        <p:nvSpPr>
          <p:cNvPr id="50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FY25 TOTAL</a:t>
            </a:r>
          </a:p>
        </p:txBody>
      </p:sp>
      <p:sp>
        <p:nvSpPr>
          <p:cNvPr id="51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PROCESS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DELIVERY SEQUENCE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Five stages · pilot highlights the current phase.</a:t>
            </a:r>
          </a:p>
        </p:txBody>
      </p:sp>
      <p:sp>
        <p:nvSpPr>
          <p:cNvPr id="11" name="Pentagon 10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evron 11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evron 12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evron 14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01E0A"/>
                </a:solidFill>
                <a:latin typeface="FerrariSans"/>
              </a:rPr>
              <a:t>01</a:t>
            </a:r>
          </a:p>
        </p:txBody>
      </p:sp>
      <p:sp>
        <p:nvSpPr>
          <p:cNvPr id="17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Frame</a:t>
            </a:r>
          </a:p>
        </p:txBody>
      </p:sp>
      <p:sp>
        <p:nvSpPr>
          <p:cNvPr id="18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Clarify the problem and the one outcome that matters.</a:t>
            </a:r>
          </a:p>
        </p:txBody>
      </p:sp>
      <p:sp>
        <p:nvSpPr>
          <p:cNvPr id="19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01E0A"/>
                </a:solidFill>
                <a:latin typeface="FerrariSans"/>
              </a:rPr>
              <a:t>02</a:t>
            </a:r>
          </a:p>
        </p:txBody>
      </p:sp>
      <p:sp>
        <p:nvSpPr>
          <p:cNvPr id="20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Prototype</a:t>
            </a:r>
          </a:p>
        </p:txBody>
      </p:sp>
      <p:sp>
        <p:nvSpPr>
          <p:cNvPr id="21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Build the thin vertical slice end-to-end.</a:t>
            </a:r>
          </a:p>
        </p:txBody>
      </p:sp>
      <p:sp>
        <p:nvSpPr>
          <p:cNvPr id="22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03</a:t>
            </a:r>
          </a:p>
        </p:txBody>
      </p:sp>
      <p:sp>
        <p:nvSpPr>
          <p:cNvPr id="23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Pilot</a:t>
            </a:r>
          </a:p>
        </p:txBody>
      </p:sp>
      <p:sp>
        <p:nvSpPr>
          <p:cNvPr id="24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Run it with real users on real data.</a:t>
            </a:r>
          </a:p>
        </p:txBody>
      </p:sp>
      <p:sp>
        <p:nvSpPr>
          <p:cNvPr id="25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01E0A"/>
                </a:solidFill>
                <a:latin typeface="FerrariSans"/>
              </a:rPr>
              <a:t>04</a:t>
            </a:r>
          </a:p>
        </p:txBody>
      </p:sp>
      <p:sp>
        <p:nvSpPr>
          <p:cNvPr id="26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Harden</a:t>
            </a:r>
          </a:p>
        </p:txBody>
      </p:sp>
      <p:sp>
        <p:nvSpPr>
          <p:cNvPr id="27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Fix what the pilot surfaces; add observability.</a:t>
            </a:r>
          </a:p>
        </p:txBody>
      </p:sp>
      <p:sp>
        <p:nvSpPr>
          <p:cNvPr id="28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01E0A"/>
                </a:solidFill>
                <a:latin typeface="FerrariSans"/>
              </a:rPr>
              <a:t>05</a:t>
            </a:r>
          </a:p>
        </p:txBody>
      </p:sp>
      <p:sp>
        <p:nvSpPr>
          <p:cNvPr id="29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Scale</a:t>
            </a:r>
          </a:p>
        </p:txBody>
      </p:sp>
      <p:sp>
        <p:nvSpPr>
          <p:cNvPr id="30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Roll out to remaining regions and SKUs.</a:t>
            </a:r>
          </a:p>
        </p:txBody>
      </p:sp>
      <p:sp>
        <p:nvSpPr>
          <p:cNvPr id="31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DATA · REVENUE MIX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MIX · FY21–FY25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Platform revenue is the fastest-growing share; legacy hardware is flat in absolute terms.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6.8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3.2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6.7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3.5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6.6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3.7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6.5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3.9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1.9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6.4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4.2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2.1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1.4</a:t>
            </a:r>
          </a:p>
        </p:txBody>
      </p:sp>
      <p:sp>
        <p:nvSpPr>
          <p:cNvPr id="49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11.9</a:t>
            </a:r>
          </a:p>
        </p:txBody>
      </p:sp>
      <p:sp>
        <p:nvSpPr>
          <p:cNvPr id="50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 spc="100" cap="all">
                <a:solidFill>
                  <a:srgbClr val="FFFFFF"/>
                </a:solidFill>
                <a:latin typeface="FerrariSans"/>
              </a:rPr>
              <a:t>FY21</a:t>
            </a:r>
          </a:p>
        </p:txBody>
      </p:sp>
      <p:sp>
        <p:nvSpPr>
          <p:cNvPr id="51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12.4</a:t>
            </a:r>
          </a:p>
        </p:txBody>
      </p:sp>
      <p:sp>
        <p:nvSpPr>
          <p:cNvPr id="52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 spc="100" cap="all">
                <a:solidFill>
                  <a:srgbClr val="FFFFFF"/>
                </a:solidFill>
                <a:latin typeface="FerrariSans"/>
              </a:rPr>
              <a:t>FY22</a:t>
            </a:r>
          </a:p>
        </p:txBody>
      </p:sp>
      <p:sp>
        <p:nvSpPr>
          <p:cNvPr id="53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12.9</a:t>
            </a:r>
          </a:p>
        </p:txBody>
      </p:sp>
      <p:sp>
        <p:nvSpPr>
          <p:cNvPr id="54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 spc="100" cap="all">
                <a:solidFill>
                  <a:srgbClr val="FFFFFF"/>
                </a:solidFill>
                <a:latin typeface="FerrariSans"/>
              </a:rPr>
              <a:t>FY23</a:t>
            </a:r>
          </a:p>
        </p:txBody>
      </p:sp>
      <p:sp>
        <p:nvSpPr>
          <p:cNvPr id="55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13.4</a:t>
            </a:r>
          </a:p>
        </p:txBody>
      </p:sp>
      <p:sp>
        <p:nvSpPr>
          <p:cNvPr id="56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 spc="100" cap="all">
                <a:solidFill>
                  <a:srgbClr val="FFFFFF"/>
                </a:solidFill>
                <a:latin typeface="FerrariSans"/>
              </a:rPr>
              <a:t>FY24</a:t>
            </a:r>
          </a:p>
        </p:txBody>
      </p:sp>
      <p:sp>
        <p:nvSpPr>
          <p:cNvPr id="57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14.1</a:t>
            </a:r>
          </a:p>
        </p:txBody>
      </p:sp>
      <p:sp>
        <p:nvSpPr>
          <p:cNvPr id="58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 spc="100" cap="all">
                <a:solidFill>
                  <a:srgbClr val="FFFFFF"/>
                </a:solidFill>
                <a:latin typeface="FerrariSans"/>
              </a:rPr>
              <a:t>FY25</a:t>
            </a:r>
          </a:p>
        </p:txBody>
      </p:sp>
      <p:sp>
        <p:nvSpPr>
          <p:cNvPr id="59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98" cap="all">
                <a:solidFill>
                  <a:srgbClr val="FFFFFF"/>
                </a:solidFill>
                <a:latin typeface="FerrariSans"/>
              </a:rPr>
              <a:t>SEGMENT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Legacy hardware</a:t>
            </a:r>
          </a:p>
        </p:txBody>
      </p:sp>
      <p:sp>
        <p:nvSpPr>
          <p:cNvPr id="62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35">
                <a:solidFill>
                  <a:srgbClr val="FFFFFF"/>
                </a:solidFill>
                <a:latin typeface="FerrariSans"/>
              </a:rPr>
              <a:t>−6% · 5y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Consumer products</a:t>
            </a:r>
          </a:p>
        </p:txBody>
      </p:sp>
      <p:sp>
        <p:nvSpPr>
          <p:cNvPr id="65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35">
                <a:solidFill>
                  <a:srgbClr val="FFFFFF"/>
                </a:solidFill>
                <a:latin typeface="FerrariSans"/>
              </a:rPr>
              <a:t>+31% · 5y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Commercial</a:t>
            </a:r>
          </a:p>
        </p:txBody>
      </p:sp>
      <p:sp>
        <p:nvSpPr>
          <p:cNvPr id="68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35">
                <a:solidFill>
                  <a:srgbClr val="FFFFFF"/>
                </a:solidFill>
                <a:latin typeface="FerrariSans"/>
              </a:rPr>
              <a:t>+31% · 5y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Platform &amp; services</a:t>
            </a:r>
          </a:p>
        </p:txBody>
      </p:sp>
      <p:sp>
        <p:nvSpPr>
          <p:cNvPr id="71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35">
                <a:solidFill>
                  <a:srgbClr val="FFFFFF"/>
                </a:solidFill>
                <a:latin typeface="FerrariSans"/>
              </a:rPr>
              <a:t>+367% · 5y</a:t>
            </a:r>
          </a:p>
        </p:txBody>
      </p:sp>
      <p:sp>
        <p:nvSpPr>
          <p:cNvPr id="72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TABLE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FY25 PRELIMINARY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Across five product lines, only the two flagship lines beat both revenue and margin plan.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PRODUCT LINE</a:t>
            </a:r>
          </a:p>
        </p:txBody>
      </p:sp>
      <p:sp>
        <p:nvSpPr>
          <p:cNvPr id="18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REVENUE · €M</a:t>
            </a:r>
          </a:p>
        </p:txBody>
      </p:sp>
      <p:sp>
        <p:nvSpPr>
          <p:cNvPr id="19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VS. PLAN</a:t>
            </a:r>
          </a:p>
        </p:txBody>
      </p:sp>
      <p:sp>
        <p:nvSpPr>
          <p:cNvPr id="20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MARGIN</a:t>
            </a:r>
          </a:p>
        </p:txBody>
      </p:sp>
      <p:sp>
        <p:nvSpPr>
          <p:cNvPr id="21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VS. PLAN</a:t>
            </a:r>
          </a:p>
        </p:txBody>
      </p:sp>
      <p:sp>
        <p:nvSpPr>
          <p:cNvPr id="22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Flagship A</a:t>
            </a:r>
          </a:p>
        </p:txBody>
      </p:sp>
      <p:sp>
        <p:nvSpPr>
          <p:cNvPr id="23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Pro line</a:t>
            </a:r>
          </a:p>
        </p:txBody>
      </p:sp>
      <p:sp>
        <p:nvSpPr>
          <p:cNvPr id="24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Standard line</a:t>
            </a:r>
          </a:p>
        </p:txBody>
      </p:sp>
      <p:sp>
        <p:nvSpPr>
          <p:cNvPr id="25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Compact line</a:t>
            </a:r>
          </a:p>
        </p:txBody>
      </p:sp>
      <p:sp>
        <p:nvSpPr>
          <p:cNvPr id="26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Accessories</a:t>
            </a:r>
          </a:p>
        </p:txBody>
      </p:sp>
      <p:sp>
        <p:nvSpPr>
          <p:cNvPr id="27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3,240</a:t>
            </a:r>
          </a:p>
        </p:txBody>
      </p:sp>
      <p:sp>
        <p:nvSpPr>
          <p:cNvPr id="28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+3.8%</a:t>
            </a:r>
          </a:p>
        </p:txBody>
      </p:sp>
      <p:sp>
        <p:nvSpPr>
          <p:cNvPr id="29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14.2%</a:t>
            </a:r>
          </a:p>
        </p:txBody>
      </p:sp>
      <p:sp>
        <p:nvSpPr>
          <p:cNvPr id="30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+0.6 pt</a:t>
            </a:r>
          </a:p>
        </p:txBody>
      </p:sp>
      <p:sp>
        <p:nvSpPr>
          <p:cNvPr id="31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2,910</a:t>
            </a:r>
          </a:p>
        </p:txBody>
      </p:sp>
      <p:sp>
        <p:nvSpPr>
          <p:cNvPr id="32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+2.2%</a:t>
            </a:r>
          </a:p>
        </p:txBody>
      </p:sp>
      <p:sp>
        <p:nvSpPr>
          <p:cNvPr id="33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13.5%</a:t>
            </a:r>
          </a:p>
        </p:txBody>
      </p:sp>
      <p:sp>
        <p:nvSpPr>
          <p:cNvPr id="34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+0.4 pt</a:t>
            </a:r>
          </a:p>
        </p:txBody>
      </p:sp>
      <p:sp>
        <p:nvSpPr>
          <p:cNvPr id="35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3,480</a:t>
            </a:r>
          </a:p>
        </p:txBody>
      </p:sp>
      <p:sp>
        <p:nvSpPr>
          <p:cNvPr id="36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+0.3%</a:t>
            </a:r>
          </a:p>
        </p:txBody>
      </p:sp>
      <p:sp>
        <p:nvSpPr>
          <p:cNvPr id="37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11.1%</a:t>
            </a:r>
          </a:p>
        </p:txBody>
      </p:sp>
      <p:sp>
        <p:nvSpPr>
          <p:cNvPr id="38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−0.2 pt</a:t>
            </a:r>
          </a:p>
        </p:txBody>
      </p:sp>
      <p:sp>
        <p:nvSpPr>
          <p:cNvPr id="39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2,610</a:t>
            </a:r>
          </a:p>
        </p:txBody>
      </p:sp>
      <p:sp>
        <p:nvSpPr>
          <p:cNvPr id="40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−0.9%</a:t>
            </a:r>
          </a:p>
        </p:txBody>
      </p:sp>
      <p:sp>
        <p:nvSpPr>
          <p:cNvPr id="41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10.4%</a:t>
            </a:r>
          </a:p>
        </p:txBody>
      </p:sp>
      <p:sp>
        <p:nvSpPr>
          <p:cNvPr id="42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−0.3 pt</a:t>
            </a:r>
          </a:p>
        </p:txBody>
      </p:sp>
      <p:sp>
        <p:nvSpPr>
          <p:cNvPr id="43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1,860</a:t>
            </a:r>
          </a:p>
        </p:txBody>
      </p:sp>
      <p:sp>
        <p:nvSpPr>
          <p:cNvPr id="44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−1.4%</a:t>
            </a:r>
          </a:p>
        </p:txBody>
      </p:sp>
      <p:sp>
        <p:nvSpPr>
          <p:cNvPr id="45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9.2%</a:t>
            </a:r>
          </a:p>
        </p:txBody>
      </p:sp>
      <p:sp>
        <p:nvSpPr>
          <p:cNvPr id="46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−0.7 pt</a:t>
            </a:r>
          </a:p>
        </p:txBody>
      </p:sp>
      <p:sp>
        <p:nvSpPr>
          <p:cNvPr id="47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PYRAMID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CUSTOMER VALUE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Three tiers of value: a solid product, an honest relationship, a measured experience.</a:t>
            </a:r>
          </a:p>
        </p:txBody>
      </p:sp>
      <p:sp>
        <p:nvSpPr>
          <p:cNvPr id="11" name="Isosceles Triangle 10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FFFFFF"/>
                </a:solidFill>
                <a:latin typeface="FerrariSans Medium"/>
              </a:rPr>
              <a:t>A measured experience.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TIER 03 · MEANING</a:t>
            </a:r>
          </a:p>
        </p:txBody>
      </p:sp>
      <p:sp>
        <p:nvSpPr>
          <p:cNvPr id="17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Time given back; one less thing to think about.</a:t>
            </a:r>
          </a:p>
        </p:txBody>
      </p:sp>
      <p:sp>
        <p:nvSpPr>
          <p:cNvPr id="18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FerrariSans Medium"/>
              </a:rPr>
              <a:t>An honest relationship.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TIER 02 · TRUST</a:t>
            </a:r>
          </a:p>
        </p:txBody>
      </p:sp>
      <p:sp>
        <p:nvSpPr>
          <p:cNvPr id="21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The product tells you the truth about itself — status, usage, when to act.</a:t>
            </a:r>
          </a:p>
        </p:txBody>
      </p:sp>
      <p:sp>
        <p:nvSpPr>
          <p:cNvPr id="22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FerrariSans Medium"/>
              </a:rPr>
              <a:t>A solid product.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TIER 01 · FOUNDATION</a:t>
            </a:r>
          </a:p>
        </p:txBody>
      </p:sp>
      <p:sp>
        <p:nvSpPr>
          <p:cNvPr id="25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KEY TAKEAWAYS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KEY TAKEAWAYS</a:t>
            </a:r>
          </a:p>
        </p:txBody>
      </p:sp>
      <p:sp>
        <p:nvSpPr>
          <p:cNvPr id="10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4000" b="1" spc="-60">
                <a:solidFill>
                  <a:srgbClr val="FFFFFF"/>
                </a:solidFill>
                <a:latin typeface="FerrariSans"/>
              </a:rPr>
              <a:t>Three things to remember: platform first, measure the experience, write plainly.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01</a:t>
            </a:r>
          </a:p>
        </p:txBody>
      </p:sp>
      <p:sp>
        <p:nvSpPr>
          <p:cNvPr id="13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Platform first.</a:t>
            </a:r>
          </a:p>
        </p:txBody>
      </p:sp>
      <p:sp>
        <p:nvSpPr>
          <p:cNvPr id="14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66666"/>
                </a:solidFill>
                <a:latin typeface="FerrariSans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5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969696"/>
                </a:solidFill>
                <a:latin typeface="FerrariSans"/>
              </a:rPr>
              <a:t>OWNER · PLATFORM VP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02</a:t>
            </a:r>
          </a:p>
        </p:txBody>
      </p:sp>
      <p:sp>
        <p:nvSpPr>
          <p:cNvPr id="18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Measure the experience.</a:t>
            </a:r>
          </a:p>
        </p:txBody>
      </p:sp>
      <p:sp>
        <p:nvSpPr>
          <p:cNvPr id="19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66666"/>
                </a:solidFill>
                <a:latin typeface="FerrariSans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20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969696"/>
                </a:solidFill>
                <a:latin typeface="FerrariSans"/>
              </a:rPr>
              <a:t>OWNER · DATA LEAD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03</a:t>
            </a:r>
          </a:p>
        </p:txBody>
      </p:sp>
      <p:sp>
        <p:nvSpPr>
          <p:cNvPr id="23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Write plainly.</a:t>
            </a:r>
          </a:p>
        </p:txBody>
      </p:sp>
      <p:sp>
        <p:nvSpPr>
          <p:cNvPr id="24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66666"/>
                </a:solidFill>
                <a:latin typeface="FerrariSans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5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969696"/>
                </a:solidFill>
                <a:latin typeface="FerrariSans"/>
              </a:rPr>
              <a:t>OWNER · CONTENT LEAD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04</a:t>
            </a:r>
          </a:p>
        </p:txBody>
      </p:sp>
      <p:sp>
        <p:nvSpPr>
          <p:cNvPr id="28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Ship weekly.</a:t>
            </a:r>
          </a:p>
        </p:txBody>
      </p:sp>
      <p:sp>
        <p:nvSpPr>
          <p:cNvPr id="29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66666"/>
                </a:solidFill>
                <a:latin typeface="FerrariSans"/>
              </a:rPr>
              <a:t>Every squad cuts a release every week; anything that can't be weekly is a platform bug to be retired.</a:t>
            </a:r>
          </a:p>
        </p:txBody>
      </p:sp>
      <p:sp>
        <p:nvSpPr>
          <p:cNvPr id="30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969696"/>
                </a:solidFill>
                <a:latin typeface="FerrariSans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EXECUTIVE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889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143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EXECUTIVE SUMMARY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1397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Four insights, three next steps — the 2026 plan on one page.</a:t>
            </a:r>
          </a:p>
        </p:txBody>
      </p:sp>
      <p:sp>
        <p:nvSpPr>
          <p:cNvPr id="11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2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112" cap="all">
                <a:solidFill>
                  <a:srgbClr val="DA291C"/>
                </a:solidFill>
                <a:latin typeface="FerrariSans"/>
              </a:rPr>
              <a:t>INSIGHTS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Platform share is compounding.</a:t>
            </a:r>
          </a:p>
        </p:txBody>
      </p:sp>
      <p:sp>
        <p:nvSpPr>
          <p:cNvPr id="16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First-run pairing is the biggest leak.</a:t>
            </a:r>
          </a:p>
        </p:txBody>
      </p:sp>
      <p:sp>
        <p:nvSpPr>
          <p:cNvPr id="19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Telemetry is now default-on.</a:t>
            </a:r>
          </a:p>
        </p:txBody>
      </p:sp>
      <p:sp>
        <p:nvSpPr>
          <p:cNvPr id="22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Hybrid platform beats build-vs-buy.</a:t>
            </a:r>
          </a:p>
        </p:txBody>
      </p:sp>
      <p:sp>
        <p:nvSpPr>
          <p:cNvPr id="25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26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112" cap="all">
                <a:solidFill>
                  <a:srgbClr val="DA291C"/>
                </a:solidFill>
                <a:latin typeface="FerrariSans"/>
              </a:rPr>
              <a:t>NEXT STEPS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Consolidate firmware across SKUs.</a:t>
            </a:r>
          </a:p>
        </p:txBody>
      </p:sp>
      <p:sp>
        <p:nvSpPr>
          <p:cNvPr id="30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Retire the last two forks; every line onto the shared OS core by end of Q2.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Ship the pairing-flow fix.</a:t>
            </a:r>
          </a:p>
        </p:txBody>
      </p:sp>
      <p:sp>
        <p:nvSpPr>
          <p:cNvPr id="33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Open the developer API preview.</a:t>
            </a:r>
          </a:p>
        </p:txBody>
      </p:sp>
      <p:sp>
        <p:nvSpPr>
          <p:cNvPr id="36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Partner preview end of H1, GA at year-end — 30 design partners already signed.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Lock the hybrid platform deal.</a:t>
            </a:r>
          </a:p>
        </p:txBody>
      </p:sp>
      <p:sp>
        <p:nvSpPr>
          <p:cNvPr id="39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Finalise cloud and ML vendor terms; platform group staffed and chartered for a Q2 kick-off.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FFFFFF"/>
                </a:solidFill>
                <a:latin typeface="FerrariSans Medium"/>
              </a:rPr>
              <a:t>+43</a:t>
            </a:r>
          </a:p>
        </p:txBody>
      </p:sp>
      <p:sp>
        <p:nvSpPr>
          <p:cNvPr id="43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FerrariSans"/>
              </a:rPr>
              <a:t>%</a:t>
            </a:r>
          </a:p>
        </p:txBody>
      </p:sp>
      <p:sp>
        <p:nvSpPr>
          <p:cNvPr id="44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ACTIVE TIME · 5Y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FFFFFF"/>
                </a:solidFill>
                <a:latin typeface="FerrariSans Medium"/>
              </a:rPr>
              <a:t>14</a:t>
            </a:r>
          </a:p>
        </p:txBody>
      </p:sp>
      <p:sp>
        <p:nvSpPr>
          <p:cNvPr id="47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FerrariSans"/>
              </a:rPr>
              <a:t> bn</a:t>
            </a:r>
          </a:p>
        </p:txBody>
      </p:sp>
      <p:sp>
        <p:nvSpPr>
          <p:cNvPr id="48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REVENUE · EUR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FFFFFF"/>
                </a:solidFill>
                <a:latin typeface="FerrariSans Medium"/>
              </a:rPr>
              <a:t>95</a:t>
            </a:r>
          </a:p>
        </p:txBody>
      </p:sp>
      <p:sp>
        <p:nvSpPr>
          <p:cNvPr id="51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FerrariSans"/>
              </a:rPr>
              <a:t>%</a:t>
            </a:r>
          </a:p>
        </p:txBody>
      </p:sp>
      <p:sp>
        <p:nvSpPr>
          <p:cNvPr id="52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TELEMETRY OPT-IN</a:t>
            </a:r>
          </a:p>
        </p:txBody>
      </p:sp>
      <p:sp>
        <p:nvSpPr>
          <p:cNvPr id="53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LINE CHART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PER-ACCOUNT METRICS, FY21–FY25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56">
                <a:solidFill>
                  <a:srgbClr val="FFFFFF"/>
                </a:solidFill>
                <a:latin typeface="FerrariSans"/>
              </a:rPr>
              <a:t>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56">
                <a:solidFill>
                  <a:srgbClr val="FFFFFF"/>
                </a:solidFill>
                <a:latin typeface="FerrariSans"/>
              </a:rPr>
              <a:t>50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56">
                <a:solidFill>
                  <a:srgbClr val="FFFFFF"/>
                </a:solidFill>
                <a:latin typeface="FerrariSans"/>
              </a:rPr>
              <a:t>100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56">
                <a:solidFill>
                  <a:srgbClr val="FFFFFF"/>
                </a:solidFill>
                <a:latin typeface="FerrariSans"/>
              </a:rPr>
              <a:t>150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56">
                <a:solidFill>
                  <a:srgbClr val="FFFFFF"/>
                </a:solidFill>
                <a:latin typeface="FerrariSans"/>
              </a:rPr>
              <a:t>200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 cap="all">
                <a:solidFill>
                  <a:srgbClr val="FFFFFF"/>
                </a:solidFill>
                <a:latin typeface="FerrariSans"/>
              </a:rPr>
              <a:t>FY21</a:t>
            </a:r>
          </a:p>
        </p:txBody>
      </p:sp>
      <p:sp>
        <p:nvSpPr>
          <p:cNvPr id="34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 cap="all">
                <a:solidFill>
                  <a:srgbClr val="FFFFFF"/>
                </a:solidFill>
                <a:latin typeface="FerrariSans"/>
              </a:rPr>
              <a:t>FY22</a:t>
            </a:r>
          </a:p>
        </p:txBody>
      </p:sp>
      <p:sp>
        <p:nvSpPr>
          <p:cNvPr id="35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 cap="all">
                <a:solidFill>
                  <a:srgbClr val="FFFFFF"/>
                </a:solidFill>
                <a:latin typeface="FerrariSans"/>
              </a:rPr>
              <a:t>FY23</a:t>
            </a:r>
          </a:p>
        </p:txBody>
      </p:sp>
      <p:sp>
        <p:nvSpPr>
          <p:cNvPr id="36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 cap="all">
                <a:solidFill>
                  <a:srgbClr val="FFFFFF"/>
                </a:solidFill>
                <a:latin typeface="FerrariSans"/>
              </a:rPr>
              <a:t>FY24</a:t>
            </a:r>
          </a:p>
        </p:txBody>
      </p:sp>
      <p:sp>
        <p:nvSpPr>
          <p:cNvPr id="37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 cap="all">
                <a:solidFill>
                  <a:srgbClr val="FFFFFF"/>
                </a:solidFill>
                <a:latin typeface="FerrariSans"/>
              </a:rPr>
              <a:t>FY25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Active time per account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Cloud cost per account</a:t>
            </a:r>
          </a:p>
        </p:txBody>
      </p:sp>
      <p:sp>
        <p:nvSpPr>
          <p:cNvPr id="42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SCORECARD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PORTFOLIO HEALTH · FY25 Q3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Q1 FY25</a:t>
            </a:r>
          </a:p>
        </p:txBody>
      </p:sp>
      <p:sp>
        <p:nvSpPr>
          <p:cNvPr id="36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Q2 FY25</a:t>
            </a:r>
          </a:p>
        </p:txBody>
      </p:sp>
      <p:sp>
        <p:nvSpPr>
          <p:cNvPr id="37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Q3 FY25</a:t>
            </a:r>
          </a:p>
        </p:txBody>
      </p:sp>
      <p:sp>
        <p:nvSpPr>
          <p:cNvPr id="38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Q4 FY25</a:t>
            </a:r>
          </a:p>
        </p:txBody>
      </p:sp>
      <p:sp>
        <p:nvSpPr>
          <p:cNvPr id="39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FerrariSans Medium"/>
              </a:rPr>
              <a:t>Firmware consolidation</a:t>
            </a:r>
          </a:p>
        </p:txBody>
      </p:sp>
      <p:sp>
        <p:nvSpPr>
          <p:cNvPr id="40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FerrariSans Medium"/>
              </a:rPr>
              <a:t>Default-on telemetry</a:t>
            </a:r>
          </a:p>
        </p:txBody>
      </p:sp>
      <p:sp>
        <p:nvSpPr>
          <p:cNvPr id="41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FerrariSans Medium"/>
              </a:rPr>
              <a:t>Developer API</a:t>
            </a:r>
          </a:p>
        </p:txBody>
      </p:sp>
      <p:sp>
        <p:nvSpPr>
          <p:cNvPr id="42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FerrariSans Medium"/>
              </a:rPr>
              <a:t>Data-platform integration</a:t>
            </a:r>
          </a:p>
        </p:txBody>
      </p:sp>
      <p:sp>
        <p:nvSpPr>
          <p:cNvPr id="43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Cutover · 62%</a:t>
            </a:r>
          </a:p>
        </p:txBody>
      </p:sp>
      <p:sp>
        <p:nvSpPr>
          <p:cNvPr id="44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Cutover · 100%</a:t>
            </a:r>
          </a:p>
        </p:txBody>
      </p:sp>
      <p:sp>
        <p:nvSpPr>
          <p:cNvPr id="45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Shipped</a:t>
            </a:r>
          </a:p>
        </p:txBody>
      </p:sp>
      <p:sp>
        <p:nvSpPr>
          <p:cNvPr id="46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Stable</a:t>
            </a:r>
          </a:p>
        </p:txBody>
      </p:sp>
      <p:sp>
        <p:nvSpPr>
          <p:cNvPr id="47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Pilot factories</a:t>
            </a:r>
          </a:p>
        </p:txBody>
      </p:sp>
      <p:sp>
        <p:nvSpPr>
          <p:cNvPr id="48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Rollout 40%</a:t>
            </a:r>
          </a:p>
        </p:txBody>
      </p:sp>
      <p:sp>
        <p:nvSpPr>
          <p:cNvPr id="49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Rollout 85%</a:t>
            </a:r>
          </a:p>
        </p:txBody>
      </p:sp>
      <p:sp>
        <p:nvSpPr>
          <p:cNvPr id="50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Default-on</a:t>
            </a:r>
          </a:p>
        </p:txBody>
      </p:sp>
      <p:sp>
        <p:nvSpPr>
          <p:cNvPr id="51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Design only</a:t>
            </a:r>
          </a:p>
        </p:txBody>
      </p:sp>
      <p:sp>
        <p:nvSpPr>
          <p:cNvPr id="52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Preview private</a:t>
            </a:r>
          </a:p>
        </p:txBody>
      </p:sp>
      <p:sp>
        <p:nvSpPr>
          <p:cNvPr id="53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Preview public</a:t>
            </a:r>
          </a:p>
        </p:txBody>
      </p:sp>
      <p:sp>
        <p:nvSpPr>
          <p:cNvPr id="54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GA → Q4 slip</a:t>
            </a:r>
          </a:p>
        </p:txBody>
      </p:sp>
      <p:sp>
        <p:nvSpPr>
          <p:cNvPr id="55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Scope locked</a:t>
            </a:r>
          </a:p>
        </p:txBody>
      </p:sp>
      <p:sp>
        <p:nvSpPr>
          <p:cNvPr id="56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Vendor delay</a:t>
            </a:r>
          </a:p>
        </p:txBody>
      </p:sp>
      <p:sp>
        <p:nvSpPr>
          <p:cNvPr id="57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Off plan</a:t>
            </a:r>
          </a:p>
        </p:txBody>
      </p:sp>
      <p:sp>
        <p:nvSpPr>
          <p:cNvPr id="58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Re-baseline</a:t>
            </a:r>
          </a:p>
        </p:txBody>
      </p:sp>
      <p:sp>
        <p:nvSpPr>
          <p:cNvPr id="59" name="Oval 58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ON TRACK</a:t>
            </a:r>
          </a:p>
        </p:txBody>
      </p:sp>
      <p:sp>
        <p:nvSpPr>
          <p:cNvPr id="61" name="Oval 60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AT RISK</a:t>
            </a:r>
          </a:p>
        </p:txBody>
      </p:sp>
      <p:sp>
        <p:nvSpPr>
          <p:cNvPr id="63" name="Oval 62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OFF TRACK</a:t>
            </a:r>
          </a:p>
        </p:txBody>
      </p:sp>
      <p:sp>
        <p:nvSpPr>
          <p:cNvPr id="65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GANTT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WORKSTREAMS — FY25 DELIVERY PLAN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Firmware consolidation lands in Q2; the developer API goes GA in Q4, dependent on telemetry rollout.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iamond 18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iamond 21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Diamond 85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Q1 · PLAN</a:t>
            </a:r>
          </a:p>
        </p:txBody>
      </p:sp>
      <p:sp>
        <p:nvSpPr>
          <p:cNvPr id="89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Q2 · BUILD</a:t>
            </a:r>
          </a:p>
        </p:txBody>
      </p:sp>
      <p:sp>
        <p:nvSpPr>
          <p:cNvPr id="90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Q3 · PILOT</a:t>
            </a:r>
          </a:p>
        </p:txBody>
      </p:sp>
      <p:sp>
        <p:nvSpPr>
          <p:cNvPr id="91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Q4 · SCALE</a:t>
            </a:r>
          </a:p>
        </p:txBody>
      </p:sp>
      <p:sp>
        <p:nvSpPr>
          <p:cNvPr id="92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OWNER · PLATFORM</a:t>
            </a:r>
          </a:p>
        </p:txBody>
      </p:sp>
      <p:sp>
        <p:nvSpPr>
          <p:cNvPr id="93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OWNER · DATA</a:t>
            </a:r>
          </a:p>
        </p:txBody>
      </p:sp>
      <p:sp>
        <p:nvSpPr>
          <p:cNvPr id="94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OWNER · CONSUMER</a:t>
            </a:r>
          </a:p>
        </p:txBody>
      </p:sp>
      <p:sp>
        <p:nvSpPr>
          <p:cNvPr id="95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OWNER · PLATFORM</a:t>
            </a:r>
          </a:p>
        </p:txBody>
      </p:sp>
      <p:sp>
        <p:nvSpPr>
          <p:cNvPr id="96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b="1" spc="52" cap="all">
                <a:solidFill>
                  <a:srgbClr val="FFFFFF"/>
                </a:solidFill>
                <a:latin typeface="FerrariSans"/>
              </a:rPr>
              <a:t>CUTOVER · ALL SKUS</a:t>
            </a:r>
          </a:p>
        </p:txBody>
      </p:sp>
      <p:sp>
        <p:nvSpPr>
          <p:cNvPr id="97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b="1" spc="52" cap="all">
                <a:solidFill>
                  <a:srgbClr val="FFFFFF"/>
                </a:solidFill>
                <a:latin typeface="FerrariSans"/>
              </a:rPr>
              <a:t>FACTORY ROLLOUT</a:t>
            </a:r>
          </a:p>
        </p:txBody>
      </p:sp>
      <p:sp>
        <p:nvSpPr>
          <p:cNvPr id="98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b="1" spc="52" cap="all">
                <a:solidFill>
                  <a:srgbClr val="FFFFFF"/>
                </a:solidFill>
                <a:latin typeface="FerrariSans"/>
              </a:rPr>
              <a:t>INSTRUMENTED STUDY</a:t>
            </a:r>
          </a:p>
        </p:txBody>
      </p:sp>
      <p:sp>
        <p:nvSpPr>
          <p:cNvPr id="99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b="1" spc="52" cap="all">
                <a:solidFill>
                  <a:srgbClr val="FFFFFF"/>
                </a:solidFill>
                <a:latin typeface="FerrariSans"/>
              </a:rPr>
              <a:t>PREVIEW</a:t>
            </a:r>
          </a:p>
        </p:txBody>
      </p:sp>
      <p:sp>
        <p:nvSpPr>
          <p:cNvPr id="100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b="1" spc="52" cap="all">
                <a:solidFill>
                  <a:srgbClr val="FFFFFF"/>
                </a:solidFill>
                <a:latin typeface="FerrariSans"/>
              </a:rPr>
              <a:t>GA</a:t>
            </a:r>
          </a:p>
        </p:txBody>
      </p:sp>
      <p:sp>
        <p:nvSpPr>
          <p:cNvPr id="101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FUNNEL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APP ACTIVATION FUNNEL · Q4 FY25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1" name="Freeform 10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Product sold</a:t>
            </a:r>
          </a:p>
        </p:txBody>
      </p:sp>
      <p:sp>
        <p:nvSpPr>
          <p:cNvPr id="17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FerrariSans"/>
              </a:rPr>
              <a:t>Shipment, any SKU</a:t>
            </a:r>
          </a:p>
        </p:txBody>
      </p:sp>
      <p:sp>
        <p:nvSpPr>
          <p:cNvPr id="18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FFFFFF"/>
                </a:solidFill>
                <a:latin typeface="FerrariSans Medium"/>
              </a:rPr>
              <a:t>2.4 M</a:t>
            </a:r>
          </a:p>
        </p:txBody>
      </p:sp>
      <p:sp>
        <p:nvSpPr>
          <p:cNvPr id="19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b="1" spc="65" cap="all">
                <a:solidFill>
                  <a:srgbClr val="FFFFFF"/>
                </a:solidFill>
                <a:latin typeface="FerrariSans"/>
              </a:rPr>
              <a:t>100%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App installed</a:t>
            </a:r>
          </a:p>
        </p:txBody>
      </p:sp>
      <p:sp>
        <p:nvSpPr>
          <p:cNvPr id="22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FerrariSans"/>
              </a:rPr>
              <a:t>Within 30 days of purchase</a:t>
            </a:r>
          </a:p>
        </p:txBody>
      </p:sp>
      <p:sp>
        <p:nvSpPr>
          <p:cNvPr id="23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FFFFFF"/>
                </a:solidFill>
                <a:latin typeface="FerrariSans Medium"/>
              </a:rPr>
              <a:t>2.0 M</a:t>
            </a:r>
          </a:p>
        </p:txBody>
      </p:sp>
      <p:sp>
        <p:nvSpPr>
          <p:cNvPr id="24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b="1" spc="65" cap="all">
                <a:solidFill>
                  <a:srgbClr val="FFFFFF"/>
                </a:solidFill>
                <a:latin typeface="FerrariSans"/>
              </a:rPr>
              <a:t>84%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Product paired</a:t>
            </a:r>
          </a:p>
        </p:txBody>
      </p:sp>
      <p:sp>
        <p:nvSpPr>
          <p:cNvPr id="27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FerrariSans"/>
              </a:rPr>
              <a:t>First-run setup completed</a:t>
            </a:r>
          </a:p>
        </p:txBody>
      </p:sp>
      <p:sp>
        <p:nvSpPr>
          <p:cNvPr id="28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FFFFFF"/>
                </a:solidFill>
                <a:latin typeface="FerrariSans Medium"/>
              </a:rPr>
              <a:t>1.5 M</a:t>
            </a:r>
          </a:p>
        </p:txBody>
      </p:sp>
      <p:sp>
        <p:nvSpPr>
          <p:cNvPr id="29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b="1" spc="65" cap="all">
                <a:solidFill>
                  <a:srgbClr val="FFFFFF"/>
                </a:solidFill>
                <a:latin typeface="FerrariSans"/>
              </a:rPr>
              <a:t>62%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Active at 90 days</a:t>
            </a:r>
          </a:p>
        </p:txBody>
      </p:sp>
      <p:sp>
        <p:nvSpPr>
          <p:cNvPr id="32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FerrariSans"/>
              </a:rPr>
              <a:t>≥4 cycles in last month</a:t>
            </a:r>
          </a:p>
        </p:txBody>
      </p:sp>
      <p:sp>
        <p:nvSpPr>
          <p:cNvPr id="33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FFFFFF"/>
                </a:solidFill>
                <a:latin typeface="FerrariSans Medium"/>
              </a:rPr>
              <a:t>870 K</a:t>
            </a:r>
          </a:p>
        </p:txBody>
      </p:sp>
      <p:sp>
        <p:nvSpPr>
          <p:cNvPr id="34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b="1" spc="65" cap="all">
                <a:solidFill>
                  <a:srgbClr val="FFFFFF"/>
                </a:solidFill>
                <a:latin typeface="FerrariSans"/>
              </a:rPr>
              <a:t>36%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DA291C"/>
                </a:solidFill>
                <a:latin typeface="FerrariSans Medium"/>
              </a:rPr>
              <a:t>−22 pt</a:t>
            </a:r>
          </a:p>
        </p:txBody>
      </p:sp>
      <p:sp>
        <p:nvSpPr>
          <p:cNvPr id="37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TRIAL → ACTIVATE</a:t>
            </a:r>
          </a:p>
        </p:txBody>
      </p:sp>
      <p:sp>
        <p:nvSpPr>
          <p:cNvPr id="38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FFFFF"/>
                </a:solidFill>
                <a:latin typeface="FerrariSans"/>
              </a:rPr>
              <a:t>Activation fails on mixed-SSID routers and Wi-Fi 6 backward compatibility. Fix is scoped for Q1.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DA291C"/>
                </a:solidFill>
                <a:latin typeface="FerrariSans Medium"/>
              </a:rPr>
              <a:t>−14 pt</a:t>
            </a:r>
          </a:p>
        </p:txBody>
      </p:sp>
      <p:sp>
        <p:nvSpPr>
          <p:cNvPr id="41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FEATURE → 90D ACTIVE</a:t>
            </a:r>
          </a:p>
        </p:txBody>
      </p:sp>
      <p:sp>
        <p:nvSpPr>
          <p:cNvPr id="42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FFFFF"/>
                </a:solidFill>
                <a:latin typeface="FerrariSans"/>
              </a:rPr>
              <a:t>Users try one session then default to the panel. Cadence nudges in-app are live in Q2.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5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6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VENN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WHERE THE THREE BUSINESSES MEET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1" name="Oval 10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DA291C">
              <a:alpha val="50000"/>
            </a:srgbClr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18181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CONSUMER</a:t>
            </a:r>
          </a:p>
        </p:txBody>
      </p:sp>
      <p:sp>
        <p:nvSpPr>
          <p:cNvPr id="16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>
                <a:solidFill>
                  <a:srgbClr val="FFFFFF"/>
                </a:solidFill>
                <a:latin typeface="FerrariSans"/>
              </a:rPr>
              <a:t>Product + brand</a:t>
            </a:r>
          </a:p>
        </p:txBody>
      </p:sp>
      <p:sp>
        <p:nvSpPr>
          <p:cNvPr id="17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PLATFORM</a:t>
            </a:r>
          </a:p>
        </p:txBody>
      </p:sp>
      <p:sp>
        <p:nvSpPr>
          <p:cNvPr id="18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>
                <a:solidFill>
                  <a:srgbClr val="FFFFFF"/>
                </a:solidFill>
                <a:latin typeface="FerrariSans"/>
              </a:rPr>
              <a:t>Firmware + API</a:t>
            </a:r>
          </a:p>
        </p:txBody>
      </p:sp>
      <p:sp>
        <p:nvSpPr>
          <p:cNvPr id="19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SERVICES</a:t>
            </a:r>
          </a:p>
        </p:txBody>
      </p:sp>
      <p:sp>
        <p:nvSpPr>
          <p:cNvPr id="20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>
                <a:solidFill>
                  <a:srgbClr val="FFFFFF"/>
                </a:solidFill>
                <a:latin typeface="FerrariSans"/>
              </a:rPr>
              <a:t>Install · repair</a:t>
            </a:r>
          </a:p>
        </p:txBody>
      </p:sp>
      <p:sp>
        <p:nvSpPr>
          <p:cNvPr id="21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FFFFFF"/>
                </a:solidFill>
                <a:latin typeface="FerrariSans Medium"/>
              </a:rPr>
              <a:t>Smart product</a:t>
            </a:r>
          </a:p>
        </p:txBody>
      </p:sp>
      <p:sp>
        <p:nvSpPr>
          <p:cNvPr id="22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FFFFFF"/>
                </a:solidFill>
                <a:latin typeface="FerrariSans Medium"/>
              </a:rPr>
              <a:t>In-home install</a:t>
            </a:r>
          </a:p>
        </p:txBody>
      </p:sp>
      <p:sp>
        <p:nvSpPr>
          <p:cNvPr id="23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FFFFFF"/>
                </a:solidFill>
                <a:latin typeface="FerrariSans Medium"/>
              </a:rPr>
              <a:t>Remote diagnostics</a:t>
            </a:r>
          </a:p>
        </p:txBody>
      </p:sp>
      <p:sp>
        <p:nvSpPr>
          <p:cNvPr id="24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FFFFFF"/>
                </a:solidFill>
                <a:latin typeface="FerrariSans"/>
              </a:rPr>
              <a:t>Connected platform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01 · CONSUMER × PLATFORM</a:t>
            </a:r>
          </a:p>
        </p:txBody>
      </p:sp>
      <p:sp>
        <p:nvSpPr>
          <p:cNvPr id="27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FFFFFF"/>
                </a:solidFill>
                <a:latin typeface="FerrariSans Medium"/>
              </a:rPr>
              <a:t>Smart product</a:t>
            </a:r>
          </a:p>
        </p:txBody>
      </p:sp>
      <p:sp>
        <p:nvSpPr>
          <p:cNvPr id="28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FerrariSans"/>
              </a:rPr>
              <a:t>Firmware turns the object into an addressable node — the basis for every service we layer on top.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02 · PLATFORM × SERVICES</a:t>
            </a:r>
          </a:p>
        </p:txBody>
      </p:sp>
      <p:sp>
        <p:nvSpPr>
          <p:cNvPr id="31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FFFFFF"/>
                </a:solidFill>
                <a:latin typeface="FerrariSans Medium"/>
              </a:rPr>
              <a:t>Remote diagnostics</a:t>
            </a:r>
          </a:p>
        </p:txBody>
      </p:sp>
      <p:sp>
        <p:nvSpPr>
          <p:cNvPr id="32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FerrariSans"/>
              </a:rPr>
              <a:t>Telemetry lets service pre-triage a call; first-time-fix rate rises, truck rolls fall.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03 · CONSUMER × SERVICES</a:t>
            </a:r>
          </a:p>
        </p:txBody>
      </p:sp>
      <p:sp>
        <p:nvSpPr>
          <p:cNvPr id="35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FFFFFF"/>
                </a:solidFill>
                <a:latin typeface="FerrariSans Medium"/>
              </a:rPr>
              <a:t>In-home install</a:t>
            </a:r>
          </a:p>
        </p:txBody>
      </p:sp>
      <p:sp>
        <p:nvSpPr>
          <p:cNvPr id="36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FerrariSans"/>
              </a:rPr>
              <a:t>Existing service relationship carries trust; we extend it into the subscription tier.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CENTER</a:t>
            </a:r>
          </a:p>
        </p:txBody>
      </p:sp>
      <p:sp>
        <p:nvSpPr>
          <p:cNvPr id="39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FFFFFF"/>
                </a:solidFill>
                <a:latin typeface="FerrariSans Medium"/>
              </a:rPr>
              <a:t>Connected platform</a:t>
            </a:r>
          </a:p>
        </p:txBody>
      </p:sp>
      <p:sp>
        <p:nvSpPr>
          <p:cNvPr id="40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FerrariSans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303030"/>
          </a:solidFill>
          <a:ln w="63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spc="80">
                <a:solidFill>
                  <a:srgbClr val="FFFFFF"/>
                </a:solidFill>
                <a:latin typeface="FerrariSans"/>
              </a:rPr>
              <a:t>DIAGRAM · FILL VIA /DECK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LAYOUT · DIAGRAM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LAYOUT · DIAGRAM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Architectural overview goes here.</a:t>
            </a:r>
          </a:p>
        </p:txBody>
      </p:sp>
      <p:sp>
        <p:nvSpPr>
          <p:cNvPr id="13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303030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V-MODEL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VERIFICATION · VALIDATION</a:t>
            </a:r>
          </a:p>
        </p:txBody>
      </p:sp>
      <p:sp>
        <p:nvSpPr>
          <p:cNvPr id="9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spc="-39">
                <a:solidFill>
                  <a:srgbClr val="FFFFFF"/>
                </a:solidFill>
                <a:latin typeface="FerrariSans Medium"/>
              </a:rPr>
              <a:t>Every design step on the left has a matching test on the right — the V-model pairs them.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84" cap="all">
                <a:solidFill>
                  <a:srgbClr val="FFFFFF"/>
                </a:solidFill>
                <a:latin typeface="FerrariSans"/>
              </a:rPr>
              <a:t>PHASE 01</a:t>
            </a:r>
          </a:p>
        </p:txBody>
      </p:sp>
      <p:sp>
        <p:nvSpPr>
          <p:cNvPr id="251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Requirement gathering</a:t>
            </a:r>
          </a:p>
        </p:txBody>
      </p:sp>
      <p:sp>
        <p:nvSpPr>
          <p:cNvPr id="252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84" cap="all">
                <a:solidFill>
                  <a:srgbClr val="B01E0A"/>
                </a:solidFill>
                <a:latin typeface="FerrariSans"/>
              </a:rPr>
              <a:t>TEST 01</a:t>
            </a:r>
          </a:p>
        </p:txBody>
      </p:sp>
      <p:sp>
        <p:nvSpPr>
          <p:cNvPr id="253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Acceptance testing</a:t>
            </a:r>
          </a:p>
        </p:txBody>
      </p:sp>
      <p:sp>
        <p:nvSpPr>
          <p:cNvPr id="254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FFFFF"/>
                </a:solidFill>
                <a:latin typeface="FerrariSans"/>
              </a:rPr>
              <a:t>ACCEPTANCE PLAN</a:t>
            </a:r>
          </a:p>
        </p:txBody>
      </p:sp>
      <p:sp>
        <p:nvSpPr>
          <p:cNvPr id="255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84" cap="all">
                <a:solidFill>
                  <a:srgbClr val="FFFFFF"/>
                </a:solidFill>
                <a:latin typeface="FerrariSans"/>
              </a:rPr>
              <a:t>PHASE 02</a:t>
            </a:r>
          </a:p>
        </p:txBody>
      </p:sp>
      <p:sp>
        <p:nvSpPr>
          <p:cNvPr id="256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System analysis</a:t>
            </a:r>
          </a:p>
        </p:txBody>
      </p:sp>
      <p:sp>
        <p:nvSpPr>
          <p:cNvPr id="257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84" cap="all">
                <a:solidFill>
                  <a:srgbClr val="B01E0A"/>
                </a:solidFill>
                <a:latin typeface="FerrariSans"/>
              </a:rPr>
              <a:t>TEST 02</a:t>
            </a:r>
          </a:p>
        </p:txBody>
      </p:sp>
      <p:sp>
        <p:nvSpPr>
          <p:cNvPr id="258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System testing</a:t>
            </a:r>
          </a:p>
        </p:txBody>
      </p:sp>
      <p:sp>
        <p:nvSpPr>
          <p:cNvPr id="259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FFFFF"/>
                </a:solidFill>
                <a:latin typeface="FerrariSans"/>
              </a:rPr>
              <a:t>SYSTEM TEST PLAN</a:t>
            </a:r>
          </a:p>
        </p:txBody>
      </p:sp>
      <p:sp>
        <p:nvSpPr>
          <p:cNvPr id="260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84" cap="all">
                <a:solidFill>
                  <a:srgbClr val="FFFFFF"/>
                </a:solidFill>
                <a:latin typeface="FerrariSans"/>
              </a:rPr>
              <a:t>PHASE 03</a:t>
            </a:r>
          </a:p>
        </p:txBody>
      </p:sp>
      <p:sp>
        <p:nvSpPr>
          <p:cNvPr id="261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Software design</a:t>
            </a:r>
          </a:p>
        </p:txBody>
      </p:sp>
      <p:sp>
        <p:nvSpPr>
          <p:cNvPr id="262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84" cap="all">
                <a:solidFill>
                  <a:srgbClr val="B01E0A"/>
                </a:solidFill>
                <a:latin typeface="FerrariSans"/>
              </a:rPr>
              <a:t>TEST 03</a:t>
            </a:r>
          </a:p>
        </p:txBody>
      </p:sp>
      <p:sp>
        <p:nvSpPr>
          <p:cNvPr id="263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Integration testing</a:t>
            </a:r>
          </a:p>
        </p:txBody>
      </p:sp>
      <p:sp>
        <p:nvSpPr>
          <p:cNvPr id="264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FFFFF"/>
                </a:solidFill>
                <a:latin typeface="FerrariSans"/>
              </a:rPr>
              <a:t>INTEGRATION</a:t>
            </a:r>
          </a:p>
        </p:txBody>
      </p:sp>
      <p:sp>
        <p:nvSpPr>
          <p:cNvPr id="265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84" cap="all">
                <a:solidFill>
                  <a:srgbClr val="FFFFFF"/>
                </a:solidFill>
                <a:latin typeface="FerrariSans"/>
              </a:rPr>
              <a:t>PHASE 04</a:t>
            </a:r>
          </a:p>
        </p:txBody>
      </p:sp>
      <p:sp>
        <p:nvSpPr>
          <p:cNvPr id="266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Module design</a:t>
            </a:r>
          </a:p>
        </p:txBody>
      </p:sp>
      <p:sp>
        <p:nvSpPr>
          <p:cNvPr id="267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84" cap="all">
                <a:solidFill>
                  <a:srgbClr val="B01E0A"/>
                </a:solidFill>
                <a:latin typeface="FerrariSans"/>
              </a:rPr>
              <a:t>TEST 04</a:t>
            </a:r>
          </a:p>
        </p:txBody>
      </p:sp>
      <p:sp>
        <p:nvSpPr>
          <p:cNvPr id="268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Unit testing</a:t>
            </a:r>
          </a:p>
        </p:txBody>
      </p:sp>
      <p:sp>
        <p:nvSpPr>
          <p:cNvPr id="269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FFFFF"/>
                </a:solidFill>
                <a:latin typeface="FerrariSans"/>
              </a:rPr>
              <a:t>UNIT TESTS</a:t>
            </a:r>
          </a:p>
        </p:txBody>
      </p:sp>
      <p:sp>
        <p:nvSpPr>
          <p:cNvPr id="270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b="1" spc="84" cap="all">
                <a:solidFill>
                  <a:srgbClr val="DA291C"/>
                </a:solidFill>
                <a:latin typeface="FerrariSans"/>
              </a:rPr>
              <a:t>PIVOT</a:t>
            </a:r>
          </a:p>
        </p:txBody>
      </p:sp>
      <p:sp>
        <p:nvSpPr>
          <p:cNvPr id="271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-13">
                <a:solidFill>
                  <a:srgbClr val="FFFFFF"/>
                </a:solidFill>
                <a:latin typeface="FerrariSans Medium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Layout · 2×2 matrix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Headline takeaway about prioritisation.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Top-right item.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High-impact, low-effort initiative.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Top-left item.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High-impact, high-effort initiative.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Bottom-right item.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9"/>
          </p:nvPr>
        </p:nvSpPr>
        <p:spPr/>
        <p:txBody>
          <a:bodyPr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Low-impact, low-effort initiative.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Bottom-left item.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Low-impact, high-effort initiative.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4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Effort to ship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42"/>
          </p:nvPr>
        </p:nvSpPr>
        <p:spPr/>
        <p:txBody>
          <a:bodyPr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errari">
      <a:dk1>
        <a:sysClr val="windowText" lastClr="FFFFFF"/>
      </a:dk1>
      <a:lt1>
        <a:sysClr val="window" lastClr="181818"/>
      </a:lt1>
      <a:dk2>
        <a:srgbClr val="FFFFFF"/>
      </a:dk2>
      <a:lt2>
        <a:srgbClr val="181818"/>
      </a:lt2>
      <a:accent1>
        <a:srgbClr val="DA291C"/>
      </a:accent1>
      <a:accent2>
        <a:srgbClr val="FFF200"/>
      </a:accent2>
      <a:accent3>
        <a:srgbClr val="FFFFFF"/>
      </a:accent3>
      <a:accent4>
        <a:srgbClr val="969696"/>
      </a:accent4>
      <a:accent5>
        <a:srgbClr val="666666"/>
      </a:accent5>
      <a:accent6>
        <a:srgbClr val="303030"/>
      </a:accent6>
      <a:hlink>
        <a:srgbClr val="B01E0A"/>
      </a:hlink>
      <a:folHlink>
        <a:srgbClr val="DA291C"/>
      </a:folHlink>
    </a:clrScheme>
    <a:fontScheme name="Ferrari">
      <a:majorFont>
        <a:latin typeface="FerrariSans" panose="020B0604020202020204"/>
        <a:ea typeface=""/>
        <a:cs typeface=""/>
      </a:majorFont>
      <a:minorFont>
        <a:latin typeface="FerrariSans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